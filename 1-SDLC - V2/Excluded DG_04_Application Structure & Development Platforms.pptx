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3.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4.xml" ContentType="application/vnd.openxmlformats-officedocument.theme+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4"/>
    <p:sldMasterId id="2147483789" r:id="rId5"/>
    <p:sldMasterId id="2147483824" r:id="rId6"/>
    <p:sldMasterId id="2147483862" r:id="rId7"/>
    <p:sldMasterId id="2147483895" r:id="rId8"/>
  </p:sldMasterIdLst>
  <p:notesMasterIdLst>
    <p:notesMasterId r:id="rId29"/>
  </p:notesMasterIdLst>
  <p:handoutMasterIdLst>
    <p:handoutMasterId r:id="rId30"/>
  </p:handoutMasterIdLst>
  <p:sldIdLst>
    <p:sldId id="278" r:id="rId9"/>
    <p:sldId id="290" r:id="rId10"/>
    <p:sldId id="777" r:id="rId11"/>
    <p:sldId id="275" r:id="rId12"/>
    <p:sldId id="778" r:id="rId13"/>
    <p:sldId id="303" r:id="rId14"/>
    <p:sldId id="304" r:id="rId15"/>
    <p:sldId id="306" r:id="rId16"/>
    <p:sldId id="323" r:id="rId17"/>
    <p:sldId id="308" r:id="rId18"/>
    <p:sldId id="343" r:id="rId19"/>
    <p:sldId id="344" r:id="rId20"/>
    <p:sldId id="351" r:id="rId21"/>
    <p:sldId id="332" r:id="rId22"/>
    <p:sldId id="345" r:id="rId23"/>
    <p:sldId id="339" r:id="rId24"/>
    <p:sldId id="350" r:id="rId25"/>
    <p:sldId id="341" r:id="rId26"/>
    <p:sldId id="477" r:id="rId27"/>
    <p:sldId id="337" r:id="rId28"/>
  </p:sldIdLst>
  <p:sldSz cx="12192000" cy="6858000"/>
  <p:notesSz cx="9775825" cy="6645275"/>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or Divider Slides" id="{DE8BF54A-1323-4403-83F8-D7B5510C9D53}">
          <p14:sldIdLst>
            <p14:sldId id="278"/>
          </p14:sldIdLst>
        </p14:section>
        <p14:section name="Content Slides" id="{1A095CF9-3572-4538-94D7-8ABEC199D1E2}">
          <p14:sldIdLst>
            <p14:sldId id="290"/>
            <p14:sldId id="777"/>
            <p14:sldId id="275"/>
            <p14:sldId id="778"/>
            <p14:sldId id="303"/>
            <p14:sldId id="304"/>
            <p14:sldId id="306"/>
            <p14:sldId id="323"/>
            <p14:sldId id="308"/>
            <p14:sldId id="343"/>
            <p14:sldId id="344"/>
            <p14:sldId id="351"/>
            <p14:sldId id="332"/>
            <p14:sldId id="345"/>
            <p14:sldId id="339"/>
            <p14:sldId id="350"/>
            <p14:sldId id="341"/>
            <p14:sldId id="477"/>
            <p14:sldId id="337"/>
          </p14:sldIdLst>
        </p14:section>
        <p14:section name="Closing slide options" id="{6824D640-AAEC-4A13-80D1-D50C04BFFF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F3612C"/>
    <a:srgbClr val="F4742E"/>
    <a:srgbClr val="F58730"/>
    <a:srgbClr val="F6AD33"/>
    <a:srgbClr val="F69A31"/>
    <a:srgbClr val="20D3FF"/>
    <a:srgbClr val="7F007D"/>
    <a:srgbClr val="F3622C"/>
    <a:srgbClr val="FF00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14" autoAdjust="0"/>
    <p:restoredTop sz="86640" autoAdjust="0"/>
  </p:normalViewPr>
  <p:slideViewPr>
    <p:cSldViewPr snapToGrid="0" snapToObjects="1" showGuides="1">
      <p:cViewPr varScale="1">
        <p:scale>
          <a:sx n="67" d="100"/>
          <a:sy n="67" d="100"/>
        </p:scale>
        <p:origin x="1085" y="62"/>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showGuides="1">
      <p:cViewPr varScale="1">
        <p:scale>
          <a:sx n="117" d="100"/>
          <a:sy n="117" d="100"/>
        </p:scale>
        <p:origin x="2052"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handoutMaster" Target="handoutMasters/handoutMaster1.xml"/><Relationship Id="rId8" Type="http://schemas.openxmlformats.org/officeDocument/2006/relationships/slideMaster" Target="slideMasters/slideMaster5.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336238-CDDF-4A64-B9FB-F31CA319DD92}" type="doc">
      <dgm:prSet loTypeId="urn:microsoft.com/office/officeart/2005/8/layout/hList1" loCatId="list" qsTypeId="urn:microsoft.com/office/officeart/2005/8/quickstyle/simple1" qsCatId="simple" csTypeId="urn:microsoft.com/office/officeart/2005/8/colors/accent6_2" csCatId="accent6" phldr="1"/>
      <dgm:spPr/>
      <dgm:t>
        <a:bodyPr/>
        <a:lstStyle/>
        <a:p>
          <a:endParaRPr lang="en-GB"/>
        </a:p>
      </dgm:t>
    </dgm:pt>
    <dgm:pt modelId="{9374D03E-B531-4BD9-BB08-73E2616B0394}">
      <dgm:prSet phldrT="[Text]"/>
      <dgm:spPr/>
      <dgm:t>
        <a:bodyPr/>
        <a:lstStyle/>
        <a:p>
          <a:r>
            <a:rPr lang="en-GB" dirty="0"/>
            <a:t>Testing</a:t>
          </a:r>
        </a:p>
      </dgm:t>
    </dgm:pt>
    <dgm:pt modelId="{06493301-DECD-4669-B4BD-B0BA205E8E0A}" type="parTrans" cxnId="{08837746-C612-43D6-8F9D-2464517E4FD4}">
      <dgm:prSet/>
      <dgm:spPr/>
      <dgm:t>
        <a:bodyPr/>
        <a:lstStyle/>
        <a:p>
          <a:endParaRPr lang="en-GB"/>
        </a:p>
      </dgm:t>
    </dgm:pt>
    <dgm:pt modelId="{46D556B1-A87B-4A5F-BBC3-FEDC5C1BB4F6}" type="sibTrans" cxnId="{08837746-C612-43D6-8F9D-2464517E4FD4}">
      <dgm:prSet/>
      <dgm:spPr/>
      <dgm:t>
        <a:bodyPr/>
        <a:lstStyle/>
        <a:p>
          <a:endParaRPr lang="en-GB"/>
        </a:p>
      </dgm:t>
    </dgm:pt>
    <dgm:pt modelId="{8477D821-2AA0-4CEF-9A11-796D008A9F07}">
      <dgm:prSet phldrT="[Text]"/>
      <dgm:spPr/>
      <dgm:t>
        <a:bodyPr/>
        <a:lstStyle/>
        <a:p>
          <a:r>
            <a:rPr lang="en-GB" dirty="0"/>
            <a:t>More complicated: each platform has different behaviours or subtle bugs</a:t>
          </a:r>
        </a:p>
      </dgm:t>
    </dgm:pt>
    <dgm:pt modelId="{DC0E801B-2633-45B3-8919-D3CAE994885A}" type="parTrans" cxnId="{4FFBE285-3C01-4B61-8056-8A2E123A8685}">
      <dgm:prSet/>
      <dgm:spPr/>
      <dgm:t>
        <a:bodyPr/>
        <a:lstStyle/>
        <a:p>
          <a:endParaRPr lang="en-GB"/>
        </a:p>
      </dgm:t>
    </dgm:pt>
    <dgm:pt modelId="{8CDD8A1B-0BF7-4436-8C25-01DEC28BF83C}" type="sibTrans" cxnId="{4FFBE285-3C01-4B61-8056-8A2E123A8685}">
      <dgm:prSet/>
      <dgm:spPr/>
      <dgm:t>
        <a:bodyPr/>
        <a:lstStyle/>
        <a:p>
          <a:endParaRPr lang="en-GB"/>
        </a:p>
      </dgm:t>
    </dgm:pt>
    <dgm:pt modelId="{209CD1C1-1869-4FDE-B7FE-DC3A0436FE83}">
      <dgm:prSet phldrT="[Text]"/>
      <dgm:spPr/>
      <dgm:t>
        <a:bodyPr/>
        <a:lstStyle/>
        <a:p>
          <a:r>
            <a:rPr lang="en-GB" dirty="0"/>
            <a:t>Development</a:t>
          </a:r>
        </a:p>
      </dgm:t>
    </dgm:pt>
    <dgm:pt modelId="{F73C5BDB-B8F7-406D-BE6F-6D78477572CB}" type="parTrans" cxnId="{C7F1AD26-2542-46E7-9852-D6C1A0EDD7B6}">
      <dgm:prSet/>
      <dgm:spPr/>
      <dgm:t>
        <a:bodyPr/>
        <a:lstStyle/>
        <a:p>
          <a:endParaRPr lang="en-GB"/>
        </a:p>
      </dgm:t>
    </dgm:pt>
    <dgm:pt modelId="{31BF0171-ABB1-4290-86E2-C14235DFFCF3}" type="sibTrans" cxnId="{C7F1AD26-2542-46E7-9852-D6C1A0EDD7B6}">
      <dgm:prSet/>
      <dgm:spPr/>
      <dgm:t>
        <a:bodyPr/>
        <a:lstStyle/>
        <a:p>
          <a:endParaRPr lang="en-GB"/>
        </a:p>
      </dgm:t>
    </dgm:pt>
    <dgm:pt modelId="{6F2EED93-2022-41B4-870D-55271BBBA550}">
      <dgm:prSet phldrT="[Text]"/>
      <dgm:spPr/>
      <dgm:t>
        <a:bodyPr/>
        <a:lstStyle/>
        <a:p>
          <a:r>
            <a:rPr lang="en-GB" dirty="0"/>
            <a:t>Use lowest common denominator subset</a:t>
          </a:r>
        </a:p>
      </dgm:t>
    </dgm:pt>
    <dgm:pt modelId="{6ABDAC8B-22DB-4AF0-9831-B244F72FA077}" type="parTrans" cxnId="{1ED038D7-5A8B-4CEB-8284-111AE1A7E8FC}">
      <dgm:prSet/>
      <dgm:spPr/>
      <dgm:t>
        <a:bodyPr/>
        <a:lstStyle/>
        <a:p>
          <a:endParaRPr lang="en-GB"/>
        </a:p>
      </dgm:t>
    </dgm:pt>
    <dgm:pt modelId="{06AC7771-A800-4D6E-A2BD-E73D7C7788CB}" type="sibTrans" cxnId="{1ED038D7-5A8B-4CEB-8284-111AE1A7E8FC}">
      <dgm:prSet/>
      <dgm:spPr/>
      <dgm:t>
        <a:bodyPr/>
        <a:lstStyle/>
        <a:p>
          <a:endParaRPr lang="en-GB"/>
        </a:p>
      </dgm:t>
    </dgm:pt>
    <dgm:pt modelId="{825607FF-2304-48CC-9A4A-8D50B5544769}">
      <dgm:prSet phldrT="[Text]"/>
      <dgm:spPr/>
      <dgm:t>
        <a:bodyPr/>
        <a:lstStyle/>
        <a:p>
          <a:r>
            <a:rPr lang="en-GB" dirty="0"/>
            <a:t>Hinder performance, different user interface</a:t>
          </a:r>
        </a:p>
      </dgm:t>
    </dgm:pt>
    <dgm:pt modelId="{4572B160-E90D-46CA-82B4-0DAEC69A7A7B}" type="parTrans" cxnId="{89B15954-0791-480D-AA29-535462992858}">
      <dgm:prSet/>
      <dgm:spPr/>
      <dgm:t>
        <a:bodyPr/>
        <a:lstStyle/>
        <a:p>
          <a:endParaRPr lang="en-GB"/>
        </a:p>
      </dgm:t>
    </dgm:pt>
    <dgm:pt modelId="{4F359376-2D0F-4E27-979A-A3D1E6421EEA}" type="sibTrans" cxnId="{89B15954-0791-480D-AA29-535462992858}">
      <dgm:prSet/>
      <dgm:spPr/>
      <dgm:t>
        <a:bodyPr/>
        <a:lstStyle/>
        <a:p>
          <a:endParaRPr lang="en-GB"/>
        </a:p>
      </dgm:t>
    </dgm:pt>
    <dgm:pt modelId="{126AD3BD-8874-4E99-8E52-D7A1ED48BF11}">
      <dgm:prSet phldrT="[Text]"/>
      <dgm:spPr/>
      <dgm:t>
        <a:bodyPr/>
        <a:lstStyle/>
        <a:p>
          <a:r>
            <a:rPr lang="en-GB" dirty="0"/>
            <a:t>Scripting languages</a:t>
          </a:r>
        </a:p>
      </dgm:t>
    </dgm:pt>
    <dgm:pt modelId="{4506FECB-05FE-4233-8125-14BA1BBB96F7}" type="parTrans" cxnId="{DB13BDB1-BDC6-4C26-9271-E9E5F2669A0F}">
      <dgm:prSet/>
      <dgm:spPr/>
      <dgm:t>
        <a:bodyPr/>
        <a:lstStyle/>
        <a:p>
          <a:endParaRPr lang="en-GB"/>
        </a:p>
      </dgm:t>
    </dgm:pt>
    <dgm:pt modelId="{5888889C-6038-4BDE-A627-92D3F901F048}" type="sibTrans" cxnId="{DB13BDB1-BDC6-4C26-9271-E9E5F2669A0F}">
      <dgm:prSet/>
      <dgm:spPr/>
      <dgm:t>
        <a:bodyPr/>
        <a:lstStyle/>
        <a:p>
          <a:endParaRPr lang="en-GB"/>
        </a:p>
      </dgm:t>
    </dgm:pt>
    <dgm:pt modelId="{7BFD0CB4-B27A-4260-98BB-DDACA84D9365}">
      <dgm:prSet phldrT="[Text]"/>
      <dgm:spPr/>
      <dgm:t>
        <a:bodyPr/>
        <a:lstStyle/>
        <a:p>
          <a:r>
            <a:rPr lang="en-GB" dirty="0"/>
            <a:t>Translate into native executable code each time application executed</a:t>
          </a:r>
        </a:p>
      </dgm:t>
    </dgm:pt>
    <dgm:pt modelId="{48CB68DD-59C2-47E0-8FDB-A4F12162F7D9}" type="parTrans" cxnId="{848C7881-0AAA-4E33-9CE3-9750EBCAED91}">
      <dgm:prSet/>
      <dgm:spPr/>
      <dgm:t>
        <a:bodyPr/>
        <a:lstStyle/>
        <a:p>
          <a:endParaRPr lang="en-GB"/>
        </a:p>
      </dgm:t>
    </dgm:pt>
    <dgm:pt modelId="{388C1E2D-060B-4BEF-BFED-641635B9050F}" type="sibTrans" cxnId="{848C7881-0AAA-4E33-9CE3-9750EBCAED91}">
      <dgm:prSet/>
      <dgm:spPr/>
      <dgm:t>
        <a:bodyPr/>
        <a:lstStyle/>
        <a:p>
          <a:endParaRPr lang="en-GB"/>
        </a:p>
      </dgm:t>
    </dgm:pt>
    <dgm:pt modelId="{3C054F72-684B-4C74-AED7-A3FC5B777C9F}" type="pres">
      <dgm:prSet presAssocID="{7B336238-CDDF-4A64-B9FB-F31CA319DD92}" presName="Name0" presStyleCnt="0">
        <dgm:presLayoutVars>
          <dgm:dir/>
          <dgm:animLvl val="lvl"/>
          <dgm:resizeHandles val="exact"/>
        </dgm:presLayoutVars>
      </dgm:prSet>
      <dgm:spPr/>
    </dgm:pt>
    <dgm:pt modelId="{E91B4591-8D9C-45D6-9120-AFF00CE406BB}" type="pres">
      <dgm:prSet presAssocID="{9374D03E-B531-4BD9-BB08-73E2616B0394}" presName="composite" presStyleCnt="0"/>
      <dgm:spPr/>
    </dgm:pt>
    <dgm:pt modelId="{4294E8D2-537D-4524-A37F-00746704E0F4}" type="pres">
      <dgm:prSet presAssocID="{9374D03E-B531-4BD9-BB08-73E2616B0394}" presName="parTx" presStyleLbl="alignNode1" presStyleIdx="0" presStyleCnt="3">
        <dgm:presLayoutVars>
          <dgm:chMax val="0"/>
          <dgm:chPref val="0"/>
          <dgm:bulletEnabled val="1"/>
        </dgm:presLayoutVars>
      </dgm:prSet>
      <dgm:spPr/>
    </dgm:pt>
    <dgm:pt modelId="{36666358-076C-43C1-A455-A964402B4FAA}" type="pres">
      <dgm:prSet presAssocID="{9374D03E-B531-4BD9-BB08-73E2616B0394}" presName="desTx" presStyleLbl="alignAccFollowNode1" presStyleIdx="0" presStyleCnt="3">
        <dgm:presLayoutVars>
          <dgm:bulletEnabled val="1"/>
        </dgm:presLayoutVars>
      </dgm:prSet>
      <dgm:spPr/>
    </dgm:pt>
    <dgm:pt modelId="{121574E3-E60D-4619-A366-CF8BA5A4DCC8}" type="pres">
      <dgm:prSet presAssocID="{46D556B1-A87B-4A5F-BBC3-FEDC5C1BB4F6}" presName="space" presStyleCnt="0"/>
      <dgm:spPr/>
    </dgm:pt>
    <dgm:pt modelId="{8736A46C-B7FE-434E-9ACB-CC12B435BB1D}" type="pres">
      <dgm:prSet presAssocID="{209CD1C1-1869-4FDE-B7FE-DC3A0436FE83}" presName="composite" presStyleCnt="0"/>
      <dgm:spPr/>
    </dgm:pt>
    <dgm:pt modelId="{B6357C7A-8573-4B04-BDE8-9B8EA34DE7CB}" type="pres">
      <dgm:prSet presAssocID="{209CD1C1-1869-4FDE-B7FE-DC3A0436FE83}" presName="parTx" presStyleLbl="alignNode1" presStyleIdx="1" presStyleCnt="3">
        <dgm:presLayoutVars>
          <dgm:chMax val="0"/>
          <dgm:chPref val="0"/>
          <dgm:bulletEnabled val="1"/>
        </dgm:presLayoutVars>
      </dgm:prSet>
      <dgm:spPr/>
    </dgm:pt>
    <dgm:pt modelId="{8FF37612-FCC5-4958-B3E5-C1ED8B5EDCAB}" type="pres">
      <dgm:prSet presAssocID="{209CD1C1-1869-4FDE-B7FE-DC3A0436FE83}" presName="desTx" presStyleLbl="alignAccFollowNode1" presStyleIdx="1" presStyleCnt="3">
        <dgm:presLayoutVars>
          <dgm:bulletEnabled val="1"/>
        </dgm:presLayoutVars>
      </dgm:prSet>
      <dgm:spPr/>
    </dgm:pt>
    <dgm:pt modelId="{DB3E8FD0-C209-4BF8-AE8E-087ABF4DB6D2}" type="pres">
      <dgm:prSet presAssocID="{31BF0171-ABB1-4290-86E2-C14235DFFCF3}" presName="space" presStyleCnt="0"/>
      <dgm:spPr/>
    </dgm:pt>
    <dgm:pt modelId="{537C275F-D24F-440A-AE8E-EE34AA1DDEEE}" type="pres">
      <dgm:prSet presAssocID="{126AD3BD-8874-4E99-8E52-D7A1ED48BF11}" presName="composite" presStyleCnt="0"/>
      <dgm:spPr/>
    </dgm:pt>
    <dgm:pt modelId="{27252007-1ADF-41D0-A015-1266E724A8D7}" type="pres">
      <dgm:prSet presAssocID="{126AD3BD-8874-4E99-8E52-D7A1ED48BF11}" presName="parTx" presStyleLbl="alignNode1" presStyleIdx="2" presStyleCnt="3" custLinFactNeighborX="103" custLinFactNeighborY="-1803">
        <dgm:presLayoutVars>
          <dgm:chMax val="0"/>
          <dgm:chPref val="0"/>
          <dgm:bulletEnabled val="1"/>
        </dgm:presLayoutVars>
      </dgm:prSet>
      <dgm:spPr/>
    </dgm:pt>
    <dgm:pt modelId="{C89453C9-4CCA-4296-A477-6EC1793ECFC7}" type="pres">
      <dgm:prSet presAssocID="{126AD3BD-8874-4E99-8E52-D7A1ED48BF11}" presName="desTx" presStyleLbl="alignAccFollowNode1" presStyleIdx="2" presStyleCnt="3">
        <dgm:presLayoutVars>
          <dgm:bulletEnabled val="1"/>
        </dgm:presLayoutVars>
      </dgm:prSet>
      <dgm:spPr/>
    </dgm:pt>
  </dgm:ptLst>
  <dgm:cxnLst>
    <dgm:cxn modelId="{C7F1AD26-2542-46E7-9852-D6C1A0EDD7B6}" srcId="{7B336238-CDDF-4A64-B9FB-F31CA319DD92}" destId="{209CD1C1-1869-4FDE-B7FE-DC3A0436FE83}" srcOrd="1" destOrd="0" parTransId="{F73C5BDB-B8F7-406D-BE6F-6D78477572CB}" sibTransId="{31BF0171-ABB1-4290-86E2-C14235DFFCF3}"/>
    <dgm:cxn modelId="{CCD7EB28-5122-4A55-9B57-9DE64C2EF61F}" type="presOf" srcId="{7B336238-CDDF-4A64-B9FB-F31CA319DD92}" destId="{3C054F72-684B-4C74-AED7-A3FC5B777C9F}" srcOrd="0" destOrd="0" presId="urn:microsoft.com/office/officeart/2005/8/layout/hList1"/>
    <dgm:cxn modelId="{02E0442C-1139-4692-8C94-6640F447E6AD}" type="presOf" srcId="{7BFD0CB4-B27A-4260-98BB-DDACA84D9365}" destId="{C89453C9-4CCA-4296-A477-6EC1793ECFC7}" srcOrd="0" destOrd="0" presId="urn:microsoft.com/office/officeart/2005/8/layout/hList1"/>
    <dgm:cxn modelId="{3CFED241-C8F2-4838-BDEC-6E6B867268D6}" type="presOf" srcId="{6F2EED93-2022-41B4-870D-55271BBBA550}" destId="{8FF37612-FCC5-4958-B3E5-C1ED8B5EDCAB}" srcOrd="0" destOrd="0" presId="urn:microsoft.com/office/officeart/2005/8/layout/hList1"/>
    <dgm:cxn modelId="{08837746-C612-43D6-8F9D-2464517E4FD4}" srcId="{7B336238-CDDF-4A64-B9FB-F31CA319DD92}" destId="{9374D03E-B531-4BD9-BB08-73E2616B0394}" srcOrd="0" destOrd="0" parTransId="{06493301-DECD-4669-B4BD-B0BA205E8E0A}" sibTransId="{46D556B1-A87B-4A5F-BBC3-FEDC5C1BB4F6}"/>
    <dgm:cxn modelId="{E7D71D6E-853B-4142-A604-5403B725CFA5}" type="presOf" srcId="{126AD3BD-8874-4E99-8E52-D7A1ED48BF11}" destId="{27252007-1ADF-41D0-A015-1266E724A8D7}" srcOrd="0" destOrd="0" presId="urn:microsoft.com/office/officeart/2005/8/layout/hList1"/>
    <dgm:cxn modelId="{89B15954-0791-480D-AA29-535462992858}" srcId="{209CD1C1-1869-4FDE-B7FE-DC3A0436FE83}" destId="{825607FF-2304-48CC-9A4A-8D50B5544769}" srcOrd="1" destOrd="0" parTransId="{4572B160-E90D-46CA-82B4-0DAEC69A7A7B}" sibTransId="{4F359376-2D0F-4E27-979A-A3D1E6421EEA}"/>
    <dgm:cxn modelId="{848C7881-0AAA-4E33-9CE3-9750EBCAED91}" srcId="{126AD3BD-8874-4E99-8E52-D7A1ED48BF11}" destId="{7BFD0CB4-B27A-4260-98BB-DDACA84D9365}" srcOrd="0" destOrd="0" parTransId="{48CB68DD-59C2-47E0-8FDB-A4F12162F7D9}" sibTransId="{388C1E2D-060B-4BEF-BFED-641635B9050F}"/>
    <dgm:cxn modelId="{4FFBE285-3C01-4B61-8056-8A2E123A8685}" srcId="{9374D03E-B531-4BD9-BB08-73E2616B0394}" destId="{8477D821-2AA0-4CEF-9A11-796D008A9F07}" srcOrd="0" destOrd="0" parTransId="{DC0E801B-2633-45B3-8919-D3CAE994885A}" sibTransId="{8CDD8A1B-0BF7-4436-8C25-01DEC28BF83C}"/>
    <dgm:cxn modelId="{7CE4BF8A-FAA1-4FAC-8DC7-A349B88ECA47}" type="presOf" srcId="{825607FF-2304-48CC-9A4A-8D50B5544769}" destId="{8FF37612-FCC5-4958-B3E5-C1ED8B5EDCAB}" srcOrd="0" destOrd="1" presId="urn:microsoft.com/office/officeart/2005/8/layout/hList1"/>
    <dgm:cxn modelId="{DB13BDB1-BDC6-4C26-9271-E9E5F2669A0F}" srcId="{7B336238-CDDF-4A64-B9FB-F31CA319DD92}" destId="{126AD3BD-8874-4E99-8E52-D7A1ED48BF11}" srcOrd="2" destOrd="0" parTransId="{4506FECB-05FE-4233-8125-14BA1BBB96F7}" sibTransId="{5888889C-6038-4BDE-A627-92D3F901F048}"/>
    <dgm:cxn modelId="{7B3B85BB-4212-4FA6-A706-253F58D2B120}" type="presOf" srcId="{8477D821-2AA0-4CEF-9A11-796D008A9F07}" destId="{36666358-076C-43C1-A455-A964402B4FAA}" srcOrd="0" destOrd="0" presId="urn:microsoft.com/office/officeart/2005/8/layout/hList1"/>
    <dgm:cxn modelId="{EFE146C6-3E87-42B4-B06A-195A8B1C7A90}" type="presOf" srcId="{209CD1C1-1869-4FDE-B7FE-DC3A0436FE83}" destId="{B6357C7A-8573-4B04-BDE8-9B8EA34DE7CB}" srcOrd="0" destOrd="0" presId="urn:microsoft.com/office/officeart/2005/8/layout/hList1"/>
    <dgm:cxn modelId="{1ED038D7-5A8B-4CEB-8284-111AE1A7E8FC}" srcId="{209CD1C1-1869-4FDE-B7FE-DC3A0436FE83}" destId="{6F2EED93-2022-41B4-870D-55271BBBA550}" srcOrd="0" destOrd="0" parTransId="{6ABDAC8B-22DB-4AF0-9831-B244F72FA077}" sibTransId="{06AC7771-A800-4D6E-A2BD-E73D7C7788CB}"/>
    <dgm:cxn modelId="{E40141EF-2871-4439-B21E-39048069BBE4}" type="presOf" srcId="{9374D03E-B531-4BD9-BB08-73E2616B0394}" destId="{4294E8D2-537D-4524-A37F-00746704E0F4}" srcOrd="0" destOrd="0" presId="urn:microsoft.com/office/officeart/2005/8/layout/hList1"/>
    <dgm:cxn modelId="{1E1BEB53-DDEA-4775-9BFE-88AEC95DA838}" type="presParOf" srcId="{3C054F72-684B-4C74-AED7-A3FC5B777C9F}" destId="{E91B4591-8D9C-45D6-9120-AFF00CE406BB}" srcOrd="0" destOrd="0" presId="urn:microsoft.com/office/officeart/2005/8/layout/hList1"/>
    <dgm:cxn modelId="{E3C24D8C-0894-4916-8DFC-E5066E6E8346}" type="presParOf" srcId="{E91B4591-8D9C-45D6-9120-AFF00CE406BB}" destId="{4294E8D2-537D-4524-A37F-00746704E0F4}" srcOrd="0" destOrd="0" presId="urn:microsoft.com/office/officeart/2005/8/layout/hList1"/>
    <dgm:cxn modelId="{4BE581EF-C661-4876-94FC-555F840AAB16}" type="presParOf" srcId="{E91B4591-8D9C-45D6-9120-AFF00CE406BB}" destId="{36666358-076C-43C1-A455-A964402B4FAA}" srcOrd="1" destOrd="0" presId="urn:microsoft.com/office/officeart/2005/8/layout/hList1"/>
    <dgm:cxn modelId="{361296F8-2FF0-4F7C-860A-1FBD6E66C48A}" type="presParOf" srcId="{3C054F72-684B-4C74-AED7-A3FC5B777C9F}" destId="{121574E3-E60D-4619-A366-CF8BA5A4DCC8}" srcOrd="1" destOrd="0" presId="urn:microsoft.com/office/officeart/2005/8/layout/hList1"/>
    <dgm:cxn modelId="{FC4BF984-D05C-4638-AC23-A5A167931CE9}" type="presParOf" srcId="{3C054F72-684B-4C74-AED7-A3FC5B777C9F}" destId="{8736A46C-B7FE-434E-9ACB-CC12B435BB1D}" srcOrd="2" destOrd="0" presId="urn:microsoft.com/office/officeart/2005/8/layout/hList1"/>
    <dgm:cxn modelId="{4ADDA42D-286E-48A8-80DA-3813BF698DE4}" type="presParOf" srcId="{8736A46C-B7FE-434E-9ACB-CC12B435BB1D}" destId="{B6357C7A-8573-4B04-BDE8-9B8EA34DE7CB}" srcOrd="0" destOrd="0" presId="urn:microsoft.com/office/officeart/2005/8/layout/hList1"/>
    <dgm:cxn modelId="{057E9F9D-D5F0-41A1-A08C-AA8E60C188C0}" type="presParOf" srcId="{8736A46C-B7FE-434E-9ACB-CC12B435BB1D}" destId="{8FF37612-FCC5-4958-B3E5-C1ED8B5EDCAB}" srcOrd="1" destOrd="0" presId="urn:microsoft.com/office/officeart/2005/8/layout/hList1"/>
    <dgm:cxn modelId="{2B8AD3E7-25D3-4524-B9E3-905AED6B5A04}" type="presParOf" srcId="{3C054F72-684B-4C74-AED7-A3FC5B777C9F}" destId="{DB3E8FD0-C209-4BF8-AE8E-087ABF4DB6D2}" srcOrd="3" destOrd="0" presId="urn:microsoft.com/office/officeart/2005/8/layout/hList1"/>
    <dgm:cxn modelId="{0266AC6F-3BAD-45B7-9D05-8A509DBB0006}" type="presParOf" srcId="{3C054F72-684B-4C74-AED7-A3FC5B777C9F}" destId="{537C275F-D24F-440A-AE8E-EE34AA1DDEEE}" srcOrd="4" destOrd="0" presId="urn:microsoft.com/office/officeart/2005/8/layout/hList1"/>
    <dgm:cxn modelId="{71FFA91C-CDE4-478B-AADE-E1DB165FED2F}" type="presParOf" srcId="{537C275F-D24F-440A-AE8E-EE34AA1DDEEE}" destId="{27252007-1ADF-41D0-A015-1266E724A8D7}" srcOrd="0" destOrd="0" presId="urn:microsoft.com/office/officeart/2005/8/layout/hList1"/>
    <dgm:cxn modelId="{7087E103-7057-4A1B-A4A7-B007D611272A}" type="presParOf" srcId="{537C275F-D24F-440A-AE8E-EE34AA1DDEEE}" destId="{C89453C9-4CCA-4296-A477-6EC1793ECFC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336238-CDDF-4A64-B9FB-F31CA319DD92}" type="doc">
      <dgm:prSet loTypeId="urn:microsoft.com/office/officeart/2005/8/layout/hList1" loCatId="list" qsTypeId="urn:microsoft.com/office/officeart/2005/8/quickstyle/simple1" qsCatId="simple" csTypeId="urn:microsoft.com/office/officeart/2005/8/colors/accent6_2" csCatId="accent6" phldr="1"/>
      <dgm:spPr/>
      <dgm:t>
        <a:bodyPr/>
        <a:lstStyle/>
        <a:p>
          <a:endParaRPr lang="en-GB"/>
        </a:p>
      </dgm:t>
    </dgm:pt>
    <dgm:pt modelId="{8477D821-2AA0-4CEF-9A11-796D008A9F07}">
      <dgm:prSet phldrT="[Text]"/>
      <dgm:spPr/>
      <dgm:t>
        <a:bodyPr/>
        <a:lstStyle/>
        <a:p>
          <a:r>
            <a:rPr lang="en-GB" dirty="0"/>
            <a:t>Cross-platform security flaws</a:t>
          </a:r>
        </a:p>
      </dgm:t>
    </dgm:pt>
    <dgm:pt modelId="{DC0E801B-2633-45B3-8919-D3CAE994885A}" type="parTrans" cxnId="{4FFBE285-3C01-4B61-8056-8A2E123A8685}">
      <dgm:prSet/>
      <dgm:spPr/>
      <dgm:t>
        <a:bodyPr/>
        <a:lstStyle/>
        <a:p>
          <a:endParaRPr lang="en-GB"/>
        </a:p>
      </dgm:t>
    </dgm:pt>
    <dgm:pt modelId="{8CDD8A1B-0BF7-4436-8C25-01DEC28BF83C}" type="sibTrans" cxnId="{4FFBE285-3C01-4B61-8056-8A2E123A8685}">
      <dgm:prSet/>
      <dgm:spPr/>
      <dgm:t>
        <a:bodyPr/>
        <a:lstStyle/>
        <a:p>
          <a:endParaRPr lang="en-GB"/>
        </a:p>
      </dgm:t>
    </dgm:pt>
    <dgm:pt modelId="{6F2EED93-2022-41B4-870D-55271BBBA550}">
      <dgm:prSet phldrT="[Text]"/>
      <dgm:spPr/>
      <dgm:t>
        <a:bodyPr/>
        <a:lstStyle/>
        <a:p>
          <a:r>
            <a:rPr lang="en-GB" dirty="0"/>
            <a:t>Need to support multiple versions</a:t>
          </a:r>
        </a:p>
      </dgm:t>
    </dgm:pt>
    <dgm:pt modelId="{6ABDAC8B-22DB-4AF0-9831-B244F72FA077}" type="parTrans" cxnId="{1ED038D7-5A8B-4CEB-8284-111AE1A7E8FC}">
      <dgm:prSet/>
      <dgm:spPr/>
      <dgm:t>
        <a:bodyPr/>
        <a:lstStyle/>
        <a:p>
          <a:endParaRPr lang="en-GB"/>
        </a:p>
      </dgm:t>
    </dgm:pt>
    <dgm:pt modelId="{06AC7771-A800-4D6E-A2BD-E73D7C7788CB}" type="sibTrans" cxnId="{1ED038D7-5A8B-4CEB-8284-111AE1A7E8FC}">
      <dgm:prSet/>
      <dgm:spPr/>
      <dgm:t>
        <a:bodyPr/>
        <a:lstStyle/>
        <a:p>
          <a:endParaRPr lang="en-GB"/>
        </a:p>
      </dgm:t>
    </dgm:pt>
    <dgm:pt modelId="{126AD3BD-8874-4E99-8E52-D7A1ED48BF11}">
      <dgm:prSet phldrT="[Text]"/>
      <dgm:spPr/>
      <dgm:t>
        <a:bodyPr/>
        <a:lstStyle/>
        <a:p>
          <a:r>
            <a:rPr lang="en-GB" dirty="0"/>
            <a:t>Configuration management / version control</a:t>
          </a:r>
        </a:p>
      </dgm:t>
    </dgm:pt>
    <dgm:pt modelId="{4506FECB-05FE-4233-8125-14BA1BBB96F7}" type="parTrans" cxnId="{DB13BDB1-BDC6-4C26-9271-E9E5F2669A0F}">
      <dgm:prSet/>
      <dgm:spPr/>
      <dgm:t>
        <a:bodyPr/>
        <a:lstStyle/>
        <a:p>
          <a:endParaRPr lang="en-GB"/>
        </a:p>
      </dgm:t>
    </dgm:pt>
    <dgm:pt modelId="{5888889C-6038-4BDE-A627-92D3F901F048}" type="sibTrans" cxnId="{DB13BDB1-BDC6-4C26-9271-E9E5F2669A0F}">
      <dgm:prSet/>
      <dgm:spPr/>
      <dgm:t>
        <a:bodyPr/>
        <a:lstStyle/>
        <a:p>
          <a:endParaRPr lang="en-GB"/>
        </a:p>
      </dgm:t>
    </dgm:pt>
    <dgm:pt modelId="{7BFD0CB4-B27A-4260-98BB-DDACA84D9365}">
      <dgm:prSet phldrT="[Text]"/>
      <dgm:spPr/>
      <dgm:t>
        <a:bodyPr/>
        <a:lstStyle/>
        <a:p>
          <a:r>
            <a:rPr lang="en-GB" dirty="0"/>
            <a:t>More complex</a:t>
          </a:r>
        </a:p>
      </dgm:t>
    </dgm:pt>
    <dgm:pt modelId="{48CB68DD-59C2-47E0-8FDB-A4F12162F7D9}" type="parTrans" cxnId="{848C7881-0AAA-4E33-9CE3-9750EBCAED91}">
      <dgm:prSet/>
      <dgm:spPr/>
      <dgm:t>
        <a:bodyPr/>
        <a:lstStyle/>
        <a:p>
          <a:endParaRPr lang="en-GB"/>
        </a:p>
      </dgm:t>
    </dgm:pt>
    <dgm:pt modelId="{388C1E2D-060B-4BEF-BFED-641635B9050F}" type="sibTrans" cxnId="{848C7881-0AAA-4E33-9CE3-9750EBCAED91}">
      <dgm:prSet/>
      <dgm:spPr/>
      <dgm:t>
        <a:bodyPr/>
        <a:lstStyle/>
        <a:p>
          <a:endParaRPr lang="en-GB"/>
        </a:p>
      </dgm:t>
    </dgm:pt>
    <dgm:pt modelId="{209CD1C1-1869-4FDE-B7FE-DC3A0436FE83}">
      <dgm:prSet phldrT="[Text]"/>
      <dgm:spPr/>
      <dgm:t>
        <a:bodyPr/>
        <a:lstStyle/>
        <a:p>
          <a:r>
            <a:rPr lang="en-GB" dirty="0"/>
            <a:t>Maintenance</a:t>
          </a:r>
        </a:p>
      </dgm:t>
    </dgm:pt>
    <dgm:pt modelId="{31BF0171-ABB1-4290-86E2-C14235DFFCF3}" type="sibTrans" cxnId="{C7F1AD26-2542-46E7-9852-D6C1A0EDD7B6}">
      <dgm:prSet/>
      <dgm:spPr/>
      <dgm:t>
        <a:bodyPr/>
        <a:lstStyle/>
        <a:p>
          <a:endParaRPr lang="en-GB"/>
        </a:p>
      </dgm:t>
    </dgm:pt>
    <dgm:pt modelId="{F73C5BDB-B8F7-406D-BE6F-6D78477572CB}" type="parTrans" cxnId="{C7F1AD26-2542-46E7-9852-D6C1A0EDD7B6}">
      <dgm:prSet/>
      <dgm:spPr/>
      <dgm:t>
        <a:bodyPr/>
        <a:lstStyle/>
        <a:p>
          <a:endParaRPr lang="en-GB"/>
        </a:p>
      </dgm:t>
    </dgm:pt>
    <dgm:pt modelId="{9374D03E-B531-4BD9-BB08-73E2616B0394}">
      <dgm:prSet phldrT="[Text]"/>
      <dgm:spPr/>
      <dgm:t>
        <a:bodyPr/>
        <a:lstStyle/>
        <a:p>
          <a:r>
            <a:rPr lang="en-GB" dirty="0"/>
            <a:t>Security</a:t>
          </a:r>
        </a:p>
      </dgm:t>
    </dgm:pt>
    <dgm:pt modelId="{46D556B1-A87B-4A5F-BBC3-FEDC5C1BB4F6}" type="sibTrans" cxnId="{08837746-C612-43D6-8F9D-2464517E4FD4}">
      <dgm:prSet/>
      <dgm:spPr/>
      <dgm:t>
        <a:bodyPr/>
        <a:lstStyle/>
        <a:p>
          <a:endParaRPr lang="en-GB"/>
        </a:p>
      </dgm:t>
    </dgm:pt>
    <dgm:pt modelId="{06493301-DECD-4669-B4BD-B0BA205E8E0A}" type="parTrans" cxnId="{08837746-C612-43D6-8F9D-2464517E4FD4}">
      <dgm:prSet/>
      <dgm:spPr/>
      <dgm:t>
        <a:bodyPr/>
        <a:lstStyle/>
        <a:p>
          <a:endParaRPr lang="en-GB"/>
        </a:p>
      </dgm:t>
    </dgm:pt>
    <dgm:pt modelId="{3C054F72-684B-4C74-AED7-A3FC5B777C9F}" type="pres">
      <dgm:prSet presAssocID="{7B336238-CDDF-4A64-B9FB-F31CA319DD92}" presName="Name0" presStyleCnt="0">
        <dgm:presLayoutVars>
          <dgm:dir/>
          <dgm:animLvl val="lvl"/>
          <dgm:resizeHandles val="exact"/>
        </dgm:presLayoutVars>
      </dgm:prSet>
      <dgm:spPr/>
    </dgm:pt>
    <dgm:pt modelId="{E91B4591-8D9C-45D6-9120-AFF00CE406BB}" type="pres">
      <dgm:prSet presAssocID="{9374D03E-B531-4BD9-BB08-73E2616B0394}" presName="composite" presStyleCnt="0"/>
      <dgm:spPr/>
    </dgm:pt>
    <dgm:pt modelId="{4294E8D2-537D-4524-A37F-00746704E0F4}" type="pres">
      <dgm:prSet presAssocID="{9374D03E-B531-4BD9-BB08-73E2616B0394}" presName="parTx" presStyleLbl="alignNode1" presStyleIdx="0" presStyleCnt="3">
        <dgm:presLayoutVars>
          <dgm:chMax val="0"/>
          <dgm:chPref val="0"/>
          <dgm:bulletEnabled val="1"/>
        </dgm:presLayoutVars>
      </dgm:prSet>
      <dgm:spPr/>
    </dgm:pt>
    <dgm:pt modelId="{36666358-076C-43C1-A455-A964402B4FAA}" type="pres">
      <dgm:prSet presAssocID="{9374D03E-B531-4BD9-BB08-73E2616B0394}" presName="desTx" presStyleLbl="alignAccFollowNode1" presStyleIdx="0" presStyleCnt="3">
        <dgm:presLayoutVars>
          <dgm:bulletEnabled val="1"/>
        </dgm:presLayoutVars>
      </dgm:prSet>
      <dgm:spPr/>
    </dgm:pt>
    <dgm:pt modelId="{121574E3-E60D-4619-A366-CF8BA5A4DCC8}" type="pres">
      <dgm:prSet presAssocID="{46D556B1-A87B-4A5F-BBC3-FEDC5C1BB4F6}" presName="space" presStyleCnt="0"/>
      <dgm:spPr/>
    </dgm:pt>
    <dgm:pt modelId="{8736A46C-B7FE-434E-9ACB-CC12B435BB1D}" type="pres">
      <dgm:prSet presAssocID="{209CD1C1-1869-4FDE-B7FE-DC3A0436FE83}" presName="composite" presStyleCnt="0"/>
      <dgm:spPr/>
    </dgm:pt>
    <dgm:pt modelId="{B6357C7A-8573-4B04-BDE8-9B8EA34DE7CB}" type="pres">
      <dgm:prSet presAssocID="{209CD1C1-1869-4FDE-B7FE-DC3A0436FE83}" presName="parTx" presStyleLbl="alignNode1" presStyleIdx="1" presStyleCnt="3">
        <dgm:presLayoutVars>
          <dgm:chMax val="0"/>
          <dgm:chPref val="0"/>
          <dgm:bulletEnabled val="1"/>
        </dgm:presLayoutVars>
      </dgm:prSet>
      <dgm:spPr/>
    </dgm:pt>
    <dgm:pt modelId="{8FF37612-FCC5-4958-B3E5-C1ED8B5EDCAB}" type="pres">
      <dgm:prSet presAssocID="{209CD1C1-1869-4FDE-B7FE-DC3A0436FE83}" presName="desTx" presStyleLbl="alignAccFollowNode1" presStyleIdx="1" presStyleCnt="3">
        <dgm:presLayoutVars>
          <dgm:bulletEnabled val="1"/>
        </dgm:presLayoutVars>
      </dgm:prSet>
      <dgm:spPr/>
    </dgm:pt>
    <dgm:pt modelId="{DB3E8FD0-C209-4BF8-AE8E-087ABF4DB6D2}" type="pres">
      <dgm:prSet presAssocID="{31BF0171-ABB1-4290-86E2-C14235DFFCF3}" presName="space" presStyleCnt="0"/>
      <dgm:spPr/>
    </dgm:pt>
    <dgm:pt modelId="{537C275F-D24F-440A-AE8E-EE34AA1DDEEE}" type="pres">
      <dgm:prSet presAssocID="{126AD3BD-8874-4E99-8E52-D7A1ED48BF11}" presName="composite" presStyleCnt="0"/>
      <dgm:spPr/>
    </dgm:pt>
    <dgm:pt modelId="{27252007-1ADF-41D0-A015-1266E724A8D7}" type="pres">
      <dgm:prSet presAssocID="{126AD3BD-8874-4E99-8E52-D7A1ED48BF11}" presName="parTx" presStyleLbl="alignNode1" presStyleIdx="2" presStyleCnt="3">
        <dgm:presLayoutVars>
          <dgm:chMax val="0"/>
          <dgm:chPref val="0"/>
          <dgm:bulletEnabled val="1"/>
        </dgm:presLayoutVars>
      </dgm:prSet>
      <dgm:spPr/>
    </dgm:pt>
    <dgm:pt modelId="{C89453C9-4CCA-4296-A477-6EC1793ECFC7}" type="pres">
      <dgm:prSet presAssocID="{126AD3BD-8874-4E99-8E52-D7A1ED48BF11}" presName="desTx" presStyleLbl="alignAccFollowNode1" presStyleIdx="2" presStyleCnt="3">
        <dgm:presLayoutVars>
          <dgm:bulletEnabled val="1"/>
        </dgm:presLayoutVars>
      </dgm:prSet>
      <dgm:spPr/>
    </dgm:pt>
  </dgm:ptLst>
  <dgm:cxnLst>
    <dgm:cxn modelId="{C7F1AD26-2542-46E7-9852-D6C1A0EDD7B6}" srcId="{7B336238-CDDF-4A64-B9FB-F31CA319DD92}" destId="{209CD1C1-1869-4FDE-B7FE-DC3A0436FE83}" srcOrd="1" destOrd="0" parTransId="{F73C5BDB-B8F7-406D-BE6F-6D78477572CB}" sibTransId="{31BF0171-ABB1-4290-86E2-C14235DFFCF3}"/>
    <dgm:cxn modelId="{CCD7EB28-5122-4A55-9B57-9DE64C2EF61F}" type="presOf" srcId="{7B336238-CDDF-4A64-B9FB-F31CA319DD92}" destId="{3C054F72-684B-4C74-AED7-A3FC5B777C9F}" srcOrd="0" destOrd="0" presId="urn:microsoft.com/office/officeart/2005/8/layout/hList1"/>
    <dgm:cxn modelId="{02E0442C-1139-4692-8C94-6640F447E6AD}" type="presOf" srcId="{7BFD0CB4-B27A-4260-98BB-DDACA84D9365}" destId="{C89453C9-4CCA-4296-A477-6EC1793ECFC7}" srcOrd="0" destOrd="0" presId="urn:microsoft.com/office/officeart/2005/8/layout/hList1"/>
    <dgm:cxn modelId="{3CFED241-C8F2-4838-BDEC-6E6B867268D6}" type="presOf" srcId="{6F2EED93-2022-41B4-870D-55271BBBA550}" destId="{8FF37612-FCC5-4958-B3E5-C1ED8B5EDCAB}" srcOrd="0" destOrd="0" presId="urn:microsoft.com/office/officeart/2005/8/layout/hList1"/>
    <dgm:cxn modelId="{08837746-C612-43D6-8F9D-2464517E4FD4}" srcId="{7B336238-CDDF-4A64-B9FB-F31CA319DD92}" destId="{9374D03E-B531-4BD9-BB08-73E2616B0394}" srcOrd="0" destOrd="0" parTransId="{06493301-DECD-4669-B4BD-B0BA205E8E0A}" sibTransId="{46D556B1-A87B-4A5F-BBC3-FEDC5C1BB4F6}"/>
    <dgm:cxn modelId="{E7D71D6E-853B-4142-A604-5403B725CFA5}" type="presOf" srcId="{126AD3BD-8874-4E99-8E52-D7A1ED48BF11}" destId="{27252007-1ADF-41D0-A015-1266E724A8D7}" srcOrd="0" destOrd="0" presId="urn:microsoft.com/office/officeart/2005/8/layout/hList1"/>
    <dgm:cxn modelId="{848C7881-0AAA-4E33-9CE3-9750EBCAED91}" srcId="{126AD3BD-8874-4E99-8E52-D7A1ED48BF11}" destId="{7BFD0CB4-B27A-4260-98BB-DDACA84D9365}" srcOrd="0" destOrd="0" parTransId="{48CB68DD-59C2-47E0-8FDB-A4F12162F7D9}" sibTransId="{388C1E2D-060B-4BEF-BFED-641635B9050F}"/>
    <dgm:cxn modelId="{4FFBE285-3C01-4B61-8056-8A2E123A8685}" srcId="{9374D03E-B531-4BD9-BB08-73E2616B0394}" destId="{8477D821-2AA0-4CEF-9A11-796D008A9F07}" srcOrd="0" destOrd="0" parTransId="{DC0E801B-2633-45B3-8919-D3CAE994885A}" sibTransId="{8CDD8A1B-0BF7-4436-8C25-01DEC28BF83C}"/>
    <dgm:cxn modelId="{DB13BDB1-BDC6-4C26-9271-E9E5F2669A0F}" srcId="{7B336238-CDDF-4A64-B9FB-F31CA319DD92}" destId="{126AD3BD-8874-4E99-8E52-D7A1ED48BF11}" srcOrd="2" destOrd="0" parTransId="{4506FECB-05FE-4233-8125-14BA1BBB96F7}" sibTransId="{5888889C-6038-4BDE-A627-92D3F901F048}"/>
    <dgm:cxn modelId="{7B3B85BB-4212-4FA6-A706-253F58D2B120}" type="presOf" srcId="{8477D821-2AA0-4CEF-9A11-796D008A9F07}" destId="{36666358-076C-43C1-A455-A964402B4FAA}" srcOrd="0" destOrd="0" presId="urn:microsoft.com/office/officeart/2005/8/layout/hList1"/>
    <dgm:cxn modelId="{EFE146C6-3E87-42B4-B06A-195A8B1C7A90}" type="presOf" srcId="{209CD1C1-1869-4FDE-B7FE-DC3A0436FE83}" destId="{B6357C7A-8573-4B04-BDE8-9B8EA34DE7CB}" srcOrd="0" destOrd="0" presId="urn:microsoft.com/office/officeart/2005/8/layout/hList1"/>
    <dgm:cxn modelId="{1ED038D7-5A8B-4CEB-8284-111AE1A7E8FC}" srcId="{209CD1C1-1869-4FDE-B7FE-DC3A0436FE83}" destId="{6F2EED93-2022-41B4-870D-55271BBBA550}" srcOrd="0" destOrd="0" parTransId="{6ABDAC8B-22DB-4AF0-9831-B244F72FA077}" sibTransId="{06AC7771-A800-4D6E-A2BD-E73D7C7788CB}"/>
    <dgm:cxn modelId="{E40141EF-2871-4439-B21E-39048069BBE4}" type="presOf" srcId="{9374D03E-B531-4BD9-BB08-73E2616B0394}" destId="{4294E8D2-537D-4524-A37F-00746704E0F4}" srcOrd="0" destOrd="0" presId="urn:microsoft.com/office/officeart/2005/8/layout/hList1"/>
    <dgm:cxn modelId="{1E1BEB53-DDEA-4775-9BFE-88AEC95DA838}" type="presParOf" srcId="{3C054F72-684B-4C74-AED7-A3FC5B777C9F}" destId="{E91B4591-8D9C-45D6-9120-AFF00CE406BB}" srcOrd="0" destOrd="0" presId="urn:microsoft.com/office/officeart/2005/8/layout/hList1"/>
    <dgm:cxn modelId="{E3C24D8C-0894-4916-8DFC-E5066E6E8346}" type="presParOf" srcId="{E91B4591-8D9C-45D6-9120-AFF00CE406BB}" destId="{4294E8D2-537D-4524-A37F-00746704E0F4}" srcOrd="0" destOrd="0" presId="urn:microsoft.com/office/officeart/2005/8/layout/hList1"/>
    <dgm:cxn modelId="{4BE581EF-C661-4876-94FC-555F840AAB16}" type="presParOf" srcId="{E91B4591-8D9C-45D6-9120-AFF00CE406BB}" destId="{36666358-076C-43C1-A455-A964402B4FAA}" srcOrd="1" destOrd="0" presId="urn:microsoft.com/office/officeart/2005/8/layout/hList1"/>
    <dgm:cxn modelId="{361296F8-2FF0-4F7C-860A-1FBD6E66C48A}" type="presParOf" srcId="{3C054F72-684B-4C74-AED7-A3FC5B777C9F}" destId="{121574E3-E60D-4619-A366-CF8BA5A4DCC8}" srcOrd="1" destOrd="0" presId="urn:microsoft.com/office/officeart/2005/8/layout/hList1"/>
    <dgm:cxn modelId="{FC4BF984-D05C-4638-AC23-A5A167931CE9}" type="presParOf" srcId="{3C054F72-684B-4C74-AED7-A3FC5B777C9F}" destId="{8736A46C-B7FE-434E-9ACB-CC12B435BB1D}" srcOrd="2" destOrd="0" presId="urn:microsoft.com/office/officeart/2005/8/layout/hList1"/>
    <dgm:cxn modelId="{4ADDA42D-286E-48A8-80DA-3813BF698DE4}" type="presParOf" srcId="{8736A46C-B7FE-434E-9ACB-CC12B435BB1D}" destId="{B6357C7A-8573-4B04-BDE8-9B8EA34DE7CB}" srcOrd="0" destOrd="0" presId="urn:microsoft.com/office/officeart/2005/8/layout/hList1"/>
    <dgm:cxn modelId="{057E9F9D-D5F0-41A1-A08C-AA8E60C188C0}" type="presParOf" srcId="{8736A46C-B7FE-434E-9ACB-CC12B435BB1D}" destId="{8FF37612-FCC5-4958-B3E5-C1ED8B5EDCAB}" srcOrd="1" destOrd="0" presId="urn:microsoft.com/office/officeart/2005/8/layout/hList1"/>
    <dgm:cxn modelId="{2B8AD3E7-25D3-4524-B9E3-905AED6B5A04}" type="presParOf" srcId="{3C054F72-684B-4C74-AED7-A3FC5B777C9F}" destId="{DB3E8FD0-C209-4BF8-AE8E-087ABF4DB6D2}" srcOrd="3" destOrd="0" presId="urn:microsoft.com/office/officeart/2005/8/layout/hList1"/>
    <dgm:cxn modelId="{0266AC6F-3BAD-45B7-9D05-8A509DBB0006}" type="presParOf" srcId="{3C054F72-684B-4C74-AED7-A3FC5B777C9F}" destId="{537C275F-D24F-440A-AE8E-EE34AA1DDEEE}" srcOrd="4" destOrd="0" presId="urn:microsoft.com/office/officeart/2005/8/layout/hList1"/>
    <dgm:cxn modelId="{71FFA91C-CDE4-478B-AADE-E1DB165FED2F}" type="presParOf" srcId="{537C275F-D24F-440A-AE8E-EE34AA1DDEEE}" destId="{27252007-1ADF-41D0-A015-1266E724A8D7}" srcOrd="0" destOrd="0" presId="urn:microsoft.com/office/officeart/2005/8/layout/hList1"/>
    <dgm:cxn modelId="{7087E103-7057-4A1B-A4A7-B007D611272A}" type="presParOf" srcId="{537C275F-D24F-440A-AE8E-EE34AA1DDEEE}" destId="{C89453C9-4CCA-4296-A477-6EC1793ECFC7}"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94E8D2-537D-4524-A37F-00746704E0F4}">
      <dsp:nvSpPr>
        <dsp:cNvPr id="0" name=""/>
        <dsp:cNvSpPr/>
      </dsp:nvSpPr>
      <dsp:spPr>
        <a:xfrm>
          <a:off x="3063" y="9868"/>
          <a:ext cx="2987278" cy="547200"/>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GB" sz="1900" kern="1200" dirty="0"/>
            <a:t>Testing</a:t>
          </a:r>
        </a:p>
      </dsp:txBody>
      <dsp:txXfrm>
        <a:off x="3063" y="9868"/>
        <a:ext cx="2987278" cy="547200"/>
      </dsp:txXfrm>
    </dsp:sp>
    <dsp:sp modelId="{36666358-076C-43C1-A455-A964402B4FAA}">
      <dsp:nvSpPr>
        <dsp:cNvPr id="0" name=""/>
        <dsp:cNvSpPr/>
      </dsp:nvSpPr>
      <dsp:spPr>
        <a:xfrm>
          <a:off x="3063" y="557068"/>
          <a:ext cx="2987278" cy="1662440"/>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GB" sz="1900" kern="1200" dirty="0"/>
            <a:t>More complicated: each platform has different behaviours or subtle bugs</a:t>
          </a:r>
        </a:p>
      </dsp:txBody>
      <dsp:txXfrm>
        <a:off x="3063" y="557068"/>
        <a:ext cx="2987278" cy="1662440"/>
      </dsp:txXfrm>
    </dsp:sp>
    <dsp:sp modelId="{B6357C7A-8573-4B04-BDE8-9B8EA34DE7CB}">
      <dsp:nvSpPr>
        <dsp:cNvPr id="0" name=""/>
        <dsp:cNvSpPr/>
      </dsp:nvSpPr>
      <dsp:spPr>
        <a:xfrm>
          <a:off x="3408560" y="9868"/>
          <a:ext cx="2987278" cy="547200"/>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GB" sz="1900" kern="1200" dirty="0"/>
            <a:t>Development</a:t>
          </a:r>
        </a:p>
      </dsp:txBody>
      <dsp:txXfrm>
        <a:off x="3408560" y="9868"/>
        <a:ext cx="2987278" cy="547200"/>
      </dsp:txXfrm>
    </dsp:sp>
    <dsp:sp modelId="{8FF37612-FCC5-4958-B3E5-C1ED8B5EDCAB}">
      <dsp:nvSpPr>
        <dsp:cNvPr id="0" name=""/>
        <dsp:cNvSpPr/>
      </dsp:nvSpPr>
      <dsp:spPr>
        <a:xfrm>
          <a:off x="3408560" y="557068"/>
          <a:ext cx="2987278" cy="1662440"/>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GB" sz="1900" kern="1200" dirty="0"/>
            <a:t>Use lowest common denominator subset</a:t>
          </a:r>
        </a:p>
        <a:p>
          <a:pPr marL="171450" lvl="1" indent="-171450" algn="l" defTabSz="844550">
            <a:lnSpc>
              <a:spcPct val="90000"/>
            </a:lnSpc>
            <a:spcBef>
              <a:spcPct val="0"/>
            </a:spcBef>
            <a:spcAft>
              <a:spcPct val="15000"/>
            </a:spcAft>
            <a:buChar char="•"/>
          </a:pPr>
          <a:r>
            <a:rPr lang="en-GB" sz="1900" kern="1200" dirty="0"/>
            <a:t>Hinder performance, different user interface</a:t>
          </a:r>
        </a:p>
      </dsp:txBody>
      <dsp:txXfrm>
        <a:off x="3408560" y="557068"/>
        <a:ext cx="2987278" cy="1662440"/>
      </dsp:txXfrm>
    </dsp:sp>
    <dsp:sp modelId="{27252007-1ADF-41D0-A015-1266E724A8D7}">
      <dsp:nvSpPr>
        <dsp:cNvPr id="0" name=""/>
        <dsp:cNvSpPr/>
      </dsp:nvSpPr>
      <dsp:spPr>
        <a:xfrm>
          <a:off x="6817121" y="2"/>
          <a:ext cx="2987278" cy="547200"/>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GB" sz="1900" kern="1200" dirty="0"/>
            <a:t>Scripting languages</a:t>
          </a:r>
        </a:p>
      </dsp:txBody>
      <dsp:txXfrm>
        <a:off x="6817121" y="2"/>
        <a:ext cx="2987278" cy="547200"/>
      </dsp:txXfrm>
    </dsp:sp>
    <dsp:sp modelId="{C89453C9-4CCA-4296-A477-6EC1793ECFC7}">
      <dsp:nvSpPr>
        <dsp:cNvPr id="0" name=""/>
        <dsp:cNvSpPr/>
      </dsp:nvSpPr>
      <dsp:spPr>
        <a:xfrm>
          <a:off x="6814058" y="557068"/>
          <a:ext cx="2987278" cy="1662440"/>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GB" sz="1900" kern="1200" dirty="0"/>
            <a:t>Translate into native executable code each time application executed</a:t>
          </a:r>
        </a:p>
      </dsp:txBody>
      <dsp:txXfrm>
        <a:off x="6814058" y="557068"/>
        <a:ext cx="2987278" cy="16624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94E8D2-537D-4524-A37F-00746704E0F4}">
      <dsp:nvSpPr>
        <dsp:cNvPr id="0" name=""/>
        <dsp:cNvSpPr/>
      </dsp:nvSpPr>
      <dsp:spPr>
        <a:xfrm>
          <a:off x="3063" y="2111887"/>
          <a:ext cx="2987278" cy="1161629"/>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Security</a:t>
          </a:r>
        </a:p>
      </dsp:txBody>
      <dsp:txXfrm>
        <a:off x="3063" y="2111887"/>
        <a:ext cx="2987278" cy="1161629"/>
      </dsp:txXfrm>
    </dsp:sp>
    <dsp:sp modelId="{36666358-076C-43C1-A455-A964402B4FAA}">
      <dsp:nvSpPr>
        <dsp:cNvPr id="0" name=""/>
        <dsp:cNvSpPr/>
      </dsp:nvSpPr>
      <dsp:spPr>
        <a:xfrm>
          <a:off x="3063" y="3273516"/>
          <a:ext cx="2987278" cy="1294267"/>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Cross-platform security flaws</a:t>
          </a:r>
        </a:p>
      </dsp:txBody>
      <dsp:txXfrm>
        <a:off x="3063" y="3273516"/>
        <a:ext cx="2987278" cy="1294267"/>
      </dsp:txXfrm>
    </dsp:sp>
    <dsp:sp modelId="{B6357C7A-8573-4B04-BDE8-9B8EA34DE7CB}">
      <dsp:nvSpPr>
        <dsp:cNvPr id="0" name=""/>
        <dsp:cNvSpPr/>
      </dsp:nvSpPr>
      <dsp:spPr>
        <a:xfrm>
          <a:off x="3408560" y="2111887"/>
          <a:ext cx="2987278" cy="1161629"/>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Maintenance</a:t>
          </a:r>
        </a:p>
      </dsp:txBody>
      <dsp:txXfrm>
        <a:off x="3408560" y="2111887"/>
        <a:ext cx="2987278" cy="1161629"/>
      </dsp:txXfrm>
    </dsp:sp>
    <dsp:sp modelId="{8FF37612-FCC5-4958-B3E5-C1ED8B5EDCAB}">
      <dsp:nvSpPr>
        <dsp:cNvPr id="0" name=""/>
        <dsp:cNvSpPr/>
      </dsp:nvSpPr>
      <dsp:spPr>
        <a:xfrm>
          <a:off x="3408560" y="3273516"/>
          <a:ext cx="2987278" cy="1294267"/>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Need to support multiple versions</a:t>
          </a:r>
        </a:p>
      </dsp:txBody>
      <dsp:txXfrm>
        <a:off x="3408560" y="3273516"/>
        <a:ext cx="2987278" cy="1294267"/>
      </dsp:txXfrm>
    </dsp:sp>
    <dsp:sp modelId="{27252007-1ADF-41D0-A015-1266E724A8D7}">
      <dsp:nvSpPr>
        <dsp:cNvPr id="0" name=""/>
        <dsp:cNvSpPr/>
      </dsp:nvSpPr>
      <dsp:spPr>
        <a:xfrm>
          <a:off x="6814058" y="2111887"/>
          <a:ext cx="2987278" cy="1161629"/>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Configuration management / version control</a:t>
          </a:r>
        </a:p>
      </dsp:txBody>
      <dsp:txXfrm>
        <a:off x="6814058" y="2111887"/>
        <a:ext cx="2987278" cy="1161629"/>
      </dsp:txXfrm>
    </dsp:sp>
    <dsp:sp modelId="{C89453C9-4CCA-4296-A477-6EC1793ECFC7}">
      <dsp:nvSpPr>
        <dsp:cNvPr id="0" name=""/>
        <dsp:cNvSpPr/>
      </dsp:nvSpPr>
      <dsp:spPr>
        <a:xfrm>
          <a:off x="6814058" y="3273516"/>
          <a:ext cx="2987278" cy="1294267"/>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More complex</a:t>
          </a:r>
        </a:p>
      </dsp:txBody>
      <dsp:txXfrm>
        <a:off x="6814058" y="3273516"/>
        <a:ext cx="2987278" cy="129426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sz="1050" dirty="0">
              <a:latin typeface="Montserrat" panose="00000500000000000000" pitchFamily="2" charset="0"/>
            </a:endParaRPr>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z="1050" smtClean="0">
                <a:latin typeface="Montserrat" panose="00000500000000000000" pitchFamily="2" charset="0"/>
              </a:rPr>
              <a:t>24/11/2023</a:t>
            </a:fld>
            <a:endParaRPr lang="en-GB" sz="1050">
              <a:latin typeface="Montserrat" panose="00000500000000000000" pitchFamily="2" charset="0"/>
            </a:endParaRPr>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sz="1050">
              <a:latin typeface="Montserrat" panose="00000500000000000000" pitchFamily="2" charset="0"/>
            </a:endParaRPr>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z="1050" smtClean="0">
                <a:latin typeface="Montserrat" panose="00000500000000000000" pitchFamily="2" charset="0"/>
              </a:rPr>
              <a:t>‹#›</a:t>
            </a:fld>
            <a:endParaRPr lang="en-GB" sz="1050">
              <a:latin typeface="Montserrat" panose="00000500000000000000" pitchFamily="2" charset="0"/>
            </a:endParaRPr>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05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050">
                <a:latin typeface="Montserrat" panose="00000500000000000000" pitchFamily="2" charset="0"/>
              </a:defRPr>
            </a:lvl1pPr>
          </a:lstStyle>
          <a:p>
            <a:fld id="{1D6B66C6-1E92-0F4E-A300-9D4ED1F0C23F}" type="datetimeFigureOut">
              <a:rPr lang="en-GB" smtClean="0"/>
              <a:pPr/>
              <a:t>24/11/2023</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05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05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050" kern="1200">
        <a:solidFill>
          <a:schemeClr val="tx1"/>
        </a:solidFill>
        <a:latin typeface="Montserrat" panose="00000500000000000000" pitchFamily="2" charset="0"/>
        <a:ea typeface="+mn-ea"/>
        <a:cs typeface="+mn-cs"/>
      </a:defRPr>
    </a:lvl1pPr>
    <a:lvl2pPr marL="457200" algn="l" defTabSz="914400" rtl="0" eaLnBrk="1" latinLnBrk="0" hangingPunct="1">
      <a:defRPr sz="1050" kern="1200">
        <a:solidFill>
          <a:schemeClr val="tx1"/>
        </a:solidFill>
        <a:latin typeface="Montserrat" panose="00000500000000000000" pitchFamily="2" charset="0"/>
        <a:ea typeface="+mn-ea"/>
        <a:cs typeface="+mn-cs"/>
      </a:defRPr>
    </a:lvl2pPr>
    <a:lvl3pPr marL="914400" algn="l" defTabSz="914400" rtl="0" eaLnBrk="1" latinLnBrk="0" hangingPunct="1">
      <a:defRPr sz="1050" kern="1200">
        <a:solidFill>
          <a:schemeClr val="tx1"/>
        </a:solidFill>
        <a:latin typeface="Montserrat" panose="00000500000000000000" pitchFamily="2" charset="0"/>
        <a:ea typeface="+mn-ea"/>
        <a:cs typeface="+mn-cs"/>
      </a:defRPr>
    </a:lvl3pPr>
    <a:lvl4pPr marL="1371600" algn="l" defTabSz="914400" rtl="0" eaLnBrk="1" latinLnBrk="0" hangingPunct="1">
      <a:defRPr sz="1050" kern="1200">
        <a:solidFill>
          <a:schemeClr val="tx1"/>
        </a:solidFill>
        <a:latin typeface="Montserrat" panose="00000500000000000000" pitchFamily="2" charset="0"/>
        <a:ea typeface="+mn-ea"/>
        <a:cs typeface="+mn-cs"/>
      </a:defRPr>
    </a:lvl4pPr>
    <a:lvl5pPr marL="1828800" algn="l" defTabSz="914400" rtl="0" eaLnBrk="1" latinLnBrk="0" hangingPunct="1">
      <a:defRPr sz="105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this module the apprentice will learn to understand their roles within their software development team. </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41386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research and answer the following questions:</a:t>
            </a:r>
          </a:p>
          <a:p>
            <a:pPr marL="362448" lvl="1" indent="-181224"/>
            <a:r>
              <a:rPr lang="en-GB" dirty="0"/>
              <a:t>What do we mean by?</a:t>
            </a:r>
          </a:p>
          <a:p>
            <a:pPr marL="724896" lvl="2" indent="-181224"/>
            <a:r>
              <a:rPr lang="en-GB" dirty="0"/>
              <a:t>Code and libraries</a:t>
            </a:r>
          </a:p>
          <a:p>
            <a:pPr marL="724896" lvl="2" indent="-181224"/>
            <a:r>
              <a:rPr lang="en-GB" dirty="0"/>
              <a:t>Data</a:t>
            </a:r>
          </a:p>
          <a:p>
            <a:pPr marL="724896" lvl="2" indent="-181224"/>
            <a:r>
              <a:rPr lang="en-GB" dirty="0"/>
              <a:t>Application components</a:t>
            </a:r>
          </a:p>
          <a:p>
            <a:pPr marL="724896" lvl="2" indent="-181224"/>
            <a:r>
              <a:rPr lang="en-GB" dirty="0"/>
              <a:t>Application interfaces</a:t>
            </a:r>
          </a:p>
          <a:p>
            <a:pPr marL="724896" lvl="2" indent="-181224"/>
            <a:r>
              <a:rPr lang="en-GB" dirty="0"/>
              <a:t>OSI (Open Systems Interconnection) model</a:t>
            </a:r>
          </a:p>
          <a:p>
            <a:r>
              <a:rPr lang="en-GB" dirty="0"/>
              <a:t>Instructions: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Work individually or in pairs; your choice</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10 minutes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962793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three-tier architecture is a client-server architecture in which the functional process logic, data access, computer data storage and user interface are developed and maintained as independent modules on separate platforms. Three-tier architecture is a software design pattern and a well-established software architecture.</a:t>
            </a:r>
          </a:p>
          <a:p>
            <a:r>
              <a:rPr lang="en-GB" dirty="0"/>
              <a:t>The three tiers in a three-tier architecture are:</a:t>
            </a:r>
          </a:p>
          <a:p>
            <a:pPr marL="362448" lvl="1" indent="-181224"/>
            <a:r>
              <a:rPr lang="en-GB" dirty="0"/>
              <a:t>Presentation Tier: Occupies the top level and displays information related to services available on a website. This tier communicates with other tiers by sending results to the browser and other tiers in the network.</a:t>
            </a:r>
          </a:p>
          <a:p>
            <a:pPr marL="362448" lvl="1" indent="-181224"/>
            <a:r>
              <a:rPr lang="en-GB" dirty="0"/>
              <a:t>Application Tier: Also called the middle tier, logic tier, business logic or logic tier, this tier is pulled from the presentation tier. It controls application functionality by performing detailed processing.</a:t>
            </a:r>
          </a:p>
          <a:p>
            <a:pPr marL="362448" lvl="1" indent="-181224"/>
            <a:r>
              <a:rPr lang="en-GB" dirty="0"/>
              <a:t>Data Tier: Houses database servers where information is stored and retrieved. Data in this tier is kept independent of application servers or business logic.</a:t>
            </a:r>
          </a:p>
          <a:p>
            <a:pPr lvl="1" algn="l">
              <a:buFont typeface="Arial" panose="020B0604020202020204" pitchFamily="34" charset="0"/>
              <a:buNone/>
            </a:pPr>
            <a:endParaRPr lang="en-GB" dirty="0"/>
          </a:p>
          <a:p>
            <a:endParaRPr lang="en-GB" dirty="0"/>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t>3</a:t>
            </a:fld>
            <a:endParaRPr lang="en-GB"/>
          </a:p>
        </p:txBody>
      </p:sp>
    </p:spTree>
    <p:extLst>
      <p:ext uri="{BB962C8B-B14F-4D97-AF65-F5344CB8AC3E}">
        <p14:creationId xmlns:p14="http://schemas.microsoft.com/office/powerpoint/2010/main" val="3029999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Source code is any collection of computer instructions, possibly with comments, written using a human-readable programming language, usually as plain text. The source code is often transformed by an assembler or compiler into binary machine code understood by the computer. The machine code might then be stored for execution at a later time. Alternatively, source code may be interpreted and thus immediately executed.</a:t>
            </a:r>
          </a:p>
          <a:p>
            <a:r>
              <a:rPr lang="en-GB" dirty="0"/>
              <a:t>A library is a collection of non-volatile resources used by computer programs, often to develop software. These may include configuration data, documentation, help data, message templates, pre-written code and subroutines, classes, values or type specifications. A library is also a collection of implementations of behaviour, written in terms of a language, that has a well-defined interface by which the behaviour is invoked. Most compiled languages have a standard library although programmers can also create their own custom libraries. Most modern software systems provide libraries that implement the majority of the system services.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1884796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Source code is any collection of computer instructions, possibly with comments, written using a human-readable programming language, usually as plain text. The source code is often transformed by an assembler or compiler into binary machine code understood by the computer. The machine code might then be stored for execution at a later time. Alternatively, source code may be interpreted and thus immediately executed.</a:t>
            </a:r>
          </a:p>
          <a:p>
            <a:r>
              <a:rPr lang="en-GB" dirty="0"/>
              <a:t>A library is a collection of non-volatile resources used by computer programs, often to develop software. These may include configuration data, documentation, help data, message templates, pre-written code and subroutines, classes, values or type specifications. A library is also a collection of implementations of behaviour, written in terms of a language, that has a well-defined interface by which the behaviour is invoked. Most compiled languages have a standard library although programmers can also create their own custom libraries. Most modern software systems provide libraries that implement the majority of the system services.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2232214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requires interpretation to become information. To translate data to information, there must be several known factors considered. The factors involved are determined by the creator of the data and the desired information. The term metadata is used to reference the data about the data.</a:t>
            </a:r>
          </a:p>
          <a:p>
            <a:r>
              <a:rPr lang="en-GB" dirty="0"/>
              <a:t>Data representing quantities, characters, or symbols on which operations are performed by a computer are stored and recorded on magnetic, optical, or mechanical recording media, and transmitted in the form of digital electrical signals.</a:t>
            </a:r>
          </a:p>
          <a:p>
            <a:r>
              <a:rPr lang="en-GB" dirty="0"/>
              <a:t>Digital data are often stored in relational databases, like tables or SQL databases, and can generally be represented as abstract key/value pairs.</a:t>
            </a:r>
          </a:p>
          <a:p>
            <a:r>
              <a:rPr lang="en-GB" dirty="0"/>
              <a:t>Data can be organized in many different types of data structures, including arrays, graphs, and objects. Data structures can store data of many different types, including numbers, strings and even other data structures. Data pass in and out of computers via peripheral devices.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646818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Component-based software engineering (CBSE), also called as component-based development (CBD), is a branch of software engineering that emphasises the separation of concerns with respect to the wide-ranging functionality available throughout a given software system. It is a reuse-based approach to defining, implementing and composing loosely coupled independent components into systems. This practice aims to bring about an equally wide-ranging degree of benefits in both the short-term and the long-term for the software itself and for organizations that sponsor such software.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62415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computing, an interface is a shared boundary across which two or more separate components of a computer system exchange information. The exchange can be between software, computer hardware, peripheral devices, humans and combinations of these.</a:t>
            </a:r>
          </a:p>
          <a:p>
            <a:r>
              <a:rPr lang="en-GB" dirty="0"/>
              <a:t>The interface of a software module A is deliberately defined separately from the implementation of that module. The latter contains the actual code of the procedures and methods described in the interface, as well as other "private" variables, procedures, etc. Another software module B, for example the client to A, that interacts with A is forced to do so only through the published interface. One practical advantage of this arrangement is that replacing the implementation of A by another implementation of the same interface should not cause B to fail—how A internally meets the requirements of the interface is not relevant to B, which is only concerned with the specifications of the interface.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2675723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research and answer the following questions:</a:t>
            </a:r>
          </a:p>
          <a:p>
            <a:pPr marL="362448" lvl="1" indent="-181224"/>
            <a:r>
              <a:rPr lang="en-GB" dirty="0"/>
              <a:t>List and briefly describe various data sources</a:t>
            </a:r>
          </a:p>
          <a:p>
            <a:r>
              <a:rPr lang="en-GB" dirty="0"/>
              <a:t>Instructions: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Work individually or in pairs; your choice</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10 minutes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2749509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356302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1466191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86940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23362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3172414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3045573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"The Cloud" is a network of servers. Some servers provide an online service, like Adobe Creative Cloud, and others allow you to store and access data, like Instagram or Dropbox.</a:t>
            </a:r>
          </a:p>
          <a:p>
            <a:r>
              <a:rPr lang="en-GB" dirty="0"/>
              <a:t>Software as a service (SaaS) is the name given to the software licensing and delivery model in which software is licensed on a subscription basis and is centrally hosted. It is sometimes referred to as "on-demand software“.</a:t>
            </a:r>
          </a:p>
          <a:p>
            <a:r>
              <a:rPr lang="en-GB" dirty="0"/>
              <a:t>Other</a:t>
            </a:r>
            <a:r>
              <a:rPr lang="en-GB" baseline="0" dirty="0"/>
              <a:t> cloud services are:</a:t>
            </a:r>
          </a:p>
          <a:p>
            <a:pPr marL="362448" lvl="1" indent="-181224"/>
            <a:r>
              <a:rPr lang="en-GB" dirty="0"/>
              <a:t>Infrastructure as a Service (IaaS)</a:t>
            </a:r>
          </a:p>
          <a:p>
            <a:pPr marL="362448" lvl="1" indent="-181224"/>
            <a:r>
              <a:rPr lang="en-GB" dirty="0"/>
              <a:t>Platform as a Service (PaaS)</a:t>
            </a:r>
          </a:p>
          <a:p>
            <a:pPr marL="362448" lvl="1" indent="-181224"/>
            <a:r>
              <a:rPr lang="en-GB" dirty="0"/>
              <a:t>Desktop as a Service (</a:t>
            </a:r>
            <a:r>
              <a:rPr lang="en-GB" dirty="0" err="1"/>
              <a:t>DaaS</a:t>
            </a:r>
            <a:r>
              <a:rPr lang="en-GB" dirty="0"/>
              <a:t>)</a:t>
            </a:r>
          </a:p>
          <a:p>
            <a:pPr marL="362448" lvl="1" indent="-181224"/>
            <a:r>
              <a:rPr lang="en-GB" dirty="0"/>
              <a:t>Managed software as a service (</a:t>
            </a:r>
            <a:r>
              <a:rPr lang="en-GB" dirty="0" err="1"/>
              <a:t>MSaaS</a:t>
            </a:r>
            <a:r>
              <a:rPr lang="en-GB" dirty="0"/>
              <a:t>)</a:t>
            </a:r>
          </a:p>
          <a:p>
            <a:pPr marL="362448" lvl="1" indent="-181224"/>
            <a:r>
              <a:rPr lang="en-GB" dirty="0"/>
              <a:t>Mobile backend as a service (</a:t>
            </a:r>
            <a:r>
              <a:rPr lang="en-GB" dirty="0" err="1"/>
              <a:t>MBaaS</a:t>
            </a:r>
            <a:r>
              <a:rPr lang="en-GB" dirty="0"/>
              <a:t>)</a:t>
            </a:r>
          </a:p>
          <a:p>
            <a:pPr marL="362448" lvl="1" indent="-181224"/>
            <a:r>
              <a:rPr lang="en-GB" dirty="0"/>
              <a:t>Information technology management as a service (</a:t>
            </a:r>
            <a:r>
              <a:rPr lang="en-GB" dirty="0" err="1"/>
              <a:t>ITMaaS</a:t>
            </a:r>
            <a:r>
              <a:rPr lang="en-GB" dirty="0"/>
              <a: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2486585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research and answer the following questions:</a:t>
            </a:r>
          </a:p>
          <a:p>
            <a:pPr marL="362448" lvl="1" indent="-181224"/>
            <a:r>
              <a:rPr lang="en-GB" dirty="0"/>
              <a:t>What characteristics of software development are impacted by the deployment of software to:</a:t>
            </a:r>
          </a:p>
          <a:p>
            <a:pPr marL="724896" lvl="2" indent="-181224"/>
            <a:r>
              <a:rPr lang="en-GB" dirty="0"/>
              <a:t>Multiple platforms</a:t>
            </a:r>
          </a:p>
          <a:p>
            <a:pPr marL="724896" lvl="2" indent="-181224"/>
            <a:r>
              <a:rPr lang="en-GB" dirty="0"/>
              <a:t>A single platform</a:t>
            </a:r>
          </a:p>
          <a:p>
            <a:r>
              <a:rPr lang="en-GB" dirty="0"/>
              <a:t>Instructions: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Work individually or in pairs; your choice</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10 minutes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Tree>
    <p:extLst>
      <p:ext uri="{BB962C8B-B14F-4D97-AF65-F5344CB8AC3E}">
        <p14:creationId xmlns:p14="http://schemas.microsoft.com/office/powerpoint/2010/main" val="250506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Testing cross-platform applications may be considerably more complicated, since different platforms can exhibit slightly different behaviours or subtle bugs.</a:t>
            </a:r>
          </a:p>
          <a:p>
            <a:r>
              <a:rPr lang="en-GB" dirty="0"/>
              <a:t>Developers are often restricted to using the lowest common denominator subset of features which are available on all platforms. This may hinder the application's performance or prohibit developers from using platforms’ most advanced features.</a:t>
            </a:r>
          </a:p>
          <a:p>
            <a:r>
              <a:rPr lang="en-GB" dirty="0"/>
              <a:t>Different platforms often have different user interface conventions, which cross-platform applications do not always accommodate.</a:t>
            </a:r>
          </a:p>
          <a:p>
            <a:r>
              <a:rPr lang="en-GB" dirty="0"/>
              <a:t>Scripting languages and virtual machines must be translated into native executable code each time the application is executed, imposing a performance penalty. This penalty can be alleviated using advanced techniques like just-in-time compilation; but even using such techniques, some computational overhead may be unavoidable.</a:t>
            </a:r>
          </a:p>
          <a:p>
            <a:r>
              <a:rPr lang="en-GB" dirty="0"/>
              <a:t>Cross-platform execution environments may suffer cross-platform security flaws.</a:t>
            </a:r>
          </a:p>
          <a:p>
            <a:r>
              <a:rPr lang="en-GB"/>
              <a:t>Ongoing maintenance</a:t>
            </a:r>
            <a:r>
              <a:rPr lang="en-GB" baseline="0"/>
              <a:t> and support will be more complex as will the necessary Configuration Management and Version Control to co-ordinate and the code variations. </a:t>
            </a:r>
            <a:endParaRPr lang="en-GB"/>
          </a:p>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Tree>
    <p:extLst>
      <p:ext uri="{BB962C8B-B14F-4D97-AF65-F5344CB8AC3E}">
        <p14:creationId xmlns:p14="http://schemas.microsoft.com/office/powerpoint/2010/main" val="4176546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just" defTabSz="914400" rtl="0" eaLnBrk="0" fontAlgn="base" latinLnBrk="0" hangingPunct="0">
              <a:lnSpc>
                <a:spcPct val="100000"/>
              </a:lnSpc>
              <a:spcBef>
                <a:spcPts val="0"/>
              </a:spcBef>
              <a:spcAft>
                <a:spcPts val="6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The final section is a review of module, specifically the Learning Outcomes and Assessment Criteria, with a quick quiz and a chance to ask any further questions and provide brief feedback.</a:t>
            </a:r>
          </a:p>
        </p:txBody>
      </p:sp>
      <p:sp>
        <p:nvSpPr>
          <p:cNvPr id="4" name="Slide Number Placeholder 3"/>
          <p:cNvSpPr>
            <a:spLocks noGrp="1"/>
          </p:cNvSpPr>
          <p:nvPr>
            <p:ph type="sldNum" sz="quarter" idx="5"/>
          </p:nvPr>
        </p:nvSpPr>
        <p:spPr/>
        <p:txBody>
          <a:bodyPr/>
          <a:lstStyle/>
          <a:p>
            <a:fld id="{9C44FC15-3C85-489A-BB43-3349185627FC}" type="slidenum">
              <a:rPr lang="en-GB" smtClean="0"/>
              <a:t>19</a:t>
            </a:fld>
            <a:endParaRPr lang="en-GB"/>
          </a:p>
        </p:txBody>
      </p:sp>
    </p:spTree>
    <p:extLst>
      <p:ext uri="{BB962C8B-B14F-4D97-AF65-F5344CB8AC3E}">
        <p14:creationId xmlns:p14="http://schemas.microsoft.com/office/powerpoint/2010/main" val="2586741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C44FC15-3C85-489A-BB43-3349185627FC}" type="slidenum">
              <a:rPr lang="en-GB" smtClean="0"/>
              <a:t>20</a:t>
            </a:fld>
            <a:endParaRPr lang="en-GB"/>
          </a:p>
        </p:txBody>
      </p:sp>
    </p:spTree>
    <p:extLst>
      <p:ext uri="{BB962C8B-B14F-4D97-AF65-F5344CB8AC3E}">
        <p14:creationId xmlns:p14="http://schemas.microsoft.com/office/powerpoint/2010/main" val="42362840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7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28.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27.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7.sv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7.sv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jpe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328893348"/>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20118978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307574808"/>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96992067"/>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330438598"/>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01102659"/>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62572703"/>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672659081"/>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83567674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508511383"/>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7812488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33668264"/>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18655673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938715550"/>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681788283"/>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144067756"/>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51863048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316344032"/>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7836949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4853146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58602866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6428797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7362730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321310276"/>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74603968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05711454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769361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91049894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47277946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2539991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2172378838"/>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635779125"/>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17736672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ontents or agenda">
    <p:spTree>
      <p:nvGrpSpPr>
        <p:cNvPr id="1" name=""/>
        <p:cNvGrpSpPr/>
        <p:nvPr/>
      </p:nvGrpSpPr>
      <p:grpSpPr>
        <a:xfrm>
          <a:off x="0" y="0"/>
          <a:ext cx="0" cy="0"/>
          <a:chOff x="0" y="0"/>
          <a:chExt cx="0" cy="0"/>
        </a:xfrm>
      </p:grpSpPr>
      <p:pic>
        <p:nvPicPr>
          <p:cNvPr id="26" name="Picture 25" descr="Shape&#10;&#10;Description automatically generated with medium confidence">
            <a:extLst>
              <a:ext uri="{FF2B5EF4-FFF2-40B4-BE49-F238E27FC236}">
                <a16:creationId xmlns:a16="http://schemas.microsoft.com/office/drawing/2014/main" id="{3B4E1F50-500D-4F08-9594-04DCAC10E481}"/>
              </a:ext>
            </a:extLst>
          </p:cNvPr>
          <p:cNvPicPr>
            <a:picLocks noChangeAspect="1"/>
          </p:cNvPicPr>
          <p:nvPr userDrawn="1"/>
        </p:nvPicPr>
        <p:blipFill>
          <a:blip r:embed="rId2"/>
          <a:stretch>
            <a:fillRect/>
          </a:stretch>
        </p:blipFill>
        <p:spPr>
          <a:xfrm>
            <a:off x="7877310" y="0"/>
            <a:ext cx="4314690" cy="6858000"/>
          </a:xfrm>
          <a:prstGeom prst="rect">
            <a:avLst/>
          </a:prstGeom>
        </p:spPr>
      </p:pic>
      <p:cxnSp>
        <p:nvCxnSpPr>
          <p:cNvPr id="13" name="Straight Connector 12"/>
          <p:cNvCxnSpPr/>
          <p:nvPr userDrawn="1"/>
        </p:nvCxnSpPr>
        <p:spPr>
          <a:xfrm>
            <a:off x="3101975" y="1484598"/>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14589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2807184"/>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46847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12977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4791062"/>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sp>
        <p:nvSpPr>
          <p:cNvPr id="30" name="Text Placeholder 2"/>
          <p:cNvSpPr>
            <a:spLocks noGrp="1"/>
          </p:cNvSpPr>
          <p:nvPr>
            <p:ph type="body" sz="quarter" idx="10" hasCustomPrompt="1"/>
          </p:nvPr>
        </p:nvSpPr>
        <p:spPr>
          <a:xfrm>
            <a:off x="384784" y="1484598"/>
            <a:ext cx="2521449" cy="1962150"/>
          </a:xfrm>
        </p:spPr>
        <p:txBody>
          <a:bodyPr/>
          <a:lstStyle>
            <a:lvl1pPr marL="0" indent="0">
              <a:lnSpc>
                <a:spcPct val="90000"/>
              </a:lnSpc>
              <a:spcAft>
                <a:spcPts val="0"/>
              </a:spcAft>
              <a:buFont typeface="Arial" panose="020B0604020202020204" pitchFamily="34" charset="0"/>
              <a:buNone/>
              <a:defRPr sz="4000" b="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161944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166661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280736"/>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32790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2939432"/>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2986599"/>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359442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364159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259419"/>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306586"/>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4937056"/>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498422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7790719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9834469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4137863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Column A">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umn A Plain">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729812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A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679632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s B">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F8457ED5-FFC6-4734-A6E8-9C12AAF7EA0D}"/>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a:xfrm>
            <a:off x="376238" y="450398"/>
            <a:ext cx="10464799" cy="687614"/>
          </a:xfrm>
        </p:spPr>
        <p:txBody>
          <a:bodyPr/>
          <a:lstStyle/>
          <a:p>
            <a:r>
              <a:rPr lang="en-US" dirty="0"/>
              <a:t>Click to edit Master title style</a:t>
            </a:r>
            <a:endParaRPr lang="en-GB" dirty="0"/>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376238" y="1635854"/>
            <a:ext cx="5627688"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5" name="Graphic 31">
            <a:extLst>
              <a:ext uri="{FF2B5EF4-FFF2-40B4-BE49-F238E27FC236}">
                <a16:creationId xmlns:a16="http://schemas.microsoft.com/office/drawing/2014/main" id="{6E7E2E15-3B47-4552-B2F2-43A358272F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930530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3803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py Slide - QA Left Side">
    <p:bg>
      <p:bgPr>
        <a:solidFill>
          <a:schemeClr val="bg1"/>
        </a:solidFill>
        <a:effectLst/>
      </p:bgPr>
    </p:bg>
    <p:spTree>
      <p:nvGrpSpPr>
        <p:cNvPr id="1" name=""/>
        <p:cNvGrpSpPr/>
        <p:nvPr/>
      </p:nvGrpSpPr>
      <p:grpSpPr>
        <a:xfrm>
          <a:off x="0" y="0"/>
          <a:ext cx="0" cy="0"/>
          <a:chOff x="0" y="0"/>
          <a:chExt cx="0" cy="0"/>
        </a:xfrm>
      </p:grpSpPr>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747991474"/>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lain Background">
    <p:spTree>
      <p:nvGrpSpPr>
        <p:cNvPr id="1" name=""/>
        <p:cNvGrpSpPr/>
        <p:nvPr/>
      </p:nvGrpSpPr>
      <p:grpSpPr>
        <a:xfrm>
          <a:off x="0" y="0"/>
          <a:ext cx="0" cy="0"/>
          <a:chOff x="0" y="0"/>
          <a:chExt cx="0" cy="0"/>
        </a:xfrm>
      </p:grpSpPr>
      <p:sp>
        <p:nvSpPr>
          <p:cNvPr id="2" name="Rectangle 1"/>
          <p:cNvSpPr/>
          <p:nvPr userDrawn="1"/>
        </p:nvSpPr>
        <p:spPr>
          <a:xfrm>
            <a:off x="269737" y="304800"/>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15769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lain side block - A">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1E76E-2742-450B-96BA-3BB549EE2428}"/>
              </a:ext>
            </a:extLst>
          </p:cNvPr>
          <p:cNvSpPr/>
          <p:nvPr userDrawn="1"/>
        </p:nvSpPr>
        <p:spPr>
          <a:xfrm>
            <a:off x="0" y="0"/>
            <a:ext cx="4152550"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2"/>
          <p:cNvSpPr>
            <a:spLocks noGrp="1"/>
          </p:cNvSpPr>
          <p:nvPr>
            <p:ph type="body" sz="quarter" idx="12" hasCustomPrompt="1"/>
          </p:nvPr>
        </p:nvSpPr>
        <p:spPr>
          <a:xfrm>
            <a:off x="376238" y="1233488"/>
            <a:ext cx="3437005" cy="2030142"/>
          </a:xfrm>
        </p:spPr>
        <p:txBody>
          <a:bodyPr/>
          <a:lstStyle>
            <a:lvl1pPr marL="0" indent="0">
              <a:lnSpc>
                <a:spcPct val="90000"/>
              </a:lnSpc>
              <a:spcAft>
                <a:spcPts val="0"/>
              </a:spcAft>
              <a:buFont typeface="Arial" panose="020B0604020202020204" pitchFamily="34" charset="0"/>
              <a:buNone/>
              <a:defRPr sz="4000" b="0" cap="none"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5037138" y="1233488"/>
            <a:ext cx="6770687" cy="4651746"/>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pic>
        <p:nvPicPr>
          <p:cNvPr id="8" name="Picture 7">
            <a:extLst>
              <a:ext uri="{FF2B5EF4-FFF2-40B4-BE49-F238E27FC236}">
                <a16:creationId xmlns:a16="http://schemas.microsoft.com/office/drawing/2014/main" id="{AB547ADA-2CB9-46E7-811F-C8E01F6F3CE5}"/>
              </a:ext>
            </a:extLst>
          </p:cNvPr>
          <p:cNvPicPr>
            <a:picLocks noChangeAspect="1"/>
          </p:cNvPicPr>
          <p:nvPr userDrawn="1"/>
        </p:nvPicPr>
        <p:blipFill>
          <a:blip r:embed="rId4"/>
          <a:srcRect/>
          <a:stretch/>
        </p:blipFill>
        <p:spPr>
          <a:xfrm>
            <a:off x="0" y="4283345"/>
            <a:ext cx="5907041" cy="2574654"/>
          </a:xfrm>
          <a:prstGeom prst="rect">
            <a:avLst/>
          </a:prstGeom>
        </p:spPr>
      </p:pic>
    </p:spTree>
    <p:extLst>
      <p:ext uri="{BB962C8B-B14F-4D97-AF65-F5344CB8AC3E}">
        <p14:creationId xmlns:p14="http://schemas.microsoft.com/office/powerpoint/2010/main" val="89513587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56415536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8925672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4374955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38921969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5493276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69375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5709407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42380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72374667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13112989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84199281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10634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4831379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1650273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6377596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887148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8795351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0399020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7050258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64740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747048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547500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895956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1957753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7809810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9840750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0436405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1350704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8543835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401938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5098558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87155376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30016481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06459092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39816931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410322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2312211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16465625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11937267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60043811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7637911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368841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817472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51780558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33219251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135118366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65149419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75517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2198391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9120828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5801311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7248156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8796797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5374385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71249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382000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184687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7021203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3505695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1330116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2622956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108564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896261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081386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550429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0708288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32113166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91954302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82420897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90746654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244587769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2871708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9360148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42595508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40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78118109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86147170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98611606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78414158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2013120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5827074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40129800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8385835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22361188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52685175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3850648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329803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9840733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2351411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7753479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49419383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1453013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893275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526851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2690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9240217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9783033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54359619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4229767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5729113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0091971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4927859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7022124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08104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6336477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210381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47007874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50130047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228636987"/>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96108141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27158228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7132538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2304599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13113237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51646003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0816579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537774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userDrawn="1">
  <p:cSld name="Teal">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719761" cy="1988032"/>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565949104"/>
      </p:ext>
    </p:extLst>
  </p:cSld>
  <p:clrMapOvr>
    <a:masterClrMapping/>
  </p:clrMapOvr>
  <p:extLst>
    <p:ext uri="{DCECCB84-F9BA-43D5-87BE-67443E8EF086}">
      <p15:sldGuideLst xmlns:p15="http://schemas.microsoft.com/office/powerpoint/2012/main">
        <p15:guide id="1" orient="horz" pos="2251">
          <p15:clr>
            <a:srgbClr val="FBAE40"/>
          </p15:clr>
        </p15:guide>
        <p15:guide id="2" pos="3840">
          <p15:clr>
            <a:srgbClr val="FBAE40"/>
          </p15:clr>
        </p15:guide>
        <p15:guide id="3" orient="horz" pos="981">
          <p15:clr>
            <a:srgbClr val="FBAE40"/>
          </p15:clr>
        </p15:guide>
        <p15:guide id="4" pos="234">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userDrawn="1">
  <p:cSld name="Teal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849686" y="249382"/>
            <a:ext cx="5342313" cy="6608618"/>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69" r="-169"/>
          <a:stretch/>
        </p:blipFill>
        <p:spPr>
          <a:xfrm>
            <a:off x="349135" y="532015"/>
            <a:ext cx="2119745" cy="1230283"/>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2400" b="1"/>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5710699" cy="2277604"/>
          </a:xfrm>
        </p:spPr>
        <p:txBody>
          <a:bodyPr anchor="ctr" anchorCtr="0">
            <a:noAutofit/>
          </a:bodyPr>
          <a:lstStyle>
            <a:lvl1pPr algn="l">
              <a:lnSpc>
                <a:spcPct val="100000"/>
              </a:lnSpc>
              <a:defRPr sz="3600" cap="all" baseline="0"/>
            </a:lvl1pPr>
          </a:lstStyle>
          <a:p>
            <a:r>
              <a:rPr lang="en-US" noProof="0" dirty="0"/>
              <a:t>CLICK TO EDIT TITLE</a:t>
            </a:r>
            <a:endParaRPr lang="en-GB" noProof="0" dirty="0"/>
          </a:p>
        </p:txBody>
      </p:sp>
    </p:spTree>
    <p:extLst>
      <p:ext uri="{BB962C8B-B14F-4D97-AF65-F5344CB8AC3E}">
        <p14:creationId xmlns:p14="http://schemas.microsoft.com/office/powerpoint/2010/main" val="752130173"/>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image" Target="../media/image1.png"/><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theme" Target="../theme/theme2.xml"/><Relationship Id="rId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9" Type="http://schemas.openxmlformats.org/officeDocument/2006/relationships/slideLayout" Target="../slideLayouts/slideLayout117.xml"/><Relationship Id="rId21" Type="http://schemas.openxmlformats.org/officeDocument/2006/relationships/slideLayout" Target="../slideLayouts/slideLayout99.xml"/><Relationship Id="rId34" Type="http://schemas.openxmlformats.org/officeDocument/2006/relationships/slideLayout" Target="../slideLayouts/slideLayout112.xml"/><Relationship Id="rId42" Type="http://schemas.openxmlformats.org/officeDocument/2006/relationships/theme" Target="../theme/theme3.xml"/><Relationship Id="rId7" Type="http://schemas.openxmlformats.org/officeDocument/2006/relationships/slideLayout" Target="../slideLayouts/slideLayout8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41" Type="http://schemas.openxmlformats.org/officeDocument/2006/relationships/slideLayout" Target="../slideLayouts/slideLayout119.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slideLayout" Target="../slideLayouts/slideLayout115.xml"/><Relationship Id="rId40" Type="http://schemas.openxmlformats.org/officeDocument/2006/relationships/slideLayout" Target="../slideLayouts/slideLayout118.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43" Type="http://schemas.openxmlformats.org/officeDocument/2006/relationships/image" Target="../media/image1.png"/><Relationship Id="rId8" Type="http://schemas.openxmlformats.org/officeDocument/2006/relationships/slideLayout" Target="../slideLayouts/slideLayout86.xml"/><Relationship Id="rId3" Type="http://schemas.openxmlformats.org/officeDocument/2006/relationships/slideLayout" Target="../slideLayouts/slideLayout81.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slideLayout" Target="../slideLayouts/slideLayout116.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26" Type="http://schemas.openxmlformats.org/officeDocument/2006/relationships/slideLayout" Target="../slideLayouts/slideLayout145.xml"/><Relationship Id="rId3" Type="http://schemas.openxmlformats.org/officeDocument/2006/relationships/slideLayout" Target="../slideLayouts/slideLayout122.xml"/><Relationship Id="rId21" Type="http://schemas.openxmlformats.org/officeDocument/2006/relationships/slideLayout" Target="../slideLayouts/slideLayout140.xml"/><Relationship Id="rId34" Type="http://schemas.openxmlformats.org/officeDocument/2006/relationships/image" Target="../media/image1.png"/><Relationship Id="rId7" Type="http://schemas.openxmlformats.org/officeDocument/2006/relationships/slideLayout" Target="../slideLayouts/slideLayout126.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5" Type="http://schemas.openxmlformats.org/officeDocument/2006/relationships/slideLayout" Target="../slideLayouts/slideLayout144.xml"/><Relationship Id="rId33" Type="http://schemas.openxmlformats.org/officeDocument/2006/relationships/theme" Target="../theme/theme4.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0" Type="http://schemas.openxmlformats.org/officeDocument/2006/relationships/slideLayout" Target="../slideLayouts/slideLayout139.xml"/><Relationship Id="rId29" Type="http://schemas.openxmlformats.org/officeDocument/2006/relationships/slideLayout" Target="../slideLayouts/slideLayout148.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24" Type="http://schemas.openxmlformats.org/officeDocument/2006/relationships/slideLayout" Target="../slideLayouts/slideLayout143.xml"/><Relationship Id="rId32" Type="http://schemas.openxmlformats.org/officeDocument/2006/relationships/slideLayout" Target="../slideLayouts/slideLayout151.xml"/><Relationship Id="rId5" Type="http://schemas.openxmlformats.org/officeDocument/2006/relationships/slideLayout" Target="../slideLayouts/slideLayout124.xml"/><Relationship Id="rId15" Type="http://schemas.openxmlformats.org/officeDocument/2006/relationships/slideLayout" Target="../slideLayouts/slideLayout134.xml"/><Relationship Id="rId23" Type="http://schemas.openxmlformats.org/officeDocument/2006/relationships/slideLayout" Target="../slideLayouts/slideLayout142.xml"/><Relationship Id="rId28" Type="http://schemas.openxmlformats.org/officeDocument/2006/relationships/slideLayout" Target="../slideLayouts/slideLayout147.xml"/><Relationship Id="rId10" Type="http://schemas.openxmlformats.org/officeDocument/2006/relationships/slideLayout" Target="../slideLayouts/slideLayout129.xml"/><Relationship Id="rId19" Type="http://schemas.openxmlformats.org/officeDocument/2006/relationships/slideLayout" Target="../slideLayouts/slideLayout138.xml"/><Relationship Id="rId31" Type="http://schemas.openxmlformats.org/officeDocument/2006/relationships/slideLayout" Target="../slideLayouts/slideLayout150.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 Id="rId22" Type="http://schemas.openxmlformats.org/officeDocument/2006/relationships/slideLayout" Target="../slideLayouts/slideLayout141.xml"/><Relationship Id="rId27" Type="http://schemas.openxmlformats.org/officeDocument/2006/relationships/slideLayout" Target="../slideLayouts/slideLayout146.xml"/><Relationship Id="rId30" Type="http://schemas.openxmlformats.org/officeDocument/2006/relationships/slideLayout" Target="../slideLayouts/slideLayout149.xml"/><Relationship Id="rId8" Type="http://schemas.openxmlformats.org/officeDocument/2006/relationships/slideLayout" Target="../slideLayouts/slideLayout12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9.xml"/><Relationship Id="rId13" Type="http://schemas.openxmlformats.org/officeDocument/2006/relationships/image" Target="../media/image9.png"/><Relationship Id="rId3" Type="http://schemas.openxmlformats.org/officeDocument/2006/relationships/slideLayout" Target="../slideLayouts/slideLayout154.xml"/><Relationship Id="rId7" Type="http://schemas.openxmlformats.org/officeDocument/2006/relationships/slideLayout" Target="../slideLayouts/slideLayout158.xml"/><Relationship Id="rId12" Type="http://schemas.openxmlformats.org/officeDocument/2006/relationships/theme" Target="../theme/theme5.xml"/><Relationship Id="rId2" Type="http://schemas.openxmlformats.org/officeDocument/2006/relationships/slideLayout" Target="../slideLayouts/slideLayout153.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1" Type="http://schemas.openxmlformats.org/officeDocument/2006/relationships/slideLayout" Target="../slideLayouts/slideLayout162.xml"/><Relationship Id="rId5" Type="http://schemas.openxmlformats.org/officeDocument/2006/relationships/slideLayout" Target="../slideLayouts/slideLayout156.xml"/><Relationship Id="rId15" Type="http://schemas.openxmlformats.org/officeDocument/2006/relationships/image" Target="../media/image1.png"/><Relationship Id="rId10" Type="http://schemas.openxmlformats.org/officeDocument/2006/relationships/slideLayout" Target="../slideLayouts/slideLayout161.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4" Type="http://schemas.openxmlformats.org/officeDocument/2006/relationships/image" Target="../media/image10.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
        <p:nvSpPr>
          <p:cNvPr id="6" name="Title Placeholder 1">
            <a:extLst>
              <a:ext uri="{FF2B5EF4-FFF2-40B4-BE49-F238E27FC236}">
                <a16:creationId xmlns:a16="http://schemas.microsoft.com/office/drawing/2014/main" id="{E4823081-4B01-457C-A05C-FBE5D87D2094}"/>
              </a:ext>
            </a:extLst>
          </p:cNvPr>
          <p:cNvSpPr>
            <a:spLocks noGrp="1"/>
          </p:cNvSpPr>
          <p:nvPr>
            <p:ph type="title"/>
          </p:nvPr>
        </p:nvSpPr>
        <p:spPr>
          <a:xfrm>
            <a:off x="1349374" y="450398"/>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7" name="Text Placeholder 2">
            <a:extLst>
              <a:ext uri="{FF2B5EF4-FFF2-40B4-BE49-F238E27FC236}">
                <a16:creationId xmlns:a16="http://schemas.microsoft.com/office/drawing/2014/main" id="{9B5339A6-7152-4F4D-AB4C-8571205642E2}"/>
              </a:ext>
            </a:extLst>
          </p:cNvPr>
          <p:cNvSpPr>
            <a:spLocks noGrp="1"/>
          </p:cNvSpPr>
          <p:nvPr>
            <p:ph type="body" idx="1"/>
          </p:nvPr>
        </p:nvSpPr>
        <p:spPr>
          <a:xfrm>
            <a:off x="1350676" y="1596719"/>
            <a:ext cx="9490362" cy="458024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248868353"/>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650" r:id="rId37"/>
    <p:sldLayoutId id="2147483748" r:id="rId38"/>
    <p:sldLayoutId id="2147483749" r:id="rId39"/>
    <p:sldLayoutId id="2147483744" r:id="rId40"/>
    <p:sldLayoutId id="2147483747" r:id="rId41"/>
    <p:sldLayoutId id="2147483750" r:id="rId42"/>
    <p:sldLayoutId id="2147483660" r:id="rId43"/>
    <p:sldLayoutId id="2147483751" r:id="rId44"/>
  </p:sldLayoutIdLst>
  <p:hf hdr="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789898470"/>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 id="2147483819" r:id="rId30"/>
    <p:sldLayoutId id="2147483820" r:id="rId31"/>
    <p:sldLayoutId id="2147483821" r:id="rId32"/>
    <p:sldLayoutId id="2147483822" r:id="rId33"/>
    <p:sldLayoutId id="2147483823"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462875527"/>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8" r:id="rId34"/>
    <p:sldLayoutId id="2147483859" r:id="rId35"/>
    <p:sldLayoutId id="2147483860" r:id="rId36"/>
    <p:sldLayoutId id="2147483861" r:id="rId37"/>
    <p:sldLayoutId id="2147483905" r:id="rId38"/>
    <p:sldLayoutId id="2147483907" r:id="rId39"/>
    <p:sldLayoutId id="2147483908" r:id="rId40"/>
    <p:sldLayoutId id="2147483909" r:id="rId41"/>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766551551"/>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 id="2147483888" r:id="rId26"/>
    <p:sldLayoutId id="2147483889" r:id="rId27"/>
    <p:sldLayoutId id="2147483890" r:id="rId28"/>
    <p:sldLayoutId id="2147483891" r:id="rId29"/>
    <p:sldLayoutId id="2147483892" r:id="rId30"/>
    <p:sldLayoutId id="2147483893" r:id="rId31"/>
    <p:sldLayoutId id="2147483894"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58076010"/>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10" r:id="rId10"/>
    <p:sldLayoutId id="2147483911" r:id="rId11"/>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5"/>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5"/>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5"/>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5"/>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xml"/><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119.xml"/><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slides/_rels/slide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93.xml"/><Relationship Id="rId4" Type="http://schemas.openxmlformats.org/officeDocument/2006/relationships/image" Target="../media/image4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8.xml"/><Relationship Id="rId1" Type="http://schemas.openxmlformats.org/officeDocument/2006/relationships/slideLayout" Target="../slideLayouts/slideLayout106.xml"/></Relationships>
</file>

<file path=ppt/slides/_rels/slide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9.xml"/><Relationship Id="rId1" Type="http://schemas.openxmlformats.org/officeDocument/2006/relationships/slideLayout" Target="../slideLayouts/slideLayout10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1.xml"/></Relationships>
</file>

<file path=ppt/slides/_rels/slide1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4.xml"/><Relationship Id="rId1" Type="http://schemas.openxmlformats.org/officeDocument/2006/relationships/slideLayout" Target="../slideLayouts/slideLayout10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1.xml"/></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6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1.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160.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9645-10D3-4636-8E7B-FE1FF2991808}"/>
              </a:ext>
            </a:extLst>
          </p:cNvPr>
          <p:cNvSpPr>
            <a:spLocks noGrp="1"/>
          </p:cNvSpPr>
          <p:nvPr>
            <p:ph type="ctrTitle"/>
          </p:nvPr>
        </p:nvSpPr>
        <p:spPr>
          <a:xfrm>
            <a:off x="384784" y="2107096"/>
            <a:ext cx="7079005" cy="3882887"/>
          </a:xfrm>
        </p:spPr>
        <p:txBody>
          <a:bodyPr>
            <a:noAutofit/>
          </a:bodyPr>
          <a:lstStyle/>
          <a:p>
            <a:r>
              <a:rPr lang="en-GB" sz="3200" dirty="0"/>
              <a:t>Software Developer </a:t>
            </a:r>
            <a:br>
              <a:rPr lang="en-GB" sz="3200" dirty="0"/>
            </a:br>
            <a:br>
              <a:rPr lang="en-GB" sz="3200" dirty="0"/>
            </a:br>
            <a:r>
              <a:rPr lang="en-GB" sz="3200" dirty="0"/>
              <a:t>Agile Software Development</a:t>
            </a:r>
            <a:br>
              <a:rPr lang="en-GB" sz="3200" dirty="0"/>
            </a:br>
            <a:br>
              <a:rPr lang="en-GB" sz="3200" dirty="0"/>
            </a:br>
            <a:r>
              <a:rPr lang="en-GB" sz="3200" dirty="0"/>
              <a:t>Application Structure and Development Platform Context</a:t>
            </a:r>
            <a:br>
              <a:rPr lang="en-GB" sz="3200" dirty="0"/>
            </a:br>
            <a:endParaRPr lang="en-GB" sz="3200" dirty="0"/>
          </a:p>
        </p:txBody>
      </p:sp>
    </p:spTree>
    <p:extLst>
      <p:ext uri="{BB962C8B-B14F-4D97-AF65-F5344CB8AC3E}">
        <p14:creationId xmlns:p14="http://schemas.microsoft.com/office/powerpoint/2010/main" val="117794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lide Number Placeholder 1">
            <a:extLst>
              <a:ext uri="{FF2B5EF4-FFF2-40B4-BE49-F238E27FC236}">
                <a16:creationId xmlns:a16="http://schemas.microsoft.com/office/drawing/2014/main" id="{0EE55410-FABF-5758-AE2A-1AD93AE9C309}"/>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2</a:t>
            </a:fld>
            <a:endParaRPr lang="en-GB"/>
          </a:p>
        </p:txBody>
      </p:sp>
      <p:sp>
        <p:nvSpPr>
          <p:cNvPr id="8" name="Title 7">
            <a:extLst>
              <a:ext uri="{FF2B5EF4-FFF2-40B4-BE49-F238E27FC236}">
                <a16:creationId xmlns:a16="http://schemas.microsoft.com/office/drawing/2014/main" id="{DB5DF360-4026-4711-A361-4B2B609759C9}"/>
              </a:ext>
            </a:extLst>
          </p:cNvPr>
          <p:cNvSpPr>
            <a:spLocks noGrp="1"/>
          </p:cNvSpPr>
          <p:nvPr>
            <p:ph type="body" sz="quarter" idx="10"/>
          </p:nvPr>
        </p:nvSpPr>
        <p:spPr>
          <a:xfrm>
            <a:off x="384785" y="1349985"/>
            <a:ext cx="3443732" cy="2751999"/>
          </a:xfrm>
        </p:spPr>
        <p:txBody>
          <a:bodyPr vert="horz" lIns="0" tIns="0" rIns="0" bIns="0" rtlCol="0" anchor="t" anchorCtr="0">
            <a:normAutofit/>
          </a:bodyPr>
          <a:lstStyle/>
          <a:p>
            <a:pPr>
              <a:spcAft>
                <a:spcPts val="600"/>
              </a:spcAft>
            </a:pPr>
            <a:r>
              <a:rPr lang="en-US" sz="3200" b="0" i="0" kern="1200" cap="all" baseline="0" dirty="0">
                <a:solidFill>
                  <a:schemeClr val="tx1"/>
                </a:solidFill>
                <a:latin typeface="Montserrat Black" panose="00000A00000000000000" pitchFamily="2" charset="0"/>
                <a:ea typeface="+mn-ea"/>
                <a:cs typeface="+mn-cs"/>
              </a:rPr>
              <a:t>Components</a:t>
            </a:r>
          </a:p>
        </p:txBody>
      </p:sp>
      <p:sp>
        <p:nvSpPr>
          <p:cNvPr id="51" name="TextBox 50">
            <a:extLst>
              <a:ext uri="{FF2B5EF4-FFF2-40B4-BE49-F238E27FC236}">
                <a16:creationId xmlns:a16="http://schemas.microsoft.com/office/drawing/2014/main" id="{52407114-6FC7-4EB8-BB6B-004F32EE9693}"/>
              </a:ext>
            </a:extLst>
          </p:cNvPr>
          <p:cNvSpPr txBox="1"/>
          <p:nvPr/>
        </p:nvSpPr>
        <p:spPr>
          <a:xfrm>
            <a:off x="5037138" y="1349986"/>
            <a:ext cx="6770687" cy="5112343"/>
          </a:xfrm>
          <a:prstGeom prst="rect">
            <a:avLst/>
          </a:prstGeom>
        </p:spPr>
        <p:txBody>
          <a:bodyPr vert="horz" lIns="0" tIns="0" rIns="0" bIns="0" rtlCol="0" anchor="t" anchorCtr="0">
            <a:normAutofit/>
          </a:bodyPr>
          <a:lstStyle/>
          <a:p>
            <a:pPr marL="0" lvl="1">
              <a:spcAft>
                <a:spcPts val="651"/>
              </a:spcAft>
              <a:buClr>
                <a:schemeClr val="accent1"/>
              </a:buClr>
              <a:buFont typeface="Arial" panose="020B0604020202020204" pitchFamily="34" charset="0"/>
            </a:pPr>
            <a:r>
              <a:rPr lang="en-GB" sz="2400" b="1" dirty="0">
                <a:latin typeface="Montserrat" pitchFamily="2" charset="77"/>
              </a:rPr>
              <a:t>Please answer the following questions:</a:t>
            </a:r>
          </a:p>
          <a:p>
            <a:pPr marL="0" lvl="1">
              <a:spcAft>
                <a:spcPts val="651"/>
              </a:spcAft>
              <a:buClr>
                <a:schemeClr val="accent1"/>
              </a:buClr>
              <a:buFont typeface="Arial" panose="020B0604020202020204" pitchFamily="34" charset="0"/>
            </a:pPr>
            <a:endParaRPr lang="en-GB" sz="2400" dirty="0">
              <a:latin typeface="Montserrat" pitchFamily="2" charset="77"/>
            </a:endParaRPr>
          </a:p>
          <a:p>
            <a:pPr marL="360000" lvl="1">
              <a:spcAft>
                <a:spcPts val="651"/>
              </a:spcAft>
              <a:buClr>
                <a:schemeClr val="accent1"/>
              </a:buClr>
              <a:buFont typeface="Arial" panose="020B0604020202020204" pitchFamily="34" charset="0"/>
            </a:pPr>
            <a:r>
              <a:rPr lang="en-GB" sz="2400" dirty="0">
                <a:latin typeface="Montserrat" pitchFamily="2" charset="77"/>
              </a:rPr>
              <a:t>What do we mean by:</a:t>
            </a:r>
          </a:p>
          <a:p>
            <a:pPr marL="1080000" lvl="2" indent="-360000">
              <a:spcAft>
                <a:spcPts val="651"/>
              </a:spcAft>
              <a:buClr>
                <a:schemeClr val="accent1"/>
              </a:buClr>
              <a:buFont typeface="Arial" panose="020B0604020202020204" pitchFamily="34" charset="0"/>
              <a:buChar char="§"/>
            </a:pPr>
            <a:r>
              <a:rPr lang="en-GB" sz="2400" dirty="0">
                <a:latin typeface="Montserrat" pitchFamily="2" charset="77"/>
              </a:rPr>
              <a:t>Code and libraries</a:t>
            </a:r>
          </a:p>
          <a:p>
            <a:pPr marL="1080000" lvl="2" indent="-360000">
              <a:spcAft>
                <a:spcPts val="651"/>
              </a:spcAft>
              <a:buClr>
                <a:schemeClr val="accent1"/>
              </a:buClr>
              <a:buFont typeface="Arial" panose="020B0604020202020204" pitchFamily="34" charset="0"/>
              <a:buChar char="§"/>
            </a:pPr>
            <a:r>
              <a:rPr lang="en-GB" sz="2400" dirty="0">
                <a:latin typeface="Montserrat" pitchFamily="2" charset="77"/>
              </a:rPr>
              <a:t>Data</a:t>
            </a:r>
          </a:p>
          <a:p>
            <a:pPr marL="1080000" lvl="2" indent="-360000">
              <a:spcAft>
                <a:spcPts val="651"/>
              </a:spcAft>
              <a:buClr>
                <a:schemeClr val="accent1"/>
              </a:buClr>
              <a:buFont typeface="Arial" panose="020B0604020202020204" pitchFamily="34" charset="0"/>
              <a:buChar char="§"/>
            </a:pPr>
            <a:r>
              <a:rPr lang="en-GB" sz="2400" dirty="0">
                <a:latin typeface="Montserrat" pitchFamily="2" charset="77"/>
              </a:rPr>
              <a:t>Application components</a:t>
            </a:r>
          </a:p>
          <a:p>
            <a:pPr marL="1080000" lvl="2" indent="-360000">
              <a:spcAft>
                <a:spcPts val="651"/>
              </a:spcAft>
              <a:buClr>
                <a:schemeClr val="accent1"/>
              </a:buClr>
              <a:buFont typeface="Arial" panose="020B0604020202020204" pitchFamily="34" charset="0"/>
              <a:buChar char="§"/>
            </a:pPr>
            <a:r>
              <a:rPr lang="en-GB" sz="2400" dirty="0">
                <a:latin typeface="Montserrat" pitchFamily="2" charset="77"/>
              </a:rPr>
              <a:t>Application interfaces</a:t>
            </a:r>
          </a:p>
        </p:txBody>
      </p:sp>
      <p:pic>
        <p:nvPicPr>
          <p:cNvPr id="3" name="Picture 2" descr="Magnifying glass and question mark">
            <a:extLst>
              <a:ext uri="{FF2B5EF4-FFF2-40B4-BE49-F238E27FC236}">
                <a16:creationId xmlns:a16="http://schemas.microsoft.com/office/drawing/2014/main" id="{A6BE61C1-1CE4-442B-AF19-11F753CC52E2}"/>
              </a:ext>
            </a:extLst>
          </p:cNvPr>
          <p:cNvPicPr>
            <a:picLocks noChangeAspect="1"/>
          </p:cNvPicPr>
          <p:nvPr/>
        </p:nvPicPr>
        <p:blipFill>
          <a:blip r:embed="rId3"/>
          <a:stretch>
            <a:fillRect/>
          </a:stretch>
        </p:blipFill>
        <p:spPr>
          <a:xfrm>
            <a:off x="9326880" y="5041556"/>
            <a:ext cx="2613660" cy="1470115"/>
          </a:xfrm>
          <a:prstGeom prst="rect">
            <a:avLst/>
          </a:prstGeom>
          <a:ln>
            <a:noFill/>
          </a:ln>
          <a:effectLst>
            <a:softEdge rad="112500"/>
          </a:effectLst>
        </p:spPr>
      </p:pic>
    </p:spTree>
    <p:extLst>
      <p:ext uri="{BB962C8B-B14F-4D97-AF65-F5344CB8AC3E}">
        <p14:creationId xmlns:p14="http://schemas.microsoft.com/office/powerpoint/2010/main" val="154806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0A88E08-C18B-064F-8309-EB96048F1C8D}"/>
              </a:ext>
            </a:extLst>
          </p:cNvPr>
          <p:cNvSpPr/>
          <p:nvPr/>
        </p:nvSpPr>
        <p:spPr>
          <a:xfrm>
            <a:off x="3930342" y="1236980"/>
            <a:ext cx="3586480" cy="4866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B0947179-AA49-874D-8219-1E7E66A5D540}"/>
              </a:ext>
            </a:extLst>
          </p:cNvPr>
          <p:cNvSpPr>
            <a:spLocks noGrp="1"/>
          </p:cNvSpPr>
          <p:nvPr>
            <p:ph type="sldNum" sz="quarter" idx="4"/>
          </p:nvPr>
        </p:nvSpPr>
        <p:spPr/>
        <p:txBody>
          <a:bodyPr/>
          <a:lstStyle/>
          <a:p>
            <a:fld id="{EF892D59-8F09-EF4B-AD6D-DA609442F868}" type="slidenum">
              <a:rPr lang="en-GB" smtClean="0"/>
              <a:pPr/>
              <a:t>3</a:t>
            </a:fld>
            <a:endParaRPr lang="en-GB" dirty="0"/>
          </a:p>
        </p:txBody>
      </p:sp>
      <p:sp>
        <p:nvSpPr>
          <p:cNvPr id="5" name="Rectangle 4">
            <a:extLst>
              <a:ext uri="{FF2B5EF4-FFF2-40B4-BE49-F238E27FC236}">
                <a16:creationId xmlns:a16="http://schemas.microsoft.com/office/drawing/2014/main" id="{18C19889-74F4-C241-A215-8DD79570C72B}"/>
              </a:ext>
            </a:extLst>
          </p:cNvPr>
          <p:cNvSpPr/>
          <p:nvPr/>
        </p:nvSpPr>
        <p:spPr>
          <a:xfrm>
            <a:off x="4103062" y="1408687"/>
            <a:ext cx="3210560" cy="5181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Authentication Module</a:t>
            </a:r>
          </a:p>
        </p:txBody>
      </p:sp>
      <p:sp>
        <p:nvSpPr>
          <p:cNvPr id="6" name="Rectangle 5">
            <a:extLst>
              <a:ext uri="{FF2B5EF4-FFF2-40B4-BE49-F238E27FC236}">
                <a16:creationId xmlns:a16="http://schemas.microsoft.com/office/drawing/2014/main" id="{1CA6F302-DC5E-1B4E-B58A-1A3EEBE32CC4}"/>
              </a:ext>
            </a:extLst>
          </p:cNvPr>
          <p:cNvSpPr/>
          <p:nvPr/>
        </p:nvSpPr>
        <p:spPr>
          <a:xfrm>
            <a:off x="4103062" y="2058927"/>
            <a:ext cx="3210560" cy="7924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User Experience and</a:t>
            </a:r>
          </a:p>
          <a:p>
            <a:pPr algn="ctr"/>
            <a:r>
              <a:rPr lang="en-US" b="1" dirty="0">
                <a:solidFill>
                  <a:schemeClr val="tx1"/>
                </a:solidFill>
              </a:rPr>
              <a:t>Session Manager</a:t>
            </a:r>
          </a:p>
        </p:txBody>
      </p:sp>
      <p:sp>
        <p:nvSpPr>
          <p:cNvPr id="7" name="Rectangle 6">
            <a:extLst>
              <a:ext uri="{FF2B5EF4-FFF2-40B4-BE49-F238E27FC236}">
                <a16:creationId xmlns:a16="http://schemas.microsoft.com/office/drawing/2014/main" id="{43810B40-3A80-624A-8384-CD224485C270}"/>
              </a:ext>
            </a:extLst>
          </p:cNvPr>
          <p:cNvSpPr/>
          <p:nvPr/>
        </p:nvSpPr>
        <p:spPr>
          <a:xfrm>
            <a:off x="4103062" y="2973327"/>
            <a:ext cx="3210560" cy="11379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Flight / Hotel / Trip</a:t>
            </a:r>
          </a:p>
          <a:p>
            <a:pPr algn="ctr"/>
            <a:r>
              <a:rPr lang="en-US" b="1" dirty="0">
                <a:solidFill>
                  <a:schemeClr val="tx1"/>
                </a:solidFill>
              </a:rPr>
              <a:t>Services</a:t>
            </a:r>
          </a:p>
          <a:p>
            <a:pPr algn="ctr"/>
            <a:r>
              <a:rPr lang="en-US" sz="1050" b="1" dirty="0">
                <a:solidFill>
                  <a:schemeClr val="tx1"/>
                </a:solidFill>
              </a:rPr>
              <a:t>(to search for and book flights, hotels etc.)</a:t>
            </a:r>
          </a:p>
        </p:txBody>
      </p:sp>
      <p:sp>
        <p:nvSpPr>
          <p:cNvPr id="8" name="Rectangle 7">
            <a:extLst>
              <a:ext uri="{FF2B5EF4-FFF2-40B4-BE49-F238E27FC236}">
                <a16:creationId xmlns:a16="http://schemas.microsoft.com/office/drawing/2014/main" id="{42253302-AF2D-DC4B-925A-DF9ADDB263A7}"/>
              </a:ext>
            </a:extLst>
          </p:cNvPr>
          <p:cNvSpPr/>
          <p:nvPr/>
        </p:nvSpPr>
        <p:spPr>
          <a:xfrm>
            <a:off x="4103062" y="4223007"/>
            <a:ext cx="3210560" cy="7924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 Access Services</a:t>
            </a:r>
          </a:p>
        </p:txBody>
      </p:sp>
      <p:sp>
        <p:nvSpPr>
          <p:cNvPr id="9" name="Rectangle 8">
            <a:extLst>
              <a:ext uri="{FF2B5EF4-FFF2-40B4-BE49-F238E27FC236}">
                <a16:creationId xmlns:a16="http://schemas.microsoft.com/office/drawing/2014/main" id="{43F0983F-045D-5842-B784-D400695718E1}"/>
              </a:ext>
            </a:extLst>
          </p:cNvPr>
          <p:cNvSpPr/>
          <p:nvPr/>
        </p:nvSpPr>
        <p:spPr>
          <a:xfrm>
            <a:off x="4103062" y="5117087"/>
            <a:ext cx="3210560" cy="7924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Underlying framework</a:t>
            </a:r>
          </a:p>
        </p:txBody>
      </p:sp>
      <p:pic>
        <p:nvPicPr>
          <p:cNvPr id="12" name="Graphic 11" descr="Database">
            <a:extLst>
              <a:ext uri="{FF2B5EF4-FFF2-40B4-BE49-F238E27FC236}">
                <a16:creationId xmlns:a16="http://schemas.microsoft.com/office/drawing/2014/main" id="{5117BC6D-DD0B-004C-B223-3E201DB135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542" y="3400047"/>
            <a:ext cx="1645920" cy="1645920"/>
          </a:xfrm>
          <a:prstGeom prst="rect">
            <a:avLst/>
          </a:prstGeom>
        </p:spPr>
      </p:pic>
      <p:pic>
        <p:nvPicPr>
          <p:cNvPr id="14" name="Graphic 13" descr="Table">
            <a:extLst>
              <a:ext uri="{FF2B5EF4-FFF2-40B4-BE49-F238E27FC236}">
                <a16:creationId xmlns:a16="http://schemas.microsoft.com/office/drawing/2014/main" id="{B9E2636D-0F00-FC4F-A7A7-A85D3DB666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0274" y="2660286"/>
            <a:ext cx="975360" cy="975360"/>
          </a:xfrm>
          <a:prstGeom prst="rect">
            <a:avLst/>
          </a:prstGeom>
        </p:spPr>
      </p:pic>
      <p:pic>
        <p:nvPicPr>
          <p:cNvPr id="15" name="Graphic 14" descr="Table">
            <a:extLst>
              <a:ext uri="{FF2B5EF4-FFF2-40B4-BE49-F238E27FC236}">
                <a16:creationId xmlns:a16="http://schemas.microsoft.com/office/drawing/2014/main" id="{305F1488-1B78-F840-BDF8-6D7DEDA541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31861" y="3798206"/>
            <a:ext cx="975360" cy="975360"/>
          </a:xfrm>
          <a:prstGeom prst="rect">
            <a:avLst/>
          </a:prstGeom>
        </p:spPr>
      </p:pic>
      <p:sp>
        <p:nvSpPr>
          <p:cNvPr id="17" name="TextBox 16">
            <a:extLst>
              <a:ext uri="{FF2B5EF4-FFF2-40B4-BE49-F238E27FC236}">
                <a16:creationId xmlns:a16="http://schemas.microsoft.com/office/drawing/2014/main" id="{297D4D34-3C60-2D49-906E-6CF50E9FE9CF}"/>
              </a:ext>
            </a:extLst>
          </p:cNvPr>
          <p:cNvSpPr txBox="1"/>
          <p:nvPr/>
        </p:nvSpPr>
        <p:spPr>
          <a:xfrm>
            <a:off x="8616301" y="5842595"/>
            <a:ext cx="2527950" cy="825785"/>
          </a:xfrm>
          <a:prstGeom prst="rect">
            <a:avLst/>
          </a:prstGeom>
        </p:spPr>
        <p:txBody>
          <a:bodyPr vert="horz" wrap="none" lIns="0" tIns="0" rIns="0" bIns="0" rtlCol="0" anchor="t" anchorCtr="0">
            <a:normAutofit/>
          </a:bodyPr>
          <a:lstStyle/>
          <a:p>
            <a:pPr algn="l"/>
            <a:r>
              <a:rPr lang="en-US" dirty="0"/>
              <a:t>Monolithic Database</a:t>
            </a:r>
          </a:p>
        </p:txBody>
      </p:sp>
      <p:pic>
        <p:nvPicPr>
          <p:cNvPr id="18" name="Graphic 17" descr="Table">
            <a:extLst>
              <a:ext uri="{FF2B5EF4-FFF2-40B4-BE49-F238E27FC236}">
                <a16:creationId xmlns:a16="http://schemas.microsoft.com/office/drawing/2014/main" id="{4677741B-3E14-1847-91EC-61FBFE8EF52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0274" y="4875166"/>
            <a:ext cx="975360" cy="975360"/>
          </a:xfrm>
          <a:prstGeom prst="rect">
            <a:avLst/>
          </a:prstGeom>
        </p:spPr>
      </p:pic>
      <p:pic>
        <p:nvPicPr>
          <p:cNvPr id="20" name="Graphic 19" descr="User">
            <a:extLst>
              <a:ext uri="{FF2B5EF4-FFF2-40B4-BE49-F238E27FC236}">
                <a16:creationId xmlns:a16="http://schemas.microsoft.com/office/drawing/2014/main" id="{DC1EDCBA-0830-A041-9808-6CFCA5ED26D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5222" y="3147966"/>
            <a:ext cx="1676400" cy="1676400"/>
          </a:xfrm>
          <a:prstGeom prst="rect">
            <a:avLst/>
          </a:prstGeom>
        </p:spPr>
      </p:pic>
      <p:pic>
        <p:nvPicPr>
          <p:cNvPr id="22" name="Graphic 21" descr="World">
            <a:extLst>
              <a:ext uri="{FF2B5EF4-FFF2-40B4-BE49-F238E27FC236}">
                <a16:creationId xmlns:a16="http://schemas.microsoft.com/office/drawing/2014/main" id="{436836EF-D91C-8F46-BA27-6ADCC074B7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11602" y="1789687"/>
            <a:ext cx="1183640" cy="1183640"/>
          </a:xfrm>
          <a:prstGeom prst="rect">
            <a:avLst/>
          </a:prstGeom>
        </p:spPr>
      </p:pic>
      <p:sp>
        <p:nvSpPr>
          <p:cNvPr id="23" name="TextBox 22">
            <a:extLst>
              <a:ext uri="{FF2B5EF4-FFF2-40B4-BE49-F238E27FC236}">
                <a16:creationId xmlns:a16="http://schemas.microsoft.com/office/drawing/2014/main" id="{E73598DF-1ACE-AF43-A1F6-5446651A2507}"/>
              </a:ext>
            </a:extLst>
          </p:cNvPr>
          <p:cNvSpPr txBox="1"/>
          <p:nvPr/>
        </p:nvSpPr>
        <p:spPr>
          <a:xfrm>
            <a:off x="1408647" y="2901194"/>
            <a:ext cx="1105241" cy="825785"/>
          </a:xfrm>
          <a:prstGeom prst="rect">
            <a:avLst/>
          </a:prstGeom>
        </p:spPr>
        <p:txBody>
          <a:bodyPr vert="horz" wrap="none" lIns="0" tIns="0" rIns="0" bIns="0" rtlCol="0" anchor="t" anchorCtr="0">
            <a:normAutofit/>
          </a:bodyPr>
          <a:lstStyle/>
          <a:p>
            <a:pPr algn="l"/>
            <a:r>
              <a:rPr lang="en-US" dirty="0"/>
              <a:t>Internet</a:t>
            </a:r>
          </a:p>
        </p:txBody>
      </p:sp>
      <p:sp>
        <p:nvSpPr>
          <p:cNvPr id="24" name="TextBox 23">
            <a:extLst>
              <a:ext uri="{FF2B5EF4-FFF2-40B4-BE49-F238E27FC236}">
                <a16:creationId xmlns:a16="http://schemas.microsoft.com/office/drawing/2014/main" id="{534073F3-3801-C745-B860-A9A5B0EC195B}"/>
              </a:ext>
            </a:extLst>
          </p:cNvPr>
          <p:cNvSpPr txBox="1"/>
          <p:nvPr/>
        </p:nvSpPr>
        <p:spPr>
          <a:xfrm>
            <a:off x="1611074" y="4669034"/>
            <a:ext cx="1105241" cy="825785"/>
          </a:xfrm>
          <a:prstGeom prst="rect">
            <a:avLst/>
          </a:prstGeom>
        </p:spPr>
        <p:txBody>
          <a:bodyPr vert="horz" wrap="none" lIns="0" tIns="0" rIns="0" bIns="0" rtlCol="0" anchor="t" anchorCtr="0">
            <a:normAutofit/>
          </a:bodyPr>
          <a:lstStyle/>
          <a:p>
            <a:pPr algn="l"/>
            <a:r>
              <a:rPr lang="en-US" dirty="0"/>
              <a:t>User</a:t>
            </a:r>
          </a:p>
        </p:txBody>
      </p:sp>
      <p:sp>
        <p:nvSpPr>
          <p:cNvPr id="25" name="Right Arrow 24">
            <a:extLst>
              <a:ext uri="{FF2B5EF4-FFF2-40B4-BE49-F238E27FC236}">
                <a16:creationId xmlns:a16="http://schemas.microsoft.com/office/drawing/2014/main" id="{96A61142-8A45-2848-9293-4DC1F80ECFE4}"/>
              </a:ext>
            </a:extLst>
          </p:cNvPr>
          <p:cNvSpPr/>
          <p:nvPr/>
        </p:nvSpPr>
        <p:spPr>
          <a:xfrm>
            <a:off x="2741622" y="3217566"/>
            <a:ext cx="977374" cy="48412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a:extLst>
              <a:ext uri="{FF2B5EF4-FFF2-40B4-BE49-F238E27FC236}">
                <a16:creationId xmlns:a16="http://schemas.microsoft.com/office/drawing/2014/main" id="{A31D637B-CB8B-1E47-9A92-622DF8F8782A}"/>
              </a:ext>
            </a:extLst>
          </p:cNvPr>
          <p:cNvSpPr/>
          <p:nvPr/>
        </p:nvSpPr>
        <p:spPr>
          <a:xfrm>
            <a:off x="7770822" y="4081166"/>
            <a:ext cx="977374" cy="48412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7">
            <a:extLst>
              <a:ext uri="{FF2B5EF4-FFF2-40B4-BE49-F238E27FC236}">
                <a16:creationId xmlns:a16="http://schemas.microsoft.com/office/drawing/2014/main" id="{A5F1E114-D057-0980-89EC-EE1647FEDEBD}"/>
              </a:ext>
            </a:extLst>
          </p:cNvPr>
          <p:cNvSpPr txBox="1">
            <a:spLocks/>
          </p:cNvSpPr>
          <p:nvPr/>
        </p:nvSpPr>
        <p:spPr>
          <a:xfrm>
            <a:off x="474593" y="125010"/>
            <a:ext cx="10458450" cy="687388"/>
          </a:xfrm>
          <a:prstGeom prst="rect">
            <a:avLst/>
          </a:prstGeom>
        </p:spPr>
        <p:txBody>
          <a:bodyPr vert="horz" lIns="0" tIns="0" rIns="0" bIns="0" rtlCol="0" anchor="t" anchorCtr="0">
            <a:noAutofit/>
          </a:bodyPr>
          <a:lst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a:lstStyle>
          <a:p>
            <a:r>
              <a:rPr lang="en-GB"/>
              <a:t>Three-tier architecture</a:t>
            </a:r>
            <a:endParaRPr lang="en-GB" dirty="0"/>
          </a:p>
        </p:txBody>
      </p:sp>
    </p:spTree>
    <p:extLst>
      <p:ext uri="{BB962C8B-B14F-4D97-AF65-F5344CB8AC3E}">
        <p14:creationId xmlns:p14="http://schemas.microsoft.com/office/powerpoint/2010/main" val="3585969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a:extLst>
              <a:ext uri="{FF2B5EF4-FFF2-40B4-BE49-F238E27FC236}">
                <a16:creationId xmlns:a16="http://schemas.microsoft.com/office/drawing/2014/main" id="{DAE58A83-87BA-ABA3-DA44-9D2741050AA0}"/>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4</a:t>
            </a:fld>
            <a:endParaRPr lang="en-GB"/>
          </a:p>
        </p:txBody>
      </p:sp>
      <p:sp>
        <p:nvSpPr>
          <p:cNvPr id="2" name="Text Placeholder 1">
            <a:extLst>
              <a:ext uri="{FF2B5EF4-FFF2-40B4-BE49-F238E27FC236}">
                <a16:creationId xmlns:a16="http://schemas.microsoft.com/office/drawing/2014/main" id="{03FF4176-C96A-49AD-88F0-DDA0EDDF78C8}"/>
              </a:ext>
            </a:extLst>
          </p:cNvPr>
          <p:cNvSpPr>
            <a:spLocks noGrp="1"/>
          </p:cNvSpPr>
          <p:nvPr>
            <p:ph type="body" sz="quarter" idx="10"/>
          </p:nvPr>
        </p:nvSpPr>
        <p:spPr>
          <a:xfrm>
            <a:off x="384784" y="1349985"/>
            <a:ext cx="3604285" cy="2751999"/>
          </a:xfrm>
        </p:spPr>
        <p:txBody>
          <a:bodyPr vert="horz" lIns="0" tIns="0" rIns="0" bIns="0" rtlCol="0" anchor="t" anchorCtr="0">
            <a:normAutofit/>
          </a:bodyPr>
          <a:lstStyle/>
          <a:p>
            <a:pPr>
              <a:spcAft>
                <a:spcPts val="600"/>
              </a:spcAft>
            </a:pPr>
            <a:r>
              <a:rPr lang="en-US" sz="2800" b="0" i="0" kern="1200" cap="all" baseline="0" dirty="0">
                <a:solidFill>
                  <a:schemeClr val="tx1"/>
                </a:solidFill>
                <a:latin typeface="Montserrat Black" panose="00000A00000000000000" pitchFamily="2" charset="0"/>
                <a:ea typeface="+mn-ea"/>
                <a:cs typeface="+mn-cs"/>
              </a:rPr>
              <a:t>Microservices</a:t>
            </a:r>
          </a:p>
        </p:txBody>
      </p:sp>
      <p:sp>
        <p:nvSpPr>
          <p:cNvPr id="8" name="TextBox 7">
            <a:extLst>
              <a:ext uri="{FF2B5EF4-FFF2-40B4-BE49-F238E27FC236}">
                <a16:creationId xmlns:a16="http://schemas.microsoft.com/office/drawing/2014/main" id="{A519076D-78CB-49D0-9D6F-E9B905436F06}"/>
              </a:ext>
            </a:extLst>
          </p:cNvPr>
          <p:cNvSpPr txBox="1"/>
          <p:nvPr/>
        </p:nvSpPr>
        <p:spPr>
          <a:xfrm>
            <a:off x="4606290" y="618466"/>
            <a:ext cx="6926580" cy="5112343"/>
          </a:xfrm>
          <a:prstGeom prst="rect">
            <a:avLst/>
          </a:prstGeom>
        </p:spPr>
        <p:txBody>
          <a:bodyPr vert="horz" lIns="0" tIns="0" rIns="0" bIns="0" rtlCol="0" anchor="t" anchorCtr="0">
            <a:normAutofit/>
          </a:bodyPr>
          <a:lstStyle/>
          <a:p>
            <a:pPr>
              <a:spcAft>
                <a:spcPts val="651"/>
              </a:spcAft>
              <a:buFont typeface="Arial" panose="020B0604020202020204" pitchFamily="34" charset="0"/>
            </a:pPr>
            <a:r>
              <a:rPr lang="en-GB" b="0" i="0" dirty="0">
                <a:solidFill>
                  <a:srgbClr val="0F0F0F"/>
                </a:solidFill>
                <a:effectLst/>
                <a:latin typeface="Söhne"/>
              </a:rPr>
              <a:t>Microservices embody an architectural and organizational strategy for software development, wherein software is crafted from compact, autonomous services that interact through clearly defined APIs. Ownership of these services lies with petite, self-contained teams.</a:t>
            </a:r>
            <a:br>
              <a:rPr lang="en-GB" b="0" i="0" dirty="0">
                <a:solidFill>
                  <a:srgbClr val="0F0F0F"/>
                </a:solidFill>
                <a:effectLst/>
                <a:latin typeface="Söhne"/>
              </a:rPr>
            </a:br>
            <a:endParaRPr lang="en-GB" b="0" i="0" dirty="0">
              <a:solidFill>
                <a:srgbClr val="0F0F0F"/>
              </a:solidFill>
              <a:effectLst/>
              <a:latin typeface="Söhne"/>
            </a:endParaRPr>
          </a:p>
          <a:p>
            <a:pPr>
              <a:spcAft>
                <a:spcPts val="651"/>
              </a:spcAft>
              <a:buFont typeface="Arial" panose="020B0604020202020204" pitchFamily="34" charset="0"/>
            </a:pPr>
            <a:r>
              <a:rPr lang="en-GB" dirty="0">
                <a:solidFill>
                  <a:srgbClr val="0F0F0F"/>
                </a:solidFill>
                <a:latin typeface="Söhne"/>
              </a:rPr>
              <a:t>We will not investigate this topic here, but it is worthy of further study</a:t>
            </a:r>
            <a:endParaRPr lang="en-GB" dirty="0">
              <a:latin typeface="Montserrat" pitchFamily="2" charset="77"/>
            </a:endParaRPr>
          </a:p>
        </p:txBody>
      </p:sp>
      <p:pic>
        <p:nvPicPr>
          <p:cNvPr id="1026" name="Picture 2" descr="Uber's microservice architecture. Source: Kappagantula 2018 | Download  Scientific Diagram">
            <a:extLst>
              <a:ext uri="{FF2B5EF4-FFF2-40B4-BE49-F238E27FC236}">
                <a16:creationId xmlns:a16="http://schemas.microsoft.com/office/drawing/2014/main" id="{5EED40D6-8B0F-F9BB-F9AD-539AA90BB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9143" y="2662309"/>
            <a:ext cx="3497577" cy="36825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quering Microservices Complexity @Uber with Distributed Tracing">
            <a:extLst>
              <a:ext uri="{FF2B5EF4-FFF2-40B4-BE49-F238E27FC236}">
                <a16:creationId xmlns:a16="http://schemas.microsoft.com/office/drawing/2014/main" id="{3BA797A2-7101-7727-A8BA-5F6E992A1E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575" y="3559109"/>
            <a:ext cx="3874770" cy="217955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803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a:extLst>
              <a:ext uri="{FF2B5EF4-FFF2-40B4-BE49-F238E27FC236}">
                <a16:creationId xmlns:a16="http://schemas.microsoft.com/office/drawing/2014/main" id="{DAE58A83-87BA-ABA3-DA44-9D2741050AA0}"/>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5</a:t>
            </a:fld>
            <a:endParaRPr lang="en-GB"/>
          </a:p>
        </p:txBody>
      </p:sp>
      <p:sp>
        <p:nvSpPr>
          <p:cNvPr id="2" name="Text Placeholder 1">
            <a:extLst>
              <a:ext uri="{FF2B5EF4-FFF2-40B4-BE49-F238E27FC236}">
                <a16:creationId xmlns:a16="http://schemas.microsoft.com/office/drawing/2014/main" id="{03FF4176-C96A-49AD-88F0-DDA0EDDF78C8}"/>
              </a:ext>
            </a:extLst>
          </p:cNvPr>
          <p:cNvSpPr>
            <a:spLocks noGrp="1"/>
          </p:cNvSpPr>
          <p:nvPr>
            <p:ph type="body" sz="quarter" idx="10"/>
          </p:nvPr>
        </p:nvSpPr>
        <p:spPr>
          <a:xfrm>
            <a:off x="384785" y="1349985"/>
            <a:ext cx="3443732" cy="2751999"/>
          </a:xfrm>
        </p:spPr>
        <p:txBody>
          <a:bodyPr vert="horz" lIns="0" tIns="0" rIns="0" bIns="0" rtlCol="0" anchor="t" anchorCtr="0">
            <a:normAutofit/>
          </a:bodyPr>
          <a:lstStyle/>
          <a:p>
            <a:pPr>
              <a:spcAft>
                <a:spcPts val="600"/>
              </a:spcAft>
            </a:pPr>
            <a:r>
              <a:rPr lang="en-US" b="0" i="0" kern="1200" cap="all" baseline="0" dirty="0">
                <a:solidFill>
                  <a:schemeClr val="tx1"/>
                </a:solidFill>
                <a:latin typeface="Montserrat Black" panose="00000A00000000000000" pitchFamily="2" charset="0"/>
                <a:ea typeface="+mn-ea"/>
                <a:cs typeface="+mn-cs"/>
              </a:rPr>
              <a:t>Code and Libraries</a:t>
            </a:r>
          </a:p>
        </p:txBody>
      </p:sp>
      <p:sp>
        <p:nvSpPr>
          <p:cNvPr id="8" name="TextBox 7">
            <a:extLst>
              <a:ext uri="{FF2B5EF4-FFF2-40B4-BE49-F238E27FC236}">
                <a16:creationId xmlns:a16="http://schemas.microsoft.com/office/drawing/2014/main" id="{A519076D-78CB-49D0-9D6F-E9B905436F06}"/>
              </a:ext>
            </a:extLst>
          </p:cNvPr>
          <p:cNvSpPr txBox="1"/>
          <p:nvPr/>
        </p:nvSpPr>
        <p:spPr>
          <a:xfrm>
            <a:off x="5037138" y="1349986"/>
            <a:ext cx="6770687" cy="5112343"/>
          </a:xfrm>
          <a:prstGeom prst="rect">
            <a:avLst/>
          </a:prstGeom>
        </p:spPr>
        <p:txBody>
          <a:bodyPr vert="horz" lIns="0" tIns="0" rIns="0" bIns="0" rtlCol="0" anchor="t" anchorCtr="0">
            <a:normAutofit/>
          </a:bodyPr>
          <a:lstStyle/>
          <a:p>
            <a:pPr>
              <a:spcAft>
                <a:spcPts val="651"/>
              </a:spcAft>
              <a:buFont typeface="Arial" panose="020B0604020202020204" pitchFamily="34" charset="0"/>
            </a:pPr>
            <a:r>
              <a:rPr lang="en-GB" b="1" dirty="0">
                <a:latin typeface="Montserrat" pitchFamily="2" charset="77"/>
              </a:rPr>
              <a:t>Code</a:t>
            </a:r>
            <a:r>
              <a:rPr lang="en-GB" dirty="0">
                <a:latin typeface="Montserrat" pitchFamily="2" charset="77"/>
              </a:rPr>
              <a:t>:</a:t>
            </a:r>
            <a:endParaRPr lang="en-GB" b="1" dirty="0">
              <a:latin typeface="Montserrat" pitchFamily="2" charset="77"/>
            </a:endParaRPr>
          </a:p>
          <a:p>
            <a:pPr marL="742950" lvl="1" indent="-285750">
              <a:spcAft>
                <a:spcPts val="651"/>
              </a:spcAft>
              <a:buFont typeface="Arial" panose="020B0604020202020204" pitchFamily="34" charset="0"/>
              <a:buChar char="•"/>
            </a:pPr>
            <a:r>
              <a:rPr lang="en-GB" dirty="0">
                <a:latin typeface="Montserrat" pitchFamily="2" charset="77"/>
              </a:rPr>
              <a:t>Collection of computer instructions – source code.</a:t>
            </a:r>
          </a:p>
          <a:p>
            <a:pPr marL="742950" lvl="1" indent="-285750">
              <a:spcAft>
                <a:spcPts val="651"/>
              </a:spcAft>
              <a:buFont typeface="Arial" panose="020B0604020202020204" pitchFamily="34" charset="0"/>
              <a:buChar char="•"/>
            </a:pPr>
            <a:r>
              <a:rPr lang="en-GB" dirty="0">
                <a:latin typeface="Montserrat" pitchFamily="2" charset="77"/>
              </a:rPr>
              <a:t>Readable – usually plain text.</a:t>
            </a:r>
          </a:p>
          <a:p>
            <a:pPr marL="742950" lvl="1" indent="-285750">
              <a:spcAft>
                <a:spcPts val="651"/>
              </a:spcAft>
              <a:buFont typeface="Arial" panose="020B0604020202020204" pitchFamily="34" charset="0"/>
              <a:buChar char="•"/>
            </a:pPr>
            <a:r>
              <a:rPr lang="en-GB" dirty="0">
                <a:latin typeface="Montserrat" pitchFamily="2" charset="77"/>
              </a:rPr>
              <a:t>Assembler / compiler transform into machine code:</a:t>
            </a:r>
          </a:p>
          <a:p>
            <a:pPr marL="1200150" lvl="2" indent="-285750">
              <a:spcAft>
                <a:spcPts val="651"/>
              </a:spcAft>
              <a:buFont typeface="Arial" panose="020B0604020202020204" pitchFamily="34" charset="0"/>
              <a:buChar char="•"/>
            </a:pPr>
            <a:r>
              <a:rPr lang="en-GB" dirty="0">
                <a:latin typeface="Montserrat" pitchFamily="2" charset="77"/>
              </a:rPr>
              <a:t>Execute later</a:t>
            </a:r>
          </a:p>
          <a:p>
            <a:pPr marL="1200150" lvl="2" indent="-285750">
              <a:spcAft>
                <a:spcPts val="651"/>
              </a:spcAft>
              <a:buFont typeface="Arial" panose="020B0604020202020204" pitchFamily="34" charset="0"/>
              <a:buChar char="•"/>
            </a:pPr>
            <a:r>
              <a:rPr lang="en-GB" dirty="0">
                <a:latin typeface="Montserrat" pitchFamily="2" charset="77"/>
              </a:rPr>
              <a:t>Or interpreted and executed immediately</a:t>
            </a:r>
          </a:p>
          <a:p>
            <a:pPr marL="914400" lvl="2">
              <a:spcAft>
                <a:spcPts val="651"/>
              </a:spcAft>
            </a:pPr>
            <a:endParaRPr lang="en-GB" dirty="0">
              <a:latin typeface="Montserrat" pitchFamily="2" charset="77"/>
            </a:endParaRPr>
          </a:p>
          <a:p>
            <a:pPr>
              <a:spcAft>
                <a:spcPts val="651"/>
              </a:spcAft>
              <a:buFont typeface="Arial" panose="020B0604020202020204" pitchFamily="34" charset="0"/>
            </a:pPr>
            <a:r>
              <a:rPr lang="en-GB" b="1" dirty="0">
                <a:latin typeface="Montserrat" pitchFamily="2" charset="77"/>
              </a:rPr>
              <a:t>Libraries</a:t>
            </a:r>
            <a:r>
              <a:rPr lang="en-GB" dirty="0">
                <a:latin typeface="Montserrat" pitchFamily="2" charset="77"/>
              </a:rPr>
              <a:t>:</a:t>
            </a:r>
          </a:p>
          <a:p>
            <a:pPr marL="742950" lvl="1" indent="-285750">
              <a:spcAft>
                <a:spcPts val="651"/>
              </a:spcAft>
              <a:buFont typeface="Arial" panose="020B0604020202020204" pitchFamily="34" charset="0"/>
              <a:buChar char="•"/>
            </a:pPr>
            <a:r>
              <a:rPr lang="en-GB" dirty="0">
                <a:latin typeface="Montserrat" pitchFamily="2" charset="77"/>
              </a:rPr>
              <a:t>Collection of resources used to develop software.</a:t>
            </a:r>
          </a:p>
          <a:p>
            <a:pPr marL="742950" lvl="1" indent="-285750">
              <a:spcAft>
                <a:spcPts val="651"/>
              </a:spcAft>
              <a:buFont typeface="Arial" panose="020B0604020202020204" pitchFamily="34" charset="0"/>
              <a:buChar char="•"/>
            </a:pPr>
            <a:r>
              <a:rPr lang="en-GB" dirty="0">
                <a:latin typeface="Montserrat" pitchFamily="2" charset="77"/>
              </a:rPr>
              <a:t>Implementation of behaviour with well defined interfaces.</a:t>
            </a:r>
          </a:p>
          <a:p>
            <a:pPr marL="742950" lvl="1" indent="-285750">
              <a:spcAft>
                <a:spcPts val="651"/>
              </a:spcAft>
              <a:buFont typeface="Arial" panose="020B0604020202020204" pitchFamily="34" charset="0"/>
              <a:buChar char="•"/>
            </a:pPr>
            <a:r>
              <a:rPr lang="en-GB" dirty="0">
                <a:latin typeface="Montserrat" pitchFamily="2" charset="77"/>
              </a:rPr>
              <a:t>Standard / custom libraries. </a:t>
            </a:r>
          </a:p>
        </p:txBody>
      </p:sp>
    </p:spTree>
    <p:extLst>
      <p:ext uri="{BB962C8B-B14F-4D97-AF65-F5344CB8AC3E}">
        <p14:creationId xmlns:p14="http://schemas.microsoft.com/office/powerpoint/2010/main" val="351735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37E1-8CAB-4D96-AC87-F50290351661}"/>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solidFill>
                  <a:schemeClr val="tx1"/>
                </a:solidFill>
              </a:rPr>
              <a:t>Data</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5"/>
          </p:nvPr>
        </p:nvSpPr>
        <p:spPr>
          <a:xfrm>
            <a:off x="5037138" y="1349986"/>
            <a:ext cx="6770687" cy="5112343"/>
          </a:xfrm>
        </p:spPr>
        <p:txBody>
          <a:bodyPr anchor="t">
            <a:normAutofit/>
          </a:bodyPr>
          <a:lstStyle/>
          <a:p>
            <a:r>
              <a:rPr lang="en-GB" sz="2400" b="1" dirty="0"/>
              <a:t>Data</a:t>
            </a:r>
            <a:r>
              <a:rPr lang="en-GB" sz="2400" dirty="0"/>
              <a:t>:</a:t>
            </a:r>
            <a:br>
              <a:rPr lang="en-GB" sz="2400" dirty="0"/>
            </a:br>
            <a:endParaRPr lang="en-GB" sz="2400" dirty="0"/>
          </a:p>
          <a:p>
            <a:pPr lvl="1"/>
            <a:r>
              <a:rPr lang="en-GB" sz="2400" dirty="0"/>
              <a:t>Numbers, characters, strings – </a:t>
            </a:r>
            <a:br>
              <a:rPr lang="en-GB" sz="2400" dirty="0"/>
            </a:br>
            <a:r>
              <a:rPr lang="en-GB" sz="2400" dirty="0"/>
              <a:t>other data structures.</a:t>
            </a:r>
          </a:p>
          <a:p>
            <a:pPr lvl="1"/>
            <a:r>
              <a:rPr lang="en-GB" sz="2400" dirty="0"/>
              <a:t>Need context to become information.</a:t>
            </a:r>
          </a:p>
          <a:p>
            <a:pPr lvl="1"/>
            <a:r>
              <a:rPr lang="en-GB" sz="2400" dirty="0"/>
              <a:t>Metadata – data about data.</a:t>
            </a:r>
          </a:p>
          <a:p>
            <a:pPr lvl="1"/>
            <a:r>
              <a:rPr lang="en-GB" sz="2400" dirty="0"/>
              <a:t>Stored on databases / files.</a:t>
            </a:r>
          </a:p>
          <a:p>
            <a:pPr lvl="1"/>
            <a:r>
              <a:rPr lang="en-GB" sz="2400" dirty="0"/>
              <a:t>Data structures – Arrays, graphs, objects.</a:t>
            </a:r>
          </a:p>
          <a:p>
            <a:pPr marL="285750" indent="-285750">
              <a:buFont typeface="Arial" panose="020B0604020202020204" pitchFamily="34" charset="0"/>
              <a:buChar char="•"/>
            </a:pPr>
            <a:endParaRPr lang="en-GB" sz="2400" b="0" dirty="0"/>
          </a:p>
        </p:txBody>
      </p:sp>
      <p:sp>
        <p:nvSpPr>
          <p:cNvPr id="12" name="Slide Number Placeholder 3">
            <a:extLst>
              <a:ext uri="{FF2B5EF4-FFF2-40B4-BE49-F238E27FC236}">
                <a16:creationId xmlns:a16="http://schemas.microsoft.com/office/drawing/2014/main" id="{69072377-E891-4EF4-A8E5-C1887F5C3350}"/>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6</a:t>
            </a:fld>
            <a:endParaRPr lang="en-GB"/>
          </a:p>
        </p:txBody>
      </p:sp>
    </p:spTree>
    <p:extLst>
      <p:ext uri="{BB962C8B-B14F-4D97-AF65-F5344CB8AC3E}">
        <p14:creationId xmlns:p14="http://schemas.microsoft.com/office/powerpoint/2010/main" val="1966319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36B3C322-84D8-7D76-BFA1-FCCBD11AB1E7}"/>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7</a:t>
            </a:fld>
            <a:endParaRPr lang="en-GB"/>
          </a:p>
        </p:txBody>
      </p:sp>
      <p:sp>
        <p:nvSpPr>
          <p:cNvPr id="2" name="Title 1">
            <a:extLst>
              <a:ext uri="{FF2B5EF4-FFF2-40B4-BE49-F238E27FC236}">
                <a16:creationId xmlns:a16="http://schemas.microsoft.com/office/drawing/2014/main" id="{99369EDD-73E0-4120-A384-45A6E5B47159}"/>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sz="3200" dirty="0">
                <a:solidFill>
                  <a:schemeClr val="tx1"/>
                </a:solidFill>
              </a:rPr>
              <a:t>Application Components</a:t>
            </a:r>
          </a:p>
        </p:txBody>
      </p:sp>
      <p:sp>
        <p:nvSpPr>
          <p:cNvPr id="3" name="Text Placeholder 2">
            <a:extLst>
              <a:ext uri="{FF2B5EF4-FFF2-40B4-BE49-F238E27FC236}">
                <a16:creationId xmlns:a16="http://schemas.microsoft.com/office/drawing/2014/main" id="{2643569C-EC6C-42CD-BD8F-5E289A630692}"/>
              </a:ext>
            </a:extLst>
          </p:cNvPr>
          <p:cNvSpPr>
            <a:spLocks noGrp="1"/>
          </p:cNvSpPr>
          <p:nvPr>
            <p:ph type="body" sz="quarter" idx="15"/>
          </p:nvPr>
        </p:nvSpPr>
        <p:spPr>
          <a:xfrm>
            <a:off x="5037138" y="1349986"/>
            <a:ext cx="6770687" cy="5112343"/>
          </a:xfrm>
        </p:spPr>
        <p:txBody>
          <a:bodyPr anchor="t">
            <a:normAutofit/>
          </a:bodyPr>
          <a:lstStyle/>
          <a:p>
            <a:r>
              <a:rPr lang="en-GB" sz="2400" b="1" dirty="0"/>
              <a:t>Application Components</a:t>
            </a:r>
            <a:r>
              <a:rPr lang="en-GB" sz="2400" dirty="0"/>
              <a:t>:</a:t>
            </a:r>
          </a:p>
          <a:p>
            <a:endParaRPr lang="en-GB" sz="2400" b="1" dirty="0"/>
          </a:p>
          <a:p>
            <a:pPr lvl="1"/>
            <a:r>
              <a:rPr lang="en-GB" sz="2400" dirty="0"/>
              <a:t>Separation of concerns / functionality throughout a system.</a:t>
            </a:r>
          </a:p>
          <a:p>
            <a:pPr lvl="1"/>
            <a:r>
              <a:rPr lang="en-GB" sz="2400" dirty="0"/>
              <a:t>Reuse based approach – loosely coupled independent components.</a:t>
            </a:r>
          </a:p>
          <a:p>
            <a:pPr lvl="1"/>
            <a:r>
              <a:rPr lang="en-GB" sz="2400" dirty="0"/>
              <a:t>Benefits in both the short-term and the long-term for the software / organisation. </a:t>
            </a:r>
          </a:p>
          <a:p>
            <a:endParaRPr lang="en-GB" sz="2400" dirty="0"/>
          </a:p>
        </p:txBody>
      </p:sp>
    </p:spTree>
    <p:extLst>
      <p:ext uri="{BB962C8B-B14F-4D97-AF65-F5344CB8AC3E}">
        <p14:creationId xmlns:p14="http://schemas.microsoft.com/office/powerpoint/2010/main" val="2191132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bstract background">
            <a:extLst>
              <a:ext uri="{FF2B5EF4-FFF2-40B4-BE49-F238E27FC236}">
                <a16:creationId xmlns:a16="http://schemas.microsoft.com/office/drawing/2014/main" id="{AEA1200E-9E68-A0E6-199D-06F036677349}"/>
              </a:ext>
            </a:extLst>
          </p:cNvPr>
          <p:cNvPicPr>
            <a:picLocks noChangeAspect="1"/>
          </p:cNvPicPr>
          <p:nvPr/>
        </p:nvPicPr>
        <p:blipFill rotWithShape="1">
          <a:blip r:embed="rId3"/>
          <a:srcRect l="46924" r="7371"/>
          <a:stretch/>
        </p:blipFill>
        <p:spPr>
          <a:xfrm>
            <a:off x="6967959" y="10"/>
            <a:ext cx="5224040" cy="6857989"/>
          </a:xfrm>
          <a:prstGeom prst="rect">
            <a:avLst/>
          </a:prstGeom>
          <a:noFill/>
        </p:spPr>
      </p:pic>
      <p:sp>
        <p:nvSpPr>
          <p:cNvPr id="2" name="Title 1">
            <a:extLst>
              <a:ext uri="{FF2B5EF4-FFF2-40B4-BE49-F238E27FC236}">
                <a16:creationId xmlns:a16="http://schemas.microsoft.com/office/drawing/2014/main" id="{98549FA3-CABB-4378-A8AF-4F26F4A55B93}"/>
              </a:ext>
            </a:extLst>
          </p:cNvPr>
          <p:cNvSpPr>
            <a:spLocks noGrp="1"/>
          </p:cNvSpPr>
          <p:nvPr>
            <p:ph type="body" sz="quarter" idx="12"/>
          </p:nvPr>
        </p:nvSpPr>
        <p:spPr>
          <a:xfrm>
            <a:off x="385650" y="1147572"/>
            <a:ext cx="6363942" cy="520262"/>
          </a:xfrm>
        </p:spPr>
        <p:txBody>
          <a:bodyPr anchor="t">
            <a:normAutofit/>
          </a:bodyPr>
          <a:lstStyle/>
          <a:p>
            <a:pPr>
              <a:lnSpc>
                <a:spcPct val="90000"/>
              </a:lnSpc>
              <a:spcAft>
                <a:spcPts val="600"/>
              </a:spcAft>
            </a:pPr>
            <a:r>
              <a:rPr lang="en-GB"/>
              <a:t>Application Interfaces</a:t>
            </a:r>
          </a:p>
        </p:txBody>
      </p:sp>
      <p:sp>
        <p:nvSpPr>
          <p:cNvPr id="8" name="Slide Number Placeholder 3">
            <a:extLst>
              <a:ext uri="{FF2B5EF4-FFF2-40B4-BE49-F238E27FC236}">
                <a16:creationId xmlns:a16="http://schemas.microsoft.com/office/drawing/2014/main" id="{6DF61397-78DF-5C8F-5A24-68B048D5A101}"/>
              </a:ext>
            </a:extLst>
          </p:cNvPr>
          <p:cNvSpPr>
            <a:spLocks noGrp="1"/>
          </p:cNvSpPr>
          <p:nvPr>
            <p:ph type="sldNum" sz="quarter" idx="4"/>
          </p:nvPr>
        </p:nvSpPr>
        <p:spPr>
          <a:xfrm>
            <a:off x="11256421" y="6511672"/>
            <a:ext cx="785483" cy="180000"/>
          </a:xfrm>
        </p:spPr>
        <p:txBody>
          <a:bodyPr anchor="b">
            <a:normAutofit/>
          </a:bodyPr>
          <a:lstStyle/>
          <a:p>
            <a:pPr>
              <a:spcAft>
                <a:spcPts val="600"/>
              </a:spcAft>
            </a:pPr>
            <a:fld id="{EF892D59-8F09-EF4B-AD6D-DA609442F868}" type="slidenum">
              <a:rPr lang="en-GB" smtClean="0"/>
              <a:pPr>
                <a:spcAft>
                  <a:spcPts val="600"/>
                </a:spcAft>
              </a:pPr>
              <a:t>8</a:t>
            </a:fld>
            <a:endParaRPr lang="en-GB"/>
          </a:p>
        </p:txBody>
      </p:sp>
      <p:sp>
        <p:nvSpPr>
          <p:cNvPr id="3" name="Text Placeholder 2">
            <a:extLst>
              <a:ext uri="{FF2B5EF4-FFF2-40B4-BE49-F238E27FC236}">
                <a16:creationId xmlns:a16="http://schemas.microsoft.com/office/drawing/2014/main" id="{5098F698-9A50-47FC-A5EE-F6E1035CE36F}"/>
              </a:ext>
            </a:extLst>
          </p:cNvPr>
          <p:cNvSpPr>
            <a:spLocks noGrp="1"/>
          </p:cNvSpPr>
          <p:nvPr>
            <p:ph type="body" sz="quarter" idx="11"/>
          </p:nvPr>
        </p:nvSpPr>
        <p:spPr>
          <a:xfrm>
            <a:off x="373062" y="1892636"/>
            <a:ext cx="6363941" cy="2742864"/>
          </a:xfrm>
        </p:spPr>
        <p:txBody>
          <a:bodyPr anchor="t">
            <a:normAutofit/>
          </a:bodyPr>
          <a:lstStyle/>
          <a:p>
            <a:pPr>
              <a:lnSpc>
                <a:spcPct val="90000"/>
              </a:lnSpc>
            </a:pPr>
            <a:r>
              <a:rPr lang="en-GB" sz="1500" b="1" dirty="0"/>
              <a:t>An interface</a:t>
            </a:r>
            <a:r>
              <a:rPr lang="en-GB" sz="1500" dirty="0"/>
              <a:t>:</a:t>
            </a:r>
          </a:p>
          <a:p>
            <a:pPr lvl="1">
              <a:lnSpc>
                <a:spcPct val="90000"/>
              </a:lnSpc>
            </a:pPr>
            <a:r>
              <a:rPr lang="en-GB" sz="1500" dirty="0"/>
              <a:t>Shared boundary across which components share data</a:t>
            </a:r>
          </a:p>
          <a:p>
            <a:pPr lvl="2">
              <a:lnSpc>
                <a:spcPct val="90000"/>
              </a:lnSpc>
            </a:pPr>
            <a:r>
              <a:rPr lang="en-GB" sz="1500" dirty="0"/>
              <a:t>Define interfaces separate from implementation.</a:t>
            </a:r>
          </a:p>
          <a:p>
            <a:pPr lvl="3">
              <a:lnSpc>
                <a:spcPct val="90000"/>
              </a:lnSpc>
            </a:pPr>
            <a:r>
              <a:rPr lang="en-GB" sz="1500" dirty="0"/>
              <a:t>Procedures / methods – private variables.</a:t>
            </a:r>
          </a:p>
          <a:p>
            <a:pPr lvl="3">
              <a:lnSpc>
                <a:spcPct val="90000"/>
              </a:lnSpc>
            </a:pPr>
            <a:r>
              <a:rPr lang="en-GB" sz="1500" dirty="0"/>
              <a:t>Other modules only interact through interface.</a:t>
            </a:r>
          </a:p>
          <a:p>
            <a:pPr lvl="3">
              <a:lnSpc>
                <a:spcPct val="90000"/>
              </a:lnSpc>
            </a:pPr>
            <a:r>
              <a:rPr lang="en-GB" sz="1500" dirty="0"/>
              <a:t>Changes to implementation should not cause interface to fail.</a:t>
            </a:r>
          </a:p>
          <a:p>
            <a:pPr lvl="3">
              <a:lnSpc>
                <a:spcPct val="90000"/>
              </a:lnSpc>
            </a:pPr>
            <a:r>
              <a:rPr lang="en-GB" sz="1500" dirty="0"/>
              <a:t> Implementation irrelevant – </a:t>
            </a:r>
            <a:br>
              <a:rPr lang="en-GB" sz="1500" dirty="0"/>
            </a:br>
            <a:r>
              <a:rPr lang="en-GB" sz="1500" dirty="0"/>
              <a:t>only concern is the interface.</a:t>
            </a:r>
          </a:p>
          <a:p>
            <a:pPr>
              <a:lnSpc>
                <a:spcPct val="90000"/>
              </a:lnSpc>
            </a:pPr>
            <a:endParaRPr lang="en-GB" sz="1500" dirty="0"/>
          </a:p>
        </p:txBody>
      </p:sp>
    </p:spTree>
    <p:extLst>
      <p:ext uri="{BB962C8B-B14F-4D97-AF65-F5344CB8AC3E}">
        <p14:creationId xmlns:p14="http://schemas.microsoft.com/office/powerpoint/2010/main" val="1890785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Magnifying glass and question mark">
            <a:extLst>
              <a:ext uri="{FF2B5EF4-FFF2-40B4-BE49-F238E27FC236}">
                <a16:creationId xmlns:a16="http://schemas.microsoft.com/office/drawing/2014/main" id="{FE9E879F-B4F1-9AAC-B499-8198810DF492}"/>
              </a:ext>
            </a:extLst>
          </p:cNvPr>
          <p:cNvPicPr>
            <a:picLocks noChangeAspect="1"/>
          </p:cNvPicPr>
          <p:nvPr/>
        </p:nvPicPr>
        <p:blipFill rotWithShape="1">
          <a:blip r:embed="rId3"/>
          <a:srcRect l="33017" r="24135"/>
          <a:stretch/>
        </p:blipFill>
        <p:spPr>
          <a:xfrm>
            <a:off x="6967959" y="10"/>
            <a:ext cx="5224040" cy="6857989"/>
          </a:xfrm>
          <a:prstGeom prst="rect">
            <a:avLst/>
          </a:prstGeom>
          <a:noFill/>
        </p:spPr>
      </p:pic>
      <p:sp>
        <p:nvSpPr>
          <p:cNvPr id="2" name="Title 1">
            <a:extLst>
              <a:ext uri="{FF2B5EF4-FFF2-40B4-BE49-F238E27FC236}">
                <a16:creationId xmlns:a16="http://schemas.microsoft.com/office/drawing/2014/main" id="{97F3C162-2796-48C3-A6C4-9C4E298689EA}"/>
              </a:ext>
            </a:extLst>
          </p:cNvPr>
          <p:cNvSpPr>
            <a:spLocks noGrp="1"/>
          </p:cNvSpPr>
          <p:nvPr>
            <p:ph type="body" sz="quarter" idx="12"/>
          </p:nvPr>
        </p:nvSpPr>
        <p:spPr>
          <a:xfrm>
            <a:off x="385650" y="1147572"/>
            <a:ext cx="6582309" cy="520262"/>
          </a:xfrm>
        </p:spPr>
        <p:txBody>
          <a:bodyPr vert="horz" lIns="0" tIns="0" rIns="0" bIns="0" rtlCol="0" anchor="t" anchorCtr="0">
            <a:normAutofit/>
          </a:bodyPr>
          <a:lstStyle/>
          <a:p>
            <a:pPr>
              <a:lnSpc>
                <a:spcPct val="90000"/>
              </a:lnSpc>
              <a:spcAft>
                <a:spcPts val="600"/>
              </a:spcAft>
            </a:pPr>
            <a:r>
              <a:rPr lang="en-US" b="0" i="0" kern="1200" cap="none" baseline="0" dirty="0">
                <a:latin typeface="Montserrat Black" panose="00000A00000000000000" pitchFamily="2" charset="0"/>
                <a:ea typeface="+mn-ea"/>
                <a:cs typeface="+mn-cs"/>
              </a:rPr>
              <a:t>Data sources</a:t>
            </a:r>
          </a:p>
        </p:txBody>
      </p:sp>
      <p:sp>
        <p:nvSpPr>
          <p:cNvPr id="18" name="Slide Number Placeholder 3">
            <a:extLst>
              <a:ext uri="{FF2B5EF4-FFF2-40B4-BE49-F238E27FC236}">
                <a16:creationId xmlns:a16="http://schemas.microsoft.com/office/drawing/2014/main" id="{08927BA4-472F-5505-4F9D-47E0BA62BBBC}"/>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9</a:t>
            </a:fld>
            <a:endParaRPr lang="en-GB"/>
          </a:p>
        </p:txBody>
      </p:sp>
      <p:sp>
        <p:nvSpPr>
          <p:cNvPr id="12" name="TextBox 11">
            <a:extLst>
              <a:ext uri="{FF2B5EF4-FFF2-40B4-BE49-F238E27FC236}">
                <a16:creationId xmlns:a16="http://schemas.microsoft.com/office/drawing/2014/main" id="{7F443720-5E57-4995-B8F1-F35B5E3999DA}"/>
              </a:ext>
            </a:extLst>
          </p:cNvPr>
          <p:cNvSpPr txBox="1"/>
          <p:nvPr/>
        </p:nvSpPr>
        <p:spPr>
          <a:xfrm>
            <a:off x="373063" y="1892636"/>
            <a:ext cx="6143484" cy="2742864"/>
          </a:xfrm>
          <a:prstGeom prst="rect">
            <a:avLst/>
          </a:prstGeom>
        </p:spPr>
        <p:txBody>
          <a:bodyPr vert="horz" lIns="0" tIns="0" rIns="0" bIns="0" rtlCol="0" anchor="t" anchorCtr="0">
            <a:normAutofit/>
          </a:bodyPr>
          <a:lstStyle/>
          <a:p>
            <a:pPr marL="0" lvl="1">
              <a:spcAft>
                <a:spcPts val="651"/>
              </a:spcAft>
              <a:buClr>
                <a:schemeClr val="accent1"/>
              </a:buClr>
              <a:buFont typeface="Arial" panose="020B0604020202020204" pitchFamily="34" charset="0"/>
            </a:pPr>
            <a:r>
              <a:rPr lang="en-US" sz="2400" dirty="0">
                <a:latin typeface="Montserrat" pitchFamily="2" charset="77"/>
              </a:rPr>
              <a:t>Please research and:</a:t>
            </a:r>
          </a:p>
          <a:p>
            <a:pPr marL="720000" lvl="1" indent="-360000">
              <a:spcAft>
                <a:spcPts val="651"/>
              </a:spcAft>
              <a:buClr>
                <a:schemeClr val="accent1"/>
              </a:buClr>
              <a:buFont typeface="Arial" panose="020B0604020202020204" pitchFamily="34" charset="0"/>
              <a:buChar char="§"/>
            </a:pPr>
            <a:r>
              <a:rPr lang="en-US" sz="2400" dirty="0">
                <a:latin typeface="Montserrat" pitchFamily="2" charset="77"/>
              </a:rPr>
              <a:t>List and briefly describe various data sources.</a:t>
            </a:r>
          </a:p>
        </p:txBody>
      </p:sp>
    </p:spTree>
    <p:extLst>
      <p:ext uri="{BB962C8B-B14F-4D97-AF65-F5344CB8AC3E}">
        <p14:creationId xmlns:p14="http://schemas.microsoft.com/office/powerpoint/2010/main" val="668866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9BB1D-9370-41B4-B639-EEC0C9528060}"/>
              </a:ext>
            </a:extLst>
          </p:cNvPr>
          <p:cNvSpPr>
            <a:spLocks noGrp="1"/>
          </p:cNvSpPr>
          <p:nvPr>
            <p:ph type="body" sz="quarter" idx="10"/>
          </p:nvPr>
        </p:nvSpPr>
        <p:spPr>
          <a:xfrm>
            <a:off x="384785" y="1349985"/>
            <a:ext cx="3443732" cy="2751999"/>
          </a:xfrm>
        </p:spPr>
        <p:txBody>
          <a:bodyPr vert="horz" lIns="0" tIns="0" rIns="0" bIns="0" rtlCol="0" anchor="t" anchorCtr="0">
            <a:normAutofit/>
          </a:bodyPr>
          <a:lstStyle/>
          <a:p>
            <a:pPr>
              <a:spcAft>
                <a:spcPts val="600"/>
              </a:spcAft>
            </a:pPr>
            <a:r>
              <a:rPr lang="en-US" b="0" i="0" kern="1200" cap="all" baseline="0" dirty="0">
                <a:solidFill>
                  <a:schemeClr val="tx1"/>
                </a:solidFill>
                <a:latin typeface="Montserrat Black" panose="00000A00000000000000" pitchFamily="2" charset="0"/>
                <a:ea typeface="+mn-ea"/>
                <a:cs typeface="+mn-cs"/>
              </a:rPr>
              <a:t>Databases</a:t>
            </a:r>
          </a:p>
        </p:txBody>
      </p:sp>
      <p:sp>
        <p:nvSpPr>
          <p:cNvPr id="48" name="TextBox 47">
            <a:extLst>
              <a:ext uri="{FF2B5EF4-FFF2-40B4-BE49-F238E27FC236}">
                <a16:creationId xmlns:a16="http://schemas.microsoft.com/office/drawing/2014/main" id="{83B9D65E-853C-41F1-8988-A387EBD89888}"/>
              </a:ext>
            </a:extLst>
          </p:cNvPr>
          <p:cNvSpPr txBox="1"/>
          <p:nvPr/>
        </p:nvSpPr>
        <p:spPr>
          <a:xfrm>
            <a:off x="5037138" y="1349986"/>
            <a:ext cx="6770687" cy="5112343"/>
          </a:xfrm>
          <a:prstGeom prst="rect">
            <a:avLst/>
          </a:prstGeom>
        </p:spPr>
        <p:txBody>
          <a:bodyPr vert="horz" lIns="0" tIns="0" rIns="0" bIns="0" rtlCol="0" anchor="t" anchorCtr="0">
            <a:normAutofit/>
          </a:bodyPr>
          <a:lstStyle/>
          <a:p>
            <a:pPr>
              <a:spcAft>
                <a:spcPts val="651"/>
              </a:spcAft>
              <a:buFont typeface="Arial" panose="020B0604020202020204" pitchFamily="34" charset="0"/>
            </a:pPr>
            <a:r>
              <a:rPr lang="en-GB" dirty="0">
                <a:latin typeface="Montserrat" pitchFamily="2" charset="77"/>
              </a:rPr>
              <a:t>Relational:</a:t>
            </a:r>
          </a:p>
          <a:p>
            <a:pPr marL="742950" lvl="1" indent="-285750">
              <a:spcAft>
                <a:spcPts val="651"/>
              </a:spcAft>
              <a:buFont typeface="Arial" panose="020B0604020202020204" pitchFamily="34" charset="0"/>
              <a:buChar char="•"/>
            </a:pPr>
            <a:r>
              <a:rPr lang="en-GB" dirty="0">
                <a:latin typeface="Montserrat" pitchFamily="2" charset="77"/>
              </a:rPr>
              <a:t>Organised collection of data.</a:t>
            </a:r>
          </a:p>
          <a:p>
            <a:pPr marL="742950" lvl="1" indent="-285750">
              <a:spcAft>
                <a:spcPts val="651"/>
              </a:spcAft>
              <a:buFont typeface="Arial" panose="020B0604020202020204" pitchFamily="34" charset="0"/>
              <a:buChar char="•"/>
            </a:pPr>
            <a:r>
              <a:rPr lang="en-GB" dirty="0">
                <a:latin typeface="Montserrat" pitchFamily="2" charset="77"/>
              </a:rPr>
              <a:t>Schema, tables, queries, views, keys, indexes.</a:t>
            </a:r>
          </a:p>
          <a:p>
            <a:pPr marL="742950" lvl="1" indent="-285750">
              <a:spcAft>
                <a:spcPts val="651"/>
              </a:spcAft>
              <a:buFont typeface="Arial" panose="020B0604020202020204" pitchFamily="34" charset="0"/>
              <a:buChar char="•"/>
            </a:pPr>
            <a:r>
              <a:rPr lang="en-GB" dirty="0">
                <a:latin typeface="Montserrat" pitchFamily="2" charset="77"/>
              </a:rPr>
              <a:t>Organise data to model reality to support processes.</a:t>
            </a:r>
          </a:p>
          <a:p>
            <a:pPr>
              <a:spcAft>
                <a:spcPts val="651"/>
              </a:spcAft>
              <a:buFont typeface="Arial" panose="020B0604020202020204" pitchFamily="34" charset="0"/>
            </a:pPr>
            <a:r>
              <a:rPr lang="en-GB" dirty="0">
                <a:latin typeface="Montserrat" pitchFamily="2" charset="77"/>
              </a:rPr>
              <a:t>NoSQL:</a:t>
            </a:r>
          </a:p>
          <a:p>
            <a:pPr marL="742950" lvl="1" indent="-285750">
              <a:spcAft>
                <a:spcPts val="651"/>
              </a:spcAft>
              <a:buFont typeface="Arial" panose="020B0604020202020204" pitchFamily="34" charset="0"/>
              <a:buChar char="•"/>
            </a:pPr>
            <a:r>
              <a:rPr lang="en-GB" dirty="0">
                <a:latin typeface="Montserrat" pitchFamily="2" charset="77"/>
              </a:rPr>
              <a:t>Very fast.</a:t>
            </a:r>
          </a:p>
          <a:p>
            <a:pPr marL="742950" lvl="1" indent="-285750">
              <a:spcAft>
                <a:spcPts val="651"/>
              </a:spcAft>
              <a:buFont typeface="Arial" panose="020B0604020202020204" pitchFamily="34" charset="0"/>
              <a:buChar char="•"/>
            </a:pPr>
            <a:r>
              <a:rPr lang="en-GB" dirty="0">
                <a:latin typeface="Montserrat" pitchFamily="2" charset="77"/>
              </a:rPr>
              <a:t>Do not require fixed schema.</a:t>
            </a:r>
          </a:p>
          <a:p>
            <a:pPr marL="742950" lvl="1" indent="-285750">
              <a:spcAft>
                <a:spcPts val="651"/>
              </a:spcAft>
              <a:buFont typeface="Arial" panose="020B0604020202020204" pitchFamily="34" charset="0"/>
              <a:buChar char="•"/>
            </a:pPr>
            <a:r>
              <a:rPr lang="en-GB" dirty="0">
                <a:latin typeface="Montserrat" pitchFamily="2" charset="77"/>
              </a:rPr>
              <a:t>Avoid joins by storing </a:t>
            </a:r>
            <a:r>
              <a:rPr lang="en-GB" dirty="0" err="1">
                <a:latin typeface="Montserrat" pitchFamily="2" charset="77"/>
              </a:rPr>
              <a:t>denormalised</a:t>
            </a:r>
            <a:r>
              <a:rPr lang="en-GB" dirty="0">
                <a:latin typeface="Montserrat" pitchFamily="2" charset="77"/>
              </a:rPr>
              <a:t> data.</a:t>
            </a:r>
          </a:p>
          <a:p>
            <a:pPr marL="742950" lvl="1" indent="-285750">
              <a:spcAft>
                <a:spcPts val="651"/>
              </a:spcAft>
              <a:buFont typeface="Arial" panose="020B0604020202020204" pitchFamily="34" charset="0"/>
              <a:buChar char="•"/>
            </a:pPr>
            <a:r>
              <a:rPr lang="en-GB" dirty="0">
                <a:latin typeface="Montserrat" pitchFamily="2" charset="77"/>
              </a:rPr>
              <a:t>Scale horizontally.</a:t>
            </a:r>
          </a:p>
        </p:txBody>
      </p:sp>
      <p:sp>
        <p:nvSpPr>
          <p:cNvPr id="53" name="Slide Number Placeholder 3">
            <a:extLst>
              <a:ext uri="{FF2B5EF4-FFF2-40B4-BE49-F238E27FC236}">
                <a16:creationId xmlns:a16="http://schemas.microsoft.com/office/drawing/2014/main" id="{C9F74A60-7A9A-6220-C65F-64E54F9C192C}"/>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10</a:t>
            </a:fld>
            <a:endParaRPr lang="en-GB"/>
          </a:p>
        </p:txBody>
      </p:sp>
    </p:spTree>
    <p:extLst>
      <p:ext uri="{BB962C8B-B14F-4D97-AF65-F5344CB8AC3E}">
        <p14:creationId xmlns:p14="http://schemas.microsoft.com/office/powerpoint/2010/main" val="125766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9BB1D-9370-41B4-B639-EEC0C9528060}"/>
              </a:ext>
            </a:extLst>
          </p:cNvPr>
          <p:cNvSpPr>
            <a:spLocks noGrp="1"/>
          </p:cNvSpPr>
          <p:nvPr>
            <p:ph type="body" sz="quarter" idx="10"/>
          </p:nvPr>
        </p:nvSpPr>
        <p:spPr>
          <a:xfrm>
            <a:off x="384785" y="1349985"/>
            <a:ext cx="3443732" cy="2751999"/>
          </a:xfrm>
        </p:spPr>
        <p:txBody>
          <a:bodyPr vert="horz" lIns="0" tIns="0" rIns="0" bIns="0" rtlCol="0" anchor="t" anchorCtr="0">
            <a:normAutofit/>
          </a:bodyPr>
          <a:lstStyle/>
          <a:p>
            <a:pPr>
              <a:spcAft>
                <a:spcPts val="600"/>
              </a:spcAft>
            </a:pPr>
            <a:r>
              <a:rPr lang="en-US" dirty="0">
                <a:solidFill>
                  <a:schemeClr val="tx1"/>
                </a:solidFill>
              </a:rPr>
              <a:t>Flat file</a:t>
            </a:r>
            <a:endParaRPr lang="en-US" b="0" i="0" kern="1200" cap="all" baseline="0" dirty="0">
              <a:solidFill>
                <a:schemeClr val="tx1"/>
              </a:solidFill>
              <a:latin typeface="Montserrat Black" panose="00000A00000000000000" pitchFamily="2" charset="0"/>
              <a:ea typeface="+mn-ea"/>
              <a:cs typeface="+mn-cs"/>
            </a:endParaRPr>
          </a:p>
        </p:txBody>
      </p:sp>
      <p:sp>
        <p:nvSpPr>
          <p:cNvPr id="48" name="TextBox 47">
            <a:extLst>
              <a:ext uri="{FF2B5EF4-FFF2-40B4-BE49-F238E27FC236}">
                <a16:creationId xmlns:a16="http://schemas.microsoft.com/office/drawing/2014/main" id="{83B9D65E-853C-41F1-8988-A387EBD89888}"/>
              </a:ext>
            </a:extLst>
          </p:cNvPr>
          <p:cNvSpPr txBox="1"/>
          <p:nvPr/>
        </p:nvSpPr>
        <p:spPr>
          <a:xfrm>
            <a:off x="5037138" y="1349986"/>
            <a:ext cx="6770687" cy="5112343"/>
          </a:xfrm>
          <a:prstGeom prst="rect">
            <a:avLst/>
          </a:prstGeom>
        </p:spPr>
        <p:txBody>
          <a:bodyPr vert="horz" lIns="0" tIns="0" rIns="0" bIns="0" rtlCol="0" anchor="t" anchorCtr="0">
            <a:normAutofit/>
          </a:bodyPr>
          <a:lstStyle/>
          <a:p>
            <a:r>
              <a:rPr lang="en-GB" sz="2000" b="1" dirty="0"/>
              <a:t>Contains records that have no structured interrelationship</a:t>
            </a:r>
            <a:r>
              <a:rPr lang="en-GB" sz="2000" dirty="0"/>
              <a:t>:</a:t>
            </a:r>
          </a:p>
          <a:p>
            <a:endParaRPr lang="en-GB" sz="2000" b="1" dirty="0"/>
          </a:p>
          <a:p>
            <a:pPr marL="742950" lvl="1" indent="-285750">
              <a:buFont typeface="Arial" panose="020B0604020202020204" pitchFamily="34" charset="0"/>
              <a:buChar char="•"/>
            </a:pPr>
            <a:r>
              <a:rPr lang="en-GB" sz="2000" dirty="0"/>
              <a:t>Typically consists of a text file.</a:t>
            </a:r>
          </a:p>
          <a:p>
            <a:pPr marL="742950" lvl="1" indent="-285750">
              <a:buFont typeface="Arial" panose="020B0604020202020204" pitchFamily="34" charset="0"/>
              <a:buChar char="•"/>
            </a:pPr>
            <a:r>
              <a:rPr lang="en-GB" sz="2000" dirty="0"/>
              <a:t>From which all word processing or other structure characters or mark-up have been removed.</a:t>
            </a:r>
          </a:p>
        </p:txBody>
      </p:sp>
      <p:sp>
        <p:nvSpPr>
          <p:cNvPr id="53" name="Slide Number Placeholder 3">
            <a:extLst>
              <a:ext uri="{FF2B5EF4-FFF2-40B4-BE49-F238E27FC236}">
                <a16:creationId xmlns:a16="http://schemas.microsoft.com/office/drawing/2014/main" id="{C9F74A60-7A9A-6220-C65F-64E54F9C192C}"/>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11</a:t>
            </a:fld>
            <a:endParaRPr lang="en-GB"/>
          </a:p>
        </p:txBody>
      </p:sp>
    </p:spTree>
    <p:extLst>
      <p:ext uri="{BB962C8B-B14F-4D97-AF65-F5344CB8AC3E}">
        <p14:creationId xmlns:p14="http://schemas.microsoft.com/office/powerpoint/2010/main" val="3872110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9BB1D-9370-41B4-B639-EEC0C9528060}"/>
              </a:ext>
            </a:extLst>
          </p:cNvPr>
          <p:cNvSpPr>
            <a:spLocks noGrp="1"/>
          </p:cNvSpPr>
          <p:nvPr>
            <p:ph type="body" sz="quarter" idx="10"/>
          </p:nvPr>
        </p:nvSpPr>
        <p:spPr>
          <a:xfrm>
            <a:off x="384785" y="1349985"/>
            <a:ext cx="3443732" cy="2751999"/>
          </a:xfrm>
        </p:spPr>
        <p:txBody>
          <a:bodyPr vert="horz" lIns="0" tIns="0" rIns="0" bIns="0" rtlCol="0" anchor="t" anchorCtr="0">
            <a:normAutofit/>
          </a:bodyPr>
          <a:lstStyle/>
          <a:p>
            <a:pPr>
              <a:spcAft>
                <a:spcPts val="600"/>
              </a:spcAft>
            </a:pPr>
            <a:r>
              <a:rPr lang="en-US" dirty="0">
                <a:solidFill>
                  <a:schemeClr val="tx1"/>
                </a:solidFill>
              </a:rPr>
              <a:t>XML</a:t>
            </a:r>
            <a:endParaRPr lang="en-US" b="0" i="0" kern="1200" cap="all" baseline="0" dirty="0">
              <a:solidFill>
                <a:schemeClr val="tx1"/>
              </a:solidFill>
              <a:latin typeface="Montserrat Black" panose="00000A00000000000000" pitchFamily="2" charset="0"/>
              <a:ea typeface="+mn-ea"/>
              <a:cs typeface="+mn-cs"/>
            </a:endParaRPr>
          </a:p>
        </p:txBody>
      </p:sp>
      <p:sp>
        <p:nvSpPr>
          <p:cNvPr id="48" name="TextBox 47">
            <a:extLst>
              <a:ext uri="{FF2B5EF4-FFF2-40B4-BE49-F238E27FC236}">
                <a16:creationId xmlns:a16="http://schemas.microsoft.com/office/drawing/2014/main" id="{83B9D65E-853C-41F1-8988-A387EBD89888}"/>
              </a:ext>
            </a:extLst>
          </p:cNvPr>
          <p:cNvSpPr txBox="1"/>
          <p:nvPr/>
        </p:nvSpPr>
        <p:spPr>
          <a:xfrm>
            <a:off x="4251960" y="389866"/>
            <a:ext cx="7652784" cy="5112343"/>
          </a:xfrm>
          <a:prstGeom prst="rect">
            <a:avLst/>
          </a:prstGeom>
        </p:spPr>
        <p:txBody>
          <a:bodyPr vert="horz" lIns="0" tIns="0" rIns="0" bIns="0" rtlCol="0" anchor="t" anchorCtr="0">
            <a:normAutofit/>
          </a:bodyPr>
          <a:lstStyle/>
          <a:p>
            <a:r>
              <a:rPr lang="en-GB" sz="2000" b="1" dirty="0"/>
              <a:t>XML (Extensible Markup Language) </a:t>
            </a:r>
          </a:p>
          <a:p>
            <a:endParaRPr lang="en-GB" sz="2000" dirty="0"/>
          </a:p>
          <a:p>
            <a:pPr marL="742939" lvl="1" indent="-285750">
              <a:buFont typeface="Arial" panose="020B0604020202020204" pitchFamily="34" charset="0"/>
              <a:buChar char="•"/>
            </a:pPr>
            <a:r>
              <a:rPr lang="en-GB" sz="2000" dirty="0"/>
              <a:t>Uses tags to define objects and object attributes </a:t>
            </a:r>
          </a:p>
          <a:p>
            <a:pPr marL="742939" lvl="1" indent="-285750">
              <a:buFont typeface="Arial" panose="020B0604020202020204" pitchFamily="34" charset="0"/>
              <a:buChar char="•"/>
            </a:pPr>
            <a:r>
              <a:rPr lang="en-GB" sz="2000" dirty="0"/>
              <a:t>Can be thought of as a text-based database.</a:t>
            </a:r>
          </a:p>
          <a:p>
            <a:pPr marL="742939" lvl="1" indent="-285750">
              <a:buFont typeface="Arial" panose="020B0604020202020204" pitchFamily="34" charset="0"/>
              <a:buChar char="•"/>
            </a:pPr>
            <a:r>
              <a:rPr lang="en-GB" sz="2000" dirty="0"/>
              <a:t>Standard way of storing and transferring data between programs and over the internet.</a:t>
            </a:r>
            <a:br>
              <a:rPr lang="en-GB" sz="2000" dirty="0"/>
            </a:br>
            <a:endParaRPr lang="en-GB" sz="2000" dirty="0"/>
          </a:p>
          <a:p>
            <a:endParaRPr lang="en-GB" sz="2000" dirty="0"/>
          </a:p>
        </p:txBody>
      </p:sp>
      <p:sp>
        <p:nvSpPr>
          <p:cNvPr id="53" name="Slide Number Placeholder 3">
            <a:extLst>
              <a:ext uri="{FF2B5EF4-FFF2-40B4-BE49-F238E27FC236}">
                <a16:creationId xmlns:a16="http://schemas.microsoft.com/office/drawing/2014/main" id="{C9F74A60-7A9A-6220-C65F-64E54F9C192C}"/>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12</a:t>
            </a:fld>
            <a:endParaRPr lang="en-GB"/>
          </a:p>
        </p:txBody>
      </p:sp>
      <p:sp>
        <p:nvSpPr>
          <p:cNvPr id="4" name="TextBox 3">
            <a:extLst>
              <a:ext uri="{FF2B5EF4-FFF2-40B4-BE49-F238E27FC236}">
                <a16:creationId xmlns:a16="http://schemas.microsoft.com/office/drawing/2014/main" id="{C3650246-C34C-33A6-9B25-A97D0EF46CD2}"/>
              </a:ext>
            </a:extLst>
          </p:cNvPr>
          <p:cNvSpPr txBox="1"/>
          <p:nvPr/>
        </p:nvSpPr>
        <p:spPr>
          <a:xfrm>
            <a:off x="4697730" y="2622283"/>
            <a:ext cx="6846570" cy="2708434"/>
          </a:xfrm>
          <a:prstGeom prst="rect">
            <a:avLst/>
          </a:prstGeom>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l"/>
            <a:r>
              <a:rPr lang="en-GB" sz="1400" b="1" i="0" dirty="0">
                <a:solidFill>
                  <a:srgbClr val="000000"/>
                </a:solidFill>
                <a:effectLst/>
                <a:latin typeface="Courier New" panose="02070309020205020404" pitchFamily="49" charset="0"/>
              </a:rPr>
              <a:t>&lt;</a:t>
            </a:r>
            <a:r>
              <a:rPr lang="en-GB" sz="1600" b="1" i="0" dirty="0" err="1">
                <a:solidFill>
                  <a:srgbClr val="004050"/>
                </a:solidFill>
                <a:effectLst/>
                <a:latin typeface="Courier New" panose="02070309020205020404" pitchFamily="49" charset="0"/>
              </a:rPr>
              <a:t>breakfast_menu</a:t>
            </a:r>
            <a:r>
              <a:rPr lang="en-GB" sz="1400" b="1" i="0" dirty="0">
                <a:solidFill>
                  <a:srgbClr val="000000"/>
                </a:solidFill>
                <a:effectLst/>
                <a:latin typeface="Courier New" panose="02070309020205020404" pitchFamily="49" charset="0"/>
              </a:rPr>
              <a:t>&gt;</a:t>
            </a:r>
          </a:p>
          <a:p>
            <a:pPr algn="l"/>
            <a:r>
              <a:rPr lang="en-GB" sz="1400" b="1" dirty="0">
                <a:solidFill>
                  <a:srgbClr val="000000"/>
                </a:solidFill>
                <a:latin typeface="Courier New" panose="02070309020205020404" pitchFamily="49" charset="0"/>
              </a:rPr>
              <a:t> </a:t>
            </a:r>
            <a:r>
              <a:rPr lang="en-GB" sz="1400" b="1" i="0" dirty="0">
                <a:solidFill>
                  <a:srgbClr val="000000"/>
                </a:solidFill>
                <a:effectLst/>
                <a:latin typeface="Courier New" panose="02070309020205020404" pitchFamily="49" charset="0"/>
              </a:rPr>
              <a:t>&lt;</a:t>
            </a:r>
            <a:r>
              <a:rPr lang="en-GB" sz="1400" b="1" i="0" dirty="0">
                <a:solidFill>
                  <a:srgbClr val="C00000"/>
                </a:solidFill>
                <a:effectLst/>
                <a:latin typeface="Courier New" panose="02070309020205020404" pitchFamily="49" charset="0"/>
              </a:rPr>
              <a:t>food</a:t>
            </a:r>
            <a:r>
              <a:rPr lang="en-GB" sz="1400" b="1" i="0" dirty="0">
                <a:solidFill>
                  <a:srgbClr val="000000"/>
                </a:solidFill>
                <a:effectLst/>
                <a:latin typeface="Courier New" panose="02070309020205020404" pitchFamily="49" charset="0"/>
              </a:rPr>
              <a:t> calories="650" &gt;</a:t>
            </a:r>
          </a:p>
          <a:p>
            <a:pPr algn="l"/>
            <a:r>
              <a:rPr lang="en-GB" sz="1400" b="1" i="0" dirty="0">
                <a:solidFill>
                  <a:srgbClr val="000000"/>
                </a:solidFill>
                <a:effectLst/>
                <a:latin typeface="Courier New" panose="02070309020205020404" pitchFamily="49" charset="0"/>
              </a:rPr>
              <a:t>	&lt;name&gt;Belgian Waffles&lt;/name&gt;</a:t>
            </a:r>
          </a:p>
          <a:p>
            <a:pPr algn="l"/>
            <a:r>
              <a:rPr lang="en-GB" sz="1400" b="1" i="0" dirty="0">
                <a:solidFill>
                  <a:srgbClr val="000000"/>
                </a:solidFill>
                <a:effectLst/>
                <a:latin typeface="Courier New" panose="02070309020205020404" pitchFamily="49" charset="0"/>
              </a:rPr>
              <a:t>	&lt;price&gt;$5.95&lt;/price&gt;</a:t>
            </a:r>
          </a:p>
          <a:p>
            <a:pPr algn="l"/>
            <a:r>
              <a:rPr lang="en-GB" sz="1400" b="1" i="0" dirty="0">
                <a:solidFill>
                  <a:srgbClr val="000000"/>
                </a:solidFill>
                <a:effectLst/>
                <a:latin typeface="Courier New" panose="02070309020205020404" pitchFamily="49" charset="0"/>
              </a:rPr>
              <a:t>	&lt;description&gt;Belgian Waffles&lt;/description&gt;</a:t>
            </a:r>
          </a:p>
          <a:p>
            <a:pPr algn="l"/>
            <a:r>
              <a:rPr lang="en-GB" sz="1400" b="1" i="0" dirty="0">
                <a:solidFill>
                  <a:srgbClr val="000000"/>
                </a:solidFill>
                <a:effectLst/>
                <a:latin typeface="Courier New" panose="02070309020205020404" pitchFamily="49" charset="0"/>
              </a:rPr>
              <a:t> &lt;/</a:t>
            </a:r>
            <a:r>
              <a:rPr lang="en-GB" sz="1400" b="1" i="0" dirty="0">
                <a:solidFill>
                  <a:srgbClr val="C00000"/>
                </a:solidFill>
                <a:effectLst/>
                <a:latin typeface="Courier New" panose="02070309020205020404" pitchFamily="49" charset="0"/>
              </a:rPr>
              <a:t>food</a:t>
            </a:r>
            <a:r>
              <a:rPr lang="en-GB" sz="1400" b="1" i="0" dirty="0">
                <a:solidFill>
                  <a:srgbClr val="000000"/>
                </a:solidFill>
                <a:effectLst/>
                <a:latin typeface="Courier New" panose="02070309020205020404" pitchFamily="49" charset="0"/>
              </a:rPr>
              <a:t>&gt;</a:t>
            </a:r>
          </a:p>
          <a:p>
            <a:pPr algn="l"/>
            <a:r>
              <a:rPr lang="en-GB" sz="1400" b="1" i="0" dirty="0">
                <a:solidFill>
                  <a:srgbClr val="000000"/>
                </a:solidFill>
                <a:effectLst/>
                <a:latin typeface="Courier New" panose="02070309020205020404" pitchFamily="49" charset="0"/>
              </a:rPr>
              <a:t> &lt;</a:t>
            </a:r>
            <a:r>
              <a:rPr lang="en-GB" sz="1400" b="1" i="0" dirty="0">
                <a:solidFill>
                  <a:srgbClr val="C00000"/>
                </a:solidFill>
                <a:effectLst/>
                <a:latin typeface="Courier New" panose="02070309020205020404" pitchFamily="49" charset="0"/>
              </a:rPr>
              <a:t>food</a:t>
            </a:r>
            <a:r>
              <a:rPr lang="en-GB" sz="1400" b="1" i="0" dirty="0">
                <a:solidFill>
                  <a:srgbClr val="000000"/>
                </a:solidFill>
                <a:effectLst/>
                <a:latin typeface="Courier New" panose="02070309020205020404" pitchFamily="49" charset="0"/>
              </a:rPr>
              <a:t> calories="950" &gt;</a:t>
            </a:r>
          </a:p>
          <a:p>
            <a:pPr algn="l"/>
            <a:r>
              <a:rPr lang="en-GB" sz="1400" b="1" i="0" dirty="0">
                <a:solidFill>
                  <a:srgbClr val="000000"/>
                </a:solidFill>
                <a:effectLst/>
                <a:latin typeface="Courier New" panose="02070309020205020404" pitchFamily="49" charset="0"/>
              </a:rPr>
              <a:t>	&lt;name&gt;Homestyle Breakfast&lt;/name&gt;</a:t>
            </a:r>
          </a:p>
          <a:p>
            <a:pPr algn="l"/>
            <a:r>
              <a:rPr lang="en-GB" sz="1400" b="1" i="0" dirty="0">
                <a:solidFill>
                  <a:srgbClr val="000000"/>
                </a:solidFill>
                <a:effectLst/>
                <a:latin typeface="Courier New" panose="02070309020205020404" pitchFamily="49" charset="0"/>
              </a:rPr>
              <a:t>	&lt;price&gt;$6.95&lt;/price&gt;</a:t>
            </a:r>
          </a:p>
          <a:p>
            <a:pPr algn="l"/>
            <a:r>
              <a:rPr lang="en-GB" sz="1400" b="1" i="0" dirty="0">
                <a:solidFill>
                  <a:srgbClr val="000000"/>
                </a:solidFill>
                <a:effectLst/>
                <a:latin typeface="Courier New" panose="02070309020205020404" pitchFamily="49" charset="0"/>
              </a:rPr>
              <a:t>	&lt;description&gt;Two eggs, bacon or sausage&lt;/description&gt;</a:t>
            </a:r>
          </a:p>
          <a:p>
            <a:pPr algn="l"/>
            <a:r>
              <a:rPr lang="en-GB" sz="1400" b="1" i="0" dirty="0">
                <a:solidFill>
                  <a:srgbClr val="000000"/>
                </a:solidFill>
                <a:effectLst/>
                <a:latin typeface="Courier New" panose="02070309020205020404" pitchFamily="49" charset="0"/>
              </a:rPr>
              <a:t>&lt;/</a:t>
            </a:r>
            <a:r>
              <a:rPr lang="en-GB" sz="1400" b="1" i="0" dirty="0">
                <a:solidFill>
                  <a:srgbClr val="C00000"/>
                </a:solidFill>
                <a:effectLst/>
                <a:latin typeface="Courier New" panose="02070309020205020404" pitchFamily="49" charset="0"/>
              </a:rPr>
              <a:t>food</a:t>
            </a:r>
            <a:r>
              <a:rPr lang="en-GB" sz="1400" b="1" i="0" dirty="0">
                <a:solidFill>
                  <a:srgbClr val="000000"/>
                </a:solidFill>
                <a:effectLst/>
                <a:latin typeface="Courier New" panose="02070309020205020404" pitchFamily="49" charset="0"/>
              </a:rPr>
              <a:t>&gt;</a:t>
            </a:r>
          </a:p>
          <a:p>
            <a:pPr algn="l"/>
            <a:r>
              <a:rPr lang="en-GB" sz="1400" b="1" i="0" dirty="0">
                <a:solidFill>
                  <a:srgbClr val="000000"/>
                </a:solidFill>
                <a:effectLst/>
                <a:latin typeface="Courier New" panose="02070309020205020404" pitchFamily="49" charset="0"/>
              </a:rPr>
              <a:t>&lt;/</a:t>
            </a:r>
            <a:r>
              <a:rPr lang="en-GB" sz="1400" b="1" i="0" dirty="0">
                <a:solidFill>
                  <a:srgbClr val="004050"/>
                </a:solidFill>
                <a:effectLst/>
                <a:latin typeface="Courier New" panose="02070309020205020404" pitchFamily="49" charset="0"/>
              </a:rPr>
              <a:t> </a:t>
            </a:r>
            <a:r>
              <a:rPr lang="en-GB" sz="1400" b="1" i="0" dirty="0" err="1">
                <a:solidFill>
                  <a:srgbClr val="004050"/>
                </a:solidFill>
                <a:effectLst/>
                <a:latin typeface="Courier New" panose="02070309020205020404" pitchFamily="49" charset="0"/>
              </a:rPr>
              <a:t>breakfast_menu</a:t>
            </a:r>
            <a:r>
              <a:rPr lang="en-GB" sz="1400" b="1" i="0" dirty="0">
                <a:solidFill>
                  <a:srgbClr val="000000"/>
                </a:solidFill>
                <a:effectLst/>
                <a:latin typeface="Courier New" panose="02070309020205020404" pitchFamily="49" charset="0"/>
              </a:rPr>
              <a:t>&gt;</a:t>
            </a:r>
          </a:p>
        </p:txBody>
      </p:sp>
    </p:spTree>
    <p:extLst>
      <p:ext uri="{BB962C8B-B14F-4D97-AF65-F5344CB8AC3E}">
        <p14:creationId xmlns:p14="http://schemas.microsoft.com/office/powerpoint/2010/main" val="1618516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9BB1D-9370-41B4-B639-EEC0C9528060}"/>
              </a:ext>
            </a:extLst>
          </p:cNvPr>
          <p:cNvSpPr>
            <a:spLocks noGrp="1"/>
          </p:cNvSpPr>
          <p:nvPr>
            <p:ph type="body" sz="quarter" idx="10"/>
          </p:nvPr>
        </p:nvSpPr>
        <p:spPr>
          <a:xfrm>
            <a:off x="384785" y="1349985"/>
            <a:ext cx="3443732" cy="2751999"/>
          </a:xfrm>
        </p:spPr>
        <p:txBody>
          <a:bodyPr vert="horz" lIns="0" tIns="0" rIns="0" bIns="0" rtlCol="0" anchor="t" anchorCtr="0">
            <a:normAutofit/>
          </a:bodyPr>
          <a:lstStyle/>
          <a:p>
            <a:pPr>
              <a:spcAft>
                <a:spcPts val="600"/>
              </a:spcAft>
            </a:pPr>
            <a:r>
              <a:rPr lang="en-US" dirty="0">
                <a:solidFill>
                  <a:schemeClr val="tx1"/>
                </a:solidFill>
              </a:rPr>
              <a:t>JSON</a:t>
            </a:r>
            <a:endParaRPr lang="en-US" b="0" i="0" kern="1200" cap="all" baseline="0" dirty="0">
              <a:solidFill>
                <a:schemeClr val="tx1"/>
              </a:solidFill>
              <a:latin typeface="Montserrat Black" panose="00000A00000000000000" pitchFamily="2" charset="0"/>
              <a:ea typeface="+mn-ea"/>
              <a:cs typeface="+mn-cs"/>
            </a:endParaRPr>
          </a:p>
        </p:txBody>
      </p:sp>
      <p:sp>
        <p:nvSpPr>
          <p:cNvPr id="48" name="TextBox 47">
            <a:extLst>
              <a:ext uri="{FF2B5EF4-FFF2-40B4-BE49-F238E27FC236}">
                <a16:creationId xmlns:a16="http://schemas.microsoft.com/office/drawing/2014/main" id="{83B9D65E-853C-41F1-8988-A387EBD89888}"/>
              </a:ext>
            </a:extLst>
          </p:cNvPr>
          <p:cNvSpPr txBox="1"/>
          <p:nvPr/>
        </p:nvSpPr>
        <p:spPr>
          <a:xfrm>
            <a:off x="4251960" y="389866"/>
            <a:ext cx="7315200" cy="5112343"/>
          </a:xfrm>
          <a:prstGeom prst="rect">
            <a:avLst/>
          </a:prstGeom>
        </p:spPr>
        <p:txBody>
          <a:bodyPr vert="horz" lIns="0" tIns="0" rIns="0" bIns="0" rtlCol="0" anchor="t" anchorCtr="0">
            <a:normAutofit/>
          </a:bodyPr>
          <a:lstStyle/>
          <a:p>
            <a:r>
              <a:rPr lang="en-GB" sz="2000" b="1" dirty="0"/>
              <a:t>JSON (JavaScript Object Notation) </a:t>
            </a:r>
          </a:p>
          <a:p>
            <a:endParaRPr lang="en-GB" sz="2000" dirty="0"/>
          </a:p>
          <a:p>
            <a:pPr marL="742939" lvl="1" indent="-285750">
              <a:buFont typeface="Arial" panose="020B0604020202020204" pitchFamily="34" charset="0"/>
              <a:buChar char="•"/>
            </a:pPr>
            <a:r>
              <a:rPr lang="en-GB" sz="2000" dirty="0"/>
              <a:t>Has become more popular than XML</a:t>
            </a:r>
          </a:p>
          <a:p>
            <a:pPr marL="742939" lvl="1" indent="-285750">
              <a:buFont typeface="Arial" panose="020B0604020202020204" pitchFamily="34" charset="0"/>
              <a:buChar char="•"/>
            </a:pPr>
            <a:r>
              <a:rPr lang="en-GB" sz="2000" dirty="0"/>
              <a:t>Lightweight data interchange format</a:t>
            </a:r>
          </a:p>
          <a:p>
            <a:pPr marL="742939" lvl="1" indent="-285750">
              <a:buFont typeface="Arial" panose="020B0604020202020204" pitchFamily="34" charset="0"/>
              <a:buChar char="•"/>
            </a:pPr>
            <a:r>
              <a:rPr lang="en-GB" sz="2000" dirty="0"/>
              <a:t>Standard for passing data into and out of APIs</a:t>
            </a:r>
          </a:p>
          <a:p>
            <a:endParaRPr lang="en-GB" sz="2000" dirty="0"/>
          </a:p>
        </p:txBody>
      </p:sp>
      <p:sp>
        <p:nvSpPr>
          <p:cNvPr id="53" name="Slide Number Placeholder 3">
            <a:extLst>
              <a:ext uri="{FF2B5EF4-FFF2-40B4-BE49-F238E27FC236}">
                <a16:creationId xmlns:a16="http://schemas.microsoft.com/office/drawing/2014/main" id="{C9F74A60-7A9A-6220-C65F-64E54F9C192C}"/>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13</a:t>
            </a:fld>
            <a:endParaRPr lang="en-GB"/>
          </a:p>
        </p:txBody>
      </p:sp>
      <p:sp>
        <p:nvSpPr>
          <p:cNvPr id="4" name="TextBox 3">
            <a:extLst>
              <a:ext uri="{FF2B5EF4-FFF2-40B4-BE49-F238E27FC236}">
                <a16:creationId xmlns:a16="http://schemas.microsoft.com/office/drawing/2014/main" id="{C3650246-C34C-33A6-9B25-A97D0EF46CD2}"/>
              </a:ext>
            </a:extLst>
          </p:cNvPr>
          <p:cNvSpPr txBox="1"/>
          <p:nvPr/>
        </p:nvSpPr>
        <p:spPr>
          <a:xfrm>
            <a:off x="5370195" y="2219724"/>
            <a:ext cx="5703570" cy="3970318"/>
          </a:xfrm>
          <a:prstGeom prst="rect">
            <a:avLst/>
          </a:prstGeom>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l"/>
            <a:r>
              <a:rPr lang="en-GB" sz="1200" b="1" i="0" dirty="0">
                <a:solidFill>
                  <a:srgbClr val="000000"/>
                </a:solidFill>
                <a:effectLst/>
                <a:latin typeface="Courier New" panose="02070309020205020404" pitchFamily="49" charset="0"/>
              </a:rPr>
              <a:t>[  {</a:t>
            </a:r>
          </a:p>
          <a:p>
            <a:pPr marL="457200" lvl="1" algn="l"/>
            <a:r>
              <a:rPr lang="en-GB" sz="1200" b="1" i="0" dirty="0">
                <a:solidFill>
                  <a:srgbClr val="000000"/>
                </a:solidFill>
                <a:effectLst/>
                <a:latin typeface="Courier New" panose="02070309020205020404" pitchFamily="49" charset="0"/>
              </a:rPr>
              <a:t>    "</a:t>
            </a:r>
            <a:r>
              <a:rPr lang="en-GB" sz="1200" b="1" i="0" dirty="0" err="1">
                <a:solidFill>
                  <a:srgbClr val="000000"/>
                </a:solidFill>
                <a:effectLst/>
                <a:latin typeface="Courier New" panose="02070309020205020404" pitchFamily="49" charset="0"/>
              </a:rPr>
              <a:t>CustomerID</a:t>
            </a:r>
            <a:r>
              <a:rPr lang="en-GB" sz="1200" b="1" i="0" dirty="0">
                <a:solidFill>
                  <a:srgbClr val="000000"/>
                </a:solidFill>
                <a:effectLst/>
                <a:latin typeface="Courier New" panose="02070309020205020404" pitchFamily="49" charset="0"/>
              </a:rPr>
              <a:t>": </a:t>
            </a:r>
            <a:r>
              <a:rPr lang="en-GB" sz="1200" b="1" i="0" dirty="0">
                <a:solidFill>
                  <a:srgbClr val="008000"/>
                </a:solidFill>
                <a:effectLst/>
                <a:latin typeface="Courier New" panose="02070309020205020404" pitchFamily="49" charset="0"/>
              </a:rPr>
              <a:t>"ALFKI"</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a:t>
            </a:r>
            <a:r>
              <a:rPr lang="en-GB" sz="1200" b="1" i="0" dirty="0" err="1">
                <a:solidFill>
                  <a:srgbClr val="000000"/>
                </a:solidFill>
                <a:effectLst/>
                <a:latin typeface="Courier New" panose="02070309020205020404" pitchFamily="49" charset="0"/>
              </a:rPr>
              <a:t>ContactName</a:t>
            </a:r>
            <a:r>
              <a:rPr lang="en-GB" sz="1200" b="1" i="0" dirty="0">
                <a:solidFill>
                  <a:srgbClr val="000000"/>
                </a:solidFill>
                <a:effectLst/>
                <a:latin typeface="Courier New" panose="02070309020205020404" pitchFamily="49" charset="0"/>
              </a:rPr>
              <a:t>": </a:t>
            </a:r>
            <a:r>
              <a:rPr lang="en-GB" sz="1200" b="1" i="0" dirty="0">
                <a:solidFill>
                  <a:srgbClr val="008000"/>
                </a:solidFill>
                <a:effectLst/>
                <a:latin typeface="Courier New" panose="02070309020205020404" pitchFamily="49" charset="0"/>
              </a:rPr>
              <a:t>"Maria Anders"</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a:t>
            </a:r>
            <a:r>
              <a:rPr lang="en-GB" sz="1200" b="1" i="0" dirty="0" err="1">
                <a:solidFill>
                  <a:srgbClr val="000000"/>
                </a:solidFill>
                <a:effectLst/>
                <a:latin typeface="Courier New" panose="02070309020205020404" pitchFamily="49" charset="0"/>
              </a:rPr>
              <a:t>ContactTitle</a:t>
            </a:r>
            <a:r>
              <a:rPr lang="en-GB" sz="1200" b="1" i="0" dirty="0">
                <a:solidFill>
                  <a:srgbClr val="000000"/>
                </a:solidFill>
                <a:effectLst/>
                <a:latin typeface="Courier New" panose="02070309020205020404" pitchFamily="49" charset="0"/>
              </a:rPr>
              <a:t>": </a:t>
            </a:r>
            <a:r>
              <a:rPr lang="en-GB" sz="1200" b="1" i="0" dirty="0">
                <a:solidFill>
                  <a:srgbClr val="008000"/>
                </a:solidFill>
                <a:effectLst/>
                <a:latin typeface="Courier New" panose="02070309020205020404" pitchFamily="49" charset="0"/>
              </a:rPr>
              <a:t>"Sales Representative"</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"Address": </a:t>
            </a:r>
            <a:r>
              <a:rPr lang="en-GB" sz="1200" b="1" i="0" dirty="0">
                <a:solidFill>
                  <a:srgbClr val="008000"/>
                </a:solidFill>
                <a:effectLst/>
                <a:latin typeface="Courier New" panose="02070309020205020404" pitchFamily="49" charset="0"/>
              </a:rPr>
              <a:t>"</a:t>
            </a:r>
            <a:r>
              <a:rPr lang="en-GB" sz="1200" b="1" i="0" dirty="0" err="1">
                <a:solidFill>
                  <a:srgbClr val="008000"/>
                </a:solidFill>
                <a:effectLst/>
                <a:latin typeface="Courier New" panose="02070309020205020404" pitchFamily="49" charset="0"/>
              </a:rPr>
              <a:t>Obere</a:t>
            </a:r>
            <a:r>
              <a:rPr lang="en-GB" sz="1200" b="1" i="0" dirty="0">
                <a:solidFill>
                  <a:srgbClr val="008000"/>
                </a:solidFill>
                <a:effectLst/>
                <a:latin typeface="Courier New" panose="02070309020205020404" pitchFamily="49" charset="0"/>
              </a:rPr>
              <a:t> Str. 57"</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"City": </a:t>
            </a:r>
            <a:r>
              <a:rPr lang="en-GB" sz="1200" b="1" i="0" dirty="0">
                <a:solidFill>
                  <a:srgbClr val="008000"/>
                </a:solidFill>
                <a:effectLst/>
                <a:latin typeface="Courier New" panose="02070309020205020404" pitchFamily="49" charset="0"/>
              </a:rPr>
              <a:t>"Berlin"</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a:t>
            </a:r>
            <a:r>
              <a:rPr lang="en-GB" sz="1200" b="1" i="0" dirty="0" err="1">
                <a:solidFill>
                  <a:srgbClr val="000000"/>
                </a:solidFill>
                <a:effectLst/>
                <a:latin typeface="Courier New" panose="02070309020205020404" pitchFamily="49" charset="0"/>
              </a:rPr>
              <a:t>PostalCode</a:t>
            </a:r>
            <a:r>
              <a:rPr lang="en-GB" sz="1200" b="1" i="0" dirty="0">
                <a:solidFill>
                  <a:srgbClr val="000000"/>
                </a:solidFill>
                <a:effectLst/>
                <a:latin typeface="Courier New" panose="02070309020205020404" pitchFamily="49" charset="0"/>
              </a:rPr>
              <a:t>": </a:t>
            </a:r>
            <a:r>
              <a:rPr lang="en-GB" sz="1200" b="1" i="0" dirty="0">
                <a:solidFill>
                  <a:srgbClr val="008000"/>
                </a:solidFill>
                <a:effectLst/>
                <a:latin typeface="Courier New" panose="02070309020205020404" pitchFamily="49" charset="0"/>
              </a:rPr>
              <a:t>"12209"</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"Country": </a:t>
            </a:r>
            <a:r>
              <a:rPr lang="en-GB" sz="1200" b="1" i="0" dirty="0">
                <a:solidFill>
                  <a:srgbClr val="008000"/>
                </a:solidFill>
                <a:effectLst/>
                <a:latin typeface="Courier New" panose="02070309020205020404" pitchFamily="49" charset="0"/>
              </a:rPr>
              <a:t>"Germany"</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"Phone": </a:t>
            </a:r>
            <a:r>
              <a:rPr lang="en-GB" sz="1200" b="1" i="0" dirty="0">
                <a:solidFill>
                  <a:srgbClr val="008000"/>
                </a:solidFill>
                <a:effectLst/>
                <a:latin typeface="Courier New" panose="02070309020205020404" pitchFamily="49" charset="0"/>
              </a:rPr>
              <a:t>"030-0074321"</a:t>
            </a:r>
            <a:endParaRPr lang="en-GB" sz="1200" b="1" i="0" dirty="0">
              <a:solidFill>
                <a:srgbClr val="000000"/>
              </a:solidFill>
              <a:effectLst/>
              <a:latin typeface="Courier New" panose="02070309020205020404" pitchFamily="49" charset="0"/>
            </a:endParaRPr>
          </a:p>
          <a:p>
            <a:pPr algn="l"/>
            <a:r>
              <a:rPr lang="en-GB" sz="1200" b="1" i="0" dirty="0">
                <a:solidFill>
                  <a:srgbClr val="000000"/>
                </a:solidFill>
                <a:effectLst/>
                <a:latin typeface="Courier New" panose="02070309020205020404" pitchFamily="49" charset="0"/>
              </a:rPr>
              <a:t>  },</a:t>
            </a:r>
          </a:p>
          <a:p>
            <a:pPr algn="l"/>
            <a:r>
              <a:rPr lang="en-GB" sz="1200" b="1" i="0" dirty="0">
                <a:solidFill>
                  <a:srgbClr val="000000"/>
                </a:solidFill>
                <a:effectLst/>
                <a:latin typeface="Courier New" panose="02070309020205020404" pitchFamily="49" charset="0"/>
              </a:rPr>
              <a:t>  {</a:t>
            </a:r>
          </a:p>
          <a:p>
            <a:pPr marL="457200" lvl="1" algn="l"/>
            <a:r>
              <a:rPr lang="en-GB" sz="1200" b="1" i="0" dirty="0">
                <a:solidFill>
                  <a:srgbClr val="000000"/>
                </a:solidFill>
                <a:effectLst/>
                <a:latin typeface="Courier New" panose="02070309020205020404" pitchFamily="49" charset="0"/>
              </a:rPr>
              <a:t>    "</a:t>
            </a:r>
            <a:r>
              <a:rPr lang="en-GB" sz="1200" b="1" i="0" dirty="0" err="1">
                <a:solidFill>
                  <a:srgbClr val="000000"/>
                </a:solidFill>
                <a:effectLst/>
                <a:latin typeface="Courier New" panose="02070309020205020404" pitchFamily="49" charset="0"/>
              </a:rPr>
              <a:t>CustomerID</a:t>
            </a:r>
            <a:r>
              <a:rPr lang="en-GB" sz="1200" b="1" i="0" dirty="0">
                <a:solidFill>
                  <a:srgbClr val="000000"/>
                </a:solidFill>
                <a:effectLst/>
                <a:latin typeface="Courier New" panose="02070309020205020404" pitchFamily="49" charset="0"/>
              </a:rPr>
              <a:t>": </a:t>
            </a:r>
            <a:r>
              <a:rPr lang="en-GB" sz="1200" b="1" i="0" dirty="0">
                <a:solidFill>
                  <a:srgbClr val="008000"/>
                </a:solidFill>
                <a:effectLst/>
                <a:latin typeface="Courier New" panose="02070309020205020404" pitchFamily="49" charset="0"/>
              </a:rPr>
              <a:t>"ANATR"</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a:t>
            </a:r>
            <a:r>
              <a:rPr lang="en-GB" sz="1200" b="1" i="0" dirty="0" err="1">
                <a:solidFill>
                  <a:srgbClr val="000000"/>
                </a:solidFill>
                <a:effectLst/>
                <a:latin typeface="Courier New" panose="02070309020205020404" pitchFamily="49" charset="0"/>
              </a:rPr>
              <a:t>ContactName</a:t>
            </a:r>
            <a:r>
              <a:rPr lang="en-GB" sz="1200" b="1" i="0" dirty="0">
                <a:solidFill>
                  <a:srgbClr val="000000"/>
                </a:solidFill>
                <a:effectLst/>
                <a:latin typeface="Courier New" panose="02070309020205020404" pitchFamily="49" charset="0"/>
              </a:rPr>
              <a:t>": </a:t>
            </a:r>
            <a:r>
              <a:rPr lang="en-GB" sz="1200" b="1" i="0" dirty="0">
                <a:solidFill>
                  <a:srgbClr val="008000"/>
                </a:solidFill>
                <a:effectLst/>
                <a:latin typeface="Courier New" panose="02070309020205020404" pitchFamily="49" charset="0"/>
              </a:rPr>
              <a:t>"Ana Trujillo"</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a:t>
            </a:r>
            <a:r>
              <a:rPr lang="en-GB" sz="1200" b="1" i="0" dirty="0" err="1">
                <a:solidFill>
                  <a:srgbClr val="000000"/>
                </a:solidFill>
                <a:effectLst/>
                <a:latin typeface="Courier New" panose="02070309020205020404" pitchFamily="49" charset="0"/>
              </a:rPr>
              <a:t>ContactTitle</a:t>
            </a:r>
            <a:r>
              <a:rPr lang="en-GB" sz="1200" b="1" i="0" dirty="0">
                <a:solidFill>
                  <a:srgbClr val="000000"/>
                </a:solidFill>
                <a:effectLst/>
                <a:latin typeface="Courier New" panose="02070309020205020404" pitchFamily="49" charset="0"/>
              </a:rPr>
              <a:t>": </a:t>
            </a:r>
            <a:r>
              <a:rPr lang="en-GB" sz="1200" b="1" i="0" dirty="0">
                <a:solidFill>
                  <a:srgbClr val="008000"/>
                </a:solidFill>
                <a:effectLst/>
                <a:latin typeface="Courier New" panose="02070309020205020404" pitchFamily="49" charset="0"/>
              </a:rPr>
              <a:t>"Owner"</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"Address": </a:t>
            </a:r>
            <a:r>
              <a:rPr lang="en-GB" sz="1200" b="1" i="0" dirty="0">
                <a:solidFill>
                  <a:srgbClr val="008000"/>
                </a:solidFill>
                <a:effectLst/>
                <a:latin typeface="Courier New" panose="02070309020205020404" pitchFamily="49" charset="0"/>
              </a:rPr>
              <a:t>"Avda. de la </a:t>
            </a:r>
            <a:r>
              <a:rPr lang="en-GB" sz="1200" b="1" i="0" dirty="0" err="1">
                <a:solidFill>
                  <a:srgbClr val="008000"/>
                </a:solidFill>
                <a:effectLst/>
                <a:latin typeface="Courier New" panose="02070309020205020404" pitchFamily="49" charset="0"/>
              </a:rPr>
              <a:t>Constitución</a:t>
            </a:r>
            <a:r>
              <a:rPr lang="en-GB" sz="1200" b="1" i="0" dirty="0">
                <a:solidFill>
                  <a:srgbClr val="008000"/>
                </a:solidFill>
                <a:effectLst/>
                <a:latin typeface="Courier New" panose="02070309020205020404" pitchFamily="49" charset="0"/>
              </a:rPr>
              <a:t> 2222"</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"City": </a:t>
            </a:r>
            <a:r>
              <a:rPr lang="en-GB" sz="1200" b="1" i="0" dirty="0">
                <a:solidFill>
                  <a:srgbClr val="008000"/>
                </a:solidFill>
                <a:effectLst/>
                <a:latin typeface="Courier New" panose="02070309020205020404" pitchFamily="49" charset="0"/>
              </a:rPr>
              <a:t>"México D.F."</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a:t>
            </a:r>
            <a:r>
              <a:rPr lang="en-GB" sz="1200" b="1" i="0" dirty="0" err="1">
                <a:solidFill>
                  <a:srgbClr val="000000"/>
                </a:solidFill>
                <a:effectLst/>
                <a:latin typeface="Courier New" panose="02070309020205020404" pitchFamily="49" charset="0"/>
              </a:rPr>
              <a:t>PostalCode</a:t>
            </a:r>
            <a:r>
              <a:rPr lang="en-GB" sz="1200" b="1" i="0" dirty="0">
                <a:solidFill>
                  <a:srgbClr val="000000"/>
                </a:solidFill>
                <a:effectLst/>
                <a:latin typeface="Courier New" panose="02070309020205020404" pitchFamily="49" charset="0"/>
              </a:rPr>
              <a:t>": </a:t>
            </a:r>
            <a:r>
              <a:rPr lang="en-GB" sz="1200" b="1" i="0" dirty="0">
                <a:solidFill>
                  <a:srgbClr val="008000"/>
                </a:solidFill>
                <a:effectLst/>
                <a:latin typeface="Courier New" panose="02070309020205020404" pitchFamily="49" charset="0"/>
              </a:rPr>
              <a:t>"05021"</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"Country": </a:t>
            </a:r>
            <a:r>
              <a:rPr lang="en-GB" sz="1200" b="1" i="0" dirty="0">
                <a:solidFill>
                  <a:srgbClr val="008000"/>
                </a:solidFill>
                <a:effectLst/>
                <a:latin typeface="Courier New" panose="02070309020205020404" pitchFamily="49" charset="0"/>
              </a:rPr>
              <a:t>"Mexico"</a:t>
            </a:r>
            <a:r>
              <a:rPr lang="en-GB" sz="1200" b="1" i="0" dirty="0">
                <a:solidFill>
                  <a:srgbClr val="000000"/>
                </a:solidFill>
                <a:effectLst/>
                <a:latin typeface="Courier New" panose="02070309020205020404" pitchFamily="49" charset="0"/>
              </a:rPr>
              <a:t>,</a:t>
            </a:r>
          </a:p>
          <a:p>
            <a:pPr marL="457200" lvl="1" algn="l"/>
            <a:r>
              <a:rPr lang="en-GB" sz="1200" b="1" i="0" dirty="0">
                <a:solidFill>
                  <a:srgbClr val="000000"/>
                </a:solidFill>
                <a:effectLst/>
                <a:latin typeface="Courier New" panose="02070309020205020404" pitchFamily="49" charset="0"/>
              </a:rPr>
              <a:t>    "Phone": </a:t>
            </a:r>
            <a:r>
              <a:rPr lang="en-GB" sz="1200" b="1" i="0" dirty="0">
                <a:solidFill>
                  <a:srgbClr val="008000"/>
                </a:solidFill>
                <a:effectLst/>
                <a:latin typeface="Courier New" panose="02070309020205020404" pitchFamily="49" charset="0"/>
              </a:rPr>
              <a:t>"(5) 555-4729"</a:t>
            </a:r>
            <a:endParaRPr lang="en-GB" sz="1200" b="1" i="0" dirty="0">
              <a:solidFill>
                <a:srgbClr val="000000"/>
              </a:solidFill>
              <a:effectLst/>
              <a:latin typeface="Courier New" panose="02070309020205020404" pitchFamily="49" charset="0"/>
            </a:endParaRPr>
          </a:p>
          <a:p>
            <a:pPr algn="l"/>
            <a:r>
              <a:rPr lang="en-GB" sz="1200" b="1" i="0" dirty="0">
                <a:solidFill>
                  <a:srgbClr val="000000"/>
                </a:solidFill>
                <a:effectLst/>
                <a:latin typeface="Courier New" panose="02070309020205020404" pitchFamily="49" charset="0"/>
              </a:rPr>
              <a:t>  }</a:t>
            </a:r>
          </a:p>
          <a:p>
            <a:pPr algn="l"/>
            <a:r>
              <a:rPr lang="en-GB" sz="1200" b="1" dirty="0">
                <a:solidFill>
                  <a:srgbClr val="000000"/>
                </a:solidFill>
                <a:latin typeface="Courier New" panose="02070309020205020404" pitchFamily="49" charset="0"/>
              </a:rPr>
              <a:t>]</a:t>
            </a:r>
            <a:endParaRPr lang="en-GB" sz="1200" b="1" i="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83776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Illuminated server room panel">
            <a:extLst>
              <a:ext uri="{FF2B5EF4-FFF2-40B4-BE49-F238E27FC236}">
                <a16:creationId xmlns:a16="http://schemas.microsoft.com/office/drawing/2014/main" id="{576D3D3F-5E07-9A5C-8EF4-2F6856025486}"/>
              </a:ext>
            </a:extLst>
          </p:cNvPr>
          <p:cNvPicPr>
            <a:picLocks noChangeAspect="1"/>
          </p:cNvPicPr>
          <p:nvPr/>
        </p:nvPicPr>
        <p:blipFill rotWithShape="1">
          <a:blip r:embed="rId3"/>
          <a:srcRect l="21211" r="27942" b="-1"/>
          <a:stretch/>
        </p:blipFill>
        <p:spPr>
          <a:xfrm>
            <a:off x="6967959" y="10"/>
            <a:ext cx="5224040" cy="6857989"/>
          </a:xfrm>
          <a:prstGeom prst="rect">
            <a:avLst/>
          </a:prstGeom>
          <a:noFill/>
        </p:spPr>
      </p:pic>
      <p:sp>
        <p:nvSpPr>
          <p:cNvPr id="2" name="Title 1">
            <a:extLst>
              <a:ext uri="{FF2B5EF4-FFF2-40B4-BE49-F238E27FC236}">
                <a16:creationId xmlns:a16="http://schemas.microsoft.com/office/drawing/2014/main" id="{4100A1B3-447F-4399-9F15-B955443B0915}"/>
              </a:ext>
            </a:extLst>
          </p:cNvPr>
          <p:cNvSpPr>
            <a:spLocks noGrp="1"/>
          </p:cNvSpPr>
          <p:nvPr>
            <p:ph type="body" sz="quarter" idx="12"/>
          </p:nvPr>
        </p:nvSpPr>
        <p:spPr>
          <a:xfrm>
            <a:off x="385650" y="1147572"/>
            <a:ext cx="6297954" cy="520262"/>
          </a:xfrm>
        </p:spPr>
        <p:txBody>
          <a:bodyPr anchor="t">
            <a:normAutofit/>
          </a:bodyPr>
          <a:lstStyle/>
          <a:p>
            <a:pPr>
              <a:lnSpc>
                <a:spcPct val="90000"/>
              </a:lnSpc>
              <a:spcAft>
                <a:spcPts val="600"/>
              </a:spcAft>
            </a:pPr>
            <a:r>
              <a:rPr lang="en-GB"/>
              <a:t>Data Streaming</a:t>
            </a:r>
          </a:p>
        </p:txBody>
      </p:sp>
      <p:sp>
        <p:nvSpPr>
          <p:cNvPr id="8" name="Slide Number Placeholder 3">
            <a:extLst>
              <a:ext uri="{FF2B5EF4-FFF2-40B4-BE49-F238E27FC236}">
                <a16:creationId xmlns:a16="http://schemas.microsoft.com/office/drawing/2014/main" id="{352D5F49-A3C0-63CD-936F-3C5529DDA398}"/>
              </a:ext>
            </a:extLst>
          </p:cNvPr>
          <p:cNvSpPr>
            <a:spLocks noGrp="1"/>
          </p:cNvSpPr>
          <p:nvPr>
            <p:ph type="sldNum" sz="quarter" idx="4"/>
          </p:nvPr>
        </p:nvSpPr>
        <p:spPr>
          <a:xfrm>
            <a:off x="11256421" y="6511672"/>
            <a:ext cx="785483" cy="180000"/>
          </a:xfrm>
        </p:spPr>
        <p:txBody>
          <a:bodyPr anchor="b">
            <a:normAutofit/>
          </a:bodyPr>
          <a:lstStyle/>
          <a:p>
            <a:pPr>
              <a:spcAft>
                <a:spcPts val="600"/>
              </a:spcAft>
            </a:pPr>
            <a:fld id="{EF892D59-8F09-EF4B-AD6D-DA609442F868}" type="slidenum">
              <a:rPr lang="en-GB" smtClean="0"/>
              <a:pPr>
                <a:spcAft>
                  <a:spcPts val="600"/>
                </a:spcAft>
              </a:pPr>
              <a:t>14</a:t>
            </a:fld>
            <a:endParaRPr lang="en-GB"/>
          </a:p>
        </p:txBody>
      </p:sp>
      <p:sp>
        <p:nvSpPr>
          <p:cNvPr id="3" name="Text Placeholder 2">
            <a:extLst>
              <a:ext uri="{FF2B5EF4-FFF2-40B4-BE49-F238E27FC236}">
                <a16:creationId xmlns:a16="http://schemas.microsoft.com/office/drawing/2014/main" id="{EC346061-E13F-4DD2-8184-741B7CCE23FD}"/>
              </a:ext>
            </a:extLst>
          </p:cNvPr>
          <p:cNvSpPr>
            <a:spLocks noGrp="1"/>
          </p:cNvSpPr>
          <p:nvPr>
            <p:ph type="body" sz="quarter" idx="11"/>
          </p:nvPr>
        </p:nvSpPr>
        <p:spPr>
          <a:xfrm>
            <a:off x="373063" y="1892636"/>
            <a:ext cx="6143484" cy="2742864"/>
          </a:xfrm>
        </p:spPr>
        <p:txBody>
          <a:bodyPr anchor="t">
            <a:normAutofit/>
          </a:bodyPr>
          <a:lstStyle/>
          <a:p>
            <a:r>
              <a:rPr lang="en-GB" b="1" dirty="0"/>
              <a:t>The transfer of data at a steady high-speed rate:</a:t>
            </a:r>
            <a:br>
              <a:rPr lang="en-GB" b="1" dirty="0"/>
            </a:br>
            <a:endParaRPr lang="en-GB" b="1" dirty="0"/>
          </a:p>
          <a:p>
            <a:pPr lvl="3"/>
            <a:r>
              <a:rPr lang="en-GB" dirty="0"/>
              <a:t>Sufficient to support such applications.</a:t>
            </a:r>
          </a:p>
          <a:p>
            <a:pPr lvl="4"/>
            <a:r>
              <a:rPr lang="en-GB" dirty="0"/>
              <a:t>High-definition television</a:t>
            </a:r>
          </a:p>
          <a:p>
            <a:pPr lvl="4"/>
            <a:r>
              <a:rPr lang="en-GB" dirty="0"/>
              <a:t>Continuous backup copying to a storage of data</a:t>
            </a:r>
          </a:p>
          <a:p>
            <a:endParaRPr lang="en-GB" dirty="0"/>
          </a:p>
        </p:txBody>
      </p:sp>
    </p:spTree>
    <p:extLst>
      <p:ext uri="{BB962C8B-B14F-4D97-AF65-F5344CB8AC3E}">
        <p14:creationId xmlns:p14="http://schemas.microsoft.com/office/powerpoint/2010/main" val="2370280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A1B3-447F-4399-9F15-B955443B0915}"/>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solidFill>
                  <a:schemeClr val="tx1"/>
                </a:solidFill>
              </a:rPr>
              <a:t>Platforms</a:t>
            </a:r>
          </a:p>
        </p:txBody>
      </p:sp>
      <p:sp>
        <p:nvSpPr>
          <p:cNvPr id="3" name="Text Placeholder 2">
            <a:extLst>
              <a:ext uri="{FF2B5EF4-FFF2-40B4-BE49-F238E27FC236}">
                <a16:creationId xmlns:a16="http://schemas.microsoft.com/office/drawing/2014/main" id="{EC346061-E13F-4DD2-8184-741B7CCE23FD}"/>
              </a:ext>
            </a:extLst>
          </p:cNvPr>
          <p:cNvSpPr>
            <a:spLocks noGrp="1"/>
          </p:cNvSpPr>
          <p:nvPr>
            <p:ph type="body" sz="quarter" idx="15"/>
          </p:nvPr>
        </p:nvSpPr>
        <p:spPr>
          <a:xfrm>
            <a:off x="5037138" y="1349986"/>
            <a:ext cx="6770687" cy="5112343"/>
          </a:xfrm>
        </p:spPr>
        <p:txBody>
          <a:bodyPr anchor="t">
            <a:normAutofit/>
          </a:bodyPr>
          <a:lstStyle/>
          <a:p>
            <a:pPr marL="0" lvl="1" indent="0">
              <a:spcAft>
                <a:spcPts val="600"/>
              </a:spcAft>
              <a:buClr>
                <a:schemeClr val="accent1"/>
              </a:buClr>
              <a:buNone/>
            </a:pPr>
            <a:r>
              <a:rPr lang="en-GB" sz="1800" b="1" dirty="0">
                <a:latin typeface="+mn-lt"/>
                <a:cs typeface="Arial" pitchFamily="34" charset="0"/>
              </a:rPr>
              <a:t>Please research and answer the following questions</a:t>
            </a:r>
            <a:r>
              <a:rPr lang="en-GB" sz="1800" dirty="0">
                <a:latin typeface="+mn-lt"/>
                <a:cs typeface="Arial" pitchFamily="34" charset="0"/>
              </a:rPr>
              <a:t>.</a:t>
            </a:r>
          </a:p>
          <a:p>
            <a:pPr marL="0" lvl="1" indent="0">
              <a:spcAft>
                <a:spcPts val="600"/>
              </a:spcAft>
              <a:buClr>
                <a:schemeClr val="accent1"/>
              </a:buClr>
              <a:buNone/>
            </a:pPr>
            <a:endParaRPr lang="en-GB" sz="1800" b="1" dirty="0">
              <a:latin typeface="+mn-lt"/>
              <a:cs typeface="Arial" pitchFamily="34" charset="0"/>
            </a:endParaRPr>
          </a:p>
          <a:p>
            <a:pPr marL="0" lvl="1" indent="0">
              <a:spcAft>
                <a:spcPts val="600"/>
              </a:spcAft>
              <a:buClr>
                <a:schemeClr val="accent1"/>
              </a:buClr>
              <a:buNone/>
            </a:pPr>
            <a:r>
              <a:rPr lang="en-GB" sz="1800" dirty="0">
                <a:latin typeface="+mn-lt"/>
                <a:cs typeface="Arial" pitchFamily="34" charset="0"/>
              </a:rPr>
              <a:t>Briefly describe the features of the following development platforms:</a:t>
            </a:r>
          </a:p>
          <a:p>
            <a:pPr marL="1005750" lvl="2" indent="-285750">
              <a:spcAft>
                <a:spcPts val="600"/>
              </a:spcAft>
              <a:buClr>
                <a:schemeClr val="accent1"/>
              </a:buClr>
              <a:buFont typeface="Arial" panose="020B0604020202020204" pitchFamily="34" charset="0"/>
              <a:buChar char="•"/>
            </a:pPr>
            <a:r>
              <a:rPr lang="en-GB" sz="1800" b="0" dirty="0">
                <a:latin typeface="+mn-lt"/>
                <a:cs typeface="Arial" pitchFamily="34" charset="0"/>
              </a:rPr>
              <a:t>Web</a:t>
            </a:r>
          </a:p>
          <a:p>
            <a:pPr marL="1005750" lvl="2" indent="-285750">
              <a:spcAft>
                <a:spcPts val="600"/>
              </a:spcAft>
              <a:buClr>
                <a:schemeClr val="accent1"/>
              </a:buClr>
              <a:buFont typeface="Arial" panose="020B0604020202020204" pitchFamily="34" charset="0"/>
              <a:buChar char="•"/>
            </a:pPr>
            <a:r>
              <a:rPr lang="en-GB" sz="1800" b="0" dirty="0">
                <a:latin typeface="+mn-lt"/>
                <a:cs typeface="Arial" pitchFamily="34" charset="0"/>
              </a:rPr>
              <a:t>Mobile</a:t>
            </a:r>
          </a:p>
          <a:p>
            <a:pPr marL="1005750" lvl="2" indent="-285750">
              <a:spcAft>
                <a:spcPts val="600"/>
              </a:spcAft>
              <a:buClr>
                <a:schemeClr val="accent1"/>
              </a:buClr>
              <a:buFont typeface="Arial" panose="020B0604020202020204" pitchFamily="34" charset="0"/>
              <a:buChar char="•"/>
            </a:pPr>
            <a:r>
              <a:rPr lang="en-GB" sz="1800" b="0" dirty="0">
                <a:latin typeface="+mn-lt"/>
                <a:cs typeface="Arial" pitchFamily="34" charset="0"/>
              </a:rPr>
              <a:t>Desktop</a:t>
            </a:r>
          </a:p>
          <a:p>
            <a:pPr marL="1005750" lvl="2" indent="-285750">
              <a:spcAft>
                <a:spcPts val="600"/>
              </a:spcAft>
              <a:buClr>
                <a:schemeClr val="accent1"/>
              </a:buClr>
              <a:buFont typeface="Arial" panose="020B0604020202020204" pitchFamily="34" charset="0"/>
              <a:buChar char="•"/>
            </a:pPr>
            <a:r>
              <a:rPr lang="en-GB" sz="1800" b="0" dirty="0">
                <a:latin typeface="+mn-lt"/>
                <a:cs typeface="Arial" pitchFamily="34" charset="0"/>
              </a:rPr>
              <a:t>Server</a:t>
            </a:r>
          </a:p>
          <a:p>
            <a:pPr marL="1005750" lvl="2" indent="-285750">
              <a:spcAft>
                <a:spcPts val="600"/>
              </a:spcAft>
              <a:buClr>
                <a:schemeClr val="accent1"/>
              </a:buClr>
              <a:buFont typeface="Arial" panose="020B0604020202020204" pitchFamily="34" charset="0"/>
              <a:buChar char="•"/>
            </a:pPr>
            <a:r>
              <a:rPr lang="en-GB" sz="1800" b="0" dirty="0">
                <a:latin typeface="+mn-lt"/>
                <a:cs typeface="Arial" pitchFamily="34" charset="0"/>
              </a:rPr>
              <a:t>Cloud</a:t>
            </a:r>
          </a:p>
          <a:p>
            <a:endParaRPr lang="en-GB" dirty="0">
              <a:latin typeface="+mn-lt"/>
            </a:endParaRPr>
          </a:p>
        </p:txBody>
      </p:sp>
      <p:sp>
        <p:nvSpPr>
          <p:cNvPr id="8" name="Slide Number Placeholder 3">
            <a:extLst>
              <a:ext uri="{FF2B5EF4-FFF2-40B4-BE49-F238E27FC236}">
                <a16:creationId xmlns:a16="http://schemas.microsoft.com/office/drawing/2014/main" id="{352D5F49-A3C0-63CD-936F-3C5529DDA398}"/>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15</a:t>
            </a:fld>
            <a:endParaRPr lang="en-GB"/>
          </a:p>
        </p:txBody>
      </p:sp>
    </p:spTree>
    <p:extLst>
      <p:ext uri="{BB962C8B-B14F-4D97-AF65-F5344CB8AC3E}">
        <p14:creationId xmlns:p14="http://schemas.microsoft.com/office/powerpoint/2010/main" val="4170710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0486-CE3E-4C79-8AB4-2A47666BC1E6}"/>
              </a:ext>
            </a:extLst>
          </p:cNvPr>
          <p:cNvSpPr>
            <a:spLocks noGrp="1"/>
          </p:cNvSpPr>
          <p:nvPr>
            <p:ph type="title" idx="4294967295"/>
          </p:nvPr>
        </p:nvSpPr>
        <p:spPr>
          <a:xfrm>
            <a:off x="1143000" y="369888"/>
            <a:ext cx="11436350" cy="687387"/>
          </a:xfrm>
        </p:spPr>
        <p:txBody>
          <a:bodyPr/>
          <a:lstStyle/>
          <a:p>
            <a:r>
              <a:rPr lang="en-GB" dirty="0"/>
              <a:t>Cloud Platform</a:t>
            </a:r>
          </a:p>
        </p:txBody>
      </p:sp>
      <p:pic>
        <p:nvPicPr>
          <p:cNvPr id="5" name="Picture 4">
            <a:extLst>
              <a:ext uri="{FF2B5EF4-FFF2-40B4-BE49-F238E27FC236}">
                <a16:creationId xmlns:a16="http://schemas.microsoft.com/office/drawing/2014/main" id="{1B801DA6-6D5B-4582-ACF5-E7C8B92874BF}"/>
              </a:ext>
            </a:extLst>
          </p:cNvPr>
          <p:cNvPicPr>
            <a:picLocks/>
          </p:cNvPicPr>
          <p:nvPr/>
        </p:nvPicPr>
        <p:blipFill>
          <a:blip r:embed="rId3"/>
          <a:stretch>
            <a:fillRect/>
          </a:stretch>
        </p:blipFill>
        <p:spPr>
          <a:xfrm>
            <a:off x="1685205" y="819000"/>
            <a:ext cx="8820000" cy="5220000"/>
          </a:xfrm>
          <a:prstGeom prst="rect">
            <a:avLst/>
          </a:prstGeom>
        </p:spPr>
      </p:pic>
    </p:spTree>
    <p:extLst>
      <p:ext uri="{BB962C8B-B14F-4D97-AF65-F5344CB8AC3E}">
        <p14:creationId xmlns:p14="http://schemas.microsoft.com/office/powerpoint/2010/main" val="285181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5166E-A4EB-4450-9A4C-90597722AB76}"/>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sz="3200" dirty="0">
                <a:solidFill>
                  <a:schemeClr val="tx1"/>
                </a:solidFill>
              </a:rPr>
              <a:t>Deployment</a:t>
            </a:r>
          </a:p>
        </p:txBody>
      </p:sp>
      <p:sp>
        <p:nvSpPr>
          <p:cNvPr id="3" name="Text Placeholder 2">
            <a:extLst>
              <a:ext uri="{FF2B5EF4-FFF2-40B4-BE49-F238E27FC236}">
                <a16:creationId xmlns:a16="http://schemas.microsoft.com/office/drawing/2014/main" id="{D34DFEF4-2F3A-44D6-BCA7-F3DE5DB705B2}"/>
              </a:ext>
            </a:extLst>
          </p:cNvPr>
          <p:cNvSpPr>
            <a:spLocks noGrp="1"/>
          </p:cNvSpPr>
          <p:nvPr>
            <p:ph type="body" sz="quarter" idx="15"/>
          </p:nvPr>
        </p:nvSpPr>
        <p:spPr>
          <a:xfrm>
            <a:off x="5037138" y="1349986"/>
            <a:ext cx="6770687" cy="5112343"/>
          </a:xfrm>
        </p:spPr>
        <p:txBody>
          <a:bodyPr anchor="t">
            <a:normAutofit/>
          </a:bodyPr>
          <a:lstStyle/>
          <a:p>
            <a:pPr marL="0" lvl="1" indent="0">
              <a:spcAft>
                <a:spcPts val="600"/>
              </a:spcAft>
              <a:buClr>
                <a:schemeClr val="accent1"/>
              </a:buClr>
              <a:buNone/>
            </a:pPr>
            <a:r>
              <a:rPr lang="en-GB" sz="2400" b="1" dirty="0">
                <a:latin typeface="+mn-lt"/>
                <a:cs typeface="Arial" pitchFamily="34" charset="0"/>
              </a:rPr>
              <a:t>Discuss:</a:t>
            </a:r>
          </a:p>
          <a:p>
            <a:pPr marL="0" lvl="1" indent="0">
              <a:spcAft>
                <a:spcPts val="600"/>
              </a:spcAft>
              <a:buClr>
                <a:schemeClr val="accent1"/>
              </a:buClr>
              <a:buNone/>
            </a:pPr>
            <a:endParaRPr lang="en-GB" sz="2400" b="1" dirty="0">
              <a:latin typeface="+mn-lt"/>
              <a:cs typeface="Arial" pitchFamily="34" charset="0"/>
            </a:endParaRPr>
          </a:p>
          <a:p>
            <a:pPr marL="720000" lvl="1" indent="-360000">
              <a:spcAft>
                <a:spcPts val="600"/>
              </a:spcAft>
              <a:buClr>
                <a:schemeClr val="accent1"/>
              </a:buClr>
            </a:pPr>
            <a:r>
              <a:rPr lang="en-GB" sz="2400" dirty="0">
                <a:latin typeface="+mn-lt"/>
                <a:cs typeface="Arial" pitchFamily="34" charset="0"/>
              </a:rPr>
              <a:t>Why might it be more difficult to develop an application for multiple platforms verses a single platform?</a:t>
            </a:r>
          </a:p>
          <a:p>
            <a:endParaRPr lang="en-GB" sz="2400" dirty="0">
              <a:latin typeface="+mn-lt"/>
            </a:endParaRPr>
          </a:p>
        </p:txBody>
      </p:sp>
      <p:sp>
        <p:nvSpPr>
          <p:cNvPr id="8" name="Slide Number Placeholder 3">
            <a:extLst>
              <a:ext uri="{FF2B5EF4-FFF2-40B4-BE49-F238E27FC236}">
                <a16:creationId xmlns:a16="http://schemas.microsoft.com/office/drawing/2014/main" id="{D712745B-CF2D-51BF-718C-25315ED0715F}"/>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17</a:t>
            </a:fld>
            <a:endParaRPr lang="en-GB"/>
          </a:p>
        </p:txBody>
      </p:sp>
    </p:spTree>
    <p:extLst>
      <p:ext uri="{BB962C8B-B14F-4D97-AF65-F5344CB8AC3E}">
        <p14:creationId xmlns:p14="http://schemas.microsoft.com/office/powerpoint/2010/main" val="249230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F8319-5741-4834-9D40-B686B5029E8E}"/>
              </a:ext>
            </a:extLst>
          </p:cNvPr>
          <p:cNvSpPr>
            <a:spLocks noGrp="1"/>
          </p:cNvSpPr>
          <p:nvPr>
            <p:ph type="title" idx="4294967295"/>
          </p:nvPr>
        </p:nvSpPr>
        <p:spPr>
          <a:xfrm>
            <a:off x="1193800" y="293688"/>
            <a:ext cx="11436350" cy="687387"/>
          </a:xfrm>
        </p:spPr>
        <p:txBody>
          <a:bodyPr/>
          <a:lstStyle/>
          <a:p>
            <a:r>
              <a:rPr lang="en-GB" dirty="0"/>
              <a:t>Challenges with multiple platforms</a:t>
            </a:r>
          </a:p>
        </p:txBody>
      </p:sp>
      <p:graphicFrame>
        <p:nvGraphicFramePr>
          <p:cNvPr id="4" name="Diagram 3">
            <a:extLst>
              <a:ext uri="{FF2B5EF4-FFF2-40B4-BE49-F238E27FC236}">
                <a16:creationId xmlns:a16="http://schemas.microsoft.com/office/drawing/2014/main" id="{F59EF569-7182-4868-9B47-E8E2B7EA2240}"/>
              </a:ext>
            </a:extLst>
          </p:cNvPr>
          <p:cNvGraphicFramePr/>
          <p:nvPr>
            <p:extLst>
              <p:ext uri="{D42A27DB-BD31-4B8C-83A1-F6EECF244321}">
                <p14:modId xmlns:p14="http://schemas.microsoft.com/office/powerpoint/2010/main" val="3085824224"/>
              </p:ext>
            </p:extLst>
          </p:nvPr>
        </p:nvGraphicFramePr>
        <p:xfrm>
          <a:off x="1193800" y="1187451"/>
          <a:ext cx="9804400" cy="22293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344EA23A-48DE-4E24-BEAC-5AA01E4CCF6C}"/>
              </a:ext>
            </a:extLst>
          </p:cNvPr>
          <p:cNvGraphicFramePr/>
          <p:nvPr>
            <p:extLst>
              <p:ext uri="{D42A27DB-BD31-4B8C-83A1-F6EECF244321}">
                <p14:modId xmlns:p14="http://schemas.microsoft.com/office/powerpoint/2010/main" val="2643002148"/>
              </p:ext>
            </p:extLst>
          </p:nvPr>
        </p:nvGraphicFramePr>
        <p:xfrm>
          <a:off x="1193800" y="1638829"/>
          <a:ext cx="9804400" cy="667967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65648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43D6-D544-4244-9881-38BF9BA82662}"/>
              </a:ext>
            </a:extLst>
          </p:cNvPr>
          <p:cNvSpPr>
            <a:spLocks noGrp="1"/>
          </p:cNvSpPr>
          <p:nvPr>
            <p:ph type="ctrTitle"/>
          </p:nvPr>
        </p:nvSpPr>
        <p:spPr/>
        <p:txBody>
          <a:bodyPr/>
          <a:lstStyle/>
          <a:p>
            <a:r>
              <a:rPr lang="en-GB" dirty="0"/>
              <a:t>review</a:t>
            </a:r>
          </a:p>
        </p:txBody>
      </p:sp>
    </p:spTree>
    <p:extLst>
      <p:ext uri="{BB962C8B-B14F-4D97-AF65-F5344CB8AC3E}">
        <p14:creationId xmlns:p14="http://schemas.microsoft.com/office/powerpoint/2010/main" val="1734973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489301-45C5-4586-A14D-022F60CBC6E0}"/>
              </a:ext>
            </a:extLst>
          </p:cNvPr>
          <p:cNvSpPr>
            <a:spLocks noGrp="1"/>
          </p:cNvSpPr>
          <p:nvPr>
            <p:ph type="body" sz="quarter" idx="12"/>
          </p:nvPr>
        </p:nvSpPr>
        <p:spPr/>
        <p:txBody>
          <a:bodyPr/>
          <a:lstStyle/>
          <a:p>
            <a:endParaRPr lang="en-GB"/>
          </a:p>
        </p:txBody>
      </p:sp>
      <p:sp>
        <p:nvSpPr>
          <p:cNvPr id="3" name="Title 2"/>
          <p:cNvSpPr>
            <a:spLocks noGrp="1"/>
          </p:cNvSpPr>
          <p:nvPr>
            <p:ph type="ctrTitle"/>
          </p:nvPr>
        </p:nvSpPr>
        <p:spPr/>
        <p:txBody>
          <a:bodyPr/>
          <a:lstStyle/>
          <a:p>
            <a:r>
              <a:rPr lang="en-GB" dirty="0"/>
              <a:t>Questions and feedback</a:t>
            </a:r>
          </a:p>
        </p:txBody>
      </p:sp>
    </p:spTree>
    <p:extLst>
      <p:ext uri="{BB962C8B-B14F-4D97-AF65-F5344CB8AC3E}">
        <p14:creationId xmlns:p14="http://schemas.microsoft.com/office/powerpoint/2010/main" val="3983785826"/>
      </p:ext>
    </p:extLst>
  </p:cSld>
  <p:clrMapOvr>
    <a:masterClrMapping/>
  </p:clrMapOvr>
</p:sld>
</file>

<file path=ppt/theme/theme1.xml><?xml version="1.0" encoding="utf-8"?>
<a:theme xmlns:a="http://schemas.openxmlformats.org/drawingml/2006/main" name="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CDB2D89-314C-4D83-B504-BF4072DFB9FD}">
  <ds:schemaRefs>
    <ds:schemaRef ds:uri="http://schemas.microsoft.com/sharepoint/v3/contenttype/forms"/>
  </ds:schemaRefs>
</ds:datastoreItem>
</file>

<file path=customXml/itemProps2.xml><?xml version="1.0" encoding="utf-8"?>
<ds:datastoreItem xmlns:ds="http://schemas.openxmlformats.org/officeDocument/2006/customXml" ds:itemID="{9ABFFAF9-F97E-474C-B182-3A669F2502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E287A7-626A-41C1-92DF-BE8EECFCD6C2}">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8152707b-ac2c-4ea2-ac9a-b989788b8469"/>
    <ds:schemaRef ds:uri="http://purl.org/dc/elements/1.1/"/>
    <ds:schemaRef ds:uri="http://schemas.microsoft.com/office/2006/metadata/properties"/>
    <ds:schemaRef ds:uri="9a63c464-9648-4824-9ad1-ed767784f626"/>
    <ds:schemaRef ds:uri="http://www.w3.org/XML/1998/namespace"/>
    <ds:schemaRef ds:uri="http://purl.org/dc/terms/"/>
    <ds:schemaRef ds:uri="9e706368-9a73-4dcc-9221-b8fc62424fbc"/>
    <ds:schemaRef ds:uri="eb7c3fc1-ccd5-477b-94a4-7b6dc96a8d59"/>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2255</Words>
  <Application>Microsoft Office PowerPoint</Application>
  <PresentationFormat>Widescreen</PresentationFormat>
  <Paragraphs>246</Paragraphs>
  <Slides>20</Slides>
  <Notes>20</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20</vt:i4>
      </vt:variant>
    </vt:vector>
  </HeadingPairs>
  <TitlesOfParts>
    <vt:vector size="31" baseType="lpstr">
      <vt:lpstr>Arial</vt:lpstr>
      <vt:lpstr>Courier New</vt:lpstr>
      <vt:lpstr>Krana Fat B</vt:lpstr>
      <vt:lpstr>Montserrat</vt:lpstr>
      <vt:lpstr>Montserrat Black</vt:lpstr>
      <vt:lpstr>Söhne</vt:lpstr>
      <vt:lpstr>NoKrana</vt:lpstr>
      <vt:lpstr>Master_Red_and_Purple</vt:lpstr>
      <vt:lpstr>Master_Yellow_and_Orange</vt:lpstr>
      <vt:lpstr>Master_Blue</vt:lpstr>
      <vt:lpstr>Master_Neutral</vt:lpstr>
      <vt:lpstr>Software Developer   Agile Software Development  Application Structure and Development Platform Context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Cloud Platform</vt:lpstr>
      <vt:lpstr>PowerPoint Presentation</vt:lpstr>
      <vt:lpstr>Challenges with multiple platforms</vt:lpstr>
      <vt:lpstr>review</vt:lpstr>
      <vt:lpstr>Questions and feedback</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 here and here</dc:title>
  <dc:subject/>
  <dc:creator>Haynes, Amanda</dc:creator>
  <cp:keywords/>
  <dc:description/>
  <cp:lastModifiedBy>mike baradaran</cp:lastModifiedBy>
  <cp:revision>72</cp:revision>
  <cp:lastPrinted>2019-07-03T09:46:41Z</cp:lastPrinted>
  <dcterms:created xsi:type="dcterms:W3CDTF">2021-11-17T15:28:08Z</dcterms:created>
  <dcterms:modified xsi:type="dcterms:W3CDTF">2023-11-24T11:40:34Z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ies>
</file>