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3.xml" ContentType="application/vnd.openxmlformats-officedocument.theme+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4.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4"/>
    <p:sldMasterId id="2147483790" r:id="rId5"/>
    <p:sldMasterId id="2147483825" r:id="rId6"/>
    <p:sldMasterId id="2147483863" r:id="rId7"/>
    <p:sldMasterId id="2147483896" r:id="rId8"/>
  </p:sldMasterIdLst>
  <p:notesMasterIdLst>
    <p:notesMasterId r:id="rId16"/>
  </p:notesMasterIdLst>
  <p:handoutMasterIdLst>
    <p:handoutMasterId r:id="rId17"/>
  </p:handoutMasterIdLst>
  <p:sldIdLst>
    <p:sldId id="278" r:id="rId9"/>
    <p:sldId id="752" r:id="rId10"/>
    <p:sldId id="289" r:id="rId11"/>
    <p:sldId id="290" r:id="rId12"/>
    <p:sldId id="301" r:id="rId13"/>
    <p:sldId id="302" r:id="rId14"/>
    <p:sldId id="275" r:id="rId15"/>
  </p:sldIdLst>
  <p:sldSz cx="12192000" cy="6858000"/>
  <p:notesSz cx="9775825" cy="6645275"/>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or Divider Slides" id="{DE8BF54A-1323-4403-83F8-D7B5510C9D53}">
          <p14:sldIdLst>
            <p14:sldId id="278"/>
            <p14:sldId id="752"/>
          </p14:sldIdLst>
        </p14:section>
        <p14:section name="Content Slides" id="{1A095CF9-3572-4538-94D7-8ABEC199D1E2}">
          <p14:sldIdLst>
            <p14:sldId id="289"/>
            <p14:sldId id="290"/>
            <p14:sldId id="301"/>
            <p14:sldId id="302"/>
            <p14:sldId id="275"/>
          </p14:sldIdLst>
        </p14:section>
        <p14:section name="Closing slide options" id="{6824D640-AAEC-4A13-80D1-D50C04BFFF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20D3FF"/>
    <a:srgbClr val="7F007D"/>
    <a:srgbClr val="F3622C"/>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FE5BF8-D5F0-4F9C-B5C6-DD3A87DB1C1A}" v="12" dt="2022-03-02T14:01:50.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14" autoAdjust="0"/>
    <p:restoredTop sz="71487" autoAdjust="0"/>
  </p:normalViewPr>
  <p:slideViewPr>
    <p:cSldViewPr snapToGrid="0" snapToObjects="1" showGuides="1">
      <p:cViewPr varScale="1">
        <p:scale>
          <a:sx n="55" d="100"/>
          <a:sy n="55" d="100"/>
        </p:scale>
        <p:origin x="845" y="53"/>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showGuides="1">
      <p:cViewPr varScale="1">
        <p:scale>
          <a:sx n="117" d="100"/>
          <a:sy n="117" d="100"/>
        </p:scale>
        <p:origin x="2052" y="6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sz="1050" dirty="0">
              <a:latin typeface="Montserrat" panose="00000500000000000000" pitchFamily="2" charset="0"/>
            </a:endParaRPr>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z="1050" smtClean="0">
                <a:latin typeface="Montserrat" panose="00000500000000000000" pitchFamily="2" charset="0"/>
              </a:rPr>
              <a:t>23/11/2023</a:t>
            </a:fld>
            <a:endParaRPr lang="en-GB" sz="1050">
              <a:latin typeface="Montserrat" panose="00000500000000000000" pitchFamily="2" charset="0"/>
            </a:endParaRPr>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sz="1050">
              <a:latin typeface="Montserrat" panose="00000500000000000000" pitchFamily="2" charset="0"/>
            </a:endParaRPr>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z="1050" smtClean="0">
                <a:latin typeface="Montserrat" panose="00000500000000000000" pitchFamily="2" charset="0"/>
              </a:rPr>
              <a:t>‹#›</a:t>
            </a:fld>
            <a:endParaRPr lang="en-GB" sz="1050">
              <a:latin typeface="Montserrat" panose="00000500000000000000" pitchFamily="2" charset="0"/>
            </a:endParaRPr>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05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050">
                <a:latin typeface="Montserrat" panose="00000500000000000000" pitchFamily="2" charset="0"/>
              </a:defRPr>
            </a:lvl1pPr>
          </a:lstStyle>
          <a:p>
            <a:fld id="{1D6B66C6-1E92-0F4E-A300-9D4ED1F0C23F}" type="datetimeFigureOut">
              <a:rPr lang="en-GB" smtClean="0"/>
              <a:pPr/>
              <a:t>23/11/2023</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05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05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050" kern="1200">
        <a:solidFill>
          <a:schemeClr val="tx1"/>
        </a:solidFill>
        <a:latin typeface="Montserrat" panose="00000500000000000000" pitchFamily="2" charset="0"/>
        <a:ea typeface="+mn-ea"/>
        <a:cs typeface="+mn-cs"/>
      </a:defRPr>
    </a:lvl1pPr>
    <a:lvl2pPr marL="457200" algn="l" defTabSz="914400" rtl="0" eaLnBrk="1" latinLnBrk="0" hangingPunct="1">
      <a:defRPr sz="1050" kern="1200">
        <a:solidFill>
          <a:schemeClr val="tx1"/>
        </a:solidFill>
        <a:latin typeface="Montserrat" panose="00000500000000000000" pitchFamily="2" charset="0"/>
        <a:ea typeface="+mn-ea"/>
        <a:cs typeface="+mn-cs"/>
      </a:defRPr>
    </a:lvl2pPr>
    <a:lvl3pPr marL="914400" algn="l" defTabSz="914400" rtl="0" eaLnBrk="1" latinLnBrk="0" hangingPunct="1">
      <a:defRPr sz="1050" kern="1200">
        <a:solidFill>
          <a:schemeClr val="tx1"/>
        </a:solidFill>
        <a:latin typeface="Montserrat" panose="00000500000000000000" pitchFamily="2" charset="0"/>
        <a:ea typeface="+mn-ea"/>
        <a:cs typeface="+mn-cs"/>
      </a:defRPr>
    </a:lvl3pPr>
    <a:lvl4pPr marL="1371600" algn="l" defTabSz="914400" rtl="0" eaLnBrk="1" latinLnBrk="0" hangingPunct="1">
      <a:defRPr sz="1050" kern="1200">
        <a:solidFill>
          <a:schemeClr val="tx1"/>
        </a:solidFill>
        <a:latin typeface="Montserrat" panose="00000500000000000000" pitchFamily="2" charset="0"/>
        <a:ea typeface="+mn-ea"/>
        <a:cs typeface="+mn-cs"/>
      </a:defRPr>
    </a:lvl4pPr>
    <a:lvl5pPr marL="1828800" algn="l" defTabSz="914400" rtl="0" eaLnBrk="1" latinLnBrk="0" hangingPunct="1">
      <a:defRPr sz="105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3659922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Overall, apprentices should be able to demonstrate knowledge and understanding of software development and its underlying architecture, it’s principles and techniques. This module focuses on software development context and methodologies, with the following learning outcomes: </a:t>
            </a:r>
          </a:p>
          <a:p>
            <a:pPr marL="362448" indent="-181224">
              <a:buFont typeface="Arial" panose="020B0604020202020204" pitchFamily="34" charset="0"/>
              <a:buChar char="•"/>
            </a:pPr>
            <a:r>
              <a:rPr lang="en-GB" dirty="0"/>
              <a:t>1. Appreciate the business context and marketing environment for software development. </a:t>
            </a:r>
          </a:p>
          <a:p>
            <a:pPr marL="362448" indent="-181224">
              <a:buFont typeface="Arial" panose="020B0604020202020204" pitchFamily="34" charset="0"/>
              <a:buChar char="•"/>
            </a:pPr>
            <a:r>
              <a:rPr lang="en-GB" dirty="0"/>
              <a:t>2. Recognise that there are different methodologies that can be used for software development. </a:t>
            </a:r>
          </a:p>
          <a:p>
            <a:pPr marL="362448" indent="-181224">
              <a:buFont typeface="Arial" panose="020B0604020202020204" pitchFamily="34" charset="0"/>
              <a:buChar char="•"/>
            </a:pPr>
            <a:r>
              <a:rPr lang="en-GB" dirty="0"/>
              <a:t>3. Understand roles within the software development team. </a:t>
            </a:r>
          </a:p>
          <a:p>
            <a:pPr marL="362448" indent="-181224">
              <a:buFont typeface="Arial" panose="020B0604020202020204" pitchFamily="34" charset="0"/>
              <a:buChar char="•"/>
            </a:pPr>
            <a:r>
              <a:rPr lang="en-GB" dirty="0"/>
              <a:t>4. Understand the structure of software applications and the particular context for multiple development platforms. </a:t>
            </a:r>
          </a:p>
          <a:p>
            <a:pPr marL="362448" indent="-181224">
              <a:buFont typeface="Arial" panose="020B0604020202020204" pitchFamily="34" charset="0"/>
              <a:buChar char="•"/>
            </a:pPr>
            <a:r>
              <a:rPr lang="en-GB" dirty="0"/>
              <a:t>5. Appreciate all stages of the software development lifecycle.</a:t>
            </a:r>
          </a:p>
          <a:p>
            <a:pPr marL="362448" indent="-181224" defTabSz="920618">
              <a:spcAft>
                <a:spcPts val="604"/>
              </a:spcAft>
              <a:buFont typeface="Arial" panose="020B0604020202020204" pitchFamily="34" charset="0"/>
              <a:buChar char="•"/>
              <a:tabLst>
                <a:tab pos="274907" algn="l"/>
                <a:tab pos="548216" algn="l"/>
                <a:tab pos="802344" algn="l"/>
                <a:tab pos="1077251" algn="l"/>
                <a:tab pos="1352158" algn="l"/>
                <a:tab pos="1625467" algn="l"/>
                <a:tab pos="1900373" algn="l"/>
                <a:tab pos="2173681" algn="l"/>
                <a:tab pos="2429408" algn="l"/>
                <a:tab pos="2702717" algn="l"/>
              </a:tabLst>
              <a:defRPr/>
            </a:pPr>
            <a:r>
              <a:rPr lang="en-GB" dirty="0">
                <a:solidFill>
                  <a:srgbClr val="000000"/>
                </a:solidFill>
              </a:rPr>
              <a:t>6. How software testing contributes in the production of software and systems to a known quality. </a:t>
            </a:r>
          </a:p>
          <a:p>
            <a:pPr marL="362448" indent="-181224" defTabSz="920618">
              <a:spcAft>
                <a:spcPts val="604"/>
              </a:spcAft>
              <a:buFont typeface="Arial" panose="020B0604020202020204" pitchFamily="34" charset="0"/>
              <a:buChar char="•"/>
              <a:tabLst>
                <a:tab pos="274907" algn="l"/>
                <a:tab pos="548216" algn="l"/>
                <a:tab pos="802344" algn="l"/>
                <a:tab pos="1077251" algn="l"/>
                <a:tab pos="1352158" algn="l"/>
                <a:tab pos="1625467" algn="l"/>
                <a:tab pos="1900373" algn="l"/>
                <a:tab pos="2173681" algn="l"/>
                <a:tab pos="2429408" algn="l"/>
                <a:tab pos="2702717" algn="l"/>
              </a:tabLst>
              <a:defRPr/>
            </a:pPr>
            <a:r>
              <a:rPr lang="en-GB" dirty="0">
                <a:solidFill>
                  <a:srgbClr val="000000"/>
                </a:solidFill>
              </a:rPr>
              <a:t>7. Understand the role of configuration management and version control systems and how to apply them. </a:t>
            </a:r>
          </a:p>
          <a:p>
            <a:pPr defTabSz="920618">
              <a:spcAft>
                <a:spcPts val="604"/>
              </a:spcAft>
              <a:tabLst>
                <a:tab pos="274907" algn="l"/>
                <a:tab pos="548216" algn="l"/>
                <a:tab pos="802344" algn="l"/>
                <a:tab pos="1077251" algn="l"/>
                <a:tab pos="1352158" algn="l"/>
                <a:tab pos="1625467" algn="l"/>
                <a:tab pos="1900373" algn="l"/>
                <a:tab pos="2173681" algn="l"/>
                <a:tab pos="2429408" algn="l"/>
                <a:tab pos="2702717" algn="l"/>
              </a:tabLst>
              <a:defRPr/>
            </a:pPr>
            <a:r>
              <a:rPr lang="en-GB" dirty="0">
                <a:solidFill>
                  <a:srgbClr val="000000"/>
                </a:solidFill>
              </a:rPr>
              <a:t>Evidence of lessons learnt in these key areas should be collected and reflected upon when the apprentice is compiling the Summative Portfolio. The apprentice should identify how the task might be carried out better or differently with knowledge subsequently gained. </a:t>
            </a:r>
          </a:p>
          <a:p>
            <a:pPr marL="362448" indent="-181224">
              <a:buFont typeface="Arial" panose="020B0604020202020204" pitchFamily="34" charset="0"/>
              <a:buChar char="•"/>
            </a:pP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3364191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each module of the course there will a set of slides and notes, called the Delegate Guide, that provides the structure and key reference material for the course. Likewise each module will have an Exercise Guide of supporting activities, model answers and further explanation.  </a:t>
            </a:r>
          </a:p>
          <a:p>
            <a:r>
              <a:rPr lang="en-GB" dirty="0"/>
              <a:t>Additional handouts are also referenced at various points in the course to support the relevant topics and provide more detail and extra information.</a:t>
            </a:r>
          </a:p>
          <a:p>
            <a:r>
              <a:rPr lang="en-GB" dirty="0"/>
              <a:t>All the resources will be available through the BUD learning environment and / or Mimeo. If you do not have them already your tutor should supply the relevant access details. </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962793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lgn="l">
              <a:buFont typeface="Arial" panose="020B0604020202020204" pitchFamily="34" charset="0"/>
              <a:buChar char="•"/>
            </a:pPr>
            <a:r>
              <a:rPr lang="en-GB" dirty="0"/>
              <a:t>Recommend Reading List:</a:t>
            </a:r>
          </a:p>
          <a:p>
            <a:pPr marL="628650" lvl="1" indent="-171450" algn="l">
              <a:buFont typeface="Arial" panose="020B0604020202020204" pitchFamily="34" charset="0"/>
              <a:buChar char="•"/>
            </a:pPr>
            <a:r>
              <a:rPr lang="en-GB" dirty="0"/>
              <a:t>Achieving Software Quality Through Teamwork – Isabel Evans</a:t>
            </a:r>
          </a:p>
          <a:p>
            <a:pPr marL="628650" lvl="1" indent="-171450" algn="l">
              <a:buFont typeface="Arial" panose="020B0604020202020204" pitchFamily="34" charset="0"/>
              <a:buChar char="•"/>
            </a:pPr>
            <a:r>
              <a:rPr lang="en-GB" dirty="0"/>
              <a:t>Software Testing: An ISTQB-BCS Certified Tester Foundation Guide 3rd edition – Angelina </a:t>
            </a:r>
            <a:r>
              <a:rPr lang="en-GB" dirty="0" err="1"/>
              <a:t>Samaroo</a:t>
            </a:r>
            <a:r>
              <a:rPr lang="en-GB" dirty="0"/>
              <a:t>, Geoff Thompson, Brian Hambling</a:t>
            </a:r>
          </a:p>
          <a:p>
            <a:pPr marL="628650" lvl="1" indent="-171450" algn="l">
              <a:buFont typeface="Arial" panose="020B0604020202020204" pitchFamily="34" charset="0"/>
              <a:buChar char="•"/>
            </a:pPr>
            <a:r>
              <a:rPr lang="en-GB" dirty="0"/>
              <a:t>ITIL and the Software Lifecycle: Practical Strategy and Design Principles – Brian Johnson and John Higgins</a:t>
            </a:r>
          </a:p>
          <a:p>
            <a:pPr marL="628650" lvl="1" indent="-171450" algn="l">
              <a:buFont typeface="Arial" panose="020B0604020202020204" pitchFamily="34" charset="0"/>
              <a:buChar char="•"/>
            </a:pPr>
            <a:r>
              <a:rPr lang="en-GB" dirty="0"/>
              <a:t>Configuration Management Best Practices: Practical Methods that work in the Real World – Bob </a:t>
            </a:r>
            <a:r>
              <a:rPr lang="en-GB" dirty="0" err="1"/>
              <a:t>Aleilo</a:t>
            </a:r>
            <a:r>
              <a:rPr lang="en-GB" dirty="0"/>
              <a:t>, Leslie Sachs</a:t>
            </a:r>
          </a:p>
          <a:p>
            <a:pPr marL="171450" lvl="0" indent="-171450">
              <a:buFont typeface="Arial" panose="020B0604020202020204" pitchFamily="34" charset="0"/>
              <a:buChar char="•"/>
            </a:pPr>
            <a:r>
              <a:rPr lang="en-GB" dirty="0"/>
              <a:t>Suggested Reading</a:t>
            </a:r>
            <a:r>
              <a:rPr lang="en-GB" baseline="0" dirty="0"/>
              <a:t> List</a:t>
            </a:r>
            <a:r>
              <a:rPr lang="en-GB" dirty="0"/>
              <a:t>:</a:t>
            </a:r>
          </a:p>
          <a:p>
            <a:pPr marL="896346" lvl="1" indent="-171450">
              <a:buFont typeface="Arial" panose="020B0604020202020204" pitchFamily="34" charset="0"/>
              <a:buChar char="•"/>
            </a:pPr>
            <a:r>
              <a:rPr lang="en-GB" dirty="0"/>
              <a:t>Specification by Example: How Successful Teams deliver the Right Software – </a:t>
            </a:r>
            <a:r>
              <a:rPr lang="en-GB" dirty="0" err="1"/>
              <a:t>Gojko</a:t>
            </a:r>
            <a:r>
              <a:rPr lang="en-GB" dirty="0"/>
              <a:t> Adzic</a:t>
            </a:r>
          </a:p>
          <a:p>
            <a:pPr marL="896346" lvl="1" indent="-171450">
              <a:buFont typeface="Arial" panose="020B0604020202020204" pitchFamily="34" charset="0"/>
              <a:buChar char="•"/>
            </a:pPr>
            <a:r>
              <a:rPr lang="en-GB" dirty="0"/>
              <a:t>Continuous Delivery: Reliable Software Releases through Build, Test and Deployment Automation – Jez Humble, David Farley</a:t>
            </a:r>
          </a:p>
          <a:p>
            <a:pPr marL="896346" lvl="1" indent="-171450">
              <a:buFont typeface="Arial" panose="020B0604020202020204" pitchFamily="34" charset="0"/>
              <a:buChar char="•"/>
            </a:pPr>
            <a:r>
              <a:rPr lang="en-GB" dirty="0"/>
              <a:t>Software Configuration Management Handbook – 3rd </a:t>
            </a:r>
            <a:r>
              <a:rPr lang="en-GB" dirty="0" err="1"/>
              <a:t>Edn</a:t>
            </a:r>
            <a:r>
              <a:rPr lang="en-GB" dirty="0"/>
              <a:t> – Alexis Leon</a:t>
            </a:r>
          </a:p>
          <a:p>
            <a:pPr marL="896346" lvl="1" indent="-171450">
              <a:buFont typeface="Arial" panose="020B0604020202020204" pitchFamily="34" charset="0"/>
              <a:buChar char="•"/>
            </a:pPr>
            <a:r>
              <a:rPr lang="en-GB" dirty="0"/>
              <a:t>Test-Driven Development: By Example – Kent Beck</a:t>
            </a:r>
          </a:p>
          <a:p>
            <a:pPr marL="896346" lvl="1" indent="-171450">
              <a:buFont typeface="Arial" panose="020B0604020202020204" pitchFamily="34" charset="0"/>
              <a:buChar char="•"/>
            </a:pPr>
            <a:r>
              <a:rPr lang="en-GB" dirty="0"/>
              <a:t>Agile Software Development, Principles, Patterns, and Practices, 01 Edition – Robert C Martin</a:t>
            </a:r>
          </a:p>
          <a:p>
            <a:pPr marL="896346" lvl="1" indent="-171450">
              <a:buFont typeface="Arial" panose="020B0604020202020204" pitchFamily="34" charset="0"/>
              <a:buChar char="•"/>
            </a:pPr>
            <a:r>
              <a:rPr lang="en-GB" dirty="0"/>
              <a:t>Scrum – A Pocket Guide – </a:t>
            </a:r>
            <a:r>
              <a:rPr lang="en-GB" dirty="0" err="1"/>
              <a:t>Verheyen</a:t>
            </a:r>
            <a:r>
              <a:rPr lang="en-GB" dirty="0"/>
              <a:t>, Gunter</a:t>
            </a:r>
          </a:p>
          <a:p>
            <a:pPr lvl="1" algn="l">
              <a:buFont typeface="Arial" panose="020B0604020202020204" pitchFamily="34" charset="0"/>
              <a:buChar char="•"/>
            </a:pP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895860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lgn="l">
              <a:buFont typeface="Arial" panose="020B0604020202020204" pitchFamily="34" charset="0"/>
              <a:buChar char="•"/>
            </a:pPr>
            <a:r>
              <a:rPr lang="en-GB" dirty="0"/>
              <a:t>Recommend Reading List:</a:t>
            </a:r>
          </a:p>
          <a:p>
            <a:pPr marL="628650" lvl="1" indent="-171450" algn="l">
              <a:buFont typeface="Arial" panose="020B0604020202020204" pitchFamily="34" charset="0"/>
              <a:buChar char="•"/>
            </a:pPr>
            <a:r>
              <a:rPr lang="en-GB" dirty="0"/>
              <a:t>Achieving Software Quality Through Teamwork – Isabel Evans</a:t>
            </a:r>
          </a:p>
          <a:p>
            <a:pPr marL="628650" lvl="1" indent="-171450" algn="l">
              <a:buFont typeface="Arial" panose="020B0604020202020204" pitchFamily="34" charset="0"/>
              <a:buChar char="•"/>
            </a:pPr>
            <a:r>
              <a:rPr lang="en-GB" dirty="0"/>
              <a:t>Software Testing: An ISTQB-BCS Certified Tester Foundation Guide 3rd edition – Angelina </a:t>
            </a:r>
            <a:r>
              <a:rPr lang="en-GB" dirty="0" err="1"/>
              <a:t>Samaroo</a:t>
            </a:r>
            <a:r>
              <a:rPr lang="en-GB" dirty="0"/>
              <a:t>, Geoff Thompson, Brian Hambling</a:t>
            </a:r>
          </a:p>
          <a:p>
            <a:pPr marL="628650" lvl="1" indent="-171450" algn="l">
              <a:buFont typeface="Arial" panose="020B0604020202020204" pitchFamily="34" charset="0"/>
              <a:buChar char="•"/>
            </a:pPr>
            <a:r>
              <a:rPr lang="en-GB" dirty="0"/>
              <a:t>ITIL and the Software Lifecycle: Practical Strategy and Design Principles – Brian Johnson and John Higgins</a:t>
            </a:r>
          </a:p>
          <a:p>
            <a:pPr marL="628650" lvl="1" indent="-171450" algn="l">
              <a:buFont typeface="Arial" panose="020B0604020202020204" pitchFamily="34" charset="0"/>
              <a:buChar char="•"/>
            </a:pPr>
            <a:r>
              <a:rPr lang="en-GB" dirty="0"/>
              <a:t>Configuration Management Best Practices: Practical Methods that work in the Real World – Bob </a:t>
            </a:r>
            <a:r>
              <a:rPr lang="en-GB" dirty="0" err="1"/>
              <a:t>Aleilo</a:t>
            </a:r>
            <a:r>
              <a:rPr lang="en-GB" dirty="0"/>
              <a:t>, Leslie Sachs</a:t>
            </a:r>
          </a:p>
          <a:p>
            <a:pPr marL="171450" lvl="0" indent="-171450">
              <a:buFont typeface="Arial" panose="020B0604020202020204" pitchFamily="34" charset="0"/>
              <a:buChar char="•"/>
            </a:pPr>
            <a:r>
              <a:rPr lang="en-GB" dirty="0"/>
              <a:t>Suggested Reading</a:t>
            </a:r>
            <a:r>
              <a:rPr lang="en-GB" baseline="0" dirty="0"/>
              <a:t> List</a:t>
            </a:r>
            <a:r>
              <a:rPr lang="en-GB" dirty="0"/>
              <a:t>:</a:t>
            </a:r>
          </a:p>
          <a:p>
            <a:pPr marL="896346" lvl="1" indent="-171450">
              <a:buFont typeface="Arial" panose="020B0604020202020204" pitchFamily="34" charset="0"/>
              <a:buChar char="•"/>
            </a:pPr>
            <a:r>
              <a:rPr lang="en-GB" dirty="0"/>
              <a:t>Specification by Example: How Successful Teams deliver the Right Software – </a:t>
            </a:r>
            <a:r>
              <a:rPr lang="en-GB" dirty="0" err="1"/>
              <a:t>Gojko</a:t>
            </a:r>
            <a:r>
              <a:rPr lang="en-GB" dirty="0"/>
              <a:t> Adzic</a:t>
            </a:r>
          </a:p>
          <a:p>
            <a:pPr marL="896346" lvl="1" indent="-171450">
              <a:buFont typeface="Arial" panose="020B0604020202020204" pitchFamily="34" charset="0"/>
              <a:buChar char="•"/>
            </a:pPr>
            <a:r>
              <a:rPr lang="en-GB" dirty="0"/>
              <a:t>Continuous Delivery: Reliable Software Releases through Build, Test and Deployment Automation – Jez Humble, David Farley</a:t>
            </a:r>
          </a:p>
          <a:p>
            <a:pPr marL="896346" lvl="1" indent="-171450">
              <a:buFont typeface="Arial" panose="020B0604020202020204" pitchFamily="34" charset="0"/>
              <a:buChar char="•"/>
            </a:pPr>
            <a:r>
              <a:rPr lang="en-GB" dirty="0"/>
              <a:t>Software Configuration Management Handbook – 3rd </a:t>
            </a:r>
            <a:r>
              <a:rPr lang="en-GB" dirty="0" err="1"/>
              <a:t>Edn</a:t>
            </a:r>
            <a:r>
              <a:rPr lang="en-GB" dirty="0"/>
              <a:t> – Alexis Leon</a:t>
            </a:r>
          </a:p>
          <a:p>
            <a:pPr marL="896346" lvl="1" indent="-171450">
              <a:buFont typeface="Arial" panose="020B0604020202020204" pitchFamily="34" charset="0"/>
              <a:buChar char="•"/>
            </a:pPr>
            <a:r>
              <a:rPr lang="en-GB" dirty="0"/>
              <a:t>Test-Driven Development: By Example – Kent Beck</a:t>
            </a:r>
          </a:p>
          <a:p>
            <a:pPr marL="896346" lvl="1" indent="-171450">
              <a:buFont typeface="Arial" panose="020B0604020202020204" pitchFamily="34" charset="0"/>
              <a:buChar char="•"/>
            </a:pPr>
            <a:r>
              <a:rPr lang="en-GB" dirty="0"/>
              <a:t>Agile Software Development, Principles, Patterns, and Practices, 01 Edition – Robert C Martin</a:t>
            </a:r>
          </a:p>
          <a:p>
            <a:pPr marL="896346" lvl="1" indent="-171450">
              <a:buFont typeface="Arial" panose="020B0604020202020204" pitchFamily="34" charset="0"/>
              <a:buChar char="•"/>
            </a:pPr>
            <a:r>
              <a:rPr lang="en-GB" dirty="0"/>
              <a:t>Scrum – A Pocket Guide – </a:t>
            </a:r>
            <a:r>
              <a:rPr lang="en-GB" dirty="0" err="1"/>
              <a:t>Verheyen</a:t>
            </a:r>
            <a:r>
              <a:rPr lang="en-GB" dirty="0"/>
              <a:t>, Gunter</a:t>
            </a:r>
          </a:p>
          <a:p>
            <a:pPr lvl="1" algn="l">
              <a:buFont typeface="Arial" panose="020B0604020202020204" pitchFamily="34" charset="0"/>
              <a:buChar char="•"/>
            </a:pP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1157488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Before we start one last chance to ask any questions…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18847965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7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28.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27.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1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447786327"/>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77489526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548216185"/>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85211988"/>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38042780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87386291"/>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60812937"/>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725468789"/>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79742796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742553704"/>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5781018"/>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27777549"/>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6853894"/>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792974212"/>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591477402"/>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751601077"/>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97633656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8988613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4775718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2292804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1272392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53697987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816064311"/>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39489359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8901610"/>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71594590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53204592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29957225"/>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26654837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0474565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1586707621"/>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263145772"/>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35689992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ontents or agenda">
    <p:spTree>
      <p:nvGrpSpPr>
        <p:cNvPr id="1" name=""/>
        <p:cNvGrpSpPr/>
        <p:nvPr/>
      </p:nvGrpSpPr>
      <p:grpSpPr>
        <a:xfrm>
          <a:off x="0" y="0"/>
          <a:ext cx="0" cy="0"/>
          <a:chOff x="0" y="0"/>
          <a:chExt cx="0" cy="0"/>
        </a:xfrm>
      </p:grpSpPr>
      <p:pic>
        <p:nvPicPr>
          <p:cNvPr id="26" name="Picture 25" descr="Shape&#10;&#10;Description automatically generated with medium confidence">
            <a:extLst>
              <a:ext uri="{FF2B5EF4-FFF2-40B4-BE49-F238E27FC236}">
                <a16:creationId xmlns:a16="http://schemas.microsoft.com/office/drawing/2014/main" id="{3B4E1F50-500D-4F08-9594-04DCAC10E481}"/>
              </a:ext>
            </a:extLst>
          </p:cNvPr>
          <p:cNvPicPr>
            <a:picLocks noChangeAspect="1"/>
          </p:cNvPicPr>
          <p:nvPr userDrawn="1"/>
        </p:nvPicPr>
        <p:blipFill>
          <a:blip r:embed="rId2"/>
          <a:stretch>
            <a:fillRect/>
          </a:stretch>
        </p:blipFill>
        <p:spPr>
          <a:xfrm>
            <a:off x="7877310" y="0"/>
            <a:ext cx="4314690" cy="6858000"/>
          </a:xfrm>
          <a:prstGeom prst="rect">
            <a:avLst/>
          </a:prstGeom>
        </p:spPr>
      </p:pic>
      <p:cxnSp>
        <p:nvCxnSpPr>
          <p:cNvPr id="13" name="Straight Connector 12"/>
          <p:cNvCxnSpPr/>
          <p:nvPr userDrawn="1"/>
        </p:nvCxnSpPr>
        <p:spPr>
          <a:xfrm>
            <a:off x="3101975" y="1484598"/>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14589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2807184"/>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46847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12977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4791062"/>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sp>
        <p:nvSpPr>
          <p:cNvPr id="30" name="Text Placeholder 2"/>
          <p:cNvSpPr>
            <a:spLocks noGrp="1"/>
          </p:cNvSpPr>
          <p:nvPr>
            <p:ph type="body" sz="quarter" idx="10" hasCustomPrompt="1"/>
          </p:nvPr>
        </p:nvSpPr>
        <p:spPr>
          <a:xfrm>
            <a:off x="384784" y="1484598"/>
            <a:ext cx="2521449" cy="1962150"/>
          </a:xfrm>
        </p:spPr>
        <p:txBody>
          <a:bodyPr/>
          <a:lstStyle>
            <a:lvl1pPr marL="0" indent="0">
              <a:lnSpc>
                <a:spcPct val="90000"/>
              </a:lnSpc>
              <a:spcAft>
                <a:spcPts val="0"/>
              </a:spcAft>
              <a:buFont typeface="Arial" panose="020B0604020202020204" pitchFamily="34" charset="0"/>
              <a:buNone/>
              <a:defRPr sz="4000" b="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161944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166661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280736"/>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32790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2939432"/>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2986599"/>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359442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364159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259419"/>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306586"/>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4937056"/>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498422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2738761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 Column A">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2868935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724361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136084590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umn A Plain">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729812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A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679632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s B">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F8457ED5-FFC6-4734-A6E8-9C12AAF7EA0D}"/>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a:xfrm>
            <a:off x="376238" y="450398"/>
            <a:ext cx="10464799" cy="687614"/>
          </a:xfrm>
        </p:spPr>
        <p:txBody>
          <a:bodyPr/>
          <a:lstStyle/>
          <a:p>
            <a:r>
              <a:rPr lang="en-US" dirty="0"/>
              <a:t>Click to edit Master title style</a:t>
            </a:r>
            <a:endParaRPr lang="en-GB" dirty="0"/>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376238" y="1635854"/>
            <a:ext cx="5627688"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5" name="Graphic 31">
            <a:extLst>
              <a:ext uri="{FF2B5EF4-FFF2-40B4-BE49-F238E27FC236}">
                <a16:creationId xmlns:a16="http://schemas.microsoft.com/office/drawing/2014/main" id="{6E7E2E15-3B47-4552-B2F2-43A358272F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930530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3803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py Slide - QA Left Side">
    <p:bg>
      <p:bgPr>
        <a:solidFill>
          <a:schemeClr val="bg1"/>
        </a:solidFill>
        <a:effectLst/>
      </p:bgPr>
    </p:bg>
    <p:spTree>
      <p:nvGrpSpPr>
        <p:cNvPr id="1" name=""/>
        <p:cNvGrpSpPr/>
        <p:nvPr/>
      </p:nvGrpSpPr>
      <p:grpSpPr>
        <a:xfrm>
          <a:off x="0" y="0"/>
          <a:ext cx="0" cy="0"/>
          <a:chOff x="0" y="0"/>
          <a:chExt cx="0" cy="0"/>
        </a:xfrm>
      </p:grpSpPr>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747991474"/>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lain Background">
    <p:spTree>
      <p:nvGrpSpPr>
        <p:cNvPr id="1" name=""/>
        <p:cNvGrpSpPr/>
        <p:nvPr/>
      </p:nvGrpSpPr>
      <p:grpSpPr>
        <a:xfrm>
          <a:off x="0" y="0"/>
          <a:ext cx="0" cy="0"/>
          <a:chOff x="0" y="0"/>
          <a:chExt cx="0" cy="0"/>
        </a:xfrm>
      </p:grpSpPr>
      <p:sp>
        <p:nvSpPr>
          <p:cNvPr id="2" name="Rectangle 1"/>
          <p:cNvSpPr/>
          <p:nvPr userDrawn="1"/>
        </p:nvSpPr>
        <p:spPr>
          <a:xfrm>
            <a:off x="269737" y="304800"/>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15769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lain side block - A">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1E76E-2742-450B-96BA-3BB549EE2428}"/>
              </a:ext>
            </a:extLst>
          </p:cNvPr>
          <p:cNvSpPr/>
          <p:nvPr userDrawn="1"/>
        </p:nvSpPr>
        <p:spPr>
          <a:xfrm>
            <a:off x="0" y="0"/>
            <a:ext cx="4152550"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2"/>
          <p:cNvSpPr>
            <a:spLocks noGrp="1"/>
          </p:cNvSpPr>
          <p:nvPr>
            <p:ph type="body" sz="quarter" idx="12" hasCustomPrompt="1"/>
          </p:nvPr>
        </p:nvSpPr>
        <p:spPr>
          <a:xfrm>
            <a:off x="376238" y="1233488"/>
            <a:ext cx="3437005" cy="2030142"/>
          </a:xfrm>
        </p:spPr>
        <p:txBody>
          <a:bodyPr/>
          <a:lstStyle>
            <a:lvl1pPr marL="0" indent="0">
              <a:lnSpc>
                <a:spcPct val="90000"/>
              </a:lnSpc>
              <a:spcAft>
                <a:spcPts val="0"/>
              </a:spcAft>
              <a:buFont typeface="Arial" panose="020B0604020202020204" pitchFamily="34" charset="0"/>
              <a:buNone/>
              <a:defRPr sz="4000" b="0" cap="none"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5037138" y="1233488"/>
            <a:ext cx="6770687" cy="4651746"/>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pic>
        <p:nvPicPr>
          <p:cNvPr id="8" name="Picture 7">
            <a:extLst>
              <a:ext uri="{FF2B5EF4-FFF2-40B4-BE49-F238E27FC236}">
                <a16:creationId xmlns:a16="http://schemas.microsoft.com/office/drawing/2014/main" id="{AB547ADA-2CB9-46E7-811F-C8E01F6F3CE5}"/>
              </a:ext>
            </a:extLst>
          </p:cNvPr>
          <p:cNvPicPr>
            <a:picLocks noChangeAspect="1"/>
          </p:cNvPicPr>
          <p:nvPr userDrawn="1"/>
        </p:nvPicPr>
        <p:blipFill>
          <a:blip r:embed="rId4"/>
          <a:srcRect/>
          <a:stretch/>
        </p:blipFill>
        <p:spPr>
          <a:xfrm>
            <a:off x="0" y="4283345"/>
            <a:ext cx="5907041" cy="2574654"/>
          </a:xfrm>
          <a:prstGeom prst="rect">
            <a:avLst/>
          </a:prstGeom>
        </p:spPr>
      </p:pic>
    </p:spTree>
    <p:extLst>
      <p:ext uri="{BB962C8B-B14F-4D97-AF65-F5344CB8AC3E}">
        <p14:creationId xmlns:p14="http://schemas.microsoft.com/office/powerpoint/2010/main" val="89513587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410299768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66737352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8622216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49832478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645666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670814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7481366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5803152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262190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10833316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9016560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209656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835940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4746896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33646088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048329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4359447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70980037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41986300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549133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819306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8229379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04283364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115959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876194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065970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731323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3557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962878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487554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8446703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7790413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417923939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157884838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88150834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6380158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1633303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72945263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322035164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353577369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4569370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303969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36456275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5515024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68680941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331316268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26399238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5276906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1628879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070036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920206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187185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0617936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20445010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7234010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9936527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055357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567499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551546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916066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5355232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57844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8325617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972843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352017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4590242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328677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421231149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1184976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97129573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43862047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00004489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88586986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11728559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7365320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5311717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0332933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0917639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85699907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80149102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138409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454168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7529517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8534467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4318113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0570270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464674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55622235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985330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957266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8550315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0716479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85896366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51767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49246123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463516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1911627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930655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48881361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8950978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9249254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67407444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01201456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2068938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228728384"/>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978672280"/>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5783740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9263183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09009780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6602682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390806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5636464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image" Target="../media/image1.png"/><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theme" Target="../theme/theme2.xml"/><Relationship Id="rId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9" Type="http://schemas.openxmlformats.org/officeDocument/2006/relationships/image" Target="../media/image1.png"/><Relationship Id="rId21" Type="http://schemas.openxmlformats.org/officeDocument/2006/relationships/slideLayout" Target="../slideLayouts/slideLayout99.xml"/><Relationship Id="rId34" Type="http://schemas.openxmlformats.org/officeDocument/2006/relationships/slideLayout" Target="../slideLayouts/slideLayout112.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theme" Target="../theme/theme3.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slideLayout" Target="../slideLayouts/slideLayout115.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8" Type="http://schemas.openxmlformats.org/officeDocument/2006/relationships/slideLayout" Target="../slideLayouts/slideLayout86.xml"/><Relationship Id="rId3" Type="http://schemas.openxmlformats.org/officeDocument/2006/relationships/slideLayout" Target="../slideLayouts/slideLayout8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26" Type="http://schemas.openxmlformats.org/officeDocument/2006/relationships/slideLayout" Target="../slideLayouts/slideLayout141.xml"/><Relationship Id="rId3" Type="http://schemas.openxmlformats.org/officeDocument/2006/relationships/slideLayout" Target="../slideLayouts/slideLayout118.xml"/><Relationship Id="rId21" Type="http://schemas.openxmlformats.org/officeDocument/2006/relationships/slideLayout" Target="../slideLayouts/slideLayout136.xml"/><Relationship Id="rId34" Type="http://schemas.openxmlformats.org/officeDocument/2006/relationships/image" Target="../media/image1.png"/><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5" Type="http://schemas.openxmlformats.org/officeDocument/2006/relationships/slideLayout" Target="../slideLayouts/slideLayout140.xml"/><Relationship Id="rId33" Type="http://schemas.openxmlformats.org/officeDocument/2006/relationships/theme" Target="../theme/theme4.xml"/><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29" Type="http://schemas.openxmlformats.org/officeDocument/2006/relationships/slideLayout" Target="../slideLayouts/slideLayout144.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slideLayout" Target="../slideLayouts/slideLayout139.xml"/><Relationship Id="rId32" Type="http://schemas.openxmlformats.org/officeDocument/2006/relationships/slideLayout" Target="../slideLayouts/slideLayout147.xml"/><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28" Type="http://schemas.openxmlformats.org/officeDocument/2006/relationships/slideLayout" Target="../slideLayouts/slideLayout143.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31" Type="http://schemas.openxmlformats.org/officeDocument/2006/relationships/slideLayout" Target="../slideLayouts/slideLayout146.xml"/><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 Id="rId27" Type="http://schemas.openxmlformats.org/officeDocument/2006/relationships/slideLayout" Target="../slideLayouts/slideLayout142.xml"/><Relationship Id="rId30" Type="http://schemas.openxmlformats.org/officeDocument/2006/relationships/slideLayout" Target="../slideLayouts/slideLayout145.xml"/><Relationship Id="rId8" Type="http://schemas.openxmlformats.org/officeDocument/2006/relationships/slideLayout" Target="../slideLayouts/slideLayout12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5.xml"/><Relationship Id="rId13" Type="http://schemas.openxmlformats.org/officeDocument/2006/relationships/image" Target="../media/image1.png"/><Relationship Id="rId3" Type="http://schemas.openxmlformats.org/officeDocument/2006/relationships/slideLayout" Target="../slideLayouts/slideLayout150.xml"/><Relationship Id="rId7" Type="http://schemas.openxmlformats.org/officeDocument/2006/relationships/slideLayout" Target="../slideLayouts/slideLayout154.xml"/><Relationship Id="rId12" Type="http://schemas.openxmlformats.org/officeDocument/2006/relationships/image" Target="../media/image10.svg"/><Relationship Id="rId2" Type="http://schemas.openxmlformats.org/officeDocument/2006/relationships/slideLayout" Target="../slideLayouts/slideLayout149.xml"/><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image" Target="../media/image9.png"/><Relationship Id="rId5" Type="http://schemas.openxmlformats.org/officeDocument/2006/relationships/slideLayout" Target="../slideLayouts/slideLayout152.xml"/><Relationship Id="rId10" Type="http://schemas.openxmlformats.org/officeDocument/2006/relationships/theme" Target="../theme/theme5.xml"/><Relationship Id="rId4" Type="http://schemas.openxmlformats.org/officeDocument/2006/relationships/slideLayout" Target="../slideLayouts/slideLayout151.xml"/><Relationship Id="rId9" Type="http://schemas.openxmlformats.org/officeDocument/2006/relationships/slideLayout" Target="../slideLayouts/slideLayout1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
        <p:nvSpPr>
          <p:cNvPr id="6" name="Title Placeholder 1">
            <a:extLst>
              <a:ext uri="{FF2B5EF4-FFF2-40B4-BE49-F238E27FC236}">
                <a16:creationId xmlns:a16="http://schemas.microsoft.com/office/drawing/2014/main" id="{19C3947D-08EA-4593-A515-72542A326115}"/>
              </a:ext>
            </a:extLst>
          </p:cNvPr>
          <p:cNvSpPr>
            <a:spLocks noGrp="1"/>
          </p:cNvSpPr>
          <p:nvPr>
            <p:ph type="title"/>
          </p:nvPr>
        </p:nvSpPr>
        <p:spPr>
          <a:xfrm>
            <a:off x="1349374" y="450398"/>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7" name="Text Placeholder 2">
            <a:extLst>
              <a:ext uri="{FF2B5EF4-FFF2-40B4-BE49-F238E27FC236}">
                <a16:creationId xmlns:a16="http://schemas.microsoft.com/office/drawing/2014/main" id="{26A93C53-A083-46BF-AC6D-4CA6AAE26FB5}"/>
              </a:ext>
            </a:extLst>
          </p:cNvPr>
          <p:cNvSpPr>
            <a:spLocks noGrp="1"/>
          </p:cNvSpPr>
          <p:nvPr>
            <p:ph type="body" idx="1"/>
          </p:nvPr>
        </p:nvSpPr>
        <p:spPr>
          <a:xfrm>
            <a:off x="1350676" y="1596719"/>
            <a:ext cx="9490362" cy="458024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958767989"/>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789" r:id="rId37"/>
    <p:sldLayoutId id="2147483748" r:id="rId38"/>
    <p:sldLayoutId id="2147483749" r:id="rId39"/>
    <p:sldLayoutId id="2147483744" r:id="rId40"/>
    <p:sldLayoutId id="2147483747" r:id="rId41"/>
    <p:sldLayoutId id="2147483750" r:id="rId42"/>
    <p:sldLayoutId id="2147483660" r:id="rId43"/>
    <p:sldLayoutId id="2147483751" r:id="rId44"/>
  </p:sldLayoutIdLst>
  <p:hf hdr="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679160030"/>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 id="2147483812" r:id="rId22"/>
    <p:sldLayoutId id="2147483813" r:id="rId23"/>
    <p:sldLayoutId id="2147483814" r:id="rId24"/>
    <p:sldLayoutId id="2147483815" r:id="rId25"/>
    <p:sldLayoutId id="2147483816" r:id="rId26"/>
    <p:sldLayoutId id="2147483817" r:id="rId27"/>
    <p:sldLayoutId id="2147483818" r:id="rId28"/>
    <p:sldLayoutId id="2147483819" r:id="rId29"/>
    <p:sldLayoutId id="2147483820" r:id="rId30"/>
    <p:sldLayoutId id="2147483821" r:id="rId31"/>
    <p:sldLayoutId id="2147483822" r:id="rId32"/>
    <p:sldLayoutId id="2147483823" r:id="rId33"/>
    <p:sldLayoutId id="2147483824"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336863992"/>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 id="2147483841" r:id="rId16"/>
    <p:sldLayoutId id="2147483842" r:id="rId17"/>
    <p:sldLayoutId id="2147483843" r:id="rId18"/>
    <p:sldLayoutId id="2147483844" r:id="rId19"/>
    <p:sldLayoutId id="2147483845" r:id="rId20"/>
    <p:sldLayoutId id="2147483846" r:id="rId21"/>
    <p:sldLayoutId id="2147483847" r:id="rId22"/>
    <p:sldLayoutId id="2147483848" r:id="rId23"/>
    <p:sldLayoutId id="2147483849" r:id="rId24"/>
    <p:sldLayoutId id="2147483850" r:id="rId25"/>
    <p:sldLayoutId id="2147483851" r:id="rId26"/>
    <p:sldLayoutId id="2147483852" r:id="rId27"/>
    <p:sldLayoutId id="2147483853" r:id="rId28"/>
    <p:sldLayoutId id="2147483854" r:id="rId29"/>
    <p:sldLayoutId id="2147483855" r:id="rId30"/>
    <p:sldLayoutId id="2147483856" r:id="rId31"/>
    <p:sldLayoutId id="2147483857" r:id="rId32"/>
    <p:sldLayoutId id="2147483858" r:id="rId33"/>
    <p:sldLayoutId id="2147483859" r:id="rId34"/>
    <p:sldLayoutId id="2147483860" r:id="rId35"/>
    <p:sldLayoutId id="2147483861" r:id="rId36"/>
    <p:sldLayoutId id="2147483862"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620141419"/>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5" r:id="rId12"/>
    <p:sldLayoutId id="2147483876" r:id="rId13"/>
    <p:sldLayoutId id="2147483877" r:id="rId14"/>
    <p:sldLayoutId id="2147483878" r:id="rId15"/>
    <p:sldLayoutId id="2147483879" r:id="rId16"/>
    <p:sldLayoutId id="2147483880" r:id="rId17"/>
    <p:sldLayoutId id="2147483881" r:id="rId18"/>
    <p:sldLayoutId id="2147483882" r:id="rId19"/>
    <p:sldLayoutId id="2147483883" r:id="rId20"/>
    <p:sldLayoutId id="2147483884" r:id="rId21"/>
    <p:sldLayoutId id="2147483885" r:id="rId22"/>
    <p:sldLayoutId id="2147483886" r:id="rId23"/>
    <p:sldLayoutId id="2147483887" r:id="rId24"/>
    <p:sldLayoutId id="2147483888" r:id="rId25"/>
    <p:sldLayoutId id="2147483889" r:id="rId26"/>
    <p:sldLayoutId id="2147483890" r:id="rId27"/>
    <p:sldLayoutId id="2147483891" r:id="rId28"/>
    <p:sldLayoutId id="2147483892" r:id="rId29"/>
    <p:sldLayoutId id="2147483893" r:id="rId30"/>
    <p:sldLayoutId id="2147483894" r:id="rId31"/>
    <p:sldLayoutId id="2147483895"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77239365"/>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9645-10D3-4636-8E7B-FE1FF2991808}"/>
              </a:ext>
            </a:extLst>
          </p:cNvPr>
          <p:cNvSpPr>
            <a:spLocks noGrp="1"/>
          </p:cNvSpPr>
          <p:nvPr>
            <p:ph type="ctrTitle"/>
          </p:nvPr>
        </p:nvSpPr>
        <p:spPr>
          <a:xfrm>
            <a:off x="384785" y="2322726"/>
            <a:ext cx="6596062" cy="2431485"/>
          </a:xfrm>
        </p:spPr>
        <p:txBody>
          <a:bodyPr anchor="b">
            <a:normAutofit/>
          </a:bodyPr>
          <a:lstStyle/>
          <a:p>
            <a:r>
              <a:rPr lang="en-GB" sz="3100" dirty="0"/>
              <a:t>Software Developer</a:t>
            </a:r>
            <a:br>
              <a:rPr lang="en-GB" sz="3100" dirty="0"/>
            </a:br>
            <a:br>
              <a:rPr lang="en-GB" sz="3100" dirty="0"/>
            </a:br>
            <a:r>
              <a:rPr lang="en-GB" sz="3100" dirty="0"/>
              <a:t>Agile Software Development</a:t>
            </a:r>
            <a:br>
              <a:rPr lang="en-GB" sz="3100" dirty="0"/>
            </a:br>
            <a:endParaRPr lang="en-GB" sz="3100" dirty="0"/>
          </a:p>
        </p:txBody>
      </p:sp>
    </p:spTree>
    <p:extLst>
      <p:ext uri="{BB962C8B-B14F-4D97-AF65-F5344CB8AC3E}">
        <p14:creationId xmlns:p14="http://schemas.microsoft.com/office/powerpoint/2010/main" val="117794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9832D-C620-478A-93BE-A3DE5971C1E9}"/>
              </a:ext>
            </a:extLst>
          </p:cNvPr>
          <p:cNvSpPr>
            <a:spLocks noGrp="1"/>
          </p:cNvSpPr>
          <p:nvPr>
            <p:ph type="ctrTitle"/>
          </p:nvPr>
        </p:nvSpPr>
        <p:spPr>
          <a:xfrm>
            <a:off x="384784" y="3433680"/>
            <a:ext cx="6993790" cy="968987"/>
          </a:xfrm>
        </p:spPr>
        <p:txBody>
          <a:bodyPr/>
          <a:lstStyle/>
          <a:p>
            <a:r>
              <a:rPr lang="en-GB" sz="3200" dirty="0"/>
              <a:t>Safety, Health and Environment</a:t>
            </a:r>
            <a:endParaRPr lang="en-IN" sz="3200" dirty="0"/>
          </a:p>
        </p:txBody>
      </p:sp>
      <p:sp>
        <p:nvSpPr>
          <p:cNvPr id="3" name="Text Placeholder 2">
            <a:extLst>
              <a:ext uri="{FF2B5EF4-FFF2-40B4-BE49-F238E27FC236}">
                <a16:creationId xmlns:a16="http://schemas.microsoft.com/office/drawing/2014/main" id="{E425B20A-0678-4B17-A6DE-6C70CC28409A}"/>
              </a:ext>
            </a:extLst>
          </p:cNvPr>
          <p:cNvSpPr>
            <a:spLocks noGrp="1"/>
          </p:cNvSpPr>
          <p:nvPr>
            <p:ph type="body" sz="quarter" idx="12"/>
          </p:nvPr>
        </p:nvSpPr>
        <p:spPr>
          <a:xfrm>
            <a:off x="384784" y="4536010"/>
            <a:ext cx="2783929" cy="1687345"/>
          </a:xfrm>
        </p:spPr>
        <p:txBody>
          <a:bodyPr/>
          <a:lstStyle/>
          <a:p>
            <a:r>
              <a:rPr lang="en-GB" dirty="0"/>
              <a:t>Fire exits</a:t>
            </a:r>
          </a:p>
          <a:p>
            <a:r>
              <a:rPr lang="en-GB" dirty="0"/>
              <a:t>Security</a:t>
            </a:r>
          </a:p>
          <a:p>
            <a:r>
              <a:rPr lang="en-GB" dirty="0"/>
              <a:t>Internet access</a:t>
            </a:r>
          </a:p>
          <a:p>
            <a:r>
              <a:rPr lang="en-GB" dirty="0"/>
              <a:t>Phones / mobiles</a:t>
            </a:r>
          </a:p>
          <a:p>
            <a:r>
              <a:rPr lang="en-GB" dirty="0"/>
              <a:t>Messages</a:t>
            </a:r>
          </a:p>
        </p:txBody>
      </p:sp>
      <p:sp>
        <p:nvSpPr>
          <p:cNvPr id="4" name="Text Placeholder 2">
            <a:extLst>
              <a:ext uri="{FF2B5EF4-FFF2-40B4-BE49-F238E27FC236}">
                <a16:creationId xmlns:a16="http://schemas.microsoft.com/office/drawing/2014/main" id="{D989F6C2-63C7-4DC9-936F-0523422851C6}"/>
              </a:ext>
            </a:extLst>
          </p:cNvPr>
          <p:cNvSpPr txBox="1">
            <a:spLocks/>
          </p:cNvSpPr>
          <p:nvPr/>
        </p:nvSpPr>
        <p:spPr>
          <a:xfrm>
            <a:off x="3759611" y="4536010"/>
            <a:ext cx="2209643" cy="1796248"/>
          </a:xfrm>
          <a:prstGeom prst="rect">
            <a:avLst/>
          </a:prstGeom>
        </p:spPr>
        <p:txBody>
          <a:bodyPr vert="horz" lIns="0" tIns="0" rIns="0" bIns="0" rtlCol="0" anchor="t" anchorCtr="0">
            <a:noAutofit/>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i="0" kern="1200">
                <a:solidFill>
                  <a:schemeClr val="bg1"/>
                </a:solidFill>
                <a:latin typeface="Montserrat" pitchFamily="2" charset="77"/>
                <a:ea typeface="+mn-ea"/>
                <a:cs typeface="+mn-cs"/>
              </a:defRPr>
            </a:lvl1pPr>
            <a:lvl2pPr marL="374650" indent="-28575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88900" indent="0" algn="l" defTabSz="914400" rtl="0" eaLnBrk="1" latinLnBrk="0" hangingPunct="1">
              <a:lnSpc>
                <a:spcPct val="100000"/>
              </a:lnSpc>
              <a:spcBef>
                <a:spcPts val="0"/>
              </a:spcBef>
              <a:spcAft>
                <a:spcPts val="650"/>
              </a:spcAft>
              <a:buSzPct val="120000"/>
              <a:buFontTx/>
              <a:buNone/>
              <a:tabLst/>
              <a:defRPr sz="2000" b="0" i="0" kern="1200">
                <a:solidFill>
                  <a:schemeClr val="tx1"/>
                </a:solidFill>
                <a:latin typeface="Montserrat" pitchFamily="2" charset="77"/>
                <a:ea typeface="+mn-ea"/>
                <a:cs typeface="+mn-cs"/>
              </a:defRPr>
            </a:lvl3pPr>
            <a:lvl4pPr marL="88900" indent="0" algn="l" defTabSz="914400" rtl="0" eaLnBrk="1" latinLnBrk="0" hangingPunct="1">
              <a:lnSpc>
                <a:spcPct val="100000"/>
              </a:lnSpc>
              <a:spcBef>
                <a:spcPts val="0"/>
              </a:spcBef>
              <a:spcAft>
                <a:spcPts val="650"/>
              </a:spcAft>
              <a:buSzPct val="120000"/>
              <a:buFontTx/>
              <a:buNone/>
              <a:tabLst/>
              <a:defRPr sz="2000" b="0" kern="1200">
                <a:solidFill>
                  <a:schemeClr val="tx1"/>
                </a:solidFill>
                <a:latin typeface="Montserrat" pitchFamily="2" charset="77"/>
                <a:ea typeface="+mn-ea"/>
                <a:cs typeface="+mn-cs"/>
              </a:defRPr>
            </a:lvl4pPr>
            <a:lvl5pPr marL="88900" indent="0" algn="l" defTabSz="914400" rtl="0" eaLnBrk="1" latinLnBrk="0" hangingPunct="1">
              <a:lnSpc>
                <a:spcPct val="100000"/>
              </a:lnSpc>
              <a:spcBef>
                <a:spcPts val="0"/>
              </a:spcBef>
              <a:spcAft>
                <a:spcPts val="650"/>
              </a:spcAft>
              <a:buSzPct val="125000"/>
              <a:buFontTx/>
              <a:buNone/>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Helpdesk</a:t>
            </a:r>
          </a:p>
          <a:p>
            <a:r>
              <a:rPr lang="en-GB" b="1" dirty="0"/>
              <a:t>Timings</a:t>
            </a:r>
          </a:p>
          <a:p>
            <a:r>
              <a:rPr lang="en-GB" b="1" dirty="0"/>
              <a:t>Breaks</a:t>
            </a:r>
          </a:p>
          <a:p>
            <a:r>
              <a:rPr lang="en-GB" b="1" dirty="0"/>
              <a:t>Lunch</a:t>
            </a:r>
          </a:p>
          <a:p>
            <a:r>
              <a:rPr lang="en-GB" b="1" dirty="0"/>
              <a:t>Toilets</a:t>
            </a:r>
          </a:p>
          <a:p>
            <a:endParaRPr lang="en-GB" dirty="0"/>
          </a:p>
          <a:p>
            <a:endParaRPr lang="en-GB" dirty="0"/>
          </a:p>
          <a:p>
            <a:endParaRPr lang="en-GB" dirty="0"/>
          </a:p>
          <a:p>
            <a:endParaRPr lang="en-GB" dirty="0"/>
          </a:p>
          <a:p>
            <a:endParaRPr lang="en-IN" dirty="0"/>
          </a:p>
        </p:txBody>
      </p:sp>
    </p:spTree>
    <p:extLst>
      <p:ext uri="{BB962C8B-B14F-4D97-AF65-F5344CB8AC3E}">
        <p14:creationId xmlns:p14="http://schemas.microsoft.com/office/powerpoint/2010/main" val="1375927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1">
            <a:extLst>
              <a:ext uri="{FF2B5EF4-FFF2-40B4-BE49-F238E27FC236}">
                <a16:creationId xmlns:a16="http://schemas.microsoft.com/office/drawing/2014/main" id="{9D3F428F-BA8B-D575-E2FD-720EF6420DE3}"/>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3</a:t>
            </a:fld>
            <a:endParaRPr lang="en-GB"/>
          </a:p>
        </p:txBody>
      </p:sp>
      <p:sp>
        <p:nvSpPr>
          <p:cNvPr id="15" name="Text Placeholder 14">
            <a:extLst>
              <a:ext uri="{FF2B5EF4-FFF2-40B4-BE49-F238E27FC236}">
                <a16:creationId xmlns:a16="http://schemas.microsoft.com/office/drawing/2014/main" id="{965A3965-DD29-4851-AEF8-8B0A2ABA8D5C}"/>
              </a:ext>
            </a:extLst>
          </p:cNvPr>
          <p:cNvSpPr>
            <a:spLocks noGrp="1"/>
          </p:cNvSpPr>
          <p:nvPr>
            <p:ph type="body" sz="quarter" idx="11"/>
          </p:nvPr>
        </p:nvSpPr>
        <p:spPr>
          <a:xfrm>
            <a:off x="4965243" y="431371"/>
            <a:ext cx="7076661" cy="6260301"/>
          </a:xfrm>
        </p:spPr>
        <p:txBody>
          <a:bodyPr anchor="t">
            <a:normAutofit/>
          </a:bodyPr>
          <a:lstStyle/>
          <a:p>
            <a:pPr>
              <a:lnSpc>
                <a:spcPct val="90000"/>
              </a:lnSpc>
            </a:pPr>
            <a:r>
              <a:rPr lang="en-GB" sz="1900" b="1" dirty="0"/>
              <a:t>The aim of this course is to enable apprentices to:</a:t>
            </a:r>
          </a:p>
          <a:p>
            <a:pPr lvl="1">
              <a:lnSpc>
                <a:spcPct val="90000"/>
              </a:lnSpc>
            </a:pPr>
            <a:r>
              <a:rPr lang="en-GB" sz="1900" dirty="0"/>
              <a:t>demonstrate knowledge and understanding of software development and its underlying architecture, principles, and techniques.</a:t>
            </a:r>
          </a:p>
          <a:p>
            <a:pPr marL="0" lvl="1" indent="0">
              <a:lnSpc>
                <a:spcPct val="90000"/>
              </a:lnSpc>
              <a:buNone/>
            </a:pPr>
            <a:endParaRPr lang="en-GB" sz="1900" dirty="0"/>
          </a:p>
          <a:p>
            <a:pPr lvl="0">
              <a:lnSpc>
                <a:spcPct val="90000"/>
              </a:lnSpc>
              <a:buClr>
                <a:srgbClr val="B8CCE4"/>
              </a:buClr>
            </a:pPr>
            <a:r>
              <a:rPr lang="en-GB" sz="1900" b="1" dirty="0"/>
              <a:t>At the end of the course you will be able to:</a:t>
            </a:r>
          </a:p>
          <a:p>
            <a:pPr lvl="1">
              <a:lnSpc>
                <a:spcPct val="90000"/>
              </a:lnSpc>
              <a:buClr>
                <a:schemeClr val="tx1"/>
              </a:buClr>
            </a:pPr>
            <a:r>
              <a:rPr lang="en-GB" sz="1900" dirty="0"/>
              <a:t>appreciate the business context and marketing environment for software development.</a:t>
            </a:r>
          </a:p>
          <a:p>
            <a:pPr lvl="1">
              <a:lnSpc>
                <a:spcPct val="90000"/>
              </a:lnSpc>
              <a:buClr>
                <a:schemeClr val="tx1"/>
              </a:buClr>
            </a:pPr>
            <a:r>
              <a:rPr lang="en-GB" sz="1900" dirty="0"/>
              <a:t>recognise that there are different methodologies that can be used for software development. </a:t>
            </a:r>
          </a:p>
          <a:p>
            <a:pPr lvl="1">
              <a:lnSpc>
                <a:spcPct val="90000"/>
              </a:lnSpc>
              <a:buClr>
                <a:schemeClr val="tx1"/>
              </a:buClr>
            </a:pPr>
            <a:r>
              <a:rPr lang="en-GB" sz="1900" dirty="0"/>
              <a:t>understand roles within software development</a:t>
            </a:r>
          </a:p>
          <a:p>
            <a:pPr lvl="1">
              <a:lnSpc>
                <a:spcPct val="90000"/>
              </a:lnSpc>
              <a:buClr>
                <a:schemeClr val="tx1"/>
              </a:buClr>
            </a:pPr>
            <a:r>
              <a:rPr lang="en-GB" sz="1900" dirty="0"/>
              <a:t>understand the structure of software app and the particular context for multiple development platforms. </a:t>
            </a:r>
          </a:p>
          <a:p>
            <a:pPr lvl="1">
              <a:lnSpc>
                <a:spcPct val="90000"/>
              </a:lnSpc>
              <a:buClr>
                <a:schemeClr val="tx1"/>
              </a:buClr>
            </a:pPr>
            <a:r>
              <a:rPr lang="en-GB" sz="1900" dirty="0"/>
              <a:t>appreciate all stages of SDLC.</a:t>
            </a:r>
          </a:p>
          <a:p>
            <a:pPr lvl="1">
              <a:lnSpc>
                <a:spcPct val="90000"/>
              </a:lnSpc>
              <a:buClr>
                <a:schemeClr val="tx1"/>
              </a:buClr>
            </a:pPr>
            <a:r>
              <a:rPr lang="en-GB" sz="1900" dirty="0"/>
              <a:t>show how software testing contributes in the production of software and systems to a known quality.</a:t>
            </a:r>
          </a:p>
          <a:p>
            <a:pPr lvl="1">
              <a:lnSpc>
                <a:spcPct val="90000"/>
              </a:lnSpc>
              <a:buClr>
                <a:schemeClr val="tx1"/>
              </a:buClr>
            </a:pPr>
            <a:r>
              <a:rPr lang="en-GB" sz="1900" dirty="0"/>
              <a:t>understand the role of configuration management and version control systems, and how to apply them.</a:t>
            </a:r>
            <a:endParaRPr lang="en-GB" dirty="0"/>
          </a:p>
          <a:p>
            <a:pPr marL="285750" indent="-285750">
              <a:lnSpc>
                <a:spcPct val="90000"/>
              </a:lnSpc>
              <a:buFont typeface="Arial" panose="020B0604020202020204" pitchFamily="34" charset="0"/>
              <a:buChar char="•"/>
            </a:pPr>
            <a:endParaRPr lang="en-GB" b="0" dirty="0"/>
          </a:p>
        </p:txBody>
      </p:sp>
      <p:sp>
        <p:nvSpPr>
          <p:cNvPr id="16" name="Text Placeholder 15">
            <a:extLst>
              <a:ext uri="{FF2B5EF4-FFF2-40B4-BE49-F238E27FC236}">
                <a16:creationId xmlns:a16="http://schemas.microsoft.com/office/drawing/2014/main" id="{CBD9C77B-3346-44FF-B665-C255095E23E7}"/>
              </a:ext>
            </a:extLst>
          </p:cNvPr>
          <p:cNvSpPr>
            <a:spLocks noGrp="1"/>
          </p:cNvSpPr>
          <p:nvPr>
            <p:ph type="body" sz="quarter" idx="10"/>
          </p:nvPr>
        </p:nvSpPr>
        <p:spPr>
          <a:xfrm>
            <a:off x="384785" y="1261533"/>
            <a:ext cx="3895116" cy="2626384"/>
          </a:xfrm>
        </p:spPr>
        <p:txBody>
          <a:bodyPr anchor="t">
            <a:normAutofit/>
          </a:bodyPr>
          <a:lstStyle/>
          <a:p>
            <a:pPr>
              <a:spcAft>
                <a:spcPts val="600"/>
              </a:spcAft>
            </a:pPr>
            <a:r>
              <a:rPr lang="en-GB" dirty="0"/>
              <a:t>Course objectives</a:t>
            </a:r>
          </a:p>
        </p:txBody>
      </p:sp>
    </p:spTree>
    <p:extLst>
      <p:ext uri="{BB962C8B-B14F-4D97-AF65-F5344CB8AC3E}">
        <p14:creationId xmlns:p14="http://schemas.microsoft.com/office/powerpoint/2010/main" val="2227139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
            <a:extLst>
              <a:ext uri="{FF2B5EF4-FFF2-40B4-BE49-F238E27FC236}">
                <a16:creationId xmlns:a16="http://schemas.microsoft.com/office/drawing/2014/main" id="{3001D59C-C854-52F5-759D-59BE896BBBE8}"/>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4</a:t>
            </a:fld>
            <a:endParaRPr lang="en-GB"/>
          </a:p>
        </p:txBody>
      </p:sp>
      <p:sp>
        <p:nvSpPr>
          <p:cNvPr id="8" name="Title 7">
            <a:extLst>
              <a:ext uri="{FF2B5EF4-FFF2-40B4-BE49-F238E27FC236}">
                <a16:creationId xmlns:a16="http://schemas.microsoft.com/office/drawing/2014/main" id="{DB5DF360-4026-4711-A361-4B2B609759C9}"/>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t>Resources</a:t>
            </a:r>
            <a:endParaRPr lang="en-GB"/>
          </a:p>
        </p:txBody>
      </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5"/>
          </p:nvPr>
        </p:nvSpPr>
        <p:spPr>
          <a:xfrm>
            <a:off x="5037137" y="1349986"/>
            <a:ext cx="6770688" cy="5119407"/>
          </a:xfrm>
        </p:spPr>
        <p:txBody>
          <a:bodyPr anchor="t">
            <a:normAutofit/>
          </a:bodyPr>
          <a:lstStyle/>
          <a:p>
            <a:r>
              <a:rPr lang="en-GB" sz="2000" b="1" dirty="0"/>
              <a:t>Learner guide:</a:t>
            </a:r>
          </a:p>
          <a:p>
            <a:pPr lvl="1"/>
            <a:r>
              <a:rPr lang="en-GB" sz="2000" dirty="0"/>
              <a:t>Each module has a set of slides and notes.</a:t>
            </a:r>
          </a:p>
          <a:p>
            <a:pPr lvl="1"/>
            <a:r>
              <a:rPr lang="en-GB" sz="2000" dirty="0"/>
              <a:t>Structures course and provides key reference material.</a:t>
            </a:r>
          </a:p>
          <a:p>
            <a:pPr marL="0" lvl="1" indent="0">
              <a:buNone/>
            </a:pPr>
            <a:endParaRPr lang="en-GB" sz="2000" dirty="0"/>
          </a:p>
          <a:p>
            <a:r>
              <a:rPr lang="en-GB" sz="2000" b="1" dirty="0"/>
              <a:t>Exercises:</a:t>
            </a:r>
          </a:p>
          <a:p>
            <a:pPr lvl="1"/>
            <a:r>
              <a:rPr lang="en-GB" sz="2000" dirty="0"/>
              <a:t>Each module has a number of supporting activities.</a:t>
            </a:r>
          </a:p>
          <a:p>
            <a:endParaRPr lang="en-GB" sz="2000" dirty="0"/>
          </a:p>
          <a:p>
            <a:pPr lvl="1">
              <a:buClr>
                <a:srgbClr val="B8CCE4"/>
              </a:buClr>
            </a:pPr>
            <a:endParaRPr lang="en-GB" sz="2000" dirty="0"/>
          </a:p>
          <a:p>
            <a:pPr marL="285750" indent="-285750">
              <a:buFont typeface="Arial" panose="020B0604020202020204" pitchFamily="34" charset="0"/>
              <a:buChar char="•"/>
            </a:pPr>
            <a:endParaRPr lang="en-GB" sz="2000" b="0" dirty="0"/>
          </a:p>
        </p:txBody>
      </p:sp>
    </p:spTree>
    <p:extLst>
      <p:ext uri="{BB962C8B-B14F-4D97-AF65-F5344CB8AC3E}">
        <p14:creationId xmlns:p14="http://schemas.microsoft.com/office/powerpoint/2010/main" val="1548060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
            <a:extLst>
              <a:ext uri="{FF2B5EF4-FFF2-40B4-BE49-F238E27FC236}">
                <a16:creationId xmlns:a16="http://schemas.microsoft.com/office/drawing/2014/main" id="{9205CC7A-EAD5-DD60-24FD-E5B6E7406F7F}"/>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5</a:t>
            </a:fld>
            <a:endParaRPr lang="en-GB"/>
          </a:p>
        </p:txBody>
      </p:sp>
      <p:sp>
        <p:nvSpPr>
          <p:cNvPr id="8" name="Title 7">
            <a:extLst>
              <a:ext uri="{FF2B5EF4-FFF2-40B4-BE49-F238E27FC236}">
                <a16:creationId xmlns:a16="http://schemas.microsoft.com/office/drawing/2014/main" id="{DB5DF360-4026-4711-A361-4B2B609759C9}"/>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t>Additional Resources</a:t>
            </a:r>
            <a:endParaRPr lang="en-GB"/>
          </a:p>
        </p:txBody>
      </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5"/>
          </p:nvPr>
        </p:nvSpPr>
        <p:spPr>
          <a:xfrm>
            <a:off x="5037138" y="371062"/>
            <a:ext cx="6770687" cy="6320610"/>
          </a:xfrm>
        </p:spPr>
        <p:txBody>
          <a:bodyPr anchor="t">
            <a:normAutofit fontScale="85000" lnSpcReduction="10000"/>
          </a:bodyPr>
          <a:lstStyle/>
          <a:p>
            <a:pPr>
              <a:lnSpc>
                <a:spcPct val="120000"/>
              </a:lnSpc>
            </a:pPr>
            <a:r>
              <a:rPr lang="en-GB" b="1" dirty="0"/>
              <a:t>Recommended reading list:</a:t>
            </a:r>
            <a:endParaRPr lang="en-GB" dirty="0"/>
          </a:p>
          <a:p>
            <a:pPr lvl="1">
              <a:lnSpc>
                <a:spcPct val="120000"/>
              </a:lnSpc>
            </a:pPr>
            <a:r>
              <a:rPr lang="en-GB" i="1" dirty="0"/>
              <a:t>Achieving Software Quality Through Teamwork</a:t>
            </a:r>
            <a:r>
              <a:rPr lang="en-GB" dirty="0"/>
              <a:t> – Isabel Evans</a:t>
            </a:r>
          </a:p>
          <a:p>
            <a:pPr lvl="1">
              <a:lnSpc>
                <a:spcPct val="120000"/>
              </a:lnSpc>
            </a:pPr>
            <a:r>
              <a:rPr lang="en-GB" i="1" dirty="0"/>
              <a:t>Software Testing: An ISTQB-BCS Certified Tester Foundation Guide </a:t>
            </a:r>
            <a:r>
              <a:rPr lang="en-GB" dirty="0"/>
              <a:t>third edition – Angelina </a:t>
            </a:r>
            <a:r>
              <a:rPr lang="en-GB" dirty="0" err="1"/>
              <a:t>Samaroo</a:t>
            </a:r>
            <a:r>
              <a:rPr lang="en-GB" dirty="0"/>
              <a:t>, Geoff Thompson, Brian Hambling</a:t>
            </a:r>
          </a:p>
          <a:p>
            <a:pPr lvl="1">
              <a:lnSpc>
                <a:spcPct val="120000"/>
              </a:lnSpc>
            </a:pPr>
            <a:r>
              <a:rPr lang="en-GB" i="1" dirty="0"/>
              <a:t>ITIL and the Software Lifecycle: Practical Strategy and Design Principles </a:t>
            </a:r>
            <a:r>
              <a:rPr lang="en-GB" dirty="0"/>
              <a:t>– Brian Johnson and John Higgins</a:t>
            </a:r>
          </a:p>
          <a:p>
            <a:pPr lvl="1">
              <a:lnSpc>
                <a:spcPct val="120000"/>
              </a:lnSpc>
            </a:pPr>
            <a:r>
              <a:rPr lang="en-GB" i="1" dirty="0"/>
              <a:t>Configuration Management Best Practices: Practical Methods that work in the Real World </a:t>
            </a:r>
            <a:r>
              <a:rPr lang="en-GB" dirty="0"/>
              <a:t>– Bob </a:t>
            </a:r>
            <a:r>
              <a:rPr lang="en-GB" dirty="0" err="1"/>
              <a:t>Aleilo</a:t>
            </a:r>
            <a:r>
              <a:rPr lang="en-GB" dirty="0"/>
              <a:t>, Leslie Sachs</a:t>
            </a:r>
          </a:p>
          <a:p>
            <a:pPr marL="0" lvl="1" indent="0">
              <a:lnSpc>
                <a:spcPct val="120000"/>
              </a:lnSpc>
              <a:buNone/>
            </a:pPr>
            <a:endParaRPr lang="en-GB" dirty="0"/>
          </a:p>
          <a:p>
            <a:pPr>
              <a:lnSpc>
                <a:spcPct val="120000"/>
              </a:lnSpc>
            </a:pPr>
            <a:r>
              <a:rPr lang="en-GB" b="1" dirty="0"/>
              <a:t>Suggested reading list:</a:t>
            </a:r>
          </a:p>
          <a:p>
            <a:pPr lvl="1">
              <a:lnSpc>
                <a:spcPct val="120000"/>
              </a:lnSpc>
            </a:pPr>
            <a:r>
              <a:rPr lang="en-GB" i="1" dirty="0"/>
              <a:t>Specification by Example: How Successful Teams deliver the Right Software </a:t>
            </a:r>
            <a:r>
              <a:rPr lang="en-GB" dirty="0"/>
              <a:t>– </a:t>
            </a:r>
            <a:r>
              <a:rPr lang="en-GB" dirty="0" err="1"/>
              <a:t>Gojko</a:t>
            </a:r>
            <a:r>
              <a:rPr lang="en-GB" dirty="0"/>
              <a:t> Adzic</a:t>
            </a:r>
          </a:p>
          <a:p>
            <a:pPr lvl="1">
              <a:lnSpc>
                <a:spcPct val="120000"/>
              </a:lnSpc>
            </a:pPr>
            <a:r>
              <a:rPr lang="en-GB" i="1" dirty="0"/>
              <a:t>Continuous Delivery: Reliable Software Releases through Build, Test and Deployment Automation </a:t>
            </a:r>
            <a:r>
              <a:rPr lang="en-GB" dirty="0"/>
              <a:t>– Jez Humble, David Farley</a:t>
            </a:r>
          </a:p>
          <a:p>
            <a:pPr lvl="1">
              <a:lnSpc>
                <a:spcPct val="120000"/>
              </a:lnSpc>
            </a:pPr>
            <a:r>
              <a:rPr lang="en-GB" i="1" dirty="0"/>
              <a:t>Software Configuration Management Handbook </a:t>
            </a:r>
            <a:r>
              <a:rPr lang="en-GB" dirty="0"/>
              <a:t>third edition – Alexis Leon</a:t>
            </a:r>
          </a:p>
          <a:p>
            <a:pPr lvl="1">
              <a:lnSpc>
                <a:spcPct val="120000"/>
              </a:lnSpc>
            </a:pPr>
            <a:r>
              <a:rPr lang="en-GB" i="1" dirty="0"/>
              <a:t>Test-Driven Development: By Example </a:t>
            </a:r>
            <a:r>
              <a:rPr lang="en-GB" dirty="0"/>
              <a:t>– Kent Beck</a:t>
            </a:r>
          </a:p>
          <a:p>
            <a:pPr lvl="1">
              <a:lnSpc>
                <a:spcPct val="120000"/>
              </a:lnSpc>
            </a:pPr>
            <a:r>
              <a:rPr lang="en-GB" i="1" dirty="0"/>
              <a:t>Agile Software Development, Principles, Patterns, and Practices</a:t>
            </a:r>
            <a:r>
              <a:rPr lang="en-GB" dirty="0"/>
              <a:t> first edition – Robert C Martin</a:t>
            </a:r>
          </a:p>
          <a:p>
            <a:pPr lvl="1">
              <a:lnSpc>
                <a:spcPct val="120000"/>
              </a:lnSpc>
            </a:pPr>
            <a:r>
              <a:rPr lang="en-GB" i="1" dirty="0"/>
              <a:t>Scrum – A Pocket Guide </a:t>
            </a:r>
            <a:r>
              <a:rPr lang="en-GB" dirty="0"/>
              <a:t>– Gunter </a:t>
            </a:r>
            <a:r>
              <a:rPr lang="en-GB" dirty="0" err="1"/>
              <a:t>Verheyen</a:t>
            </a:r>
            <a:endParaRPr lang="en-GB" dirty="0"/>
          </a:p>
          <a:p>
            <a:pPr marL="285750" indent="-285750">
              <a:lnSpc>
                <a:spcPct val="120000"/>
              </a:lnSpc>
              <a:buFont typeface="Arial" panose="020B0604020202020204" pitchFamily="34" charset="0"/>
              <a:buChar char="•"/>
            </a:pPr>
            <a:endParaRPr lang="en-GB" b="0" dirty="0"/>
          </a:p>
        </p:txBody>
      </p:sp>
    </p:spTree>
    <p:extLst>
      <p:ext uri="{BB962C8B-B14F-4D97-AF65-F5344CB8AC3E}">
        <p14:creationId xmlns:p14="http://schemas.microsoft.com/office/powerpoint/2010/main" val="3760681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B5DF360-4026-4711-A361-4B2B609759C9}"/>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dirty="0"/>
              <a:t>About you</a:t>
            </a:r>
          </a:p>
        </p:txBody>
      </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5"/>
          </p:nvPr>
        </p:nvSpPr>
        <p:spPr>
          <a:xfrm>
            <a:off x="5037137" y="1349986"/>
            <a:ext cx="6770688" cy="5119407"/>
          </a:xfrm>
        </p:spPr>
        <p:txBody>
          <a:bodyPr anchor="t">
            <a:normAutofit/>
          </a:bodyPr>
          <a:lstStyle/>
          <a:p>
            <a:pPr marL="285750" indent="-285750">
              <a:buFont typeface="Arial" panose="020B0604020202020204" pitchFamily="34" charset="0"/>
              <a:buChar char="•"/>
            </a:pPr>
            <a:r>
              <a:rPr lang="en-GB" b="1" dirty="0"/>
              <a:t>Name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Role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Previous experience</a:t>
            </a:r>
          </a:p>
          <a:p>
            <a:pPr marL="465746" lvl="1" indent="-285750"/>
            <a:r>
              <a:rPr lang="en-GB" b="1" dirty="0"/>
              <a:t>Pre-course studies?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What you do for fun</a:t>
            </a:r>
          </a:p>
        </p:txBody>
      </p:sp>
      <p:sp>
        <p:nvSpPr>
          <p:cNvPr id="16" name="Slide Number Placeholder 1">
            <a:extLst>
              <a:ext uri="{FF2B5EF4-FFF2-40B4-BE49-F238E27FC236}">
                <a16:creationId xmlns:a16="http://schemas.microsoft.com/office/drawing/2014/main" id="{9205CC7A-EAD5-DD60-24FD-E5B6E7406F7F}"/>
              </a:ext>
            </a:extLst>
          </p:cNvPr>
          <p:cNvSpPr>
            <a:spLocks noGrp="1"/>
          </p:cNvSpPr>
          <p:nvPr>
            <p:ph type="sldNum" sz="quarter" idx="4"/>
          </p:nvPr>
        </p:nvSpPr>
        <p:spPr>
          <a:xfrm>
            <a:off x="11256421" y="6511672"/>
            <a:ext cx="785483" cy="180000"/>
          </a:xfrm>
        </p:spPr>
        <p:txBody>
          <a:bodyPr anchor="b">
            <a:normAutofit/>
          </a:bodyPr>
          <a:lstStyle/>
          <a:p>
            <a:pPr>
              <a:spcAft>
                <a:spcPts val="600"/>
              </a:spcAft>
            </a:pPr>
            <a:fld id="{EF892D59-8F09-EF4B-AD6D-DA609442F868}" type="slidenum">
              <a:rPr lang="en-GB" smtClean="0"/>
              <a:pPr>
                <a:spcAft>
                  <a:spcPts val="600"/>
                </a:spcAft>
              </a:pPr>
              <a:t>6</a:t>
            </a:fld>
            <a:endParaRPr lang="en-GB"/>
          </a:p>
        </p:txBody>
      </p:sp>
    </p:spTree>
    <p:extLst>
      <p:ext uri="{BB962C8B-B14F-4D97-AF65-F5344CB8AC3E}">
        <p14:creationId xmlns:p14="http://schemas.microsoft.com/office/powerpoint/2010/main" val="2422149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FF4176-C96A-49AD-88F0-DDA0EDDF78C8}"/>
              </a:ext>
            </a:extLst>
          </p:cNvPr>
          <p:cNvSpPr>
            <a:spLocks noGrp="1"/>
          </p:cNvSpPr>
          <p:nvPr>
            <p:ph type="ctrTitle"/>
          </p:nvPr>
        </p:nvSpPr>
        <p:spPr>
          <a:xfrm>
            <a:off x="387037" y="1169541"/>
            <a:ext cx="5627171" cy="2277604"/>
          </a:xfrm>
        </p:spPr>
        <p:txBody>
          <a:bodyPr anchor="b">
            <a:normAutofit/>
          </a:bodyPr>
          <a:lstStyle/>
          <a:p>
            <a:r>
              <a:rPr lang="en-GB" dirty="0"/>
              <a:t>Any questions before we start?</a:t>
            </a:r>
          </a:p>
        </p:txBody>
      </p:sp>
    </p:spTree>
    <p:extLst>
      <p:ext uri="{BB962C8B-B14F-4D97-AF65-F5344CB8AC3E}">
        <p14:creationId xmlns:p14="http://schemas.microsoft.com/office/powerpoint/2010/main" val="2342803651"/>
      </p:ext>
    </p:extLst>
  </p:cSld>
  <p:clrMapOvr>
    <a:masterClrMapping/>
  </p:clrMapOvr>
</p:sld>
</file>

<file path=ppt/theme/theme1.xml><?xml version="1.0" encoding="utf-8"?>
<a:theme xmlns:a="http://schemas.openxmlformats.org/drawingml/2006/main" name="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E287A7-626A-41C1-92DF-BE8EECFCD6C2}">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8152707b-ac2c-4ea2-ac9a-b989788b8469"/>
    <ds:schemaRef ds:uri="http://purl.org/dc/elements/1.1/"/>
    <ds:schemaRef ds:uri="http://schemas.microsoft.com/office/2006/metadata/properties"/>
    <ds:schemaRef ds:uri="9a63c464-9648-4824-9ad1-ed767784f626"/>
    <ds:schemaRef ds:uri="http://www.w3.org/XML/1998/namespace"/>
    <ds:schemaRef ds:uri="http://purl.org/dc/terms/"/>
    <ds:schemaRef ds:uri="9e706368-9a73-4dcc-9221-b8fc62424fbc"/>
    <ds:schemaRef ds:uri="eb7c3fc1-ccd5-477b-94a4-7b6dc96a8d59"/>
  </ds:schemaRefs>
</ds:datastoreItem>
</file>

<file path=customXml/itemProps2.xml><?xml version="1.0" encoding="utf-8"?>
<ds:datastoreItem xmlns:ds="http://schemas.openxmlformats.org/officeDocument/2006/customXml" ds:itemID="{DCDB2D89-314C-4D83-B504-BF4072DFB9FD}">
  <ds:schemaRefs>
    <ds:schemaRef ds:uri="http://schemas.microsoft.com/sharepoint/v3/contenttype/forms"/>
  </ds:schemaRefs>
</ds:datastoreItem>
</file>

<file path=customXml/itemProps3.xml><?xml version="1.0" encoding="utf-8"?>
<ds:datastoreItem xmlns:ds="http://schemas.openxmlformats.org/officeDocument/2006/customXml" ds:itemID="{AF0B408C-1112-46F1-BF09-17C496176B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NoKrana</Template>
  <TotalTime>0</TotalTime>
  <Words>965</Words>
  <Application>Microsoft Office PowerPoint</Application>
  <PresentationFormat>Widescreen</PresentationFormat>
  <Paragraphs>106</Paragraphs>
  <Slides>7</Slides>
  <Notes>6</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7</vt:i4>
      </vt:variant>
    </vt:vector>
  </HeadingPairs>
  <TitlesOfParts>
    <vt:vector size="16" baseType="lpstr">
      <vt:lpstr>Arial</vt:lpstr>
      <vt:lpstr>Krana Fat B</vt:lpstr>
      <vt:lpstr>Montserrat</vt:lpstr>
      <vt:lpstr>Montserrat Black</vt:lpstr>
      <vt:lpstr>NoKrana</vt:lpstr>
      <vt:lpstr>Master_Red_and_Purple</vt:lpstr>
      <vt:lpstr>Master_Yellow_and_Orange</vt:lpstr>
      <vt:lpstr>Master_Blue</vt:lpstr>
      <vt:lpstr>Master_Neutral</vt:lpstr>
      <vt:lpstr>Software Developer  Agile Software Development </vt:lpstr>
      <vt:lpstr>Safety, Health and Environment</vt:lpstr>
      <vt:lpstr>PowerPoint Presentation</vt:lpstr>
      <vt:lpstr>PowerPoint Presentation</vt:lpstr>
      <vt:lpstr>PowerPoint Presentation</vt:lpstr>
      <vt:lpstr>PowerPoint Presentation</vt:lpstr>
      <vt:lpstr>Any questions before we start?</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 here and here</dc:title>
  <dc:subject/>
  <dc:creator>Haynes, Amanda</dc:creator>
  <cp:keywords/>
  <dc:description/>
  <cp:lastModifiedBy>mike baradaran</cp:lastModifiedBy>
  <cp:revision>28</cp:revision>
  <cp:lastPrinted>2019-07-03T09:46:41Z</cp:lastPrinted>
  <dcterms:created xsi:type="dcterms:W3CDTF">2021-11-17T15:28:08Z</dcterms:created>
  <dcterms:modified xsi:type="dcterms:W3CDTF">2023-11-23T19:06:03Z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ies>
</file>