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3.xml" ContentType="application/vnd.openxmlformats-officedocument.them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4.xml" ContentType="application/vnd.openxmlformats-officedocument.theme+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4"/>
    <p:sldMasterId id="2147483789" r:id="rId5"/>
    <p:sldMasterId id="2147483824" r:id="rId6"/>
    <p:sldMasterId id="2147483862" r:id="rId7"/>
    <p:sldMasterId id="2147483895" r:id="rId8"/>
  </p:sldMasterIdLst>
  <p:notesMasterIdLst>
    <p:notesMasterId r:id="rId31"/>
  </p:notesMasterIdLst>
  <p:handoutMasterIdLst>
    <p:handoutMasterId r:id="rId32"/>
  </p:handoutMasterIdLst>
  <p:sldIdLst>
    <p:sldId id="278" r:id="rId9"/>
    <p:sldId id="333" r:id="rId10"/>
    <p:sldId id="290" r:id="rId11"/>
    <p:sldId id="301" r:id="rId12"/>
    <p:sldId id="335" r:id="rId13"/>
    <p:sldId id="336" r:id="rId14"/>
    <p:sldId id="337" r:id="rId15"/>
    <p:sldId id="338" r:id="rId16"/>
    <p:sldId id="339" r:id="rId17"/>
    <p:sldId id="340" r:id="rId18"/>
    <p:sldId id="341" r:id="rId19"/>
    <p:sldId id="342" r:id="rId20"/>
    <p:sldId id="343" r:id="rId21"/>
    <p:sldId id="345" r:id="rId22"/>
    <p:sldId id="346" r:id="rId23"/>
    <p:sldId id="347" r:id="rId24"/>
    <p:sldId id="326" r:id="rId25"/>
    <p:sldId id="311" r:id="rId26"/>
    <p:sldId id="327" r:id="rId27"/>
    <p:sldId id="312" r:id="rId28"/>
    <p:sldId id="477" r:id="rId29"/>
    <p:sldId id="478" r:id="rId30"/>
  </p:sldIdLst>
  <p:sldSz cx="12192000" cy="6858000"/>
  <p:notesSz cx="9775825" cy="6645275"/>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or Divider Slides" id="{DE8BF54A-1323-4403-83F8-D7B5510C9D53}">
          <p14:sldIdLst>
            <p14:sldId id="278"/>
            <p14:sldId id="333"/>
          </p14:sldIdLst>
        </p14:section>
        <p14:section name="Content Slides" id="{1A095CF9-3572-4538-94D7-8ABEC199D1E2}">
          <p14:sldIdLst>
            <p14:sldId id="290"/>
            <p14:sldId id="301"/>
            <p14:sldId id="335"/>
            <p14:sldId id="336"/>
            <p14:sldId id="337"/>
            <p14:sldId id="338"/>
            <p14:sldId id="339"/>
            <p14:sldId id="340"/>
            <p14:sldId id="341"/>
            <p14:sldId id="342"/>
            <p14:sldId id="343"/>
            <p14:sldId id="345"/>
            <p14:sldId id="346"/>
            <p14:sldId id="347"/>
            <p14:sldId id="326"/>
            <p14:sldId id="311"/>
            <p14:sldId id="327"/>
            <p14:sldId id="312"/>
            <p14:sldId id="477"/>
            <p14:sldId id="478"/>
          </p14:sldIdLst>
        </p14:section>
        <p14:section name="Closing slide options" id="{6824D640-AAEC-4A13-80D1-D50C04BFFF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C8"/>
    <a:srgbClr val="004050"/>
    <a:srgbClr val="20D3FF"/>
    <a:srgbClr val="7F007D"/>
    <a:srgbClr val="F3622C"/>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14" autoAdjust="0"/>
    <p:restoredTop sz="86505" autoAdjust="0"/>
  </p:normalViewPr>
  <p:slideViewPr>
    <p:cSldViewPr snapToGrid="0" snapToObjects="1" showGuides="1">
      <p:cViewPr varScale="1">
        <p:scale>
          <a:sx n="59" d="100"/>
          <a:sy n="59" d="100"/>
        </p:scale>
        <p:origin x="1406" y="274"/>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showGuides="1">
      <p:cViewPr varScale="1">
        <p:scale>
          <a:sx n="117" d="100"/>
          <a:sy n="117" d="100"/>
        </p:scale>
        <p:origin x="2052"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heme" Target="theme/theme1.xml"/><Relationship Id="rId8" Type="http://schemas.openxmlformats.org/officeDocument/2006/relationships/slideMaster" Target="slideMasters/slideMaster5.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6F1CF1-5125-4A17-B734-5F34D2CB139F}" type="doc">
      <dgm:prSet loTypeId="urn:microsoft.com/office/officeart/2005/8/layout/radial3" loCatId="cycle" qsTypeId="urn:microsoft.com/office/officeart/2005/8/quickstyle/simple1" qsCatId="simple" csTypeId="urn:microsoft.com/office/officeart/2005/8/colors/accent6_1" csCatId="accent6" phldr="1"/>
      <dgm:spPr/>
      <dgm:t>
        <a:bodyPr/>
        <a:lstStyle/>
        <a:p>
          <a:endParaRPr lang="en-GB"/>
        </a:p>
      </dgm:t>
    </dgm:pt>
    <dgm:pt modelId="{64263780-6675-4AEE-9ACC-EBB97B8CD119}">
      <dgm:prSet phldrT="[Text]"/>
      <dgm:spPr>
        <a:solidFill>
          <a:schemeClr val="accent6">
            <a:alpha val="50000"/>
          </a:schemeClr>
        </a:solidFill>
      </dgm:spPr>
      <dgm:t>
        <a:bodyPr/>
        <a:lstStyle/>
        <a:p>
          <a:r>
            <a:rPr lang="en-GB" dirty="0"/>
            <a:t>Business stakeholders</a:t>
          </a:r>
        </a:p>
      </dgm:t>
    </dgm:pt>
    <dgm:pt modelId="{C33FA2CA-1991-4E58-A6CA-196F95EE3375}" type="parTrans" cxnId="{D2759183-FBA7-4423-9DFD-603E793AF246}">
      <dgm:prSet/>
      <dgm:spPr/>
      <dgm:t>
        <a:bodyPr/>
        <a:lstStyle/>
        <a:p>
          <a:endParaRPr lang="en-GB"/>
        </a:p>
      </dgm:t>
    </dgm:pt>
    <dgm:pt modelId="{3CB5D4FF-6AD2-452A-97BF-F149A71A6463}" type="sibTrans" cxnId="{D2759183-FBA7-4423-9DFD-603E793AF246}">
      <dgm:prSet/>
      <dgm:spPr/>
      <dgm:t>
        <a:bodyPr/>
        <a:lstStyle/>
        <a:p>
          <a:endParaRPr lang="en-GB"/>
        </a:p>
      </dgm:t>
    </dgm:pt>
    <dgm:pt modelId="{C81D96A9-02DA-4491-A9FF-6938D237941C}">
      <dgm:prSet phldrT="[Text]"/>
      <dgm:spPr/>
      <dgm:t>
        <a:bodyPr/>
        <a:lstStyle/>
        <a:p>
          <a:r>
            <a:rPr lang="en-GB" dirty="0"/>
            <a:t>System end users and managers</a:t>
          </a:r>
        </a:p>
      </dgm:t>
    </dgm:pt>
    <dgm:pt modelId="{909D6EED-1835-4DF1-BB69-A300AE1108E2}" type="parTrans" cxnId="{C5C965A4-A132-47C9-9B5E-2F450AB28205}">
      <dgm:prSet/>
      <dgm:spPr/>
      <dgm:t>
        <a:bodyPr/>
        <a:lstStyle/>
        <a:p>
          <a:endParaRPr lang="en-GB"/>
        </a:p>
      </dgm:t>
    </dgm:pt>
    <dgm:pt modelId="{F64F1CCB-1DC6-4053-B814-6D64F546CA0A}" type="sibTrans" cxnId="{C5C965A4-A132-47C9-9B5E-2F450AB28205}">
      <dgm:prSet/>
      <dgm:spPr/>
      <dgm:t>
        <a:bodyPr/>
        <a:lstStyle/>
        <a:p>
          <a:endParaRPr lang="en-GB"/>
        </a:p>
      </dgm:t>
    </dgm:pt>
    <dgm:pt modelId="{BC95C5C2-F5DB-4811-9D02-E74A4B9E7DBD}">
      <dgm:prSet phldrT="[Text]"/>
      <dgm:spPr/>
      <dgm:t>
        <a:bodyPr/>
        <a:lstStyle/>
        <a:p>
          <a:r>
            <a:rPr lang="en-GB" dirty="0"/>
            <a:t>Project sponsor</a:t>
          </a:r>
        </a:p>
      </dgm:t>
    </dgm:pt>
    <dgm:pt modelId="{ED13383F-8DA1-44CF-8B58-0EEEA2913F0B}" type="parTrans" cxnId="{0DF8B712-CDA9-4519-A16C-789E031CB3A7}">
      <dgm:prSet/>
      <dgm:spPr/>
      <dgm:t>
        <a:bodyPr/>
        <a:lstStyle/>
        <a:p>
          <a:endParaRPr lang="en-GB"/>
        </a:p>
      </dgm:t>
    </dgm:pt>
    <dgm:pt modelId="{4890801D-746B-4303-A802-D7079C4F0755}" type="sibTrans" cxnId="{0DF8B712-CDA9-4519-A16C-789E031CB3A7}">
      <dgm:prSet/>
      <dgm:spPr/>
      <dgm:t>
        <a:bodyPr/>
        <a:lstStyle/>
        <a:p>
          <a:endParaRPr lang="en-GB"/>
        </a:p>
      </dgm:t>
    </dgm:pt>
    <dgm:pt modelId="{DA3A9F76-8058-4554-9973-4D9F8215638D}">
      <dgm:prSet phldrT="[Text]"/>
      <dgm:spPr/>
      <dgm:t>
        <a:bodyPr/>
        <a:lstStyle/>
        <a:p>
          <a:r>
            <a:rPr lang="en-GB" dirty="0"/>
            <a:t>Subject matter experts</a:t>
          </a:r>
        </a:p>
      </dgm:t>
    </dgm:pt>
    <dgm:pt modelId="{22362B7A-0A26-42A9-8F2A-8D847B158A98}" type="parTrans" cxnId="{CCD94C2F-E2FB-47FE-A79D-CEB0E0F5AD55}">
      <dgm:prSet/>
      <dgm:spPr/>
      <dgm:t>
        <a:bodyPr/>
        <a:lstStyle/>
        <a:p>
          <a:endParaRPr lang="en-GB"/>
        </a:p>
      </dgm:t>
    </dgm:pt>
    <dgm:pt modelId="{C7CFBAE5-0E07-4D53-81C5-DA8DF23B2691}" type="sibTrans" cxnId="{CCD94C2F-E2FB-47FE-A79D-CEB0E0F5AD55}">
      <dgm:prSet/>
      <dgm:spPr/>
      <dgm:t>
        <a:bodyPr/>
        <a:lstStyle/>
        <a:p>
          <a:endParaRPr lang="en-GB"/>
        </a:p>
      </dgm:t>
    </dgm:pt>
    <dgm:pt modelId="{5F719153-9D53-4352-AA51-C4A7963F09A1}" type="pres">
      <dgm:prSet presAssocID="{DE6F1CF1-5125-4A17-B734-5F34D2CB139F}" presName="composite" presStyleCnt="0">
        <dgm:presLayoutVars>
          <dgm:chMax val="1"/>
          <dgm:dir/>
          <dgm:resizeHandles val="exact"/>
        </dgm:presLayoutVars>
      </dgm:prSet>
      <dgm:spPr/>
    </dgm:pt>
    <dgm:pt modelId="{C76C9D23-5525-43EA-85AF-F7C48527A048}" type="pres">
      <dgm:prSet presAssocID="{DE6F1CF1-5125-4A17-B734-5F34D2CB139F}" presName="radial" presStyleCnt="0">
        <dgm:presLayoutVars>
          <dgm:animLvl val="ctr"/>
        </dgm:presLayoutVars>
      </dgm:prSet>
      <dgm:spPr/>
    </dgm:pt>
    <dgm:pt modelId="{ED537943-0E94-424E-A7A7-D50B8521EB55}" type="pres">
      <dgm:prSet presAssocID="{64263780-6675-4AEE-9ACC-EBB97B8CD119}" presName="centerShape" presStyleLbl="vennNode1" presStyleIdx="0" presStyleCnt="4"/>
      <dgm:spPr/>
    </dgm:pt>
    <dgm:pt modelId="{36F4E616-B52C-48A0-A336-144A06035584}" type="pres">
      <dgm:prSet presAssocID="{C81D96A9-02DA-4491-A9FF-6938D237941C}" presName="node" presStyleLbl="vennNode1" presStyleIdx="1" presStyleCnt="4">
        <dgm:presLayoutVars>
          <dgm:bulletEnabled val="1"/>
        </dgm:presLayoutVars>
      </dgm:prSet>
      <dgm:spPr/>
    </dgm:pt>
    <dgm:pt modelId="{4F9DB5B1-F8DC-4C7B-B1BD-F0549DBF4770}" type="pres">
      <dgm:prSet presAssocID="{BC95C5C2-F5DB-4811-9D02-E74A4B9E7DBD}" presName="node" presStyleLbl="vennNode1" presStyleIdx="2" presStyleCnt="4">
        <dgm:presLayoutVars>
          <dgm:bulletEnabled val="1"/>
        </dgm:presLayoutVars>
      </dgm:prSet>
      <dgm:spPr/>
    </dgm:pt>
    <dgm:pt modelId="{48368C5F-DDCC-445D-A839-F0529AC127ED}" type="pres">
      <dgm:prSet presAssocID="{DA3A9F76-8058-4554-9973-4D9F8215638D}" presName="node" presStyleLbl="vennNode1" presStyleIdx="3" presStyleCnt="4">
        <dgm:presLayoutVars>
          <dgm:bulletEnabled val="1"/>
        </dgm:presLayoutVars>
      </dgm:prSet>
      <dgm:spPr/>
    </dgm:pt>
  </dgm:ptLst>
  <dgm:cxnLst>
    <dgm:cxn modelId="{EDBE4E09-37B9-4900-AA2A-CCBA7651F7EF}" type="presOf" srcId="{DA3A9F76-8058-4554-9973-4D9F8215638D}" destId="{48368C5F-DDCC-445D-A839-F0529AC127ED}" srcOrd="0" destOrd="0" presId="urn:microsoft.com/office/officeart/2005/8/layout/radial3"/>
    <dgm:cxn modelId="{0DF8B712-CDA9-4519-A16C-789E031CB3A7}" srcId="{64263780-6675-4AEE-9ACC-EBB97B8CD119}" destId="{BC95C5C2-F5DB-4811-9D02-E74A4B9E7DBD}" srcOrd="1" destOrd="0" parTransId="{ED13383F-8DA1-44CF-8B58-0EEEA2913F0B}" sibTransId="{4890801D-746B-4303-A802-D7079C4F0755}"/>
    <dgm:cxn modelId="{CCD94C2F-E2FB-47FE-A79D-CEB0E0F5AD55}" srcId="{64263780-6675-4AEE-9ACC-EBB97B8CD119}" destId="{DA3A9F76-8058-4554-9973-4D9F8215638D}" srcOrd="2" destOrd="0" parTransId="{22362B7A-0A26-42A9-8F2A-8D847B158A98}" sibTransId="{C7CFBAE5-0E07-4D53-81C5-DA8DF23B2691}"/>
    <dgm:cxn modelId="{CA601661-02B6-46CE-8F86-2680A11213B8}" type="presOf" srcId="{C81D96A9-02DA-4491-A9FF-6938D237941C}" destId="{36F4E616-B52C-48A0-A336-144A06035584}" srcOrd="0" destOrd="0" presId="urn:microsoft.com/office/officeart/2005/8/layout/radial3"/>
    <dgm:cxn modelId="{49A04E74-6CD7-470F-8D2F-77158BC8B2A3}" type="presOf" srcId="{64263780-6675-4AEE-9ACC-EBB97B8CD119}" destId="{ED537943-0E94-424E-A7A7-D50B8521EB55}" srcOrd="0" destOrd="0" presId="urn:microsoft.com/office/officeart/2005/8/layout/radial3"/>
    <dgm:cxn modelId="{5A02AC79-A8B3-493A-A6E6-6DD5965EF3E5}" type="presOf" srcId="{BC95C5C2-F5DB-4811-9D02-E74A4B9E7DBD}" destId="{4F9DB5B1-F8DC-4C7B-B1BD-F0549DBF4770}" srcOrd="0" destOrd="0" presId="urn:microsoft.com/office/officeart/2005/8/layout/radial3"/>
    <dgm:cxn modelId="{6DB70F7D-A0EB-4759-8F6E-ECA8287F9C4E}" type="presOf" srcId="{DE6F1CF1-5125-4A17-B734-5F34D2CB139F}" destId="{5F719153-9D53-4352-AA51-C4A7963F09A1}" srcOrd="0" destOrd="0" presId="urn:microsoft.com/office/officeart/2005/8/layout/radial3"/>
    <dgm:cxn modelId="{D2759183-FBA7-4423-9DFD-603E793AF246}" srcId="{DE6F1CF1-5125-4A17-B734-5F34D2CB139F}" destId="{64263780-6675-4AEE-9ACC-EBB97B8CD119}" srcOrd="0" destOrd="0" parTransId="{C33FA2CA-1991-4E58-A6CA-196F95EE3375}" sibTransId="{3CB5D4FF-6AD2-452A-97BF-F149A71A6463}"/>
    <dgm:cxn modelId="{C5C965A4-A132-47C9-9B5E-2F450AB28205}" srcId="{64263780-6675-4AEE-9ACC-EBB97B8CD119}" destId="{C81D96A9-02DA-4491-A9FF-6938D237941C}" srcOrd="0" destOrd="0" parTransId="{909D6EED-1835-4DF1-BB69-A300AE1108E2}" sibTransId="{F64F1CCB-1DC6-4053-B814-6D64F546CA0A}"/>
    <dgm:cxn modelId="{81C37108-3C7C-4C91-9152-7063FB6DFCCD}" type="presParOf" srcId="{5F719153-9D53-4352-AA51-C4A7963F09A1}" destId="{C76C9D23-5525-43EA-85AF-F7C48527A048}" srcOrd="0" destOrd="0" presId="urn:microsoft.com/office/officeart/2005/8/layout/radial3"/>
    <dgm:cxn modelId="{9971C4CF-CC27-4800-9D62-E4027CD7DFD3}" type="presParOf" srcId="{C76C9D23-5525-43EA-85AF-F7C48527A048}" destId="{ED537943-0E94-424E-A7A7-D50B8521EB55}" srcOrd="0" destOrd="0" presId="urn:microsoft.com/office/officeart/2005/8/layout/radial3"/>
    <dgm:cxn modelId="{97FB7FBD-ADEB-4A87-937C-A6B98DF3A174}" type="presParOf" srcId="{C76C9D23-5525-43EA-85AF-F7C48527A048}" destId="{36F4E616-B52C-48A0-A336-144A06035584}" srcOrd="1" destOrd="0" presId="urn:microsoft.com/office/officeart/2005/8/layout/radial3"/>
    <dgm:cxn modelId="{CD507E0F-798C-49CF-B12A-64BE5E71592C}" type="presParOf" srcId="{C76C9D23-5525-43EA-85AF-F7C48527A048}" destId="{4F9DB5B1-F8DC-4C7B-B1BD-F0549DBF4770}" srcOrd="2" destOrd="0" presId="urn:microsoft.com/office/officeart/2005/8/layout/radial3"/>
    <dgm:cxn modelId="{70722189-87C9-4731-AF16-AD4C43E4D33B}" type="presParOf" srcId="{C76C9D23-5525-43EA-85AF-F7C48527A048}" destId="{48368C5F-DDCC-445D-A839-F0529AC127ED}"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6F1CF1-5125-4A17-B734-5F34D2CB139F}" type="doc">
      <dgm:prSet loTypeId="urn:microsoft.com/office/officeart/2005/8/layout/radial3" loCatId="cycle" qsTypeId="urn:microsoft.com/office/officeart/2005/8/quickstyle/simple1" qsCatId="simple" csTypeId="urn:microsoft.com/office/officeart/2005/8/colors/accent4_1" csCatId="accent4" phldr="1"/>
      <dgm:spPr/>
      <dgm:t>
        <a:bodyPr/>
        <a:lstStyle/>
        <a:p>
          <a:endParaRPr lang="en-GB"/>
        </a:p>
      </dgm:t>
    </dgm:pt>
    <dgm:pt modelId="{64263780-6675-4AEE-9ACC-EBB97B8CD119}">
      <dgm:prSet phldrT="[Text]"/>
      <dgm:spPr>
        <a:solidFill>
          <a:schemeClr val="accent4">
            <a:alpha val="50000"/>
          </a:schemeClr>
        </a:solidFill>
      </dgm:spPr>
      <dgm:t>
        <a:bodyPr/>
        <a:lstStyle/>
        <a:p>
          <a:r>
            <a:rPr lang="en-GB" dirty="0"/>
            <a:t>Project stakeholders</a:t>
          </a:r>
        </a:p>
      </dgm:t>
    </dgm:pt>
    <dgm:pt modelId="{C33FA2CA-1991-4E58-A6CA-196F95EE3375}" type="parTrans" cxnId="{D2759183-FBA7-4423-9DFD-603E793AF246}">
      <dgm:prSet/>
      <dgm:spPr/>
      <dgm:t>
        <a:bodyPr/>
        <a:lstStyle/>
        <a:p>
          <a:endParaRPr lang="en-GB"/>
        </a:p>
      </dgm:t>
    </dgm:pt>
    <dgm:pt modelId="{3CB5D4FF-6AD2-452A-97BF-F149A71A6463}" type="sibTrans" cxnId="{D2759183-FBA7-4423-9DFD-603E793AF246}">
      <dgm:prSet/>
      <dgm:spPr/>
      <dgm:t>
        <a:bodyPr/>
        <a:lstStyle/>
        <a:p>
          <a:endParaRPr lang="en-GB"/>
        </a:p>
      </dgm:t>
    </dgm:pt>
    <dgm:pt modelId="{C81D96A9-02DA-4491-A9FF-6938D237941C}">
      <dgm:prSet phldrT="[Text]"/>
      <dgm:spPr/>
      <dgm:t>
        <a:bodyPr/>
        <a:lstStyle/>
        <a:p>
          <a:r>
            <a:rPr lang="en-GB" dirty="0"/>
            <a:t>Project manager</a:t>
          </a:r>
        </a:p>
      </dgm:t>
    </dgm:pt>
    <dgm:pt modelId="{909D6EED-1835-4DF1-BB69-A300AE1108E2}" type="parTrans" cxnId="{C5C965A4-A132-47C9-9B5E-2F450AB28205}">
      <dgm:prSet/>
      <dgm:spPr/>
      <dgm:t>
        <a:bodyPr/>
        <a:lstStyle/>
        <a:p>
          <a:endParaRPr lang="en-GB"/>
        </a:p>
      </dgm:t>
    </dgm:pt>
    <dgm:pt modelId="{F64F1CCB-1DC6-4053-B814-6D64F546CA0A}" type="sibTrans" cxnId="{C5C965A4-A132-47C9-9B5E-2F450AB28205}">
      <dgm:prSet/>
      <dgm:spPr/>
      <dgm:t>
        <a:bodyPr/>
        <a:lstStyle/>
        <a:p>
          <a:endParaRPr lang="en-GB"/>
        </a:p>
      </dgm:t>
    </dgm:pt>
    <dgm:pt modelId="{BC95C5C2-F5DB-4811-9D02-E74A4B9E7DBD}">
      <dgm:prSet phldrT="[Text]"/>
      <dgm:spPr/>
      <dgm:t>
        <a:bodyPr/>
        <a:lstStyle/>
        <a:p>
          <a:r>
            <a:rPr lang="en-GB" dirty="0"/>
            <a:t>Requirements engineers</a:t>
          </a:r>
          <a:br>
            <a:rPr lang="en-GB" dirty="0"/>
          </a:br>
          <a:r>
            <a:rPr lang="en-GB" dirty="0"/>
            <a:t>Business / system analysts</a:t>
          </a:r>
        </a:p>
      </dgm:t>
    </dgm:pt>
    <dgm:pt modelId="{ED13383F-8DA1-44CF-8B58-0EEEA2913F0B}" type="parTrans" cxnId="{0DF8B712-CDA9-4519-A16C-789E031CB3A7}">
      <dgm:prSet/>
      <dgm:spPr/>
      <dgm:t>
        <a:bodyPr/>
        <a:lstStyle/>
        <a:p>
          <a:endParaRPr lang="en-GB"/>
        </a:p>
      </dgm:t>
    </dgm:pt>
    <dgm:pt modelId="{4890801D-746B-4303-A802-D7079C4F0755}" type="sibTrans" cxnId="{0DF8B712-CDA9-4519-A16C-789E031CB3A7}">
      <dgm:prSet/>
      <dgm:spPr/>
      <dgm:t>
        <a:bodyPr/>
        <a:lstStyle/>
        <a:p>
          <a:endParaRPr lang="en-GB"/>
        </a:p>
      </dgm:t>
    </dgm:pt>
    <dgm:pt modelId="{DA3A9F76-8058-4554-9973-4D9F8215638D}">
      <dgm:prSet phldrT="[Text]" custT="1"/>
      <dgm:spPr/>
      <dgm:t>
        <a:bodyPr/>
        <a:lstStyle/>
        <a:p>
          <a:pPr algn="ctr"/>
          <a:r>
            <a:rPr lang="en-GB" sz="1600" b="0" dirty="0"/>
            <a:t>Software designers / developers / testers / architects / release engineers</a:t>
          </a:r>
        </a:p>
      </dgm:t>
    </dgm:pt>
    <dgm:pt modelId="{22362B7A-0A26-42A9-8F2A-8D847B158A98}" type="parTrans" cxnId="{CCD94C2F-E2FB-47FE-A79D-CEB0E0F5AD55}">
      <dgm:prSet/>
      <dgm:spPr/>
      <dgm:t>
        <a:bodyPr/>
        <a:lstStyle/>
        <a:p>
          <a:endParaRPr lang="en-GB"/>
        </a:p>
      </dgm:t>
    </dgm:pt>
    <dgm:pt modelId="{C7CFBAE5-0E07-4D53-81C5-DA8DF23B2691}" type="sibTrans" cxnId="{CCD94C2F-E2FB-47FE-A79D-CEB0E0F5AD55}">
      <dgm:prSet/>
      <dgm:spPr/>
      <dgm:t>
        <a:bodyPr/>
        <a:lstStyle/>
        <a:p>
          <a:endParaRPr lang="en-GB"/>
        </a:p>
      </dgm:t>
    </dgm:pt>
    <dgm:pt modelId="{5F719153-9D53-4352-AA51-C4A7963F09A1}" type="pres">
      <dgm:prSet presAssocID="{DE6F1CF1-5125-4A17-B734-5F34D2CB139F}" presName="composite" presStyleCnt="0">
        <dgm:presLayoutVars>
          <dgm:chMax val="1"/>
          <dgm:dir/>
          <dgm:resizeHandles val="exact"/>
        </dgm:presLayoutVars>
      </dgm:prSet>
      <dgm:spPr/>
    </dgm:pt>
    <dgm:pt modelId="{C76C9D23-5525-43EA-85AF-F7C48527A048}" type="pres">
      <dgm:prSet presAssocID="{DE6F1CF1-5125-4A17-B734-5F34D2CB139F}" presName="radial" presStyleCnt="0">
        <dgm:presLayoutVars>
          <dgm:animLvl val="ctr"/>
        </dgm:presLayoutVars>
      </dgm:prSet>
      <dgm:spPr/>
    </dgm:pt>
    <dgm:pt modelId="{ED537943-0E94-424E-A7A7-D50B8521EB55}" type="pres">
      <dgm:prSet presAssocID="{64263780-6675-4AEE-9ACC-EBB97B8CD119}" presName="centerShape" presStyleLbl="vennNode1" presStyleIdx="0" presStyleCnt="4" custLinFactNeighborX="157" custLinFactNeighborY="2762"/>
      <dgm:spPr/>
    </dgm:pt>
    <dgm:pt modelId="{36F4E616-B52C-48A0-A336-144A06035584}" type="pres">
      <dgm:prSet presAssocID="{C81D96A9-02DA-4491-A9FF-6938D237941C}" presName="node" presStyleLbl="vennNode1" presStyleIdx="1" presStyleCnt="4" custRadScaleRad="96040" custRadScaleInc="-104761">
        <dgm:presLayoutVars>
          <dgm:bulletEnabled val="1"/>
        </dgm:presLayoutVars>
      </dgm:prSet>
      <dgm:spPr/>
    </dgm:pt>
    <dgm:pt modelId="{4F9DB5B1-F8DC-4C7B-B1BD-F0549DBF4770}" type="pres">
      <dgm:prSet presAssocID="{BC95C5C2-F5DB-4811-9D02-E74A4B9E7DBD}" presName="node" presStyleLbl="vennNode1" presStyleIdx="2" presStyleCnt="4" custScaleX="124454" custScaleY="124454" custRadScaleRad="104678" custRadScaleInc="1985">
        <dgm:presLayoutVars>
          <dgm:bulletEnabled val="1"/>
        </dgm:presLayoutVars>
      </dgm:prSet>
      <dgm:spPr/>
    </dgm:pt>
    <dgm:pt modelId="{48368C5F-DDCC-445D-A839-F0529AC127ED}" type="pres">
      <dgm:prSet presAssocID="{DA3A9F76-8058-4554-9973-4D9F8215638D}" presName="node" presStyleLbl="vennNode1" presStyleIdx="3" presStyleCnt="4" custScaleX="155404" custScaleY="155404" custRadScaleRad="109500" custRadScaleInc="97690">
        <dgm:presLayoutVars>
          <dgm:bulletEnabled val="1"/>
        </dgm:presLayoutVars>
      </dgm:prSet>
      <dgm:spPr/>
    </dgm:pt>
  </dgm:ptLst>
  <dgm:cxnLst>
    <dgm:cxn modelId="{EDBE4E09-37B9-4900-AA2A-CCBA7651F7EF}" type="presOf" srcId="{DA3A9F76-8058-4554-9973-4D9F8215638D}" destId="{48368C5F-DDCC-445D-A839-F0529AC127ED}" srcOrd="0" destOrd="0" presId="urn:microsoft.com/office/officeart/2005/8/layout/radial3"/>
    <dgm:cxn modelId="{0DF8B712-CDA9-4519-A16C-789E031CB3A7}" srcId="{64263780-6675-4AEE-9ACC-EBB97B8CD119}" destId="{BC95C5C2-F5DB-4811-9D02-E74A4B9E7DBD}" srcOrd="1" destOrd="0" parTransId="{ED13383F-8DA1-44CF-8B58-0EEEA2913F0B}" sibTransId="{4890801D-746B-4303-A802-D7079C4F0755}"/>
    <dgm:cxn modelId="{CCD94C2F-E2FB-47FE-A79D-CEB0E0F5AD55}" srcId="{64263780-6675-4AEE-9ACC-EBB97B8CD119}" destId="{DA3A9F76-8058-4554-9973-4D9F8215638D}" srcOrd="2" destOrd="0" parTransId="{22362B7A-0A26-42A9-8F2A-8D847B158A98}" sibTransId="{C7CFBAE5-0E07-4D53-81C5-DA8DF23B2691}"/>
    <dgm:cxn modelId="{CA601661-02B6-46CE-8F86-2680A11213B8}" type="presOf" srcId="{C81D96A9-02DA-4491-A9FF-6938D237941C}" destId="{36F4E616-B52C-48A0-A336-144A06035584}" srcOrd="0" destOrd="0" presId="urn:microsoft.com/office/officeart/2005/8/layout/radial3"/>
    <dgm:cxn modelId="{49A04E74-6CD7-470F-8D2F-77158BC8B2A3}" type="presOf" srcId="{64263780-6675-4AEE-9ACC-EBB97B8CD119}" destId="{ED537943-0E94-424E-A7A7-D50B8521EB55}" srcOrd="0" destOrd="0" presId="urn:microsoft.com/office/officeart/2005/8/layout/radial3"/>
    <dgm:cxn modelId="{5A02AC79-A8B3-493A-A6E6-6DD5965EF3E5}" type="presOf" srcId="{BC95C5C2-F5DB-4811-9D02-E74A4B9E7DBD}" destId="{4F9DB5B1-F8DC-4C7B-B1BD-F0549DBF4770}" srcOrd="0" destOrd="0" presId="urn:microsoft.com/office/officeart/2005/8/layout/radial3"/>
    <dgm:cxn modelId="{6DB70F7D-A0EB-4759-8F6E-ECA8287F9C4E}" type="presOf" srcId="{DE6F1CF1-5125-4A17-B734-5F34D2CB139F}" destId="{5F719153-9D53-4352-AA51-C4A7963F09A1}" srcOrd="0" destOrd="0" presId="urn:microsoft.com/office/officeart/2005/8/layout/radial3"/>
    <dgm:cxn modelId="{D2759183-FBA7-4423-9DFD-603E793AF246}" srcId="{DE6F1CF1-5125-4A17-B734-5F34D2CB139F}" destId="{64263780-6675-4AEE-9ACC-EBB97B8CD119}" srcOrd="0" destOrd="0" parTransId="{C33FA2CA-1991-4E58-A6CA-196F95EE3375}" sibTransId="{3CB5D4FF-6AD2-452A-97BF-F149A71A6463}"/>
    <dgm:cxn modelId="{C5C965A4-A132-47C9-9B5E-2F450AB28205}" srcId="{64263780-6675-4AEE-9ACC-EBB97B8CD119}" destId="{C81D96A9-02DA-4491-A9FF-6938D237941C}" srcOrd="0" destOrd="0" parTransId="{909D6EED-1835-4DF1-BB69-A300AE1108E2}" sibTransId="{F64F1CCB-1DC6-4053-B814-6D64F546CA0A}"/>
    <dgm:cxn modelId="{81C37108-3C7C-4C91-9152-7063FB6DFCCD}" type="presParOf" srcId="{5F719153-9D53-4352-AA51-C4A7963F09A1}" destId="{C76C9D23-5525-43EA-85AF-F7C48527A048}" srcOrd="0" destOrd="0" presId="urn:microsoft.com/office/officeart/2005/8/layout/radial3"/>
    <dgm:cxn modelId="{9971C4CF-CC27-4800-9D62-E4027CD7DFD3}" type="presParOf" srcId="{C76C9D23-5525-43EA-85AF-F7C48527A048}" destId="{ED537943-0E94-424E-A7A7-D50B8521EB55}" srcOrd="0" destOrd="0" presId="urn:microsoft.com/office/officeart/2005/8/layout/radial3"/>
    <dgm:cxn modelId="{97FB7FBD-ADEB-4A87-937C-A6B98DF3A174}" type="presParOf" srcId="{C76C9D23-5525-43EA-85AF-F7C48527A048}" destId="{36F4E616-B52C-48A0-A336-144A06035584}" srcOrd="1" destOrd="0" presId="urn:microsoft.com/office/officeart/2005/8/layout/radial3"/>
    <dgm:cxn modelId="{CD507E0F-798C-49CF-B12A-64BE5E71592C}" type="presParOf" srcId="{C76C9D23-5525-43EA-85AF-F7C48527A048}" destId="{4F9DB5B1-F8DC-4C7B-B1BD-F0549DBF4770}" srcOrd="2" destOrd="0" presId="urn:microsoft.com/office/officeart/2005/8/layout/radial3"/>
    <dgm:cxn modelId="{70722189-87C9-4731-AF16-AD4C43E4D33B}" type="presParOf" srcId="{C76C9D23-5525-43EA-85AF-F7C48527A048}" destId="{48368C5F-DDCC-445D-A839-F0529AC127ED}" srcOrd="3" destOrd="0" presId="urn:microsoft.com/office/officeart/2005/8/layout/radial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6F1CF1-5125-4A17-B734-5F34D2CB139F}" type="doc">
      <dgm:prSet loTypeId="urn:microsoft.com/office/officeart/2005/8/layout/radial3" loCatId="cycle" qsTypeId="urn:microsoft.com/office/officeart/2005/8/quickstyle/simple1" qsCatId="simple" csTypeId="urn:microsoft.com/office/officeart/2005/8/colors/accent3_1" csCatId="accent3" phldr="1"/>
      <dgm:spPr/>
      <dgm:t>
        <a:bodyPr/>
        <a:lstStyle/>
        <a:p>
          <a:endParaRPr lang="en-GB"/>
        </a:p>
      </dgm:t>
    </dgm:pt>
    <dgm:pt modelId="{64263780-6675-4AEE-9ACC-EBB97B8CD119}">
      <dgm:prSet phldrT="[Text]"/>
      <dgm:spPr>
        <a:solidFill>
          <a:schemeClr val="accent3">
            <a:alpha val="50000"/>
          </a:schemeClr>
        </a:solidFill>
      </dgm:spPr>
      <dgm:t>
        <a:bodyPr/>
        <a:lstStyle/>
        <a:p>
          <a:r>
            <a:rPr lang="en-GB" dirty="0"/>
            <a:t>External stakeholders</a:t>
          </a:r>
        </a:p>
      </dgm:t>
    </dgm:pt>
    <dgm:pt modelId="{C33FA2CA-1991-4E58-A6CA-196F95EE3375}" type="parTrans" cxnId="{D2759183-FBA7-4423-9DFD-603E793AF246}">
      <dgm:prSet/>
      <dgm:spPr/>
      <dgm:t>
        <a:bodyPr/>
        <a:lstStyle/>
        <a:p>
          <a:endParaRPr lang="en-GB"/>
        </a:p>
      </dgm:t>
    </dgm:pt>
    <dgm:pt modelId="{3CB5D4FF-6AD2-452A-97BF-F149A71A6463}" type="sibTrans" cxnId="{D2759183-FBA7-4423-9DFD-603E793AF246}">
      <dgm:prSet/>
      <dgm:spPr/>
      <dgm:t>
        <a:bodyPr/>
        <a:lstStyle/>
        <a:p>
          <a:endParaRPr lang="en-GB"/>
        </a:p>
      </dgm:t>
    </dgm:pt>
    <dgm:pt modelId="{C81D96A9-02DA-4491-A9FF-6938D237941C}">
      <dgm:prSet phldrT="[Text]"/>
      <dgm:spPr/>
      <dgm:t>
        <a:bodyPr/>
        <a:lstStyle/>
        <a:p>
          <a:r>
            <a:rPr lang="en-GB" dirty="0"/>
            <a:t>Suppliers</a:t>
          </a:r>
        </a:p>
      </dgm:t>
    </dgm:pt>
    <dgm:pt modelId="{909D6EED-1835-4DF1-BB69-A300AE1108E2}" type="parTrans" cxnId="{C5C965A4-A132-47C9-9B5E-2F450AB28205}">
      <dgm:prSet/>
      <dgm:spPr/>
      <dgm:t>
        <a:bodyPr/>
        <a:lstStyle/>
        <a:p>
          <a:endParaRPr lang="en-GB"/>
        </a:p>
      </dgm:t>
    </dgm:pt>
    <dgm:pt modelId="{F64F1CCB-1DC6-4053-B814-6D64F546CA0A}" type="sibTrans" cxnId="{C5C965A4-A132-47C9-9B5E-2F450AB28205}">
      <dgm:prSet/>
      <dgm:spPr/>
      <dgm:t>
        <a:bodyPr/>
        <a:lstStyle/>
        <a:p>
          <a:endParaRPr lang="en-GB"/>
        </a:p>
      </dgm:t>
    </dgm:pt>
    <dgm:pt modelId="{BC95C5C2-F5DB-4811-9D02-E74A4B9E7DBD}">
      <dgm:prSet phldrT="[Text]"/>
      <dgm:spPr/>
      <dgm:t>
        <a:bodyPr/>
        <a:lstStyle/>
        <a:p>
          <a:r>
            <a:rPr lang="en-GB" dirty="0"/>
            <a:t>Customers</a:t>
          </a:r>
        </a:p>
      </dgm:t>
    </dgm:pt>
    <dgm:pt modelId="{ED13383F-8DA1-44CF-8B58-0EEEA2913F0B}" type="parTrans" cxnId="{0DF8B712-CDA9-4519-A16C-789E031CB3A7}">
      <dgm:prSet/>
      <dgm:spPr/>
      <dgm:t>
        <a:bodyPr/>
        <a:lstStyle/>
        <a:p>
          <a:endParaRPr lang="en-GB"/>
        </a:p>
      </dgm:t>
    </dgm:pt>
    <dgm:pt modelId="{4890801D-746B-4303-A802-D7079C4F0755}" type="sibTrans" cxnId="{0DF8B712-CDA9-4519-A16C-789E031CB3A7}">
      <dgm:prSet/>
      <dgm:spPr/>
      <dgm:t>
        <a:bodyPr/>
        <a:lstStyle/>
        <a:p>
          <a:endParaRPr lang="en-GB"/>
        </a:p>
      </dgm:t>
    </dgm:pt>
    <dgm:pt modelId="{DA3A9F76-8058-4554-9973-4D9F8215638D}">
      <dgm:prSet phldrT="[Text]"/>
      <dgm:spPr/>
      <dgm:t>
        <a:bodyPr/>
        <a:lstStyle/>
        <a:p>
          <a:r>
            <a:rPr lang="en-GB" dirty="0"/>
            <a:t>Regulators</a:t>
          </a:r>
        </a:p>
      </dgm:t>
    </dgm:pt>
    <dgm:pt modelId="{22362B7A-0A26-42A9-8F2A-8D847B158A98}" type="parTrans" cxnId="{CCD94C2F-E2FB-47FE-A79D-CEB0E0F5AD55}">
      <dgm:prSet/>
      <dgm:spPr/>
      <dgm:t>
        <a:bodyPr/>
        <a:lstStyle/>
        <a:p>
          <a:endParaRPr lang="en-GB"/>
        </a:p>
      </dgm:t>
    </dgm:pt>
    <dgm:pt modelId="{C7CFBAE5-0E07-4D53-81C5-DA8DF23B2691}" type="sibTrans" cxnId="{CCD94C2F-E2FB-47FE-A79D-CEB0E0F5AD55}">
      <dgm:prSet/>
      <dgm:spPr/>
      <dgm:t>
        <a:bodyPr/>
        <a:lstStyle/>
        <a:p>
          <a:endParaRPr lang="en-GB"/>
        </a:p>
      </dgm:t>
    </dgm:pt>
    <dgm:pt modelId="{5F719153-9D53-4352-AA51-C4A7963F09A1}" type="pres">
      <dgm:prSet presAssocID="{DE6F1CF1-5125-4A17-B734-5F34D2CB139F}" presName="composite" presStyleCnt="0">
        <dgm:presLayoutVars>
          <dgm:chMax val="1"/>
          <dgm:dir/>
          <dgm:resizeHandles val="exact"/>
        </dgm:presLayoutVars>
      </dgm:prSet>
      <dgm:spPr/>
    </dgm:pt>
    <dgm:pt modelId="{C76C9D23-5525-43EA-85AF-F7C48527A048}" type="pres">
      <dgm:prSet presAssocID="{DE6F1CF1-5125-4A17-B734-5F34D2CB139F}" presName="radial" presStyleCnt="0">
        <dgm:presLayoutVars>
          <dgm:animLvl val="ctr"/>
        </dgm:presLayoutVars>
      </dgm:prSet>
      <dgm:spPr/>
    </dgm:pt>
    <dgm:pt modelId="{ED537943-0E94-424E-A7A7-D50B8521EB55}" type="pres">
      <dgm:prSet presAssocID="{64263780-6675-4AEE-9ACC-EBB97B8CD119}" presName="centerShape" presStyleLbl="vennNode1" presStyleIdx="0" presStyleCnt="4"/>
      <dgm:spPr/>
    </dgm:pt>
    <dgm:pt modelId="{36F4E616-B52C-48A0-A336-144A06035584}" type="pres">
      <dgm:prSet presAssocID="{C81D96A9-02DA-4491-A9FF-6938D237941C}" presName="node" presStyleLbl="vennNode1" presStyleIdx="1" presStyleCnt="4">
        <dgm:presLayoutVars>
          <dgm:bulletEnabled val="1"/>
        </dgm:presLayoutVars>
      </dgm:prSet>
      <dgm:spPr/>
    </dgm:pt>
    <dgm:pt modelId="{4F9DB5B1-F8DC-4C7B-B1BD-F0549DBF4770}" type="pres">
      <dgm:prSet presAssocID="{BC95C5C2-F5DB-4811-9D02-E74A4B9E7DBD}" presName="node" presStyleLbl="vennNode1" presStyleIdx="2" presStyleCnt="4">
        <dgm:presLayoutVars>
          <dgm:bulletEnabled val="1"/>
        </dgm:presLayoutVars>
      </dgm:prSet>
      <dgm:spPr/>
    </dgm:pt>
    <dgm:pt modelId="{48368C5F-DDCC-445D-A839-F0529AC127ED}" type="pres">
      <dgm:prSet presAssocID="{DA3A9F76-8058-4554-9973-4D9F8215638D}" presName="node" presStyleLbl="vennNode1" presStyleIdx="3" presStyleCnt="4">
        <dgm:presLayoutVars>
          <dgm:bulletEnabled val="1"/>
        </dgm:presLayoutVars>
      </dgm:prSet>
      <dgm:spPr/>
    </dgm:pt>
  </dgm:ptLst>
  <dgm:cxnLst>
    <dgm:cxn modelId="{EDBE4E09-37B9-4900-AA2A-CCBA7651F7EF}" type="presOf" srcId="{DA3A9F76-8058-4554-9973-4D9F8215638D}" destId="{48368C5F-DDCC-445D-A839-F0529AC127ED}" srcOrd="0" destOrd="0" presId="urn:microsoft.com/office/officeart/2005/8/layout/radial3"/>
    <dgm:cxn modelId="{0DF8B712-CDA9-4519-A16C-789E031CB3A7}" srcId="{64263780-6675-4AEE-9ACC-EBB97B8CD119}" destId="{BC95C5C2-F5DB-4811-9D02-E74A4B9E7DBD}" srcOrd="1" destOrd="0" parTransId="{ED13383F-8DA1-44CF-8B58-0EEEA2913F0B}" sibTransId="{4890801D-746B-4303-A802-D7079C4F0755}"/>
    <dgm:cxn modelId="{CCD94C2F-E2FB-47FE-A79D-CEB0E0F5AD55}" srcId="{64263780-6675-4AEE-9ACC-EBB97B8CD119}" destId="{DA3A9F76-8058-4554-9973-4D9F8215638D}" srcOrd="2" destOrd="0" parTransId="{22362B7A-0A26-42A9-8F2A-8D847B158A98}" sibTransId="{C7CFBAE5-0E07-4D53-81C5-DA8DF23B2691}"/>
    <dgm:cxn modelId="{CA601661-02B6-46CE-8F86-2680A11213B8}" type="presOf" srcId="{C81D96A9-02DA-4491-A9FF-6938D237941C}" destId="{36F4E616-B52C-48A0-A336-144A06035584}" srcOrd="0" destOrd="0" presId="urn:microsoft.com/office/officeart/2005/8/layout/radial3"/>
    <dgm:cxn modelId="{49A04E74-6CD7-470F-8D2F-77158BC8B2A3}" type="presOf" srcId="{64263780-6675-4AEE-9ACC-EBB97B8CD119}" destId="{ED537943-0E94-424E-A7A7-D50B8521EB55}" srcOrd="0" destOrd="0" presId="urn:microsoft.com/office/officeart/2005/8/layout/radial3"/>
    <dgm:cxn modelId="{5A02AC79-A8B3-493A-A6E6-6DD5965EF3E5}" type="presOf" srcId="{BC95C5C2-F5DB-4811-9D02-E74A4B9E7DBD}" destId="{4F9DB5B1-F8DC-4C7B-B1BD-F0549DBF4770}" srcOrd="0" destOrd="0" presId="urn:microsoft.com/office/officeart/2005/8/layout/radial3"/>
    <dgm:cxn modelId="{6DB70F7D-A0EB-4759-8F6E-ECA8287F9C4E}" type="presOf" srcId="{DE6F1CF1-5125-4A17-B734-5F34D2CB139F}" destId="{5F719153-9D53-4352-AA51-C4A7963F09A1}" srcOrd="0" destOrd="0" presId="urn:microsoft.com/office/officeart/2005/8/layout/radial3"/>
    <dgm:cxn modelId="{D2759183-FBA7-4423-9DFD-603E793AF246}" srcId="{DE6F1CF1-5125-4A17-B734-5F34D2CB139F}" destId="{64263780-6675-4AEE-9ACC-EBB97B8CD119}" srcOrd="0" destOrd="0" parTransId="{C33FA2CA-1991-4E58-A6CA-196F95EE3375}" sibTransId="{3CB5D4FF-6AD2-452A-97BF-F149A71A6463}"/>
    <dgm:cxn modelId="{C5C965A4-A132-47C9-9B5E-2F450AB28205}" srcId="{64263780-6675-4AEE-9ACC-EBB97B8CD119}" destId="{C81D96A9-02DA-4491-A9FF-6938D237941C}" srcOrd="0" destOrd="0" parTransId="{909D6EED-1835-4DF1-BB69-A300AE1108E2}" sibTransId="{F64F1CCB-1DC6-4053-B814-6D64F546CA0A}"/>
    <dgm:cxn modelId="{81C37108-3C7C-4C91-9152-7063FB6DFCCD}" type="presParOf" srcId="{5F719153-9D53-4352-AA51-C4A7963F09A1}" destId="{C76C9D23-5525-43EA-85AF-F7C48527A048}" srcOrd="0" destOrd="0" presId="urn:microsoft.com/office/officeart/2005/8/layout/radial3"/>
    <dgm:cxn modelId="{9971C4CF-CC27-4800-9D62-E4027CD7DFD3}" type="presParOf" srcId="{C76C9D23-5525-43EA-85AF-F7C48527A048}" destId="{ED537943-0E94-424E-A7A7-D50B8521EB55}" srcOrd="0" destOrd="0" presId="urn:microsoft.com/office/officeart/2005/8/layout/radial3"/>
    <dgm:cxn modelId="{97FB7FBD-ADEB-4A87-937C-A6B98DF3A174}" type="presParOf" srcId="{C76C9D23-5525-43EA-85AF-F7C48527A048}" destId="{36F4E616-B52C-48A0-A336-144A06035584}" srcOrd="1" destOrd="0" presId="urn:microsoft.com/office/officeart/2005/8/layout/radial3"/>
    <dgm:cxn modelId="{CD507E0F-798C-49CF-B12A-64BE5E71592C}" type="presParOf" srcId="{C76C9D23-5525-43EA-85AF-F7C48527A048}" destId="{4F9DB5B1-F8DC-4C7B-B1BD-F0549DBF4770}" srcOrd="2" destOrd="0" presId="urn:microsoft.com/office/officeart/2005/8/layout/radial3"/>
    <dgm:cxn modelId="{70722189-87C9-4731-AF16-AD4C43E4D33B}" type="presParOf" srcId="{C76C9D23-5525-43EA-85AF-F7C48527A048}" destId="{48368C5F-DDCC-445D-A839-F0529AC127ED}" srcOrd="3" destOrd="0" presId="urn:microsoft.com/office/officeart/2005/8/layout/radial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537943-0E94-424E-A7A7-D50B8521EB55}">
      <dsp:nvSpPr>
        <dsp:cNvPr id="0" name=""/>
        <dsp:cNvSpPr/>
      </dsp:nvSpPr>
      <dsp:spPr>
        <a:xfrm>
          <a:off x="2025231" y="1421329"/>
          <a:ext cx="2981985" cy="2981985"/>
        </a:xfrm>
        <a:prstGeom prst="ellipse">
          <a:avLst/>
        </a:prstGeom>
        <a:solidFill>
          <a:schemeClr val="accent6">
            <a:alpha val="5000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GB" sz="2500" kern="1200" dirty="0"/>
            <a:t>Business stakeholders</a:t>
          </a:r>
        </a:p>
      </dsp:txBody>
      <dsp:txXfrm>
        <a:off x="2461933" y="1858031"/>
        <a:ext cx="2108581" cy="2108581"/>
      </dsp:txXfrm>
    </dsp:sp>
    <dsp:sp modelId="{36F4E616-B52C-48A0-A336-144A06035584}">
      <dsp:nvSpPr>
        <dsp:cNvPr id="0" name=""/>
        <dsp:cNvSpPr/>
      </dsp:nvSpPr>
      <dsp:spPr>
        <a:xfrm>
          <a:off x="2770727" y="226766"/>
          <a:ext cx="1490992" cy="1490992"/>
        </a:xfrm>
        <a:prstGeom prst="ellipse">
          <a:avLst/>
        </a:prstGeom>
        <a:solidFill>
          <a:schemeClr val="lt1">
            <a:alpha val="5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kern="1200" dirty="0"/>
            <a:t>System end users and managers</a:t>
          </a:r>
        </a:p>
      </dsp:txBody>
      <dsp:txXfrm>
        <a:off x="2989078" y="445117"/>
        <a:ext cx="1054290" cy="1054290"/>
      </dsp:txXfrm>
    </dsp:sp>
    <dsp:sp modelId="{4F9DB5B1-F8DC-4C7B-B1BD-F0549DBF4770}">
      <dsp:nvSpPr>
        <dsp:cNvPr id="0" name=""/>
        <dsp:cNvSpPr/>
      </dsp:nvSpPr>
      <dsp:spPr>
        <a:xfrm>
          <a:off x="4450868" y="3136856"/>
          <a:ext cx="1490992" cy="1490992"/>
        </a:xfrm>
        <a:prstGeom prst="ellipse">
          <a:avLst/>
        </a:prstGeom>
        <a:solidFill>
          <a:schemeClr val="lt1">
            <a:alpha val="5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kern="1200" dirty="0"/>
            <a:t>Project sponsor</a:t>
          </a:r>
        </a:p>
      </dsp:txBody>
      <dsp:txXfrm>
        <a:off x="4669219" y="3355207"/>
        <a:ext cx="1054290" cy="1054290"/>
      </dsp:txXfrm>
    </dsp:sp>
    <dsp:sp modelId="{48368C5F-DDCC-445D-A839-F0529AC127ED}">
      <dsp:nvSpPr>
        <dsp:cNvPr id="0" name=""/>
        <dsp:cNvSpPr/>
      </dsp:nvSpPr>
      <dsp:spPr>
        <a:xfrm>
          <a:off x="1090586" y="3136856"/>
          <a:ext cx="1490992" cy="1490992"/>
        </a:xfrm>
        <a:prstGeom prst="ellipse">
          <a:avLst/>
        </a:prstGeom>
        <a:solidFill>
          <a:schemeClr val="lt1">
            <a:alpha val="5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kern="1200" dirty="0"/>
            <a:t>Subject matter experts</a:t>
          </a:r>
        </a:p>
      </dsp:txBody>
      <dsp:txXfrm>
        <a:off x="1308937" y="3355207"/>
        <a:ext cx="1054290" cy="10542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537943-0E94-424E-A7A7-D50B8521EB55}">
      <dsp:nvSpPr>
        <dsp:cNvPr id="0" name=""/>
        <dsp:cNvSpPr/>
      </dsp:nvSpPr>
      <dsp:spPr>
        <a:xfrm>
          <a:off x="1671242" y="1252939"/>
          <a:ext cx="2826248" cy="2826248"/>
        </a:xfrm>
        <a:prstGeom prst="ellipse">
          <a:avLst/>
        </a:prstGeom>
        <a:solidFill>
          <a:schemeClr val="accent4">
            <a:alpha val="5000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GB" sz="2300" kern="1200" dirty="0"/>
            <a:t>Project stakeholders</a:t>
          </a:r>
        </a:p>
      </dsp:txBody>
      <dsp:txXfrm>
        <a:off x="2085136" y="1666833"/>
        <a:ext cx="1998460" cy="1998460"/>
      </dsp:txXfrm>
    </dsp:sp>
    <dsp:sp modelId="{36F4E616-B52C-48A0-A336-144A06035584}">
      <dsp:nvSpPr>
        <dsp:cNvPr id="0" name=""/>
        <dsp:cNvSpPr/>
      </dsp:nvSpPr>
      <dsp:spPr>
        <a:xfrm>
          <a:off x="938189" y="2888749"/>
          <a:ext cx="1413124" cy="1413124"/>
        </a:xfrm>
        <a:prstGeom prst="ellipse">
          <a:avLst/>
        </a:prstGeom>
        <a:solidFill>
          <a:schemeClr val="lt1">
            <a:alpha val="50000"/>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Project manager</a:t>
          </a:r>
        </a:p>
      </dsp:txBody>
      <dsp:txXfrm>
        <a:off x="1145136" y="3095696"/>
        <a:ext cx="999230" cy="999230"/>
      </dsp:txXfrm>
    </dsp:sp>
    <dsp:sp modelId="{4F9DB5B1-F8DC-4C7B-B1BD-F0549DBF4770}">
      <dsp:nvSpPr>
        <dsp:cNvPr id="0" name=""/>
        <dsp:cNvSpPr/>
      </dsp:nvSpPr>
      <dsp:spPr>
        <a:xfrm>
          <a:off x="3824695" y="2715971"/>
          <a:ext cx="1758689" cy="1758689"/>
        </a:xfrm>
        <a:prstGeom prst="ellipse">
          <a:avLst/>
        </a:prstGeom>
        <a:solidFill>
          <a:schemeClr val="lt1">
            <a:alpha val="50000"/>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Requirements engineers</a:t>
          </a:r>
          <a:br>
            <a:rPr lang="en-GB" sz="1300" kern="1200" dirty="0"/>
          </a:br>
          <a:r>
            <a:rPr lang="en-GB" sz="1300" kern="1200" dirty="0"/>
            <a:t>Business / system analysts</a:t>
          </a:r>
        </a:p>
      </dsp:txBody>
      <dsp:txXfrm>
        <a:off x="4082249" y="2973525"/>
        <a:ext cx="1243581" cy="1243581"/>
      </dsp:txXfrm>
    </dsp:sp>
    <dsp:sp modelId="{48368C5F-DDCC-445D-A839-F0529AC127ED}">
      <dsp:nvSpPr>
        <dsp:cNvPr id="0" name=""/>
        <dsp:cNvSpPr/>
      </dsp:nvSpPr>
      <dsp:spPr>
        <a:xfrm>
          <a:off x="1883194" y="0"/>
          <a:ext cx="2196051" cy="2196051"/>
        </a:xfrm>
        <a:prstGeom prst="ellipse">
          <a:avLst/>
        </a:prstGeom>
        <a:solidFill>
          <a:schemeClr val="lt1">
            <a:alpha val="50000"/>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0" kern="1200" dirty="0"/>
            <a:t>Software designers / developers / testers / architects / release engineers</a:t>
          </a:r>
        </a:p>
      </dsp:txBody>
      <dsp:txXfrm>
        <a:off x="2204798" y="321604"/>
        <a:ext cx="1552843" cy="15528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537943-0E94-424E-A7A7-D50B8521EB55}">
      <dsp:nvSpPr>
        <dsp:cNvPr id="0" name=""/>
        <dsp:cNvSpPr/>
      </dsp:nvSpPr>
      <dsp:spPr>
        <a:xfrm>
          <a:off x="2165408" y="1287702"/>
          <a:ext cx="2701631" cy="2701631"/>
        </a:xfrm>
        <a:prstGeom prst="ellipse">
          <a:avLst/>
        </a:prstGeom>
        <a:solidFill>
          <a:schemeClr val="accent3">
            <a:alpha val="5000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sz="2200" kern="1200" dirty="0"/>
            <a:t>External stakeholders</a:t>
          </a:r>
        </a:p>
      </dsp:txBody>
      <dsp:txXfrm>
        <a:off x="2561053" y="1683347"/>
        <a:ext cx="1910341" cy="1910341"/>
      </dsp:txXfrm>
    </dsp:sp>
    <dsp:sp modelId="{36F4E616-B52C-48A0-A336-144A06035584}">
      <dsp:nvSpPr>
        <dsp:cNvPr id="0" name=""/>
        <dsp:cNvSpPr/>
      </dsp:nvSpPr>
      <dsp:spPr>
        <a:xfrm>
          <a:off x="2840816" y="205446"/>
          <a:ext cx="1350815" cy="1350815"/>
        </a:xfrm>
        <a:prstGeom prst="ellipse">
          <a:avLst/>
        </a:prstGeom>
        <a:solidFill>
          <a:schemeClr val="lt1">
            <a:alpha val="50000"/>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Suppliers</a:t>
          </a:r>
        </a:p>
      </dsp:txBody>
      <dsp:txXfrm>
        <a:off x="3038638" y="403268"/>
        <a:ext cx="955171" cy="955171"/>
      </dsp:txXfrm>
    </dsp:sp>
    <dsp:sp modelId="{4F9DB5B1-F8DC-4C7B-B1BD-F0549DBF4770}">
      <dsp:nvSpPr>
        <dsp:cNvPr id="0" name=""/>
        <dsp:cNvSpPr/>
      </dsp:nvSpPr>
      <dsp:spPr>
        <a:xfrm>
          <a:off x="4362997" y="2841942"/>
          <a:ext cx="1350815" cy="1350815"/>
        </a:xfrm>
        <a:prstGeom prst="ellipse">
          <a:avLst/>
        </a:prstGeom>
        <a:solidFill>
          <a:schemeClr val="lt1">
            <a:alpha val="50000"/>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Customers</a:t>
          </a:r>
        </a:p>
      </dsp:txBody>
      <dsp:txXfrm>
        <a:off x="4560819" y="3039764"/>
        <a:ext cx="955171" cy="955171"/>
      </dsp:txXfrm>
    </dsp:sp>
    <dsp:sp modelId="{48368C5F-DDCC-445D-A839-F0529AC127ED}">
      <dsp:nvSpPr>
        <dsp:cNvPr id="0" name=""/>
        <dsp:cNvSpPr/>
      </dsp:nvSpPr>
      <dsp:spPr>
        <a:xfrm>
          <a:off x="1318634" y="2841942"/>
          <a:ext cx="1350815" cy="1350815"/>
        </a:xfrm>
        <a:prstGeom prst="ellipse">
          <a:avLst/>
        </a:prstGeom>
        <a:solidFill>
          <a:schemeClr val="lt1">
            <a:alpha val="50000"/>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Regulators</a:t>
          </a:r>
        </a:p>
      </dsp:txBody>
      <dsp:txXfrm>
        <a:off x="1516456" y="3039764"/>
        <a:ext cx="955171" cy="955171"/>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sz="1050" dirty="0">
              <a:latin typeface="Montserrat" panose="00000500000000000000" pitchFamily="2" charset="0"/>
            </a:endParaRPr>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z="1050" smtClean="0">
                <a:latin typeface="Montserrat" panose="00000500000000000000" pitchFamily="2" charset="0"/>
              </a:rPr>
              <a:t>24/01/2025</a:t>
            </a:fld>
            <a:endParaRPr lang="en-GB" sz="1050">
              <a:latin typeface="Montserrat" panose="00000500000000000000" pitchFamily="2" charset="0"/>
            </a:endParaRPr>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sz="1050">
              <a:latin typeface="Montserrat" panose="00000500000000000000" pitchFamily="2" charset="0"/>
            </a:endParaRPr>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z="1050" smtClean="0">
                <a:latin typeface="Montserrat" panose="00000500000000000000" pitchFamily="2" charset="0"/>
              </a:rPr>
              <a:t>‹#›</a:t>
            </a:fld>
            <a:endParaRPr lang="en-GB" sz="1050">
              <a:latin typeface="Montserrat" panose="00000500000000000000" pitchFamily="2" charset="0"/>
            </a:endParaRPr>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05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050">
                <a:latin typeface="Montserrat" panose="00000500000000000000" pitchFamily="2" charset="0"/>
              </a:defRPr>
            </a:lvl1pPr>
          </a:lstStyle>
          <a:p>
            <a:fld id="{1D6B66C6-1E92-0F4E-A300-9D4ED1F0C23F}" type="datetimeFigureOut">
              <a:rPr lang="en-GB" smtClean="0"/>
              <a:pPr/>
              <a:t>24/01/2025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05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05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050" kern="1200">
        <a:solidFill>
          <a:schemeClr val="tx1"/>
        </a:solidFill>
        <a:latin typeface="Montserrat" panose="00000500000000000000" pitchFamily="2" charset="0"/>
        <a:ea typeface="+mn-ea"/>
        <a:cs typeface="+mn-cs"/>
      </a:defRPr>
    </a:lvl1pPr>
    <a:lvl2pPr marL="457200" algn="l" defTabSz="914400" rtl="0" eaLnBrk="1" latinLnBrk="0" hangingPunct="1">
      <a:defRPr sz="1050" kern="1200">
        <a:solidFill>
          <a:schemeClr val="tx1"/>
        </a:solidFill>
        <a:latin typeface="Montserrat" panose="00000500000000000000" pitchFamily="2" charset="0"/>
        <a:ea typeface="+mn-ea"/>
        <a:cs typeface="+mn-cs"/>
      </a:defRPr>
    </a:lvl2pPr>
    <a:lvl3pPr marL="914400" algn="l" defTabSz="914400" rtl="0" eaLnBrk="1" latinLnBrk="0" hangingPunct="1">
      <a:defRPr sz="1050" kern="1200">
        <a:solidFill>
          <a:schemeClr val="tx1"/>
        </a:solidFill>
        <a:latin typeface="Montserrat" panose="00000500000000000000" pitchFamily="2" charset="0"/>
        <a:ea typeface="+mn-ea"/>
        <a:cs typeface="+mn-cs"/>
      </a:defRPr>
    </a:lvl3pPr>
    <a:lvl4pPr marL="1371600" algn="l" defTabSz="914400" rtl="0" eaLnBrk="1" latinLnBrk="0" hangingPunct="1">
      <a:defRPr sz="1050" kern="1200">
        <a:solidFill>
          <a:schemeClr val="tx1"/>
        </a:solidFill>
        <a:latin typeface="Montserrat" panose="00000500000000000000" pitchFamily="2" charset="0"/>
        <a:ea typeface="+mn-ea"/>
        <a:cs typeface="+mn-cs"/>
      </a:defRPr>
    </a:lvl4pPr>
    <a:lvl5pPr marL="1828800" algn="l" defTabSz="914400" rtl="0" eaLnBrk="1" latinLnBrk="0" hangingPunct="1">
      <a:defRPr sz="105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this module the apprentice will learn to understand their roles within their software development team. </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4138675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Disciplines that support Systems Development are:</a:t>
            </a:r>
          </a:p>
          <a:p>
            <a:pPr lvl="1"/>
            <a:r>
              <a:rPr lang="en-GB"/>
              <a:t>Project Management – Plans the project to develop the system, manages the resources, controls and co-ordinates the work and communicates with the Stakeholders allowing the development to concentrate on the technical aspects.</a:t>
            </a:r>
          </a:p>
          <a:p>
            <a:pPr lvl="1"/>
            <a:r>
              <a:rPr lang="en-GB"/>
              <a:t>Business Analysis – Works with the business to identify issues and opportunities that are documented as requirements for the new system.</a:t>
            </a:r>
          </a:p>
          <a:p>
            <a:pPr lvl="1"/>
            <a:r>
              <a:rPr lang="en-GB"/>
              <a:t>Systems Architecture – Develops a technical structure or platform on which to build the systems </a:t>
            </a:r>
          </a:p>
          <a:p>
            <a:pPr lvl="1"/>
            <a:r>
              <a:rPr lang="en-GB"/>
              <a:t>Programming – Uses hardware and software to develop the components to build the system that meets the requirements. </a:t>
            </a:r>
          </a:p>
          <a:p>
            <a:pPr lvl="1"/>
            <a:r>
              <a:rPr lang="en-GB"/>
              <a:t>Testing – Checks system to identify defects for repair.</a:t>
            </a:r>
          </a:p>
          <a:p>
            <a:pPr lvl="1"/>
            <a:r>
              <a:rPr lang="en-GB"/>
              <a:t>Configuration Management and Change Control – Manages the versions of the system, the components it is made up and the relationships between them. With this knowledge it is possible to mange change in a controlled manner. </a:t>
            </a:r>
          </a:p>
          <a:p>
            <a:pPr lvl="1"/>
            <a:r>
              <a:rPr lang="en-GB"/>
              <a:t>Quality Control and Quality Assurance – Processes and controls to ensure the delivered system meets defined quality.</a:t>
            </a:r>
          </a:p>
          <a:p>
            <a:pPr lvl="1"/>
            <a:r>
              <a:rPr lang="en-GB"/>
              <a:t>Service Management – Manages and maintains the system once in operation.</a:t>
            </a:r>
          </a:p>
          <a:p>
            <a:endParaRPr lang="en-GB"/>
          </a:p>
        </p:txBody>
      </p:sp>
      <p:sp>
        <p:nvSpPr>
          <p:cNvPr id="4" name="Slide Number Placeholder 3"/>
          <p:cNvSpPr>
            <a:spLocks noGrp="1"/>
          </p:cNvSpPr>
          <p:nvPr>
            <p:ph type="sldNum" sz="quarter" idx="10"/>
          </p:nvPr>
        </p:nvSpPr>
        <p:spPr/>
        <p:txBody>
          <a:bodyPr/>
          <a:lstStyle/>
          <a:p>
            <a:fld id="{9C44FC15-3C85-489A-BB43-3349185627FC}" type="slidenum">
              <a:rPr lang="en-GB" smtClean="0"/>
              <a:t>2</a:t>
            </a:fld>
            <a:endParaRPr lang="en-GB"/>
          </a:p>
        </p:txBody>
      </p:sp>
    </p:spTree>
    <p:extLst>
      <p:ext uri="{BB962C8B-B14F-4D97-AF65-F5344CB8AC3E}">
        <p14:creationId xmlns:p14="http://schemas.microsoft.com/office/powerpoint/2010/main" val="2591553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main roles or stakeholders within a software development team are illustrated in the diagram. They can be split into three main groups:</a:t>
            </a:r>
          </a:p>
          <a:p>
            <a:pPr marL="362448" lvl="1" indent="-181224"/>
            <a:r>
              <a:rPr lang="en-US" baseline="0" dirty="0"/>
              <a:t>Business Stakeholders including:</a:t>
            </a:r>
          </a:p>
          <a:p>
            <a:pPr marL="724896" lvl="2" indent="-181224"/>
            <a:r>
              <a:rPr lang="en-US" baseline="0" dirty="0"/>
              <a:t>Project Sponsor – </a:t>
            </a:r>
            <a:r>
              <a:rPr lang="en-GB" baseline="0" dirty="0"/>
              <a:t>The ‘owner’ of the new system</a:t>
            </a:r>
            <a:endParaRPr lang="en-US" baseline="0" dirty="0"/>
          </a:p>
          <a:p>
            <a:pPr marL="724896" lvl="2" indent="-181224"/>
            <a:r>
              <a:rPr lang="en-US" baseline="0" dirty="0"/>
              <a:t>System End Users, Managers – </a:t>
            </a:r>
            <a:r>
              <a:rPr lang="en-GB" baseline="0" dirty="0"/>
              <a:t>Represent the views of those who will use the system on a day to day basis</a:t>
            </a:r>
            <a:endParaRPr lang="en-US" baseline="0" dirty="0"/>
          </a:p>
          <a:p>
            <a:pPr marL="724896" lvl="2" indent="-181224"/>
            <a:r>
              <a:rPr lang="en-US" baseline="0" dirty="0"/>
              <a:t>Subject Matter Experts – </a:t>
            </a:r>
            <a:r>
              <a:rPr lang="en-GB" baseline="0" dirty="0"/>
              <a:t>The ‘super user’ who provides the specialist knowledge of the business area to be improved</a:t>
            </a:r>
            <a:endParaRPr lang="en-US" baseline="0" dirty="0"/>
          </a:p>
          <a:p>
            <a:pPr marL="362448" lvl="1" indent="-181224"/>
            <a:r>
              <a:rPr lang="en-US" baseline="0" dirty="0"/>
              <a:t>Project Stakeholders including:</a:t>
            </a:r>
          </a:p>
          <a:p>
            <a:pPr marL="724896" lvl="2" indent="-181224"/>
            <a:r>
              <a:rPr lang="en-US" baseline="0" dirty="0"/>
              <a:t>Project Manager – </a:t>
            </a:r>
            <a:r>
              <a:rPr lang="en-GB" baseline="0" dirty="0"/>
              <a:t>Plans and controls the project </a:t>
            </a:r>
          </a:p>
          <a:p>
            <a:pPr marL="724896" lvl="2" indent="-181224"/>
            <a:r>
              <a:rPr lang="en-US" baseline="0" dirty="0"/>
              <a:t>Business / System Analysts, Requirement Engineers – </a:t>
            </a:r>
            <a:r>
              <a:rPr lang="en-GB" baseline="0" dirty="0"/>
              <a:t>Elicit, document, analyse, validate and manage the requirements</a:t>
            </a:r>
          </a:p>
          <a:p>
            <a:pPr marL="724896" lvl="2" indent="-181224"/>
            <a:r>
              <a:rPr lang="en-US" baseline="0" dirty="0"/>
              <a:t>Designers, Developers, Testers – </a:t>
            </a:r>
            <a:r>
              <a:rPr lang="en-GB" baseline="0" dirty="0"/>
              <a:t>Responsible for creating the new IT system to meet the requirements</a:t>
            </a:r>
            <a:endParaRPr lang="en-US" baseline="0" dirty="0"/>
          </a:p>
          <a:p>
            <a:pPr marL="724896" lvl="2" indent="-181224"/>
            <a:r>
              <a:rPr lang="en-GB" baseline="0" dirty="0"/>
              <a:t>Architects, Database Administrators, Release Engineers and System Administrators are more specialist roles</a:t>
            </a:r>
            <a:endParaRPr lang="en-US" baseline="0" dirty="0"/>
          </a:p>
          <a:p>
            <a:pPr marL="362448" lvl="1" indent="-181224"/>
            <a:r>
              <a:rPr lang="en-US" baseline="0" dirty="0"/>
              <a:t>External Stakeholders including:</a:t>
            </a:r>
          </a:p>
          <a:p>
            <a:pPr marL="724896" lvl="2" indent="-181224"/>
            <a:r>
              <a:rPr lang="en-US" baseline="0" dirty="0"/>
              <a:t>Customers – </a:t>
            </a:r>
            <a:r>
              <a:rPr lang="en-GB" baseline="0" dirty="0"/>
              <a:t>Are affected by the interfaces to the system – Both inputs and outputs</a:t>
            </a:r>
            <a:endParaRPr lang="en-US" baseline="0" dirty="0"/>
          </a:p>
          <a:p>
            <a:pPr marL="724896" lvl="2" indent="-181224"/>
            <a:r>
              <a:rPr lang="en-US" baseline="0" dirty="0"/>
              <a:t>Regulators – </a:t>
            </a:r>
            <a:r>
              <a:rPr lang="en-GB" baseline="0" dirty="0"/>
              <a:t>Many industries have statutory regulatory bodies</a:t>
            </a:r>
            <a:endParaRPr lang="en-US" baseline="0" dirty="0"/>
          </a:p>
          <a:p>
            <a:pPr marL="724896" lvl="2" indent="-181224"/>
            <a:r>
              <a:rPr lang="en-US" baseline="0" dirty="0"/>
              <a:t>Suppliers – </a:t>
            </a:r>
            <a:r>
              <a:rPr lang="en-GB" baseline="0" dirty="0"/>
              <a:t>May be affected by changes to interfaces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962793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sponsor is the ‘owner’ of the new system. As such, the sponsor has the responsibility for ensuring that the system meets its goals and realises its benefits.  This implies that the sponsor has sign off powers and has the final decision on all project matters. Additionally, the sponsor is accountable for the project terms of reference, initiates project reviews, resolves project issues and acts as Champion for the new system. </a:t>
            </a:r>
          </a:p>
          <a:p>
            <a:r>
              <a:rPr lang="en-GB" dirty="0"/>
              <a:t>As far as the Requirements Engineering Process is concerned, the sponsor must ensure that the requirements capture the functionality and constraints of the new system such that it satisfies the business goals and yields the business benefits.</a:t>
            </a:r>
          </a:p>
          <a:p>
            <a:pPr lvl="1" algn="l">
              <a:buFont typeface="Arial" panose="020B0604020202020204" pitchFamily="34" charset="0"/>
              <a:buNone/>
            </a:pP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895860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system end-user represents the views of those who will use the system on a day to day basis. The users must make sure that functionality and usability requirements are properly specified and therefore have a large say in the requirements. They must be happy that the requirements are ‘workable’ and complete.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3480590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domain expert is the ‘super user’ who provides the specialist knowledge of the business area to be improved. They may be an internal or external resource, and may well have ‘consultancy’ type experience. The expert provides information and ideas on business issues and possibilities and works with the analysts to ensure that the knowledge and ideas are represented in the requirements. </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4016179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Project Manager, unsurprisingly, plans and controls the project; ensuring it keeps to time and cost constraints. Additionally, the project manager must ensure that the Requirements Engineering Process is being properly followed.  He/she may be called upon to resolve conflicts between stakeholders over the requirements.</a:t>
            </a:r>
          </a:p>
          <a:p>
            <a:r>
              <a:rPr lang="en-GB" dirty="0"/>
              <a:t>The bottom line is that the Stakeholders are part of the requirements engineering team and must function as a team if the process is to yield requirements of quality.</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3643333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Business</a:t>
            </a:r>
            <a:r>
              <a:rPr lang="en-GB" baseline="0" dirty="0"/>
              <a:t> A</a:t>
            </a:r>
            <a:r>
              <a:rPr lang="en-GB" dirty="0"/>
              <a:t>nalysts are also called Requirements Engineers. Analysts elicit, analyse, validate and often manage the requirements.</a:t>
            </a:r>
          </a:p>
          <a:p>
            <a:r>
              <a:rPr lang="en-GB" dirty="0"/>
              <a:t>The Business Analyst</a:t>
            </a:r>
            <a:r>
              <a:rPr lang="en-GB" baseline="0" dirty="0"/>
              <a:t> </a:t>
            </a:r>
            <a:r>
              <a:rPr lang="en-GB" dirty="0"/>
              <a:t>will be involved sooner and at a higher level than the System</a:t>
            </a:r>
            <a:r>
              <a:rPr lang="en-GB" baseline="0" dirty="0"/>
              <a:t> Analyst – As the name suggest more business than technology.</a:t>
            </a:r>
            <a:endParaRPr lang="en-GB" dirty="0"/>
          </a:p>
          <a:p>
            <a:r>
              <a:rPr lang="en-GB" dirty="0"/>
              <a:t>They will work with senior business and IT staff often conducting high level feasibility studies, developing business requirements and business cases</a:t>
            </a:r>
            <a:r>
              <a:rPr lang="en-GB" baseline="0" dirty="0"/>
              <a:t> or i</a:t>
            </a:r>
            <a:r>
              <a:rPr lang="en-GB" dirty="0"/>
              <a:t>nvestigating business problems and requirements to identify and recommend appropriate solutions.</a:t>
            </a:r>
          </a:p>
          <a:p>
            <a:r>
              <a:rPr lang="en-GB" dirty="0"/>
              <a:t>They will produce written reports and presentations for management, colleagues and the business on various aspects of analysis undertaken. Also have a role in solution development, which may involve changes to the People, Organisation, Processes and the Technology.</a:t>
            </a:r>
          </a:p>
          <a:p>
            <a:r>
              <a:rPr lang="en-GB" dirty="0"/>
              <a:t>In some cases the analysts will write the User Acceptance Tests and run them with the users to ensure the requirements have been met. Finally</a:t>
            </a:r>
            <a:r>
              <a:rPr lang="en-GB" baseline="0" dirty="0"/>
              <a:t> Business </a:t>
            </a:r>
            <a:r>
              <a:rPr lang="en-GB" dirty="0"/>
              <a:t>Analysts often produce supporting models such as business process models.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1516460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Systems</a:t>
            </a:r>
            <a:r>
              <a:rPr lang="en-GB" baseline="0" dirty="0"/>
              <a:t> A</a:t>
            </a:r>
            <a:r>
              <a:rPr lang="en-GB" dirty="0"/>
              <a:t>nalysts specialises in analysing, designing and implementing IT systems. They are involved later in project than the Business Analyst and have a more technical focus.</a:t>
            </a:r>
          </a:p>
          <a:p>
            <a:r>
              <a:rPr lang="en-GB" dirty="0"/>
              <a:t>During Analysis they will understands the role of IT in the process, investigate the current system(s) and documenting the ‘as is’ system using standard models before defining new system requirements.</a:t>
            </a:r>
          </a:p>
          <a:p>
            <a:r>
              <a:rPr lang="en-GB" dirty="0"/>
              <a:t>In the Design</a:t>
            </a:r>
            <a:r>
              <a:rPr lang="en-GB" baseline="0" dirty="0"/>
              <a:t> stage they will d</a:t>
            </a:r>
            <a:r>
              <a:rPr lang="en-GB" dirty="0"/>
              <a:t>esign systems to meet requirements, writing specifications for developers</a:t>
            </a:r>
            <a:r>
              <a:rPr lang="en-GB" baseline="0" dirty="0"/>
              <a:t> and p</a:t>
            </a:r>
            <a:r>
              <a:rPr lang="en-GB" dirty="0"/>
              <a:t>articipating in reviews and testing.</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1232653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During</a:t>
            </a:r>
            <a:r>
              <a:rPr lang="en-GB" baseline="0" dirty="0"/>
              <a:t> implementation </a:t>
            </a:r>
            <a:r>
              <a:rPr lang="en-GB" dirty="0"/>
              <a:t>Systems</a:t>
            </a:r>
            <a:r>
              <a:rPr lang="en-GB" baseline="0" dirty="0"/>
              <a:t> A</a:t>
            </a:r>
            <a:r>
              <a:rPr lang="en-GB" dirty="0"/>
              <a:t>nalysts will be responsible for documentation,</a:t>
            </a:r>
            <a:r>
              <a:rPr lang="en-GB" baseline="0" dirty="0"/>
              <a:t> </a:t>
            </a:r>
            <a:r>
              <a:rPr lang="en-GB" dirty="0"/>
              <a:t>training,</a:t>
            </a:r>
            <a:r>
              <a:rPr lang="en-GB" baseline="0" dirty="0"/>
              <a:t> testing, c</a:t>
            </a:r>
            <a:r>
              <a:rPr lang="en-GB" dirty="0"/>
              <a:t>onversion and handover to</a:t>
            </a:r>
            <a:r>
              <a:rPr lang="en-GB" baseline="0" dirty="0"/>
              <a:t> live operation.</a:t>
            </a:r>
            <a:endParaRPr lang="en-GB" dirty="0"/>
          </a:p>
          <a:p>
            <a:r>
              <a:rPr lang="en-GB" dirty="0"/>
              <a:t>Once</a:t>
            </a:r>
            <a:r>
              <a:rPr lang="en-GB" baseline="0" dirty="0"/>
              <a:t> up and running they will r</a:t>
            </a:r>
            <a:r>
              <a:rPr lang="en-GB" dirty="0"/>
              <a:t>eview of live system</a:t>
            </a:r>
            <a:r>
              <a:rPr lang="en-GB" baseline="0" dirty="0"/>
              <a:t> and how the project went looking at the</a:t>
            </a:r>
            <a:r>
              <a:rPr lang="en-GB" dirty="0"/>
              <a:t> development method, what went well or not so well? what</a:t>
            </a:r>
            <a:r>
              <a:rPr lang="en-GB" baseline="0" dirty="0"/>
              <a:t> l</a:t>
            </a:r>
            <a:r>
              <a:rPr lang="en-GB" dirty="0"/>
              <a:t>essons have been learnt and what to do next?</a:t>
            </a:r>
          </a:p>
          <a:p>
            <a:r>
              <a:rPr lang="en-GB" dirty="0"/>
              <a:t>Systems</a:t>
            </a:r>
            <a:r>
              <a:rPr lang="en-GB" baseline="0" dirty="0"/>
              <a:t> Analysts need to be good written and verbal communicators and be a</a:t>
            </a:r>
            <a:r>
              <a:rPr lang="en-GB" dirty="0"/>
              <a:t>ble to use an appropriate range of analysis and modelling techniques and tools. They need to be methodical and take personal responsibility for quality.</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1055722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Technical</a:t>
            </a:r>
            <a:r>
              <a:rPr lang="en-US" baseline="0" dirty="0"/>
              <a:t> Architect will </a:t>
            </a:r>
            <a:r>
              <a:rPr lang="en-GB" baseline="0" dirty="0"/>
              <a:t>design the solution’s technical architecture to ensure non-functional requirements are met such as:</a:t>
            </a:r>
          </a:p>
          <a:p>
            <a:pPr marL="362448" lvl="1" indent="-181224"/>
            <a:r>
              <a:rPr lang="en-GB" baseline="0" dirty="0"/>
              <a:t>Performance</a:t>
            </a:r>
          </a:p>
          <a:p>
            <a:pPr marL="362448" lvl="1" indent="-181224"/>
            <a:r>
              <a:rPr lang="en-GB" baseline="0" dirty="0"/>
              <a:t>Operating System</a:t>
            </a:r>
          </a:p>
          <a:p>
            <a:pPr marL="362448" lvl="1" indent="-181224"/>
            <a:r>
              <a:rPr lang="en-GB" baseline="0" dirty="0"/>
              <a:t>Network</a:t>
            </a:r>
          </a:p>
          <a:p>
            <a:pPr marL="362448" lvl="1" indent="-181224"/>
            <a:r>
              <a:rPr lang="en-GB" baseline="0" dirty="0"/>
              <a:t>Database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2843814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Designers and Developers are responsible for creating the new IT system to meet the requirements.</a:t>
            </a:r>
          </a:p>
          <a:p>
            <a:r>
              <a:rPr lang="en-GB" baseline="0" dirty="0"/>
              <a:t>Designers will specify the system including its architecture, screens, reports, interfaces and components.</a:t>
            </a:r>
          </a:p>
          <a:p>
            <a:r>
              <a:rPr lang="en-GB" baseline="0" dirty="0"/>
              <a:t>Developers turn the specifications into code. Firstly they need to u</a:t>
            </a:r>
            <a:r>
              <a:rPr lang="en-GB" dirty="0"/>
              <a:t>nderstand the specification by reading</a:t>
            </a:r>
            <a:r>
              <a:rPr lang="en-GB" baseline="0" dirty="0"/>
              <a:t> through it and </a:t>
            </a:r>
            <a:r>
              <a:rPr lang="en-GB" dirty="0"/>
              <a:t>highlighting anything incomplete or ambiguous. Talking through it with the analyst as needed. Then they design the component based on systems analyst’s specification and testing required. Next they write the code and test the component by setting up and perform the tests before evaluating</a:t>
            </a:r>
            <a:r>
              <a:rPr lang="en-GB" baseline="0" dirty="0"/>
              <a:t> the</a:t>
            </a:r>
            <a:r>
              <a:rPr lang="en-GB" dirty="0"/>
              <a:t> results.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787162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Testers </a:t>
            </a:r>
            <a:r>
              <a:rPr lang="en-GB" dirty="0"/>
              <a:t>ensure the quality, design integrity and functionality of the system. This will include the planning testing activities, specifying and executing tests, recording the results and checking and reporting progress.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1147314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Customers are affected by the interfaces to the system both inputs and outputs. Projects must comply with legal requirements concerning customers. Often there is the need to communicate with them to inform them of changes. Analysts may need to consult with them to discover preferences.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3948392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Many industries have statutory regulatory bodies  such</a:t>
            </a:r>
            <a:r>
              <a:rPr lang="en-GB" baseline="0" dirty="0"/>
              <a:t> as </a:t>
            </a:r>
            <a:r>
              <a:rPr lang="en-GB" dirty="0"/>
              <a:t>financial, utilities and telecoms. Regulatory constraints give rise to requirements on projects. So do Acts of Parliament.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1763574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Suppliers may be affected by changes to interfaces. They will need time to change their systems if affected.  Our degree of influence over the supplier will depend on many</a:t>
            </a:r>
            <a:r>
              <a:rPr lang="en-GB" baseline="0" dirty="0"/>
              <a:t> things including </a:t>
            </a:r>
            <a:r>
              <a:rPr lang="en-GB" dirty="0"/>
              <a:t>the relative sizes of the businesses.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447323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Operations</a:t>
            </a:r>
            <a:r>
              <a:rPr lang="en-GB" baseline="0" dirty="0"/>
              <a:t> are responsible for the p</a:t>
            </a:r>
            <a:r>
              <a:rPr lang="en-GB" dirty="0"/>
              <a:t>rocesses and services administered by IT. This could be support for</a:t>
            </a:r>
            <a:r>
              <a:rPr lang="en-GB" baseline="0" dirty="0"/>
              <a:t> both </a:t>
            </a:r>
            <a:r>
              <a:rPr lang="en-GB" dirty="0"/>
              <a:t>hardware and software and Internal and external clients.</a:t>
            </a:r>
          </a:p>
          <a:p>
            <a:r>
              <a:rPr lang="en-GB" dirty="0"/>
              <a:t>All organisations have some form of IT Operations which depends</a:t>
            </a:r>
            <a:r>
              <a:rPr lang="en-GB" baseline="0" dirty="0"/>
              <a:t> on</a:t>
            </a:r>
            <a:r>
              <a:rPr lang="en-GB" dirty="0"/>
              <a:t> </a:t>
            </a:r>
            <a:r>
              <a:rPr lang="en-GB" dirty="0" err="1"/>
              <a:t>on</a:t>
            </a:r>
            <a:r>
              <a:rPr lang="en-GB" dirty="0"/>
              <a:t> how they solve internal and external client IT needs. In all forms the objective is</a:t>
            </a:r>
            <a:r>
              <a:rPr lang="en-GB" baseline="0" dirty="0"/>
              <a:t> </a:t>
            </a:r>
            <a:r>
              <a:rPr lang="en-GB" dirty="0"/>
              <a:t>to deliver effective service at required quality and cost.</a:t>
            </a:r>
          </a:p>
          <a:p>
            <a:r>
              <a:rPr lang="en-GB" dirty="0"/>
              <a:t>Operations</a:t>
            </a:r>
            <a:r>
              <a:rPr lang="en-GB" baseline="0" dirty="0"/>
              <a:t> i</a:t>
            </a:r>
            <a:r>
              <a:rPr lang="en-GB" dirty="0"/>
              <a:t>nterface with but are usually considered separate to System Development team. They work with System Development to support systems when they are deployed. They</a:t>
            </a:r>
            <a:r>
              <a:rPr lang="en-GB" baseline="0" dirty="0"/>
              <a:t> e</a:t>
            </a:r>
            <a:r>
              <a:rPr lang="en-GB" dirty="0"/>
              <a:t>nsure operational requirements included and work such as:</a:t>
            </a:r>
          </a:p>
          <a:p>
            <a:pPr marL="362448" lvl="1" indent="-181224"/>
            <a:r>
              <a:rPr lang="en-GB" dirty="0"/>
              <a:t>Backup/restore</a:t>
            </a:r>
          </a:p>
          <a:p>
            <a:pPr marL="362448" lvl="1" indent="-181224"/>
            <a:r>
              <a:rPr lang="en-GB" dirty="0"/>
              <a:t>Disaster recovery</a:t>
            </a:r>
          </a:p>
          <a:p>
            <a:pPr marL="362448" lvl="1" indent="-181224"/>
            <a:r>
              <a:rPr lang="en-GB" dirty="0"/>
              <a:t>User management</a:t>
            </a:r>
          </a:p>
          <a:p>
            <a:pPr marL="362448" lvl="1" indent="-181224"/>
            <a:r>
              <a:rPr lang="en-GB" dirty="0"/>
              <a:t>Maintenance tasks</a:t>
            </a:r>
          </a:p>
          <a:p>
            <a:pPr marL="362448" lvl="1" indent="-181224"/>
            <a:r>
              <a:rPr lang="en-GB" dirty="0"/>
              <a:t>Data load and migration tasks</a:t>
            </a:r>
          </a:p>
          <a:p>
            <a:pPr marL="362448" lvl="1" indent="-181224"/>
            <a:r>
              <a:rPr lang="en-GB" dirty="0"/>
              <a:t>Periodic checks of security vulnerabilities</a:t>
            </a:r>
          </a:p>
          <a:p>
            <a:r>
              <a:rPr lang="en-GB" dirty="0"/>
              <a:t>They are</a:t>
            </a:r>
            <a:r>
              <a:rPr lang="en-GB" baseline="0" dirty="0"/>
              <a:t> also i</a:t>
            </a:r>
            <a:r>
              <a:rPr lang="en-GB" dirty="0"/>
              <a:t>nvolved in Operational User Testing to ensure the system</a:t>
            </a:r>
            <a:r>
              <a:rPr lang="en-GB" baseline="0" dirty="0"/>
              <a:t> meet requirements from an operational perspective. They will work with Systems Development on the d</a:t>
            </a:r>
            <a:r>
              <a:rPr lang="en-GB" dirty="0"/>
              <a:t>eployment approach and post-implementation support. This will require</a:t>
            </a:r>
            <a:r>
              <a:rPr lang="en-GB" baseline="0" dirty="0"/>
              <a:t> the creation of appropriate documen</a:t>
            </a:r>
            <a:r>
              <a:rPr lang="en-GB" dirty="0"/>
              <a:t>tation and delivery of training.</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Tree>
    <p:extLst>
      <p:ext uri="{BB962C8B-B14F-4D97-AF65-F5344CB8AC3E}">
        <p14:creationId xmlns:p14="http://schemas.microsoft.com/office/powerpoint/2010/main" val="509404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DevOps</a:t>
            </a:r>
            <a:r>
              <a:rPr lang="en-GB" baseline="0" dirty="0"/>
              <a:t> is t</a:t>
            </a:r>
            <a:r>
              <a:rPr lang="en-GB" dirty="0"/>
              <a:t>he multi-skilling of people to make the whole development, operations and testing workflow more agile.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Tree>
    <p:extLst>
      <p:ext uri="{BB962C8B-B14F-4D97-AF65-F5344CB8AC3E}">
        <p14:creationId xmlns:p14="http://schemas.microsoft.com/office/powerpoint/2010/main" val="346345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DevOps is a software engineering practice that aims at unifying Software development (Dev) and Software operation (Ops). Its main characteristics are the use of automation and monitoring at all steps of software construction, from integration, testing, releasing to deployment and infrastructure management.</a:t>
            </a:r>
          </a:p>
          <a:p>
            <a:r>
              <a:rPr lang="en-GB" dirty="0"/>
              <a:t>It objectives are:</a:t>
            </a:r>
          </a:p>
          <a:p>
            <a:pPr marL="362448" lvl="1" indent="-181224"/>
            <a:r>
              <a:rPr lang="en-GB" dirty="0"/>
              <a:t>Shorter development cycles.</a:t>
            </a:r>
          </a:p>
          <a:p>
            <a:pPr marL="362448" lvl="1" indent="-181224"/>
            <a:r>
              <a:rPr lang="en-GB" dirty="0"/>
              <a:t>Increased deployment frequency.</a:t>
            </a:r>
          </a:p>
          <a:p>
            <a:pPr marL="362448" lvl="1" indent="-181224"/>
            <a:r>
              <a:rPr lang="en-GB" dirty="0"/>
              <a:t>More dependable releases.</a:t>
            </a:r>
          </a:p>
          <a:p>
            <a:pPr marL="362448" lvl="1" indent="-181224"/>
            <a:r>
              <a:rPr lang="en-GB" dirty="0"/>
              <a:t>Greater alignment with business objectives.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Tree>
    <p:extLst>
      <p:ext uri="{BB962C8B-B14F-4D97-AF65-F5344CB8AC3E}">
        <p14:creationId xmlns:p14="http://schemas.microsoft.com/office/powerpoint/2010/main" val="24690704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DevOps</a:t>
            </a:r>
            <a:r>
              <a:rPr lang="en-GB" baseline="0" dirty="0"/>
              <a:t> is much m</a:t>
            </a:r>
            <a:r>
              <a:rPr lang="en-GB" dirty="0"/>
              <a:t>ore than just a tool or a process change. It required an organisational culture shift that</a:t>
            </a:r>
            <a:r>
              <a:rPr lang="en-GB" baseline="0" dirty="0"/>
              <a:t> is d</a:t>
            </a:r>
            <a:r>
              <a:rPr lang="en-GB" dirty="0"/>
              <a:t>ifficult due to conflicting nature of the</a:t>
            </a:r>
            <a:r>
              <a:rPr lang="en-GB" baseline="0" dirty="0"/>
              <a:t> roles involved:</a:t>
            </a:r>
            <a:endParaRPr lang="en-GB" dirty="0"/>
          </a:p>
          <a:p>
            <a:pPr marL="362448" lvl="1" indent="-181224"/>
            <a:r>
              <a:rPr lang="en-GB" dirty="0"/>
              <a:t>Operations – Seeks organisational stability</a:t>
            </a:r>
          </a:p>
          <a:p>
            <a:pPr marL="362448" lvl="1" indent="-181224"/>
            <a:r>
              <a:rPr lang="en-GB" dirty="0"/>
              <a:t>Developers – Seek change</a:t>
            </a:r>
          </a:p>
          <a:p>
            <a:pPr marL="362448" lvl="1" indent="-181224"/>
            <a:r>
              <a:rPr lang="en-GB" dirty="0"/>
              <a:t>Testers – Seek risk reduction</a:t>
            </a:r>
          </a:p>
          <a:p>
            <a:pPr defTabSz="920618">
              <a:spcAft>
                <a:spcPts val="604"/>
              </a:spcAft>
              <a:tabLst>
                <a:tab pos="274907" algn="l"/>
                <a:tab pos="548216" algn="l"/>
                <a:tab pos="802344" algn="l"/>
                <a:tab pos="1077251" algn="l"/>
                <a:tab pos="1352158" algn="l"/>
                <a:tab pos="1625467" algn="l"/>
                <a:tab pos="1900373" algn="l"/>
                <a:tab pos="2173681" algn="l"/>
                <a:tab pos="2429408" algn="l"/>
                <a:tab pos="2702717" algn="l"/>
              </a:tabLst>
              <a:defRPr/>
            </a:pPr>
            <a:r>
              <a:rPr lang="en-GB" dirty="0"/>
              <a:t>A critical challenge</a:t>
            </a:r>
            <a:r>
              <a:rPr lang="en-GB" baseline="0" dirty="0"/>
              <a:t> is g</a:t>
            </a:r>
            <a:r>
              <a:rPr lang="en-GB" dirty="0"/>
              <a:t>etting these groups to work cohesively and</a:t>
            </a:r>
            <a:r>
              <a:rPr lang="en-GB" baseline="0" dirty="0"/>
              <a:t> to b</a:t>
            </a:r>
            <a:r>
              <a:rPr lang="en-GB" dirty="0"/>
              <a:t>uild a DevOps culture. This requires strong interdepartmental communication and creating an environment that nurtures cultural change. Team-building and other employee engagement activities can be used to help. From a technical</a:t>
            </a:r>
            <a:r>
              <a:rPr lang="en-GB" baseline="0" dirty="0"/>
              <a:t> perspective if software is to be successfully developed and released on a more frequent basis a</a:t>
            </a:r>
            <a:r>
              <a:rPr lang="en-GB" dirty="0"/>
              <a:t>ll applications need to meet a set of architecturally significant requirements in areas such </a:t>
            </a:r>
            <a:r>
              <a:rPr lang="en-GB" dirty="0" err="1"/>
              <a:t>deployability</a:t>
            </a:r>
            <a:r>
              <a:rPr lang="en-GB" dirty="0"/>
              <a:t>, modifiability, testability and monitorability.</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Tree>
    <p:extLst>
      <p:ext uri="{BB962C8B-B14F-4D97-AF65-F5344CB8AC3E}">
        <p14:creationId xmlns:p14="http://schemas.microsoft.com/office/powerpoint/2010/main" val="1373021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just" defTabSz="914400" rtl="0" eaLnBrk="0" fontAlgn="base" latinLnBrk="0" hangingPunct="0">
              <a:lnSpc>
                <a:spcPct val="100000"/>
              </a:lnSpc>
              <a:spcBef>
                <a:spcPts val="0"/>
              </a:spcBef>
              <a:spcAft>
                <a:spcPts val="60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The final section is a review of module, specifically the Learning Outcomes and Assessment Criteria, with a quick quiz and a chance to ask any further questions and provide brief feedback.</a:t>
            </a:r>
          </a:p>
        </p:txBody>
      </p:sp>
      <p:sp>
        <p:nvSpPr>
          <p:cNvPr id="4" name="Slide Number Placeholder 3"/>
          <p:cNvSpPr>
            <a:spLocks noGrp="1"/>
          </p:cNvSpPr>
          <p:nvPr>
            <p:ph type="sldNum" sz="quarter" idx="5"/>
          </p:nvPr>
        </p:nvSpPr>
        <p:spPr/>
        <p:txBody>
          <a:bodyPr/>
          <a:lstStyle/>
          <a:p>
            <a:fld id="{9C44FC15-3C85-489A-BB43-3349185627FC}" type="slidenum">
              <a:rPr lang="en-GB" smtClean="0"/>
              <a:t>21</a:t>
            </a:fld>
            <a:endParaRPr lang="en-GB"/>
          </a:p>
        </p:txBody>
      </p:sp>
    </p:spTree>
    <p:extLst>
      <p:ext uri="{BB962C8B-B14F-4D97-AF65-F5344CB8AC3E}">
        <p14:creationId xmlns:p14="http://schemas.microsoft.com/office/powerpoint/2010/main" val="2586741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C44FC15-3C85-489A-BB43-3349185627FC}" type="slidenum">
              <a:rPr lang="en-GB" smtClean="0"/>
              <a:t>22</a:t>
            </a:fld>
            <a:endParaRPr lang="en-GB"/>
          </a:p>
        </p:txBody>
      </p:sp>
    </p:spTree>
    <p:extLst>
      <p:ext uri="{BB962C8B-B14F-4D97-AF65-F5344CB8AC3E}">
        <p14:creationId xmlns:p14="http://schemas.microsoft.com/office/powerpoint/2010/main" val="42362840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7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28.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27.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1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7.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jpe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144083885"/>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803323255"/>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792239726"/>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16644205"/>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17719011"/>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443915526"/>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1333912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346582221"/>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3146433165"/>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90897872"/>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8887707"/>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88951735"/>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341862259"/>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635921381"/>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715385261"/>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45080496"/>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13076422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886282446"/>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80060158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30301525"/>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770996485"/>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168695002"/>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6105506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00188127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8880658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94792427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5784763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96246708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66926233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0317238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3558106886"/>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2656213830"/>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1243734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Contents or agenda">
    <p:spTree>
      <p:nvGrpSpPr>
        <p:cNvPr id="1" name=""/>
        <p:cNvGrpSpPr/>
        <p:nvPr/>
      </p:nvGrpSpPr>
      <p:grpSpPr>
        <a:xfrm>
          <a:off x="0" y="0"/>
          <a:ext cx="0" cy="0"/>
          <a:chOff x="0" y="0"/>
          <a:chExt cx="0" cy="0"/>
        </a:xfrm>
      </p:grpSpPr>
      <p:pic>
        <p:nvPicPr>
          <p:cNvPr id="26" name="Picture 25" descr="Shape&#10;&#10;Description automatically generated with medium confidence">
            <a:extLst>
              <a:ext uri="{FF2B5EF4-FFF2-40B4-BE49-F238E27FC236}">
                <a16:creationId xmlns:a16="http://schemas.microsoft.com/office/drawing/2014/main" id="{3B4E1F50-500D-4F08-9594-04DCAC10E481}"/>
              </a:ext>
            </a:extLst>
          </p:cNvPr>
          <p:cNvPicPr>
            <a:picLocks noChangeAspect="1"/>
          </p:cNvPicPr>
          <p:nvPr userDrawn="1"/>
        </p:nvPicPr>
        <p:blipFill>
          <a:blip r:embed="rId2"/>
          <a:stretch>
            <a:fillRect/>
          </a:stretch>
        </p:blipFill>
        <p:spPr>
          <a:xfrm>
            <a:off x="7877310" y="0"/>
            <a:ext cx="4314690" cy="6858000"/>
          </a:xfrm>
          <a:prstGeom prst="rect">
            <a:avLst/>
          </a:prstGeom>
        </p:spPr>
      </p:pic>
      <p:cxnSp>
        <p:nvCxnSpPr>
          <p:cNvPr id="13" name="Straight Connector 12"/>
          <p:cNvCxnSpPr/>
          <p:nvPr userDrawn="1"/>
        </p:nvCxnSpPr>
        <p:spPr>
          <a:xfrm>
            <a:off x="3101975" y="1484598"/>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14589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2807184"/>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46847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12977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4791062"/>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sp>
        <p:nvSpPr>
          <p:cNvPr id="30" name="Text Placeholder 2"/>
          <p:cNvSpPr>
            <a:spLocks noGrp="1"/>
          </p:cNvSpPr>
          <p:nvPr>
            <p:ph type="body" sz="quarter" idx="10" hasCustomPrompt="1"/>
          </p:nvPr>
        </p:nvSpPr>
        <p:spPr>
          <a:xfrm>
            <a:off x="384784" y="1484598"/>
            <a:ext cx="2521449" cy="1962150"/>
          </a:xfrm>
        </p:spPr>
        <p:txBody>
          <a:bodyPr/>
          <a:lstStyle>
            <a:lvl1pPr marL="0" indent="0">
              <a:lnSpc>
                <a:spcPct val="90000"/>
              </a:lnSpc>
              <a:spcAft>
                <a:spcPts val="0"/>
              </a:spcAft>
              <a:buFont typeface="Arial" panose="020B0604020202020204" pitchFamily="34" charset="0"/>
              <a:buNone/>
              <a:defRPr sz="4000" b="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161944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166661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280736"/>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32790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2939432"/>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2986599"/>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359442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364159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259419"/>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306586"/>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4937056"/>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498422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6105198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1455301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19696315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 Column A">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umn A Plain">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729812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A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679632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s B">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F8457ED5-FFC6-4734-A6E8-9C12AAF7EA0D}"/>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a:xfrm>
            <a:off x="376238" y="450398"/>
            <a:ext cx="10464799" cy="687614"/>
          </a:xfrm>
        </p:spPr>
        <p:txBody>
          <a:bodyPr/>
          <a:lstStyle/>
          <a:p>
            <a:r>
              <a:rPr lang="en-US" dirty="0"/>
              <a:t>Click to edit Master title style</a:t>
            </a:r>
            <a:endParaRPr lang="en-GB" dirty="0"/>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376238" y="1635854"/>
            <a:ext cx="5627688"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5" name="Graphic 31">
            <a:extLst>
              <a:ext uri="{FF2B5EF4-FFF2-40B4-BE49-F238E27FC236}">
                <a16:creationId xmlns:a16="http://schemas.microsoft.com/office/drawing/2014/main" id="{6E7E2E15-3B47-4552-B2F2-43A358272F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930530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3803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py Slide - QA Left Side">
    <p:bg>
      <p:bgPr>
        <a:solidFill>
          <a:schemeClr val="bg1"/>
        </a:solidFill>
        <a:effectLst/>
      </p:bgPr>
    </p:bg>
    <p:spTree>
      <p:nvGrpSpPr>
        <p:cNvPr id="1" name=""/>
        <p:cNvGrpSpPr/>
        <p:nvPr/>
      </p:nvGrpSpPr>
      <p:grpSpPr>
        <a:xfrm>
          <a:off x="0" y="0"/>
          <a:ext cx="0" cy="0"/>
          <a:chOff x="0" y="0"/>
          <a:chExt cx="0" cy="0"/>
        </a:xfrm>
      </p:grpSpPr>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747991474"/>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lain Background">
    <p:spTree>
      <p:nvGrpSpPr>
        <p:cNvPr id="1" name=""/>
        <p:cNvGrpSpPr/>
        <p:nvPr/>
      </p:nvGrpSpPr>
      <p:grpSpPr>
        <a:xfrm>
          <a:off x="0" y="0"/>
          <a:ext cx="0" cy="0"/>
          <a:chOff x="0" y="0"/>
          <a:chExt cx="0" cy="0"/>
        </a:xfrm>
      </p:grpSpPr>
      <p:sp>
        <p:nvSpPr>
          <p:cNvPr id="2" name="Rectangle 1"/>
          <p:cNvSpPr/>
          <p:nvPr userDrawn="1"/>
        </p:nvSpPr>
        <p:spPr>
          <a:xfrm>
            <a:off x="269737" y="304800"/>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157694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lain side block - A">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71E76E-2742-450B-96BA-3BB549EE2428}"/>
              </a:ext>
            </a:extLst>
          </p:cNvPr>
          <p:cNvSpPr/>
          <p:nvPr userDrawn="1"/>
        </p:nvSpPr>
        <p:spPr>
          <a:xfrm>
            <a:off x="0" y="0"/>
            <a:ext cx="4152550"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2"/>
          <p:cNvSpPr>
            <a:spLocks noGrp="1"/>
          </p:cNvSpPr>
          <p:nvPr>
            <p:ph type="body" sz="quarter" idx="12" hasCustomPrompt="1"/>
          </p:nvPr>
        </p:nvSpPr>
        <p:spPr>
          <a:xfrm>
            <a:off x="376238" y="1233488"/>
            <a:ext cx="3437005" cy="2030142"/>
          </a:xfrm>
        </p:spPr>
        <p:txBody>
          <a:bodyPr/>
          <a:lstStyle>
            <a:lvl1pPr marL="0" indent="0">
              <a:lnSpc>
                <a:spcPct val="90000"/>
              </a:lnSpc>
              <a:spcAft>
                <a:spcPts val="0"/>
              </a:spcAft>
              <a:buFont typeface="Arial" panose="020B0604020202020204" pitchFamily="34" charset="0"/>
              <a:buNone/>
              <a:defRPr sz="4000" b="0" cap="none"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5037138" y="1233488"/>
            <a:ext cx="6770687" cy="4651746"/>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pic>
        <p:nvPicPr>
          <p:cNvPr id="8" name="Picture 7">
            <a:extLst>
              <a:ext uri="{FF2B5EF4-FFF2-40B4-BE49-F238E27FC236}">
                <a16:creationId xmlns:a16="http://schemas.microsoft.com/office/drawing/2014/main" id="{AB547ADA-2CB9-46E7-811F-C8E01F6F3CE5}"/>
              </a:ext>
            </a:extLst>
          </p:cNvPr>
          <p:cNvPicPr>
            <a:picLocks noChangeAspect="1"/>
          </p:cNvPicPr>
          <p:nvPr userDrawn="1"/>
        </p:nvPicPr>
        <p:blipFill>
          <a:blip r:embed="rId4"/>
          <a:srcRect/>
          <a:stretch/>
        </p:blipFill>
        <p:spPr>
          <a:xfrm>
            <a:off x="0" y="4283345"/>
            <a:ext cx="5907041" cy="2574654"/>
          </a:xfrm>
          <a:prstGeom prst="rect">
            <a:avLst/>
          </a:prstGeom>
        </p:spPr>
      </p:pic>
    </p:spTree>
    <p:extLst>
      <p:ext uri="{BB962C8B-B14F-4D97-AF65-F5344CB8AC3E}">
        <p14:creationId xmlns:p14="http://schemas.microsoft.com/office/powerpoint/2010/main" val="89513587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75854554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26102930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8416527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06823869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495098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18916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7037117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513727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470127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23196243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88518018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1762717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1690137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1358311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07763832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3307440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5615284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8515767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037240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080352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637869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9068862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654826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62336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11524627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914495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6049346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5194592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475480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7006110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8678786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63825370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425534428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1_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78521189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28557905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84447498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93547663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2787144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92693359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142273709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bg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9049408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1927815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3357637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5531512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47521521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382836565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9369370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576807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06362026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4751534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5821342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32783958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444163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4916878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111273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8325715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1141728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64133208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72790681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948771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6008214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9699530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6800306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8255102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849229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3425360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01046473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35965802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319423115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91560819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26435957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47235732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58760211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42734646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1423234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0151113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6517145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9401254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86251820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56662627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55566573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3461050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13371269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9760237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923152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18374081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40741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88747310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588254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72967182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121405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75260256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45131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655010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70776788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079737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6883894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81999363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6376614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08329336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034794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15293115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29484923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175673564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737492219"/>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Teal">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719761" cy="1988032"/>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480215096"/>
      </p:ext>
    </p:extLst>
  </p:cSld>
  <p:clrMapOvr>
    <a:masterClrMapping/>
  </p:clrMapOvr>
  <p:extLst>
    <p:ext uri="{DCECCB84-F9BA-43D5-87BE-67443E8EF086}">
      <p15:sldGuideLst xmlns:p15="http://schemas.microsoft.com/office/powerpoint/2012/main">
        <p15:guide id="1" orient="horz" pos="2251">
          <p15:clr>
            <a:srgbClr val="FBAE40"/>
          </p15:clr>
        </p15:guide>
        <p15:guide id="2" pos="3840">
          <p15:clr>
            <a:srgbClr val="FBAE40"/>
          </p15:clr>
        </p15:guide>
        <p15:guide id="3" orient="horz" pos="981">
          <p15:clr>
            <a:srgbClr val="FBAE40"/>
          </p15:clr>
        </p15:guide>
        <p15:guide id="4" pos="234">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userDrawn="1">
  <p:cSld name="Teal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849686" y="249382"/>
            <a:ext cx="5342313" cy="6608618"/>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69" r="-169"/>
          <a:stretch/>
        </p:blipFill>
        <p:spPr>
          <a:xfrm>
            <a:off x="349135" y="532015"/>
            <a:ext cx="2119745" cy="1230283"/>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normAutofit/>
          </a:bodyPr>
          <a:lstStyle>
            <a:lvl1pPr marL="0" marR="0" indent="0" algn="l" defTabSz="914400" rtl="0" eaLnBrk="1" fontAlgn="auto" latinLnBrk="0" hangingPunct="1">
              <a:lnSpc>
                <a:spcPct val="100000"/>
              </a:lnSpc>
              <a:spcBef>
                <a:spcPts val="0"/>
              </a:spcBef>
              <a:spcAft>
                <a:spcPts val="0"/>
              </a:spcAft>
              <a:buClrTx/>
              <a:buSzPct val="115000"/>
              <a:buFontTx/>
              <a:buNone/>
              <a:tabLst/>
              <a:defRPr sz="2400" b="1"/>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1914129"/>
            <a:ext cx="5710699" cy="2277604"/>
          </a:xfrm>
        </p:spPr>
        <p:txBody>
          <a:bodyPr anchor="ctr" anchorCtr="0">
            <a:noAutofit/>
          </a:bodyPr>
          <a:lstStyle>
            <a:lvl1pPr algn="l">
              <a:lnSpc>
                <a:spcPct val="100000"/>
              </a:lnSpc>
              <a:defRPr sz="3600" cap="all" baseline="0"/>
            </a:lvl1pPr>
          </a:lstStyle>
          <a:p>
            <a:r>
              <a:rPr lang="en-US" noProof="0" dirty="0"/>
              <a:t>CLICK TO EDIT TITLE</a:t>
            </a:r>
            <a:endParaRPr lang="en-GB" noProof="0" dirty="0"/>
          </a:p>
        </p:txBody>
      </p:sp>
    </p:spTree>
    <p:extLst>
      <p:ext uri="{BB962C8B-B14F-4D97-AF65-F5344CB8AC3E}">
        <p14:creationId xmlns:p14="http://schemas.microsoft.com/office/powerpoint/2010/main" val="1282003855"/>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3C9C554F-2335-4EBA-A5CB-7E6DBA707ABC}" type="slidenum">
              <a:rPr lang="en-GB" smtClean="0"/>
              <a:t>‹#›</a:t>
            </a:fld>
            <a:endParaRPr lang="en-GB"/>
          </a:p>
        </p:txBody>
      </p:sp>
    </p:spTree>
    <p:extLst>
      <p:ext uri="{BB962C8B-B14F-4D97-AF65-F5344CB8AC3E}">
        <p14:creationId xmlns:p14="http://schemas.microsoft.com/office/powerpoint/2010/main" val="398274586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069146040"/>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60961785"/>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0190204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30399308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0334600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6421754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24209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6684600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163728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image" Target="../media/image1.png"/><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theme" Target="../theme/theme2.xml"/><Relationship Id="rId8"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9" Type="http://schemas.openxmlformats.org/officeDocument/2006/relationships/image" Target="../media/image1.png"/><Relationship Id="rId21" Type="http://schemas.openxmlformats.org/officeDocument/2006/relationships/slideLayout" Target="../slideLayouts/slideLayout99.xml"/><Relationship Id="rId34" Type="http://schemas.openxmlformats.org/officeDocument/2006/relationships/slideLayout" Target="../slideLayouts/slideLayout112.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theme" Target="../theme/theme3.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slideLayout" Target="../slideLayouts/slideLayout115.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slideLayout" Target="../slideLayouts/slideLayout114.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slideLayout" Target="../slideLayouts/slideLayout113.xml"/><Relationship Id="rId8" Type="http://schemas.openxmlformats.org/officeDocument/2006/relationships/slideLayout" Target="../slideLayouts/slideLayout86.xml"/><Relationship Id="rId3" Type="http://schemas.openxmlformats.org/officeDocument/2006/relationships/slideLayout" Target="../slideLayouts/slideLayout8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26" Type="http://schemas.openxmlformats.org/officeDocument/2006/relationships/slideLayout" Target="../slideLayouts/slideLayout141.xml"/><Relationship Id="rId39" Type="http://schemas.openxmlformats.org/officeDocument/2006/relationships/image" Target="../media/image1.png"/><Relationship Id="rId21" Type="http://schemas.openxmlformats.org/officeDocument/2006/relationships/slideLayout" Target="../slideLayouts/slideLayout136.xml"/><Relationship Id="rId34" Type="http://schemas.openxmlformats.org/officeDocument/2006/relationships/slideLayout" Target="../slideLayouts/slideLayout149.xml"/><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5" Type="http://schemas.openxmlformats.org/officeDocument/2006/relationships/slideLayout" Target="../slideLayouts/slideLayout140.xml"/><Relationship Id="rId33" Type="http://schemas.openxmlformats.org/officeDocument/2006/relationships/slideLayout" Target="../slideLayouts/slideLayout148.xml"/><Relationship Id="rId38" Type="http://schemas.openxmlformats.org/officeDocument/2006/relationships/theme" Target="../theme/theme4.xml"/><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29" Type="http://schemas.openxmlformats.org/officeDocument/2006/relationships/slideLayout" Target="../slideLayouts/slideLayout144.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24" Type="http://schemas.openxmlformats.org/officeDocument/2006/relationships/slideLayout" Target="../slideLayouts/slideLayout139.xml"/><Relationship Id="rId32" Type="http://schemas.openxmlformats.org/officeDocument/2006/relationships/slideLayout" Target="../slideLayouts/slideLayout147.xml"/><Relationship Id="rId37" Type="http://schemas.openxmlformats.org/officeDocument/2006/relationships/slideLayout" Target="../slideLayouts/slideLayout152.xml"/><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slideLayout" Target="../slideLayouts/slideLayout138.xml"/><Relationship Id="rId28" Type="http://schemas.openxmlformats.org/officeDocument/2006/relationships/slideLayout" Target="../slideLayouts/slideLayout143.xml"/><Relationship Id="rId36" Type="http://schemas.openxmlformats.org/officeDocument/2006/relationships/slideLayout" Target="../slideLayouts/slideLayout151.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31" Type="http://schemas.openxmlformats.org/officeDocument/2006/relationships/slideLayout" Target="../slideLayouts/slideLayout146.xml"/><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slideLayout" Target="../slideLayouts/slideLayout137.xml"/><Relationship Id="rId27" Type="http://schemas.openxmlformats.org/officeDocument/2006/relationships/slideLayout" Target="../slideLayouts/slideLayout142.xml"/><Relationship Id="rId30" Type="http://schemas.openxmlformats.org/officeDocument/2006/relationships/slideLayout" Target="../slideLayouts/slideLayout145.xml"/><Relationship Id="rId35" Type="http://schemas.openxmlformats.org/officeDocument/2006/relationships/slideLayout" Target="../slideLayouts/slideLayout150.xml"/><Relationship Id="rId8" Type="http://schemas.openxmlformats.org/officeDocument/2006/relationships/slideLayout" Target="../slideLayouts/slideLayout123.xml"/><Relationship Id="rId3" Type="http://schemas.openxmlformats.org/officeDocument/2006/relationships/slideLayout" Target="../slideLayouts/slideLayout11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60.xml"/><Relationship Id="rId13" Type="http://schemas.openxmlformats.org/officeDocument/2006/relationships/image" Target="../media/image1.png"/><Relationship Id="rId3" Type="http://schemas.openxmlformats.org/officeDocument/2006/relationships/slideLayout" Target="../slideLayouts/slideLayout155.xml"/><Relationship Id="rId7" Type="http://schemas.openxmlformats.org/officeDocument/2006/relationships/slideLayout" Target="../slideLayouts/slideLayout159.xml"/><Relationship Id="rId12" Type="http://schemas.openxmlformats.org/officeDocument/2006/relationships/image" Target="../media/image10.svg"/><Relationship Id="rId2" Type="http://schemas.openxmlformats.org/officeDocument/2006/relationships/slideLayout" Target="../slideLayouts/slideLayout154.xml"/><Relationship Id="rId1" Type="http://schemas.openxmlformats.org/officeDocument/2006/relationships/slideLayout" Target="../slideLayouts/slideLayout153.xml"/><Relationship Id="rId6" Type="http://schemas.openxmlformats.org/officeDocument/2006/relationships/slideLayout" Target="../slideLayouts/slideLayout158.xml"/><Relationship Id="rId11" Type="http://schemas.openxmlformats.org/officeDocument/2006/relationships/image" Target="../media/image9.png"/><Relationship Id="rId5" Type="http://schemas.openxmlformats.org/officeDocument/2006/relationships/slideLayout" Target="../slideLayouts/slideLayout157.xml"/><Relationship Id="rId10" Type="http://schemas.openxmlformats.org/officeDocument/2006/relationships/theme" Target="../theme/theme5.xml"/><Relationship Id="rId4" Type="http://schemas.openxmlformats.org/officeDocument/2006/relationships/slideLayout" Target="../slideLayouts/slideLayout156.xml"/><Relationship Id="rId9" Type="http://schemas.openxmlformats.org/officeDocument/2006/relationships/slideLayout" Target="../slideLayouts/slideLayout1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
        <p:nvSpPr>
          <p:cNvPr id="6" name="Title Placeholder 1">
            <a:extLst>
              <a:ext uri="{FF2B5EF4-FFF2-40B4-BE49-F238E27FC236}">
                <a16:creationId xmlns:a16="http://schemas.microsoft.com/office/drawing/2014/main" id="{071B722C-A436-4915-BB58-BCAF19A49E11}"/>
              </a:ext>
            </a:extLst>
          </p:cNvPr>
          <p:cNvSpPr>
            <a:spLocks noGrp="1"/>
          </p:cNvSpPr>
          <p:nvPr>
            <p:ph type="title"/>
          </p:nvPr>
        </p:nvSpPr>
        <p:spPr>
          <a:xfrm>
            <a:off x="1349374" y="450398"/>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7" name="Text Placeholder 2">
            <a:extLst>
              <a:ext uri="{FF2B5EF4-FFF2-40B4-BE49-F238E27FC236}">
                <a16:creationId xmlns:a16="http://schemas.microsoft.com/office/drawing/2014/main" id="{0C0E40DD-4C8E-4044-BAFD-519691D946A5}"/>
              </a:ext>
            </a:extLst>
          </p:cNvPr>
          <p:cNvSpPr>
            <a:spLocks noGrp="1"/>
          </p:cNvSpPr>
          <p:nvPr>
            <p:ph type="body" idx="1"/>
          </p:nvPr>
        </p:nvSpPr>
        <p:spPr>
          <a:xfrm>
            <a:off x="1350676" y="1596719"/>
            <a:ext cx="9490362" cy="458024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123274561"/>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650" r:id="rId37"/>
    <p:sldLayoutId id="2147483748" r:id="rId38"/>
    <p:sldLayoutId id="2147483749" r:id="rId39"/>
    <p:sldLayoutId id="2147483744" r:id="rId40"/>
    <p:sldLayoutId id="2147483747" r:id="rId41"/>
    <p:sldLayoutId id="2147483750" r:id="rId42"/>
    <p:sldLayoutId id="2147483660" r:id="rId43"/>
    <p:sldLayoutId id="2147483751" r:id="rId44"/>
  </p:sldLayoutIdLst>
  <p:hf hdr="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5" pos="851">
          <p15:clr>
            <a:srgbClr val="F26B43"/>
          </p15:clr>
        </p15:guide>
        <p15:guide id="8" pos="1955">
          <p15:clr>
            <a:srgbClr val="F26B43"/>
          </p15:clr>
        </p15:guide>
        <p15:guide id="11" pos="2683">
          <p15:clr>
            <a:srgbClr val="F26B43"/>
          </p15:clr>
        </p15:guide>
        <p15:guide id="14" pos="3783">
          <p15:clr>
            <a:srgbClr val="F26B43"/>
          </p15:clr>
        </p15:guide>
        <p15:guide id="17" pos="4507">
          <p15:clr>
            <a:srgbClr val="F26B43"/>
          </p15:clr>
        </p15:guide>
        <p15:guide id="20" pos="5611">
          <p15:clr>
            <a:srgbClr val="F26B43"/>
          </p15:clr>
        </p15:guide>
        <p15:guide id="23" pos="6335">
          <p15:clr>
            <a:srgbClr val="F26B43"/>
          </p15:clr>
        </p15:guide>
        <p15:guide id="26" pos="7439">
          <p15:clr>
            <a:srgbClr val="F26B43"/>
          </p15:clr>
        </p15:guide>
        <p15:guide id="29" orient="horz" pos="238"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0" userDrawn="1">
          <p15:clr>
            <a:srgbClr val="F26B43"/>
          </p15:clr>
        </p15:guide>
        <p15:guide id="34" pos="1345" userDrawn="1">
          <p15:clr>
            <a:srgbClr val="F26B43"/>
          </p15:clr>
        </p15:guide>
        <p15:guide id="35" pos="1460" userDrawn="1">
          <p15:clr>
            <a:srgbClr val="F26B43"/>
          </p15:clr>
        </p15:guide>
        <p15:guide id="36" pos="1954" userDrawn="1">
          <p15:clr>
            <a:srgbClr val="F26B43"/>
          </p15:clr>
        </p15:guide>
        <p15:guide id="37" pos="2069" userDrawn="1">
          <p15:clr>
            <a:srgbClr val="F26B43"/>
          </p15:clr>
        </p15:guide>
        <p15:guide id="38" pos="2564" userDrawn="1">
          <p15:clr>
            <a:srgbClr val="F26B43"/>
          </p15:clr>
        </p15:guide>
        <p15:guide id="39" pos="2678" userDrawn="1">
          <p15:clr>
            <a:srgbClr val="F26B43"/>
          </p15:clr>
        </p15:guide>
        <p15:guide id="40" pos="3173" userDrawn="1">
          <p15:clr>
            <a:srgbClr val="F26B43"/>
          </p15:clr>
        </p15:guide>
        <p15:guide id="41" pos="3288" userDrawn="1">
          <p15:clr>
            <a:srgbClr val="F26B43"/>
          </p15:clr>
        </p15:guide>
        <p15:guide id="42" pos="3782" userDrawn="1">
          <p15:clr>
            <a:srgbClr val="F26B43"/>
          </p15:clr>
        </p15:guide>
        <p15:guide id="43" pos="3897" userDrawn="1">
          <p15:clr>
            <a:srgbClr val="F26B43"/>
          </p15:clr>
        </p15:guide>
        <p15:guide id="44" pos="4392" userDrawn="1">
          <p15:clr>
            <a:srgbClr val="F26B43"/>
          </p15:clr>
        </p15:guide>
        <p15:guide id="45" pos="4506" userDrawn="1">
          <p15:clr>
            <a:srgbClr val="F26B43"/>
          </p15:clr>
        </p15:guide>
        <p15:guide id="46" pos="5001" userDrawn="1">
          <p15:clr>
            <a:srgbClr val="F26B43"/>
          </p15:clr>
        </p15:guide>
        <p15:guide id="47" pos="5115" userDrawn="1">
          <p15:clr>
            <a:srgbClr val="F26B43"/>
          </p15:clr>
        </p15:guide>
        <p15:guide id="48" pos="5610" userDrawn="1">
          <p15:clr>
            <a:srgbClr val="F26B43"/>
          </p15:clr>
        </p15:guide>
        <p15:guide id="49" pos="5725" userDrawn="1">
          <p15:clr>
            <a:srgbClr val="F26B43"/>
          </p15:clr>
        </p15:guide>
        <p15:guide id="50" pos="6220" userDrawn="1">
          <p15:clr>
            <a:srgbClr val="F26B43"/>
          </p15:clr>
        </p15:guide>
        <p15:guide id="51" pos="6334" userDrawn="1">
          <p15:clr>
            <a:srgbClr val="F26B43"/>
          </p15:clr>
        </p15:guide>
        <p15:guide id="52" pos="6829" userDrawn="1">
          <p15:clr>
            <a:srgbClr val="F26B43"/>
          </p15:clr>
        </p15:guide>
        <p15:guide id="53" pos="6943" userDrawn="1">
          <p15:clr>
            <a:srgbClr val="F26B43"/>
          </p15:clr>
        </p15:guide>
        <p15:guide id="54" pos="7438" userDrawn="1">
          <p15:clr>
            <a:srgbClr val="F26B43"/>
          </p15:clr>
        </p15:guide>
        <p15:guide id="55" pos="3840" userDrawn="1">
          <p15:clr>
            <a:srgbClr val="9FCC3B"/>
          </p15:clr>
        </p15:guide>
        <p15:guide id="56"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964618516"/>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 id="2147483812" r:id="rId23"/>
    <p:sldLayoutId id="2147483813" r:id="rId24"/>
    <p:sldLayoutId id="2147483814" r:id="rId25"/>
    <p:sldLayoutId id="2147483815" r:id="rId26"/>
    <p:sldLayoutId id="2147483816" r:id="rId27"/>
    <p:sldLayoutId id="2147483817" r:id="rId28"/>
    <p:sldLayoutId id="2147483818" r:id="rId29"/>
    <p:sldLayoutId id="2147483819" r:id="rId30"/>
    <p:sldLayoutId id="2147483820" r:id="rId31"/>
    <p:sldLayoutId id="2147483821" r:id="rId32"/>
    <p:sldLayoutId id="2147483822" r:id="rId33"/>
    <p:sldLayoutId id="2147483823" r:id="rId34"/>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180247266"/>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8" r:id="rId34"/>
    <p:sldLayoutId id="2147483859" r:id="rId35"/>
    <p:sldLayoutId id="2147483860" r:id="rId36"/>
    <p:sldLayoutId id="2147483861"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268902048"/>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 id="2147483888" r:id="rId26"/>
    <p:sldLayoutId id="2147483889" r:id="rId27"/>
    <p:sldLayoutId id="2147483890" r:id="rId28"/>
    <p:sldLayoutId id="2147483891" r:id="rId29"/>
    <p:sldLayoutId id="2147483892" r:id="rId30"/>
    <p:sldLayoutId id="2147483893" r:id="rId31"/>
    <p:sldLayoutId id="2147483894" r:id="rId32"/>
    <p:sldLayoutId id="2147483905" r:id="rId33"/>
    <p:sldLayoutId id="2147483907" r:id="rId34"/>
    <p:sldLayoutId id="2147483908" r:id="rId35"/>
    <p:sldLayoutId id="2147483909" r:id="rId36"/>
    <p:sldLayoutId id="2147483910"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23270769"/>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2.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3.xml"/><Relationship Id="rId16" Type="http://schemas.openxmlformats.org/officeDocument/2006/relationships/diagramColors" Target="../diagrams/colors3.xml"/><Relationship Id="rId1" Type="http://schemas.openxmlformats.org/officeDocument/2006/relationships/slideLayout" Target="../slideLayouts/slideLayout16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8.xml"/></Relationships>
</file>

<file path=ppt/slides/_rels/slide1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8.xml"/><Relationship Id="rId1" Type="http://schemas.openxmlformats.org/officeDocument/2006/relationships/slideLayout" Target="../slideLayouts/slideLayout14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9.xml"/></Relationships>
</file>

<file path=ppt/slides/_rels/slide21.xml.rels><?xml version="1.0" encoding="UTF-8" standalone="yes"?>
<Relationships xmlns="http://schemas.openxmlformats.org/package/2006/relationships"><Relationship Id="rId3" Type="http://schemas.openxmlformats.org/officeDocument/2006/relationships/hyperlink" Target="https://create.kahoot.it/details/6c8e91a7-8272-42bf-b973-bff7e5bee2c6" TargetMode="External"/><Relationship Id="rId2" Type="http://schemas.openxmlformats.org/officeDocument/2006/relationships/notesSlide" Target="../notesSlides/notesSlide21.xml"/><Relationship Id="rId1" Type="http://schemas.openxmlformats.org/officeDocument/2006/relationships/slideLayout" Target="../slideLayouts/slideLayout15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F9645-10D3-4636-8E7B-FE1FF2991808}"/>
              </a:ext>
            </a:extLst>
          </p:cNvPr>
          <p:cNvSpPr>
            <a:spLocks noGrp="1"/>
          </p:cNvSpPr>
          <p:nvPr>
            <p:ph type="ctrTitle"/>
          </p:nvPr>
        </p:nvSpPr>
        <p:spPr>
          <a:xfrm>
            <a:off x="384785" y="2322726"/>
            <a:ext cx="6596062" cy="2431485"/>
          </a:xfrm>
        </p:spPr>
        <p:txBody>
          <a:bodyPr anchor="b">
            <a:normAutofit/>
          </a:bodyPr>
          <a:lstStyle/>
          <a:p>
            <a:r>
              <a:rPr lang="en-GB" sz="2700" dirty="0"/>
              <a:t>Software Developer</a:t>
            </a:r>
            <a:br>
              <a:rPr lang="en-GB" sz="2700" dirty="0"/>
            </a:br>
            <a:br>
              <a:rPr lang="en-GB" sz="2700" dirty="0"/>
            </a:br>
            <a:r>
              <a:rPr lang="en-GB" sz="2700" dirty="0"/>
              <a:t>Agile Software Development</a:t>
            </a:r>
            <a:br>
              <a:rPr lang="en-GB" sz="2700" dirty="0"/>
            </a:br>
            <a:br>
              <a:rPr lang="en-GB" sz="2700" dirty="0"/>
            </a:br>
            <a:r>
              <a:rPr lang="en-GB" sz="2700" dirty="0"/>
              <a:t>Team Roles and Responsibilities</a:t>
            </a:r>
            <a:br>
              <a:rPr lang="en-GB" sz="2700" dirty="0"/>
            </a:br>
            <a:endParaRPr lang="en-GB" sz="2700" dirty="0"/>
          </a:p>
        </p:txBody>
      </p:sp>
    </p:spTree>
    <p:extLst>
      <p:ext uri="{BB962C8B-B14F-4D97-AF65-F5344CB8AC3E}">
        <p14:creationId xmlns:p14="http://schemas.microsoft.com/office/powerpoint/2010/main" val="117794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System development principles</a:t>
            </a:r>
          </a:p>
        </p:txBody>
      </p:sp>
      <p:grpSp>
        <p:nvGrpSpPr>
          <p:cNvPr id="3" name="Group 2"/>
          <p:cNvGrpSpPr/>
          <p:nvPr/>
        </p:nvGrpSpPr>
        <p:grpSpPr>
          <a:xfrm>
            <a:off x="1686000" y="1285948"/>
            <a:ext cx="8820000" cy="5220000"/>
            <a:chOff x="142844" y="874464"/>
            <a:chExt cx="8198662" cy="5780136"/>
          </a:xfrm>
        </p:grpSpPr>
        <p:sp>
          <p:nvSpPr>
            <p:cNvPr id="4" name="Rounded Rectangle 3"/>
            <p:cNvSpPr/>
            <p:nvPr/>
          </p:nvSpPr>
          <p:spPr>
            <a:xfrm>
              <a:off x="6537311" y="5038389"/>
              <a:ext cx="1181176" cy="718793"/>
            </a:xfrm>
            <a:prstGeom prst="roundRect">
              <a:avLst/>
            </a:prstGeom>
            <a:solidFill>
              <a:schemeClr val="tx1"/>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100">
                  <a:solidFill>
                    <a:schemeClr val="bg1"/>
                  </a:solidFill>
                  <a:cs typeface="Arial" pitchFamily="34" charset="0"/>
                </a:rPr>
                <a:t>Programming</a:t>
              </a:r>
            </a:p>
          </p:txBody>
        </p:sp>
        <p:sp>
          <p:nvSpPr>
            <p:cNvPr id="5" name="Rounded Rectangle 4"/>
            <p:cNvSpPr/>
            <p:nvPr/>
          </p:nvSpPr>
          <p:spPr>
            <a:xfrm>
              <a:off x="4013702" y="5886771"/>
              <a:ext cx="1181176" cy="718793"/>
            </a:xfrm>
            <a:prstGeom prst="roundRect">
              <a:avLst/>
            </a:prstGeom>
            <a:solidFill>
              <a:schemeClr val="tx1"/>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100">
                  <a:solidFill>
                    <a:schemeClr val="bg1"/>
                  </a:solidFill>
                  <a:cs typeface="Arial" pitchFamily="34" charset="0"/>
                </a:rPr>
                <a:t>Testing</a:t>
              </a:r>
            </a:p>
          </p:txBody>
        </p:sp>
        <p:sp>
          <p:nvSpPr>
            <p:cNvPr id="6" name="Rounded Rectangle 5"/>
            <p:cNvSpPr/>
            <p:nvPr/>
          </p:nvSpPr>
          <p:spPr>
            <a:xfrm>
              <a:off x="4013702" y="874464"/>
              <a:ext cx="1181176" cy="718793"/>
            </a:xfrm>
            <a:prstGeom prst="roundRect">
              <a:avLst/>
            </a:prstGeom>
            <a:solidFill>
              <a:schemeClr val="tx1"/>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100">
                  <a:solidFill>
                    <a:schemeClr val="bg1"/>
                  </a:solidFill>
                  <a:cs typeface="Arial" pitchFamily="34" charset="0"/>
                </a:rPr>
                <a:t>Project</a:t>
              </a:r>
            </a:p>
            <a:p>
              <a:pPr algn="ctr"/>
              <a:r>
                <a:rPr lang="en-GB" sz="1100">
                  <a:solidFill>
                    <a:schemeClr val="bg1"/>
                  </a:solidFill>
                  <a:cs typeface="Arial" pitchFamily="34" charset="0"/>
                </a:rPr>
                <a:t>Management</a:t>
              </a:r>
            </a:p>
          </p:txBody>
        </p:sp>
        <p:sp>
          <p:nvSpPr>
            <p:cNvPr id="7" name="Rounded Rectangle 6"/>
            <p:cNvSpPr/>
            <p:nvPr/>
          </p:nvSpPr>
          <p:spPr>
            <a:xfrm>
              <a:off x="6537311" y="1565244"/>
              <a:ext cx="1181176" cy="718793"/>
            </a:xfrm>
            <a:prstGeom prst="roundRect">
              <a:avLst/>
            </a:prstGeom>
            <a:solidFill>
              <a:schemeClr val="tx1"/>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100">
                  <a:solidFill>
                    <a:schemeClr val="bg1"/>
                  </a:solidFill>
                  <a:cs typeface="Arial" pitchFamily="34" charset="0"/>
                </a:rPr>
                <a:t>Business</a:t>
              </a:r>
            </a:p>
            <a:p>
              <a:pPr algn="ctr"/>
              <a:r>
                <a:rPr lang="en-GB" sz="1100">
                  <a:solidFill>
                    <a:schemeClr val="bg1"/>
                  </a:solidFill>
                  <a:cs typeface="Arial" pitchFamily="34" charset="0"/>
                </a:rPr>
                <a:t>Analysis</a:t>
              </a:r>
            </a:p>
          </p:txBody>
        </p:sp>
        <p:sp>
          <p:nvSpPr>
            <p:cNvPr id="8" name="Rounded Rectangle 7"/>
            <p:cNvSpPr/>
            <p:nvPr/>
          </p:nvSpPr>
          <p:spPr>
            <a:xfrm>
              <a:off x="7160330" y="3388480"/>
              <a:ext cx="1181176" cy="718793"/>
            </a:xfrm>
            <a:prstGeom prst="roundRect">
              <a:avLst/>
            </a:prstGeom>
            <a:solidFill>
              <a:schemeClr val="tx1"/>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100">
                  <a:solidFill>
                    <a:schemeClr val="bg1"/>
                  </a:solidFill>
                  <a:cs typeface="Arial" pitchFamily="34" charset="0"/>
                </a:rPr>
                <a:t>Systems</a:t>
              </a:r>
            </a:p>
            <a:p>
              <a:pPr algn="ctr"/>
              <a:r>
                <a:rPr lang="en-GB" sz="1100">
                  <a:solidFill>
                    <a:schemeClr val="bg1"/>
                  </a:solidFill>
                  <a:cs typeface="Arial" pitchFamily="34" charset="0"/>
                </a:rPr>
                <a:t> Architecture</a:t>
              </a:r>
            </a:p>
          </p:txBody>
        </p:sp>
        <p:sp>
          <p:nvSpPr>
            <p:cNvPr id="9" name="Rounded Rectangle 8"/>
            <p:cNvSpPr/>
            <p:nvPr/>
          </p:nvSpPr>
          <p:spPr>
            <a:xfrm>
              <a:off x="681225" y="3386844"/>
              <a:ext cx="1181176" cy="718793"/>
            </a:xfrm>
            <a:prstGeom prst="roundRect">
              <a:avLst/>
            </a:prstGeom>
            <a:solidFill>
              <a:schemeClr val="tx1"/>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050">
                  <a:solidFill>
                    <a:schemeClr val="bg1"/>
                  </a:solidFill>
                  <a:cs typeface="Arial" pitchFamily="34" charset="0"/>
                </a:rPr>
                <a:t>Quality Control</a:t>
              </a:r>
            </a:p>
            <a:p>
              <a:pPr algn="ctr"/>
              <a:r>
                <a:rPr lang="en-GB" sz="1050">
                  <a:solidFill>
                    <a:schemeClr val="bg1"/>
                  </a:solidFill>
                  <a:cs typeface="Arial" pitchFamily="34" charset="0"/>
                </a:rPr>
                <a:t> and</a:t>
              </a:r>
            </a:p>
            <a:p>
              <a:pPr algn="ctr"/>
              <a:r>
                <a:rPr lang="en-GB" sz="1050">
                  <a:solidFill>
                    <a:schemeClr val="bg1"/>
                  </a:solidFill>
                  <a:cs typeface="Arial" pitchFamily="34" charset="0"/>
                </a:rPr>
                <a:t> Quality Assurance</a:t>
              </a:r>
            </a:p>
          </p:txBody>
        </p:sp>
        <p:sp>
          <p:nvSpPr>
            <p:cNvPr id="10" name="Rounded Rectangle 9"/>
            <p:cNvSpPr/>
            <p:nvPr/>
          </p:nvSpPr>
          <p:spPr>
            <a:xfrm>
              <a:off x="1544685" y="1571524"/>
              <a:ext cx="1181176" cy="718793"/>
            </a:xfrm>
            <a:prstGeom prst="roundRect">
              <a:avLst/>
            </a:prstGeom>
            <a:solidFill>
              <a:schemeClr val="tx1"/>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100">
                  <a:solidFill>
                    <a:schemeClr val="bg1"/>
                  </a:solidFill>
                  <a:cs typeface="Arial" pitchFamily="34" charset="0"/>
                </a:rPr>
                <a:t>Service</a:t>
              </a:r>
            </a:p>
            <a:p>
              <a:pPr algn="ctr"/>
              <a:r>
                <a:rPr lang="en-GB" sz="1100">
                  <a:solidFill>
                    <a:schemeClr val="bg1"/>
                  </a:solidFill>
                  <a:cs typeface="Arial" pitchFamily="34" charset="0"/>
                </a:rPr>
                <a:t>Management</a:t>
              </a:r>
            </a:p>
          </p:txBody>
        </p:sp>
        <p:sp>
          <p:nvSpPr>
            <p:cNvPr id="11" name="Rounded Rectangle 10"/>
            <p:cNvSpPr/>
            <p:nvPr/>
          </p:nvSpPr>
          <p:spPr>
            <a:xfrm>
              <a:off x="1544685" y="5038390"/>
              <a:ext cx="1181176" cy="718793"/>
            </a:xfrm>
            <a:prstGeom prst="roundRect">
              <a:avLst/>
            </a:prstGeom>
            <a:solidFill>
              <a:schemeClr val="tx1"/>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050">
                  <a:solidFill>
                    <a:schemeClr val="bg1"/>
                  </a:solidFill>
                  <a:cs typeface="Arial" pitchFamily="34" charset="0"/>
                </a:rPr>
                <a:t>Configuration</a:t>
              </a:r>
            </a:p>
            <a:p>
              <a:pPr algn="ctr"/>
              <a:r>
                <a:rPr lang="en-GB" sz="1050">
                  <a:solidFill>
                    <a:schemeClr val="bg1"/>
                  </a:solidFill>
                  <a:cs typeface="Arial" pitchFamily="34" charset="0"/>
                </a:rPr>
                <a:t> Management</a:t>
              </a:r>
            </a:p>
            <a:p>
              <a:pPr algn="ctr"/>
              <a:r>
                <a:rPr lang="en-GB" sz="1050">
                  <a:solidFill>
                    <a:schemeClr val="bg1"/>
                  </a:solidFill>
                  <a:cs typeface="Arial" pitchFamily="34" charset="0"/>
                </a:rPr>
                <a:t>And</a:t>
              </a:r>
            </a:p>
            <a:p>
              <a:pPr algn="ctr"/>
              <a:r>
                <a:rPr lang="en-GB" sz="1050">
                  <a:solidFill>
                    <a:schemeClr val="bg1"/>
                  </a:solidFill>
                  <a:cs typeface="Arial" pitchFamily="34" charset="0"/>
                </a:rPr>
                <a:t> Change Control</a:t>
              </a:r>
            </a:p>
          </p:txBody>
        </p:sp>
        <p:grpSp>
          <p:nvGrpSpPr>
            <p:cNvPr id="12" name="Group 11"/>
            <p:cNvGrpSpPr/>
            <p:nvPr/>
          </p:nvGrpSpPr>
          <p:grpSpPr>
            <a:xfrm>
              <a:off x="2388362" y="1746916"/>
              <a:ext cx="4449170" cy="3998795"/>
              <a:chOff x="2183642" y="1569492"/>
              <a:chExt cx="4449170" cy="3998795"/>
            </a:xfrm>
          </p:grpSpPr>
          <p:cxnSp>
            <p:nvCxnSpPr>
              <p:cNvPr id="30" name="Straight Arrow Connector 29"/>
              <p:cNvCxnSpPr>
                <a:stCxn id="32" idx="2"/>
                <a:endCxn id="33" idx="0"/>
              </p:cNvCxnSpPr>
              <p:nvPr/>
            </p:nvCxnSpPr>
            <p:spPr>
              <a:xfrm flipH="1">
                <a:off x="5612225" y="3327719"/>
                <a:ext cx="2834" cy="4332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1" name="Flowchart: Terminator 30"/>
              <p:cNvSpPr/>
              <p:nvPr/>
            </p:nvSpPr>
            <p:spPr>
              <a:xfrm>
                <a:off x="3542754" y="2065057"/>
                <a:ext cx="1768224" cy="464024"/>
              </a:xfrm>
              <a:prstGeom prst="flowChartTerminator">
                <a:avLst/>
              </a:prstGeom>
              <a:solidFill>
                <a:schemeClr val="tx2"/>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400">
                    <a:solidFill>
                      <a:schemeClr val="tx1"/>
                    </a:solidFill>
                    <a:cs typeface="Arial" pitchFamily="34" charset="0"/>
                  </a:rPr>
                  <a:t>Feasibility Study</a:t>
                </a:r>
              </a:p>
            </p:txBody>
          </p:sp>
          <p:sp>
            <p:nvSpPr>
              <p:cNvPr id="32" name="Flowchart: Terminator 31"/>
              <p:cNvSpPr/>
              <p:nvPr/>
            </p:nvSpPr>
            <p:spPr>
              <a:xfrm>
                <a:off x="4733780" y="2863695"/>
                <a:ext cx="1762557" cy="464024"/>
              </a:xfrm>
              <a:prstGeom prst="flowChartTerminator">
                <a:avLst/>
              </a:prstGeom>
              <a:solidFill>
                <a:schemeClr val="tx2"/>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400">
                    <a:solidFill>
                      <a:schemeClr val="tx1"/>
                    </a:solidFill>
                    <a:cs typeface="Arial" pitchFamily="34" charset="0"/>
                  </a:rPr>
                  <a:t>Requirements </a:t>
                </a:r>
              </a:p>
              <a:p>
                <a:pPr algn="ctr"/>
                <a:r>
                  <a:rPr lang="en-GB" sz="1400">
                    <a:solidFill>
                      <a:schemeClr val="tx1"/>
                    </a:solidFill>
                    <a:cs typeface="Arial" pitchFamily="34" charset="0"/>
                  </a:rPr>
                  <a:t>Analysis</a:t>
                </a:r>
              </a:p>
            </p:txBody>
          </p:sp>
          <p:sp>
            <p:nvSpPr>
              <p:cNvPr id="33" name="Flowchart: Terminator 32"/>
              <p:cNvSpPr/>
              <p:nvPr/>
            </p:nvSpPr>
            <p:spPr>
              <a:xfrm>
                <a:off x="4728114" y="3760948"/>
                <a:ext cx="1768225" cy="464024"/>
              </a:xfrm>
              <a:prstGeom prst="flowChartTerminator">
                <a:avLst/>
              </a:prstGeom>
              <a:solidFill>
                <a:schemeClr val="tx2"/>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400">
                    <a:solidFill>
                      <a:schemeClr val="tx1"/>
                    </a:solidFill>
                    <a:cs typeface="Arial" pitchFamily="34" charset="0"/>
                  </a:rPr>
                  <a:t>Design</a:t>
                </a:r>
              </a:p>
            </p:txBody>
          </p:sp>
          <p:sp>
            <p:nvSpPr>
              <p:cNvPr id="34" name="Flowchart: Terminator 33"/>
              <p:cNvSpPr/>
              <p:nvPr/>
            </p:nvSpPr>
            <p:spPr>
              <a:xfrm>
                <a:off x="3542753" y="4630000"/>
                <a:ext cx="1766895" cy="465783"/>
              </a:xfrm>
              <a:prstGeom prst="flowChartTerminator">
                <a:avLst/>
              </a:prstGeom>
              <a:solidFill>
                <a:schemeClr val="tx2"/>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400">
                    <a:solidFill>
                      <a:schemeClr val="tx1"/>
                    </a:solidFill>
                    <a:cs typeface="Arial" pitchFamily="34" charset="0"/>
                  </a:rPr>
                  <a:t>Code Development</a:t>
                </a:r>
              </a:p>
            </p:txBody>
          </p:sp>
          <p:sp>
            <p:nvSpPr>
              <p:cNvPr id="35" name="Flowchart: Terminator 34"/>
              <p:cNvSpPr/>
              <p:nvPr/>
            </p:nvSpPr>
            <p:spPr>
              <a:xfrm>
                <a:off x="2382692" y="3777514"/>
                <a:ext cx="1768224" cy="464024"/>
              </a:xfrm>
              <a:prstGeom prst="flowChartTerminator">
                <a:avLst/>
              </a:prstGeom>
              <a:solidFill>
                <a:schemeClr val="tx2"/>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400">
                    <a:solidFill>
                      <a:schemeClr val="tx1"/>
                    </a:solidFill>
                    <a:cs typeface="Arial" pitchFamily="34" charset="0"/>
                  </a:rPr>
                  <a:t>Testing</a:t>
                </a:r>
              </a:p>
            </p:txBody>
          </p:sp>
          <p:sp>
            <p:nvSpPr>
              <p:cNvPr id="36" name="Flowchart: Terminator 35"/>
              <p:cNvSpPr/>
              <p:nvPr/>
            </p:nvSpPr>
            <p:spPr>
              <a:xfrm>
                <a:off x="2382692" y="2839319"/>
                <a:ext cx="1762557" cy="464024"/>
              </a:xfrm>
              <a:prstGeom prst="flowChartTerminator">
                <a:avLst/>
              </a:prstGeom>
              <a:solidFill>
                <a:schemeClr val="tx2"/>
              </a:solidFill>
            </p:spPr>
            <p:style>
              <a:lnRef idx="0">
                <a:schemeClr val="accent4"/>
              </a:lnRef>
              <a:fillRef idx="3">
                <a:schemeClr val="accent4"/>
              </a:fillRef>
              <a:effectRef idx="3">
                <a:schemeClr val="accent4"/>
              </a:effectRef>
              <a:fontRef idx="minor">
                <a:schemeClr val="lt1"/>
              </a:fontRef>
            </p:style>
            <p:txBody>
              <a:bodyPr wrap="none" lIns="36000" tIns="36000" rIns="36000" bIns="36000" rtlCol="0" anchor="ctr">
                <a:noAutofit/>
              </a:bodyPr>
              <a:lstStyle/>
              <a:p>
                <a:pPr algn="ctr"/>
                <a:r>
                  <a:rPr lang="en-GB" sz="1400">
                    <a:solidFill>
                      <a:schemeClr val="tx1"/>
                    </a:solidFill>
                    <a:cs typeface="Arial" pitchFamily="34" charset="0"/>
                  </a:rPr>
                  <a:t>Deployment/</a:t>
                </a:r>
              </a:p>
              <a:p>
                <a:pPr algn="ctr"/>
                <a:r>
                  <a:rPr lang="en-GB" sz="1400">
                    <a:solidFill>
                      <a:schemeClr val="tx1"/>
                    </a:solidFill>
                    <a:cs typeface="Arial" pitchFamily="34" charset="0"/>
                  </a:rPr>
                  <a:t>Implementation</a:t>
                </a:r>
              </a:p>
            </p:txBody>
          </p:sp>
          <p:sp>
            <p:nvSpPr>
              <p:cNvPr id="37" name="TextBox 36"/>
              <p:cNvSpPr txBox="1"/>
              <p:nvPr/>
            </p:nvSpPr>
            <p:spPr>
              <a:xfrm>
                <a:off x="3722564" y="3216259"/>
                <a:ext cx="1351547" cy="646672"/>
              </a:xfrm>
              <a:prstGeom prst="rect">
                <a:avLst/>
              </a:prstGeom>
              <a:noFill/>
            </p:spPr>
            <p:txBody>
              <a:bodyPr wrap="none" lIns="36000" tIns="36000" rIns="36000" bIns="36000" rtlCol="0" anchor="ctr">
                <a:noAutofit/>
              </a:bodyPr>
              <a:lstStyle/>
              <a:p>
                <a:pPr algn="ctr"/>
                <a:r>
                  <a:rPr lang="en-GB" sz="1400">
                    <a:solidFill>
                      <a:schemeClr val="tx2"/>
                    </a:solidFill>
                  </a:rPr>
                  <a:t>Systems</a:t>
                </a:r>
              </a:p>
              <a:p>
                <a:pPr algn="ctr"/>
                <a:r>
                  <a:rPr lang="en-GB" sz="1400">
                    <a:solidFill>
                      <a:schemeClr val="tx2"/>
                    </a:solidFill>
                  </a:rPr>
                  <a:t> Development</a:t>
                </a:r>
                <a:endParaRPr lang="en-GB" sz="1400">
                  <a:solidFill>
                    <a:schemeClr val="tx2"/>
                  </a:solidFill>
                  <a:cs typeface="Courier New" pitchFamily="49" charset="0"/>
                </a:endParaRPr>
              </a:p>
            </p:txBody>
          </p:sp>
          <p:cxnSp>
            <p:nvCxnSpPr>
              <p:cNvPr id="38" name="Elbow Connector 37"/>
              <p:cNvCxnSpPr>
                <a:stCxn id="31" idx="3"/>
                <a:endCxn id="32" idx="0"/>
              </p:cNvCxnSpPr>
              <p:nvPr/>
            </p:nvCxnSpPr>
            <p:spPr>
              <a:xfrm>
                <a:off x="5310978" y="2297069"/>
                <a:ext cx="304081" cy="566626"/>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p:cNvCxnSpPr>
                <a:stCxn id="33" idx="2"/>
                <a:endCxn id="34" idx="3"/>
              </p:cNvCxnSpPr>
              <p:nvPr/>
            </p:nvCxnSpPr>
            <p:spPr>
              <a:xfrm rot="5400000">
                <a:off x="5141978" y="4392641"/>
                <a:ext cx="637920" cy="302579"/>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p:cNvCxnSpPr>
                <a:stCxn id="34" idx="1"/>
              </p:cNvCxnSpPr>
              <p:nvPr/>
            </p:nvCxnSpPr>
            <p:spPr>
              <a:xfrm rot="10800000">
                <a:off x="3263986" y="4276509"/>
                <a:ext cx="278768" cy="586382"/>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5" idx="0"/>
                <a:endCxn id="36" idx="2"/>
              </p:cNvCxnSpPr>
              <p:nvPr/>
            </p:nvCxnSpPr>
            <p:spPr>
              <a:xfrm flipH="1" flipV="1">
                <a:off x="3263971" y="3303343"/>
                <a:ext cx="2833" cy="47417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36" idx="0"/>
                <a:endCxn id="31" idx="1"/>
              </p:cNvCxnSpPr>
              <p:nvPr/>
            </p:nvCxnSpPr>
            <p:spPr>
              <a:xfrm rot="5400000" flipH="1" flipV="1">
                <a:off x="3132237" y="2428803"/>
                <a:ext cx="542250" cy="278783"/>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2183642" y="1569492"/>
                <a:ext cx="4449170" cy="39987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oAutofit/>
              </a:bodyPr>
              <a:lstStyle/>
              <a:p>
                <a:pPr algn="ctr"/>
                <a:endParaRPr lang="en-GB" sz="1400">
                  <a:solidFill>
                    <a:schemeClr val="tx1"/>
                  </a:solidFill>
                  <a:cs typeface="Arial" pitchFamily="34" charset="0"/>
                </a:endParaRPr>
              </a:p>
            </p:txBody>
          </p:sp>
        </p:grpSp>
        <p:cxnSp>
          <p:nvCxnSpPr>
            <p:cNvPr id="13" name="Straight Connector 12"/>
            <p:cNvCxnSpPr>
              <a:stCxn id="6" idx="3"/>
              <a:endCxn id="7" idx="0"/>
            </p:cNvCxnSpPr>
            <p:nvPr/>
          </p:nvCxnSpPr>
          <p:spPr>
            <a:xfrm>
              <a:off x="5194878" y="1233861"/>
              <a:ext cx="1933021" cy="33138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2"/>
              <a:endCxn id="8" idx="0"/>
            </p:cNvCxnSpPr>
            <p:nvPr/>
          </p:nvCxnSpPr>
          <p:spPr>
            <a:xfrm>
              <a:off x="7127899" y="2284037"/>
              <a:ext cx="623019" cy="11044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8" idx="2"/>
              <a:endCxn id="4" idx="0"/>
            </p:cNvCxnSpPr>
            <p:nvPr/>
          </p:nvCxnSpPr>
          <p:spPr>
            <a:xfrm flipH="1">
              <a:off x="7127899" y="4107273"/>
              <a:ext cx="623019" cy="9311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 idx="2"/>
              <a:endCxn id="5" idx="3"/>
            </p:cNvCxnSpPr>
            <p:nvPr/>
          </p:nvCxnSpPr>
          <p:spPr>
            <a:xfrm flipH="1">
              <a:off x="5194878" y="5757182"/>
              <a:ext cx="1933021" cy="48898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5" idx="1"/>
              <a:endCxn id="11" idx="2"/>
            </p:cNvCxnSpPr>
            <p:nvPr/>
          </p:nvCxnSpPr>
          <p:spPr>
            <a:xfrm flipH="1" flipV="1">
              <a:off x="2135273" y="5757183"/>
              <a:ext cx="1878429" cy="4889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1" idx="0"/>
              <a:endCxn id="9" idx="2"/>
            </p:cNvCxnSpPr>
            <p:nvPr/>
          </p:nvCxnSpPr>
          <p:spPr>
            <a:xfrm flipH="1" flipV="1">
              <a:off x="1271813" y="4105638"/>
              <a:ext cx="863460" cy="93275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9" idx="0"/>
              <a:endCxn id="10" idx="2"/>
            </p:cNvCxnSpPr>
            <p:nvPr/>
          </p:nvCxnSpPr>
          <p:spPr>
            <a:xfrm flipV="1">
              <a:off x="1271813" y="2290317"/>
              <a:ext cx="863460" cy="109652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0" idx="0"/>
              <a:endCxn id="6" idx="1"/>
            </p:cNvCxnSpPr>
            <p:nvPr/>
          </p:nvCxnSpPr>
          <p:spPr>
            <a:xfrm flipV="1">
              <a:off x="2135273" y="1233861"/>
              <a:ext cx="1878429" cy="3376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7" idx="1"/>
              <a:endCxn id="43" idx="7"/>
            </p:cNvCxnSpPr>
            <p:nvPr/>
          </p:nvCxnSpPr>
          <p:spPr>
            <a:xfrm flipH="1">
              <a:off x="6185966" y="1924641"/>
              <a:ext cx="351345" cy="4078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8" idx="1"/>
              <a:endCxn id="43" idx="6"/>
            </p:cNvCxnSpPr>
            <p:nvPr/>
          </p:nvCxnSpPr>
          <p:spPr>
            <a:xfrm flipH="1" flipV="1">
              <a:off x="6837532" y="3746314"/>
              <a:ext cx="322798" cy="15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3"/>
              <a:endCxn id="43" idx="2"/>
            </p:cNvCxnSpPr>
            <p:nvPr/>
          </p:nvCxnSpPr>
          <p:spPr>
            <a:xfrm>
              <a:off x="1862401" y="3746242"/>
              <a:ext cx="525961" cy="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4" idx="1"/>
              <a:endCxn id="43" idx="5"/>
            </p:cNvCxnSpPr>
            <p:nvPr/>
          </p:nvCxnSpPr>
          <p:spPr>
            <a:xfrm flipH="1" flipV="1">
              <a:off x="6185966" y="5160101"/>
              <a:ext cx="351345" cy="2376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5" idx="0"/>
              <a:endCxn id="43" idx="4"/>
            </p:cNvCxnSpPr>
            <p:nvPr/>
          </p:nvCxnSpPr>
          <p:spPr>
            <a:xfrm flipV="1">
              <a:off x="4604290" y="5745711"/>
              <a:ext cx="8657" cy="14106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6" idx="2"/>
              <a:endCxn id="43" idx="0"/>
            </p:cNvCxnSpPr>
            <p:nvPr/>
          </p:nvCxnSpPr>
          <p:spPr>
            <a:xfrm>
              <a:off x="4604290" y="1593257"/>
              <a:ext cx="8657" cy="15365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10" idx="3"/>
              <a:endCxn id="43" idx="1"/>
            </p:cNvCxnSpPr>
            <p:nvPr/>
          </p:nvCxnSpPr>
          <p:spPr>
            <a:xfrm>
              <a:off x="2725861" y="1930921"/>
              <a:ext cx="314067" cy="40160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1" idx="3"/>
              <a:endCxn id="43" idx="3"/>
            </p:cNvCxnSpPr>
            <p:nvPr/>
          </p:nvCxnSpPr>
          <p:spPr>
            <a:xfrm flipV="1">
              <a:off x="2725861" y="5160101"/>
              <a:ext cx="314067" cy="23768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42844" y="6369989"/>
              <a:ext cx="3185895" cy="284611"/>
            </a:xfrm>
            <a:prstGeom prst="rect">
              <a:avLst/>
            </a:prstGeom>
            <a:noFill/>
          </p:spPr>
          <p:txBody>
            <a:bodyPr wrap="none" lIns="36000" tIns="36000" rIns="36000" bIns="36000" rtlCol="0">
              <a:noAutofit/>
            </a:bodyPr>
            <a:lstStyle/>
            <a:p>
              <a:r>
                <a:rPr lang="en-GB" sz="1100"/>
                <a:t>Diagram © of Assist Knowledge Development Ltd</a:t>
              </a:r>
              <a:endParaRPr lang="en-GB" sz="1100">
                <a:cs typeface="Courier New" pitchFamily="49" charset="0"/>
              </a:endParaRPr>
            </a:p>
          </p:txBody>
        </p:sp>
      </p:grpSp>
    </p:spTree>
    <p:extLst>
      <p:ext uri="{BB962C8B-B14F-4D97-AF65-F5344CB8AC3E}">
        <p14:creationId xmlns:p14="http://schemas.microsoft.com/office/powerpoint/2010/main" val="132766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B5DF360-4026-4711-A361-4B2B609759C9}"/>
              </a:ext>
            </a:extLst>
          </p:cNvPr>
          <p:cNvSpPr>
            <a:spLocks noGrp="1"/>
          </p:cNvSpPr>
          <p:nvPr>
            <p:ph type="title" idx="4294967295"/>
          </p:nvPr>
        </p:nvSpPr>
        <p:spPr>
          <a:xfrm>
            <a:off x="1174670" y="329878"/>
            <a:ext cx="3000496" cy="687388"/>
          </a:xfrm>
        </p:spPr>
        <p:txBody>
          <a:bodyPr/>
          <a:lstStyle/>
          <a:p>
            <a:r>
              <a:rPr lang="en-GB" dirty="0"/>
              <a:t>Main roles</a:t>
            </a:r>
          </a:p>
        </p:txBody>
      </p:sp>
      <p:graphicFrame>
        <p:nvGraphicFramePr>
          <p:cNvPr id="6" name="Diagram 5">
            <a:extLst>
              <a:ext uri="{FF2B5EF4-FFF2-40B4-BE49-F238E27FC236}">
                <a16:creationId xmlns:a16="http://schemas.microsoft.com/office/drawing/2014/main" id="{05D924E5-0756-4C8E-8C0F-B989ADE1E7EE}"/>
              </a:ext>
            </a:extLst>
          </p:cNvPr>
          <p:cNvGraphicFramePr/>
          <p:nvPr>
            <p:extLst>
              <p:ext uri="{D42A27DB-BD31-4B8C-83A1-F6EECF244321}">
                <p14:modId xmlns:p14="http://schemas.microsoft.com/office/powerpoint/2010/main" val="4034339871"/>
              </p:ext>
            </p:extLst>
          </p:nvPr>
        </p:nvGraphicFramePr>
        <p:xfrm>
          <a:off x="6199161" y="2025419"/>
          <a:ext cx="7032448" cy="48546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7" name="Diagram 36">
            <a:extLst>
              <a:ext uri="{FF2B5EF4-FFF2-40B4-BE49-F238E27FC236}">
                <a16:creationId xmlns:a16="http://schemas.microsoft.com/office/drawing/2014/main" id="{7491F6CF-B6C6-4538-85D2-0418B1286572}"/>
              </a:ext>
            </a:extLst>
          </p:cNvPr>
          <p:cNvGraphicFramePr/>
          <p:nvPr>
            <p:extLst>
              <p:ext uri="{D42A27DB-BD31-4B8C-83A1-F6EECF244321}">
                <p14:modId xmlns:p14="http://schemas.microsoft.com/office/powerpoint/2010/main" val="1000472653"/>
              </p:ext>
            </p:extLst>
          </p:nvPr>
        </p:nvGraphicFramePr>
        <p:xfrm>
          <a:off x="-833287" y="2277420"/>
          <a:ext cx="5938504" cy="460107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38" name="Diagram 37">
            <a:extLst>
              <a:ext uri="{FF2B5EF4-FFF2-40B4-BE49-F238E27FC236}">
                <a16:creationId xmlns:a16="http://schemas.microsoft.com/office/drawing/2014/main" id="{F499F494-5AEB-4E65-A5EB-7A040538AD7F}"/>
              </a:ext>
            </a:extLst>
          </p:cNvPr>
          <p:cNvGraphicFramePr/>
          <p:nvPr>
            <p:extLst>
              <p:ext uri="{D42A27DB-BD31-4B8C-83A1-F6EECF244321}">
                <p14:modId xmlns:p14="http://schemas.microsoft.com/office/powerpoint/2010/main" val="2471906375"/>
              </p:ext>
            </p:extLst>
          </p:nvPr>
        </p:nvGraphicFramePr>
        <p:xfrm>
          <a:off x="2484634" y="723743"/>
          <a:ext cx="7032448" cy="439820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548060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dirty="0"/>
              <a:t>Project sponsor</a:t>
            </a:r>
            <a:endParaRPr lang="en-GB"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265868" y="987046"/>
            <a:ext cx="7150717" cy="3477875"/>
          </a:xfrm>
          <a:prstGeom prst="rect">
            <a:avLst/>
          </a:prstGeom>
          <a:noFill/>
        </p:spPr>
        <p:txBody>
          <a:bodyPr wrap="square">
            <a:spAutoFit/>
          </a:bodyPr>
          <a:lstStyle/>
          <a:p>
            <a:r>
              <a:rPr lang="en-GB" sz="2000" b="1" dirty="0"/>
              <a:t>The owner of the new system:</a:t>
            </a:r>
            <a:br>
              <a:rPr lang="en-GB" sz="2000" dirty="0"/>
            </a:br>
            <a:endParaRPr lang="en-GB" sz="2000" dirty="0"/>
          </a:p>
          <a:p>
            <a:pPr marL="742939" lvl="1" indent="-285750">
              <a:buFont typeface="Arial" panose="020B0604020202020204" pitchFamily="34" charset="0"/>
              <a:buChar char="•"/>
            </a:pPr>
            <a:r>
              <a:rPr lang="en-GB" sz="2000" dirty="0"/>
              <a:t>Responsible for ensuring that the system meets its goals and realises its benefits.</a:t>
            </a:r>
          </a:p>
          <a:p>
            <a:pPr marL="742939" lvl="1" indent="-285750">
              <a:buFont typeface="Arial" panose="020B0604020202020204" pitchFamily="34" charset="0"/>
              <a:buChar char="•"/>
            </a:pPr>
            <a:r>
              <a:rPr lang="en-GB" sz="2000" dirty="0"/>
              <a:t>Has sign off powers, budget authority.</a:t>
            </a:r>
          </a:p>
          <a:p>
            <a:pPr marL="742939" lvl="1" indent="-285750">
              <a:buFont typeface="Arial" panose="020B0604020202020204" pitchFamily="34" charset="0"/>
              <a:buChar char="•"/>
            </a:pPr>
            <a:r>
              <a:rPr lang="en-GB" sz="2000" dirty="0"/>
              <a:t>Has the final decision on all project matters.</a:t>
            </a:r>
          </a:p>
          <a:p>
            <a:pPr marL="742939" lvl="1" indent="-285750">
              <a:buFont typeface="Arial" panose="020B0604020202020204" pitchFamily="34" charset="0"/>
              <a:buChar char="•"/>
            </a:pPr>
            <a:r>
              <a:rPr lang="en-GB" sz="2000" dirty="0"/>
              <a:t>Accountable for the terms of reference.</a:t>
            </a:r>
          </a:p>
          <a:p>
            <a:pPr marL="742939" lvl="1" indent="-285750">
              <a:buFont typeface="Arial" panose="020B0604020202020204" pitchFamily="34" charset="0"/>
              <a:buChar char="•"/>
            </a:pPr>
            <a:r>
              <a:rPr lang="en-GB" sz="2000" dirty="0"/>
              <a:t>Initiates project reviews.</a:t>
            </a:r>
          </a:p>
          <a:p>
            <a:pPr marL="742939" lvl="1" indent="-285750">
              <a:buFont typeface="Arial" panose="020B0604020202020204" pitchFamily="34" charset="0"/>
              <a:buChar char="•"/>
            </a:pPr>
            <a:r>
              <a:rPr lang="en-GB" sz="2000" dirty="0"/>
              <a:t>Resolves key project issues.</a:t>
            </a:r>
          </a:p>
          <a:p>
            <a:pPr marL="742939" lvl="1" indent="-285750">
              <a:buFont typeface="Arial" panose="020B0604020202020204" pitchFamily="34" charset="0"/>
              <a:buChar char="•"/>
            </a:pPr>
            <a:r>
              <a:rPr lang="en-GB" sz="2000" dirty="0"/>
              <a:t>Champions the new system.</a:t>
            </a:r>
          </a:p>
          <a:p>
            <a:pPr marL="285750" indent="-285750">
              <a:buFont typeface="Arial" panose="020B0604020202020204" pitchFamily="34" charset="0"/>
              <a:buChar char="•"/>
            </a:pPr>
            <a:endParaRPr lang="en-GB" sz="2000" b="0" dirty="0">
              <a:latin typeface="+mn-lt"/>
            </a:endParaRPr>
          </a:p>
        </p:txBody>
      </p:sp>
      <p:grpSp>
        <p:nvGrpSpPr>
          <p:cNvPr id="10" name="Group 9">
            <a:extLst>
              <a:ext uri="{FF2B5EF4-FFF2-40B4-BE49-F238E27FC236}">
                <a16:creationId xmlns:a16="http://schemas.microsoft.com/office/drawing/2014/main" id="{2E5D48EA-3D1C-477D-A51C-D342377EE5BF}"/>
              </a:ext>
            </a:extLst>
          </p:cNvPr>
          <p:cNvGrpSpPr/>
          <p:nvPr/>
        </p:nvGrpSpPr>
        <p:grpSpPr>
          <a:xfrm>
            <a:off x="9777464" y="4396057"/>
            <a:ext cx="2201563" cy="2220860"/>
            <a:chOff x="2025231" y="1421329"/>
            <a:chExt cx="2981985" cy="2981985"/>
          </a:xfrm>
        </p:grpSpPr>
        <p:sp>
          <p:nvSpPr>
            <p:cNvPr id="12" name="Oval 11">
              <a:extLst>
                <a:ext uri="{FF2B5EF4-FFF2-40B4-BE49-F238E27FC236}">
                  <a16:creationId xmlns:a16="http://schemas.microsoft.com/office/drawing/2014/main" id="{1C285D35-7944-46F5-B7F4-5D75D29B6C61}"/>
                </a:ext>
              </a:extLst>
            </p:cNvPr>
            <p:cNvSpPr/>
            <p:nvPr/>
          </p:nvSpPr>
          <p:spPr>
            <a:xfrm>
              <a:off x="2025231" y="1421329"/>
              <a:ext cx="2981985" cy="2981985"/>
            </a:xfrm>
            <a:prstGeom prst="ellipse">
              <a:avLst/>
            </a:prstGeom>
            <a:solidFill>
              <a:schemeClr val="accent6">
                <a:alpha val="50000"/>
              </a:schemeClr>
            </a:solidFill>
          </p:spPr>
          <p:style>
            <a:lnRef idx="2">
              <a:schemeClr val="accent6">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3" name="Oval 4">
              <a:extLst>
                <a:ext uri="{FF2B5EF4-FFF2-40B4-BE49-F238E27FC236}">
                  <a16:creationId xmlns:a16="http://schemas.microsoft.com/office/drawing/2014/main" id="{380F9798-D08E-4D49-8677-4F35B08DA40B}"/>
                </a:ext>
              </a:extLst>
            </p:cNvPr>
            <p:cNvSpPr txBox="1"/>
            <p:nvPr/>
          </p:nvSpPr>
          <p:spPr>
            <a:xfrm>
              <a:off x="2461933" y="1858031"/>
              <a:ext cx="2108581" cy="2108581"/>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GB" kern="1200" dirty="0"/>
                <a:t>Business stakeholders</a:t>
              </a:r>
            </a:p>
          </p:txBody>
        </p:sp>
      </p:grpSp>
    </p:spTree>
    <p:extLst>
      <p:ext uri="{BB962C8B-B14F-4D97-AF65-F5344CB8AC3E}">
        <p14:creationId xmlns:p14="http://schemas.microsoft.com/office/powerpoint/2010/main" val="3760681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dirty="0"/>
              <a:t>System end users and managers</a:t>
            </a:r>
            <a:endParaRPr lang="en-GB"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505899" y="1443836"/>
            <a:ext cx="7473128" cy="2554545"/>
          </a:xfrm>
          <a:prstGeom prst="rect">
            <a:avLst/>
          </a:prstGeom>
          <a:noFill/>
        </p:spPr>
        <p:txBody>
          <a:bodyPr wrap="square">
            <a:spAutoFit/>
          </a:bodyPr>
          <a:lstStyle/>
          <a:p>
            <a:pPr lvl="0">
              <a:buClr>
                <a:srgbClr val="B8CCE4"/>
              </a:buClr>
            </a:pPr>
            <a:r>
              <a:rPr lang="en-GB" sz="2000" b="1" dirty="0"/>
              <a:t>People who will use the system on a day-to-day basis:</a:t>
            </a:r>
          </a:p>
          <a:p>
            <a:pPr lvl="0">
              <a:buClr>
                <a:srgbClr val="B8CCE4"/>
              </a:buClr>
            </a:pPr>
            <a:endParaRPr lang="en-GB" sz="2000" dirty="0"/>
          </a:p>
          <a:p>
            <a:pPr marL="742950" lvl="1" indent="-285750">
              <a:buClr>
                <a:srgbClr val="B8CCE4"/>
              </a:buClr>
              <a:buFont typeface="Arial" panose="020B0604020202020204" pitchFamily="34" charset="0"/>
              <a:buChar char="•"/>
            </a:pPr>
            <a:r>
              <a:rPr lang="en-GB" sz="2000" dirty="0"/>
              <a:t>Make sure that functionality and usability requirements are properly specified.</a:t>
            </a:r>
            <a:br>
              <a:rPr lang="en-GB" sz="2000" dirty="0"/>
            </a:br>
            <a:endParaRPr lang="en-GB" sz="2000" dirty="0"/>
          </a:p>
          <a:p>
            <a:pPr marL="742950" lvl="1" indent="-285750">
              <a:buClr>
                <a:srgbClr val="B8CCE4"/>
              </a:buClr>
              <a:buFont typeface="Arial" panose="020B0604020202020204" pitchFamily="34" charset="0"/>
              <a:buChar char="•"/>
            </a:pPr>
            <a:r>
              <a:rPr lang="en-GB" sz="2000" dirty="0"/>
              <a:t>Must be happy that:</a:t>
            </a:r>
          </a:p>
          <a:p>
            <a:pPr marL="1200150" lvl="2" indent="-285750">
              <a:buClr>
                <a:srgbClr val="B8CCE4"/>
              </a:buClr>
              <a:buFont typeface="Arial" panose="020B0604020202020204" pitchFamily="34" charset="0"/>
              <a:buChar char="•"/>
            </a:pPr>
            <a:r>
              <a:rPr lang="en-GB" sz="2000" dirty="0"/>
              <a:t>The requirements are workable.</a:t>
            </a:r>
          </a:p>
          <a:p>
            <a:pPr marL="1200150" lvl="2" indent="-285750">
              <a:buClr>
                <a:srgbClr val="B8CCE4"/>
              </a:buClr>
              <a:buFont typeface="Arial" panose="020B0604020202020204" pitchFamily="34" charset="0"/>
              <a:buChar char="•"/>
            </a:pPr>
            <a:r>
              <a:rPr lang="en-GB" sz="2000" dirty="0"/>
              <a:t>The requirements are complete.</a:t>
            </a:r>
            <a:endParaRPr lang="en-US" sz="2000" dirty="0"/>
          </a:p>
        </p:txBody>
      </p:sp>
      <p:grpSp>
        <p:nvGrpSpPr>
          <p:cNvPr id="10" name="Group 9">
            <a:extLst>
              <a:ext uri="{FF2B5EF4-FFF2-40B4-BE49-F238E27FC236}">
                <a16:creationId xmlns:a16="http://schemas.microsoft.com/office/drawing/2014/main" id="{2E5D48EA-3D1C-477D-A51C-D342377EE5BF}"/>
              </a:ext>
            </a:extLst>
          </p:cNvPr>
          <p:cNvGrpSpPr/>
          <p:nvPr/>
        </p:nvGrpSpPr>
        <p:grpSpPr>
          <a:xfrm>
            <a:off x="9777464" y="4396057"/>
            <a:ext cx="2201563" cy="2220860"/>
            <a:chOff x="2025231" y="1421329"/>
            <a:chExt cx="2981985" cy="2981985"/>
          </a:xfrm>
        </p:grpSpPr>
        <p:sp>
          <p:nvSpPr>
            <p:cNvPr id="12" name="Oval 11">
              <a:extLst>
                <a:ext uri="{FF2B5EF4-FFF2-40B4-BE49-F238E27FC236}">
                  <a16:creationId xmlns:a16="http://schemas.microsoft.com/office/drawing/2014/main" id="{1C285D35-7944-46F5-B7F4-5D75D29B6C61}"/>
                </a:ext>
              </a:extLst>
            </p:cNvPr>
            <p:cNvSpPr/>
            <p:nvPr/>
          </p:nvSpPr>
          <p:spPr>
            <a:xfrm>
              <a:off x="2025231" y="1421329"/>
              <a:ext cx="2981985" cy="2981985"/>
            </a:xfrm>
            <a:prstGeom prst="ellipse">
              <a:avLst/>
            </a:prstGeom>
            <a:solidFill>
              <a:schemeClr val="accent6">
                <a:alpha val="50000"/>
              </a:schemeClr>
            </a:solidFill>
          </p:spPr>
          <p:style>
            <a:lnRef idx="2">
              <a:schemeClr val="accent6">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3" name="Oval 4">
              <a:extLst>
                <a:ext uri="{FF2B5EF4-FFF2-40B4-BE49-F238E27FC236}">
                  <a16:creationId xmlns:a16="http://schemas.microsoft.com/office/drawing/2014/main" id="{380F9798-D08E-4D49-8677-4F35B08DA40B}"/>
                </a:ext>
              </a:extLst>
            </p:cNvPr>
            <p:cNvSpPr txBox="1"/>
            <p:nvPr/>
          </p:nvSpPr>
          <p:spPr>
            <a:xfrm>
              <a:off x="2461933" y="1858031"/>
              <a:ext cx="2108581" cy="2108581"/>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GB" kern="1200" dirty="0"/>
                <a:t>Business stakeholders</a:t>
              </a:r>
            </a:p>
          </p:txBody>
        </p:sp>
      </p:grpSp>
    </p:spTree>
    <p:extLst>
      <p:ext uri="{BB962C8B-B14F-4D97-AF65-F5344CB8AC3E}">
        <p14:creationId xmlns:p14="http://schemas.microsoft.com/office/powerpoint/2010/main" val="1547060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dirty="0"/>
              <a:t>Subject matter experts (SME)</a:t>
            </a:r>
            <a:endParaRPr lang="en-GB"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357309" y="879324"/>
            <a:ext cx="7415978" cy="3693319"/>
          </a:xfrm>
          <a:prstGeom prst="rect">
            <a:avLst/>
          </a:prstGeom>
          <a:noFill/>
        </p:spPr>
        <p:txBody>
          <a:bodyPr wrap="square">
            <a:spAutoFit/>
          </a:bodyPr>
          <a:lstStyle/>
          <a:p>
            <a:r>
              <a:rPr lang="en-GB" b="1" dirty="0"/>
              <a:t>The super user who provides specialist knowledge of the business area to be improved:</a:t>
            </a:r>
          </a:p>
          <a:p>
            <a:endParaRPr lang="en-GB" dirty="0"/>
          </a:p>
          <a:p>
            <a:pPr marL="742939" lvl="1" indent="-285750">
              <a:buFont typeface="Arial" panose="020B0604020202020204" pitchFamily="34" charset="0"/>
              <a:buChar char="•"/>
            </a:pPr>
            <a:r>
              <a:rPr lang="en-GB" sz="1800" dirty="0"/>
              <a:t>Might be an external resource.</a:t>
            </a:r>
            <a:br>
              <a:rPr lang="en-GB" sz="1800" dirty="0"/>
            </a:br>
            <a:endParaRPr lang="en-GB" sz="1800" dirty="0"/>
          </a:p>
          <a:p>
            <a:pPr marL="742939" lvl="1" indent="-285750">
              <a:buFont typeface="Arial" panose="020B0604020202020204" pitchFamily="34" charset="0"/>
              <a:buChar char="•"/>
            </a:pPr>
            <a:r>
              <a:rPr lang="en-GB" sz="1800" dirty="0"/>
              <a:t>May have consultancy experience.</a:t>
            </a:r>
            <a:br>
              <a:rPr lang="en-GB" sz="1800" dirty="0"/>
            </a:br>
            <a:endParaRPr lang="en-GB" sz="1800" dirty="0"/>
          </a:p>
          <a:p>
            <a:pPr marL="742939" lvl="1" indent="-285750">
              <a:buFont typeface="Arial" panose="020B0604020202020204" pitchFamily="34" charset="0"/>
              <a:buChar char="•"/>
            </a:pPr>
            <a:r>
              <a:rPr lang="en-GB" sz="1800" dirty="0"/>
              <a:t>Provides information and ideas on business issues </a:t>
            </a:r>
            <a:br>
              <a:rPr lang="en-GB" sz="1800" dirty="0"/>
            </a:br>
            <a:r>
              <a:rPr lang="en-GB" sz="1800" dirty="0"/>
              <a:t>and possibilities.</a:t>
            </a:r>
            <a:br>
              <a:rPr lang="en-GB" sz="1800" dirty="0"/>
            </a:br>
            <a:endParaRPr lang="en-GB" sz="1800" dirty="0"/>
          </a:p>
          <a:p>
            <a:pPr marL="742939" lvl="1" indent="-285750">
              <a:buFont typeface="Arial" panose="020B0604020202020204" pitchFamily="34" charset="0"/>
              <a:buChar char="•"/>
            </a:pPr>
            <a:r>
              <a:rPr lang="en-GB" sz="1800" dirty="0"/>
              <a:t>Works with the analysts to ensure that the knowledge and ideas are represented in the requirements.</a:t>
            </a:r>
          </a:p>
          <a:p>
            <a:pPr marL="285750" indent="-285750">
              <a:buFont typeface="Arial" panose="020B0604020202020204" pitchFamily="34" charset="0"/>
              <a:buChar char="•"/>
            </a:pPr>
            <a:endParaRPr lang="en-GB" b="0" dirty="0">
              <a:latin typeface="+mn-lt"/>
            </a:endParaRPr>
          </a:p>
        </p:txBody>
      </p:sp>
      <p:grpSp>
        <p:nvGrpSpPr>
          <p:cNvPr id="10" name="Group 9">
            <a:extLst>
              <a:ext uri="{FF2B5EF4-FFF2-40B4-BE49-F238E27FC236}">
                <a16:creationId xmlns:a16="http://schemas.microsoft.com/office/drawing/2014/main" id="{2E5D48EA-3D1C-477D-A51C-D342377EE5BF}"/>
              </a:ext>
            </a:extLst>
          </p:cNvPr>
          <p:cNvGrpSpPr/>
          <p:nvPr/>
        </p:nvGrpSpPr>
        <p:grpSpPr>
          <a:xfrm>
            <a:off x="9777464" y="4396057"/>
            <a:ext cx="2201563" cy="2220860"/>
            <a:chOff x="2025231" y="1421329"/>
            <a:chExt cx="2981985" cy="2981985"/>
          </a:xfrm>
        </p:grpSpPr>
        <p:sp>
          <p:nvSpPr>
            <p:cNvPr id="12" name="Oval 11">
              <a:extLst>
                <a:ext uri="{FF2B5EF4-FFF2-40B4-BE49-F238E27FC236}">
                  <a16:creationId xmlns:a16="http://schemas.microsoft.com/office/drawing/2014/main" id="{1C285D35-7944-46F5-B7F4-5D75D29B6C61}"/>
                </a:ext>
              </a:extLst>
            </p:cNvPr>
            <p:cNvSpPr/>
            <p:nvPr/>
          </p:nvSpPr>
          <p:spPr>
            <a:xfrm>
              <a:off x="2025231" y="1421329"/>
              <a:ext cx="2981985" cy="2981985"/>
            </a:xfrm>
            <a:prstGeom prst="ellipse">
              <a:avLst/>
            </a:prstGeom>
            <a:solidFill>
              <a:schemeClr val="accent6">
                <a:alpha val="50000"/>
              </a:schemeClr>
            </a:solidFill>
          </p:spPr>
          <p:style>
            <a:lnRef idx="2">
              <a:schemeClr val="accent6">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3" name="Oval 4">
              <a:extLst>
                <a:ext uri="{FF2B5EF4-FFF2-40B4-BE49-F238E27FC236}">
                  <a16:creationId xmlns:a16="http://schemas.microsoft.com/office/drawing/2014/main" id="{380F9798-D08E-4D49-8677-4F35B08DA40B}"/>
                </a:ext>
              </a:extLst>
            </p:cNvPr>
            <p:cNvSpPr txBox="1"/>
            <p:nvPr/>
          </p:nvSpPr>
          <p:spPr>
            <a:xfrm>
              <a:off x="2461933" y="1858031"/>
              <a:ext cx="2108581" cy="2108581"/>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GB" kern="1200" dirty="0"/>
                <a:t>Business stakeholders</a:t>
              </a:r>
            </a:p>
          </p:txBody>
        </p:sp>
      </p:grpSp>
    </p:spTree>
    <p:extLst>
      <p:ext uri="{BB962C8B-B14F-4D97-AF65-F5344CB8AC3E}">
        <p14:creationId xmlns:p14="http://schemas.microsoft.com/office/powerpoint/2010/main" val="2715719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E5C862-AECD-4408-93E5-0F1F16BA16E6}"/>
              </a:ext>
            </a:extLst>
          </p:cNvPr>
          <p:cNvGrpSpPr/>
          <p:nvPr/>
        </p:nvGrpSpPr>
        <p:grpSpPr>
          <a:xfrm>
            <a:off x="9755429" y="4381951"/>
            <a:ext cx="2244903" cy="2244903"/>
            <a:chOff x="1671242" y="1252939"/>
            <a:chExt cx="2826248" cy="2826248"/>
          </a:xfrm>
        </p:grpSpPr>
        <p:sp>
          <p:nvSpPr>
            <p:cNvPr id="8" name="Oval 7">
              <a:extLst>
                <a:ext uri="{FF2B5EF4-FFF2-40B4-BE49-F238E27FC236}">
                  <a16:creationId xmlns:a16="http://schemas.microsoft.com/office/drawing/2014/main" id="{765B52A9-266A-4B6B-8755-8D25169BA2D5}"/>
                </a:ext>
              </a:extLst>
            </p:cNvPr>
            <p:cNvSpPr/>
            <p:nvPr/>
          </p:nvSpPr>
          <p:spPr>
            <a:xfrm>
              <a:off x="1671242" y="1252939"/>
              <a:ext cx="2826248" cy="2826248"/>
            </a:xfrm>
            <a:prstGeom prst="ellipse">
              <a:avLst/>
            </a:prstGeom>
            <a:solidFill>
              <a:schemeClr val="accent4">
                <a:alpha val="50000"/>
              </a:schemeClr>
            </a:solidFill>
          </p:spPr>
          <p:style>
            <a:lnRef idx="2">
              <a:schemeClr val="accent4">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4" name="Oval 4">
              <a:extLst>
                <a:ext uri="{FF2B5EF4-FFF2-40B4-BE49-F238E27FC236}">
                  <a16:creationId xmlns:a16="http://schemas.microsoft.com/office/drawing/2014/main" id="{B5B7E540-F168-4FC0-9833-8F30EB0EFAC5}"/>
                </a:ext>
              </a:extLst>
            </p:cNvPr>
            <p:cNvSpPr txBox="1"/>
            <p:nvPr/>
          </p:nvSpPr>
          <p:spPr>
            <a:xfrm>
              <a:off x="2085136" y="1666833"/>
              <a:ext cx="1998460" cy="199846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GB" kern="1200" dirty="0"/>
                <a:t>Project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dirty="0"/>
              <a:t>Project manager</a:t>
            </a:r>
            <a:endParaRPr lang="en-GB"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149090" y="1443836"/>
            <a:ext cx="7905749" cy="2585323"/>
          </a:xfrm>
          <a:prstGeom prst="rect">
            <a:avLst/>
          </a:prstGeom>
          <a:noFill/>
        </p:spPr>
        <p:txBody>
          <a:bodyPr wrap="square">
            <a:spAutoFit/>
          </a:bodyPr>
          <a:lstStyle/>
          <a:p>
            <a:r>
              <a:rPr lang="en-GB" b="1" dirty="0"/>
              <a:t>Plans and controls the project</a:t>
            </a:r>
            <a:r>
              <a:rPr lang="en-GB" dirty="0"/>
              <a:t>:</a:t>
            </a:r>
          </a:p>
          <a:p>
            <a:r>
              <a:rPr lang="en-GB" dirty="0"/>
              <a:t> </a:t>
            </a:r>
          </a:p>
          <a:p>
            <a:pPr marL="742939" lvl="1" indent="-285750">
              <a:buFont typeface="Arial" panose="020B0604020202020204" pitchFamily="34" charset="0"/>
              <a:buChar char="•"/>
            </a:pPr>
            <a:r>
              <a:rPr lang="en-GB" sz="1800" dirty="0"/>
              <a:t>Ensures the project keeps to time and cost constraints.</a:t>
            </a:r>
            <a:br>
              <a:rPr lang="en-GB" sz="1800" dirty="0"/>
            </a:br>
            <a:r>
              <a:rPr lang="en-GB" sz="1800" dirty="0"/>
              <a:t> </a:t>
            </a:r>
          </a:p>
          <a:p>
            <a:pPr marL="742939" lvl="1" indent="-285750">
              <a:buFont typeface="Arial" panose="020B0604020202020204" pitchFamily="34" charset="0"/>
              <a:buChar char="•"/>
            </a:pPr>
            <a:r>
              <a:rPr lang="en-GB" sz="1800" dirty="0"/>
              <a:t>Ensures the requirements </a:t>
            </a:r>
            <a:r>
              <a:rPr lang="en-GB" dirty="0"/>
              <a:t>e</a:t>
            </a:r>
            <a:r>
              <a:rPr lang="en-GB" sz="1800" dirty="0"/>
              <a:t>ngineering process is followed.</a:t>
            </a:r>
            <a:br>
              <a:rPr lang="en-GB" sz="1800" dirty="0"/>
            </a:br>
            <a:endParaRPr lang="en-GB" sz="1800" dirty="0"/>
          </a:p>
          <a:p>
            <a:pPr marL="742939" lvl="1" indent="-285750">
              <a:buFont typeface="Arial" panose="020B0604020202020204" pitchFamily="34" charset="0"/>
              <a:buChar char="•"/>
            </a:pPr>
            <a:r>
              <a:rPr lang="en-GB" sz="1800" dirty="0"/>
              <a:t>Resolves conflicts between stakeholders</a:t>
            </a:r>
            <a:br>
              <a:rPr lang="en-GB" sz="1800" dirty="0"/>
            </a:br>
            <a:r>
              <a:rPr lang="en-GB" sz="1800" dirty="0"/>
              <a:t>over the requirements.</a:t>
            </a:r>
          </a:p>
          <a:p>
            <a:endParaRPr lang="en-GB" dirty="0"/>
          </a:p>
        </p:txBody>
      </p:sp>
    </p:spTree>
    <p:extLst>
      <p:ext uri="{BB962C8B-B14F-4D97-AF65-F5344CB8AC3E}">
        <p14:creationId xmlns:p14="http://schemas.microsoft.com/office/powerpoint/2010/main" val="2179767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E5C862-AECD-4408-93E5-0F1F16BA16E6}"/>
              </a:ext>
            </a:extLst>
          </p:cNvPr>
          <p:cNvGrpSpPr/>
          <p:nvPr/>
        </p:nvGrpSpPr>
        <p:grpSpPr>
          <a:xfrm>
            <a:off x="9755429" y="4381951"/>
            <a:ext cx="2244903" cy="2244903"/>
            <a:chOff x="1671242" y="1252939"/>
            <a:chExt cx="2826248" cy="2826248"/>
          </a:xfrm>
        </p:grpSpPr>
        <p:sp>
          <p:nvSpPr>
            <p:cNvPr id="8" name="Oval 7">
              <a:extLst>
                <a:ext uri="{FF2B5EF4-FFF2-40B4-BE49-F238E27FC236}">
                  <a16:creationId xmlns:a16="http://schemas.microsoft.com/office/drawing/2014/main" id="{765B52A9-266A-4B6B-8755-8D25169BA2D5}"/>
                </a:ext>
              </a:extLst>
            </p:cNvPr>
            <p:cNvSpPr/>
            <p:nvPr/>
          </p:nvSpPr>
          <p:spPr>
            <a:xfrm>
              <a:off x="1671242" y="1252939"/>
              <a:ext cx="2826248" cy="2826248"/>
            </a:xfrm>
            <a:prstGeom prst="ellipse">
              <a:avLst/>
            </a:prstGeom>
            <a:solidFill>
              <a:schemeClr val="accent4">
                <a:alpha val="50000"/>
              </a:schemeClr>
            </a:solidFill>
          </p:spPr>
          <p:style>
            <a:lnRef idx="2">
              <a:schemeClr val="accent4">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4" name="Oval 4">
              <a:extLst>
                <a:ext uri="{FF2B5EF4-FFF2-40B4-BE49-F238E27FC236}">
                  <a16:creationId xmlns:a16="http://schemas.microsoft.com/office/drawing/2014/main" id="{B5B7E540-F168-4FC0-9833-8F30EB0EFAC5}"/>
                </a:ext>
              </a:extLst>
            </p:cNvPr>
            <p:cNvSpPr txBox="1"/>
            <p:nvPr/>
          </p:nvSpPr>
          <p:spPr>
            <a:xfrm>
              <a:off x="2085136" y="1666833"/>
              <a:ext cx="1998460" cy="199846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GB" kern="1200" dirty="0"/>
                <a:t>Project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Business analysts (requirement engineers)</a:t>
            </a:r>
            <a:endParaRPr lang="en-GB" sz="3200"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151568" y="952346"/>
            <a:ext cx="7804211" cy="4524315"/>
          </a:xfrm>
          <a:prstGeom prst="rect">
            <a:avLst/>
          </a:prstGeom>
          <a:noFill/>
        </p:spPr>
        <p:txBody>
          <a:bodyPr wrap="square">
            <a:spAutoFit/>
          </a:bodyPr>
          <a:lstStyle/>
          <a:p>
            <a:r>
              <a:rPr lang="en-GB" b="1" dirty="0"/>
              <a:t>Elicit, document, analyse, validate, and manage requirements</a:t>
            </a:r>
            <a:br>
              <a:rPr lang="en-GB" b="1" dirty="0"/>
            </a:br>
            <a:endParaRPr lang="en-GB" b="1" dirty="0"/>
          </a:p>
          <a:p>
            <a:pPr marL="742939" lvl="1" indent="-285750">
              <a:buFont typeface="Arial" panose="020B0604020202020204" pitchFamily="34" charset="0"/>
              <a:buChar char="•"/>
            </a:pPr>
            <a:r>
              <a:rPr lang="en-GB" sz="1800" dirty="0"/>
              <a:t>Involved earlier in project than </a:t>
            </a:r>
            <a:r>
              <a:rPr lang="en-GB" dirty="0"/>
              <a:t>s</a:t>
            </a:r>
            <a:r>
              <a:rPr lang="en-GB" sz="1800" dirty="0"/>
              <a:t>ystem analyst – </a:t>
            </a:r>
            <a:br>
              <a:rPr lang="en-GB" sz="1800" dirty="0"/>
            </a:br>
            <a:r>
              <a:rPr lang="en-GB" sz="1800" dirty="0"/>
              <a:t>more business focus.</a:t>
            </a:r>
            <a:br>
              <a:rPr lang="en-GB" sz="1800" dirty="0"/>
            </a:br>
            <a:endParaRPr lang="en-GB" sz="1800" dirty="0"/>
          </a:p>
          <a:p>
            <a:pPr marL="742939" lvl="1" indent="-285750">
              <a:buFont typeface="Arial" panose="020B0604020202020204" pitchFamily="34" charset="0"/>
              <a:buChar char="•"/>
            </a:pPr>
            <a:r>
              <a:rPr lang="en-GB" sz="1800" dirty="0"/>
              <a:t>Work with senior business and IT staff:</a:t>
            </a:r>
          </a:p>
          <a:p>
            <a:pPr marL="1200127" lvl="2" indent="-285750">
              <a:buFont typeface="Arial" panose="020B0604020202020204" pitchFamily="34" charset="0"/>
              <a:buChar char="•"/>
            </a:pPr>
            <a:r>
              <a:rPr lang="en-GB" sz="1800" dirty="0"/>
              <a:t>Conduct high level feasibility studies</a:t>
            </a:r>
          </a:p>
          <a:p>
            <a:pPr marL="1200127" lvl="2" indent="-285750">
              <a:buFont typeface="Arial" panose="020B0604020202020204" pitchFamily="34" charset="0"/>
              <a:buChar char="•"/>
            </a:pPr>
            <a:r>
              <a:rPr lang="en-GB" sz="1800" dirty="0"/>
              <a:t>Develop business requirements and business cases</a:t>
            </a:r>
          </a:p>
          <a:p>
            <a:pPr marL="1200127" lvl="2" indent="-285750">
              <a:buFont typeface="Arial" panose="020B0604020202020204" pitchFamily="34" charset="0"/>
              <a:buChar char="•"/>
            </a:pPr>
            <a:r>
              <a:rPr lang="en-GB" sz="1800" dirty="0"/>
              <a:t>Investigate business problems – recommend appropriate solutions</a:t>
            </a:r>
            <a:br>
              <a:rPr lang="en-GB" sz="1800" dirty="0"/>
            </a:br>
            <a:endParaRPr lang="en-GB" sz="1800" dirty="0"/>
          </a:p>
          <a:p>
            <a:pPr marL="742939" lvl="1" indent="-285750">
              <a:buFont typeface="Arial" panose="020B0604020202020204" pitchFamily="34" charset="0"/>
              <a:buChar char="•"/>
            </a:pPr>
            <a:r>
              <a:rPr lang="en-GB" sz="1800" dirty="0"/>
              <a:t>Produce written reports and presentations. </a:t>
            </a:r>
          </a:p>
          <a:p>
            <a:pPr marL="742939" lvl="1" indent="-285750">
              <a:buFont typeface="Arial" panose="020B0604020202020204" pitchFamily="34" charset="0"/>
              <a:buChar char="•"/>
            </a:pPr>
            <a:r>
              <a:rPr lang="en-GB" sz="1800" dirty="0"/>
              <a:t>Solution development.</a:t>
            </a:r>
          </a:p>
          <a:p>
            <a:pPr marL="742939" lvl="1" indent="-285750">
              <a:buFont typeface="Arial" panose="020B0604020202020204" pitchFamily="34" charset="0"/>
              <a:buChar char="•"/>
            </a:pPr>
            <a:r>
              <a:rPr lang="en-GB" sz="1800" dirty="0"/>
              <a:t>User acceptance </a:t>
            </a:r>
            <a:r>
              <a:rPr lang="en-GB" dirty="0"/>
              <a:t>t</a:t>
            </a:r>
            <a:r>
              <a:rPr lang="en-GB" sz="1800" dirty="0"/>
              <a:t>esting.</a:t>
            </a:r>
          </a:p>
          <a:p>
            <a:pPr marL="742939" lvl="1" indent="-285750">
              <a:buFont typeface="Arial" panose="020B0604020202020204" pitchFamily="34" charset="0"/>
              <a:buChar char="•"/>
            </a:pPr>
            <a:r>
              <a:rPr lang="en-GB" sz="1800" dirty="0"/>
              <a:t>Produce supporting models.</a:t>
            </a:r>
          </a:p>
          <a:p>
            <a:endParaRPr lang="en-GB" dirty="0"/>
          </a:p>
        </p:txBody>
      </p:sp>
    </p:spTree>
    <p:extLst>
      <p:ext uri="{BB962C8B-B14F-4D97-AF65-F5344CB8AC3E}">
        <p14:creationId xmlns:p14="http://schemas.microsoft.com/office/powerpoint/2010/main" val="362151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E5C862-AECD-4408-93E5-0F1F16BA16E6}"/>
              </a:ext>
            </a:extLst>
          </p:cNvPr>
          <p:cNvGrpSpPr/>
          <p:nvPr/>
        </p:nvGrpSpPr>
        <p:grpSpPr>
          <a:xfrm>
            <a:off x="9755429" y="4381951"/>
            <a:ext cx="2244903" cy="2244903"/>
            <a:chOff x="1671242" y="1252939"/>
            <a:chExt cx="2826248" cy="2826248"/>
          </a:xfrm>
        </p:grpSpPr>
        <p:sp>
          <p:nvSpPr>
            <p:cNvPr id="8" name="Oval 7">
              <a:extLst>
                <a:ext uri="{FF2B5EF4-FFF2-40B4-BE49-F238E27FC236}">
                  <a16:creationId xmlns:a16="http://schemas.microsoft.com/office/drawing/2014/main" id="{765B52A9-266A-4B6B-8755-8D25169BA2D5}"/>
                </a:ext>
              </a:extLst>
            </p:cNvPr>
            <p:cNvSpPr/>
            <p:nvPr/>
          </p:nvSpPr>
          <p:spPr>
            <a:xfrm>
              <a:off x="1671242" y="1252939"/>
              <a:ext cx="2826248" cy="2826248"/>
            </a:xfrm>
            <a:prstGeom prst="ellipse">
              <a:avLst/>
            </a:prstGeom>
            <a:solidFill>
              <a:schemeClr val="accent4">
                <a:alpha val="50000"/>
              </a:schemeClr>
            </a:solidFill>
          </p:spPr>
          <p:style>
            <a:lnRef idx="2">
              <a:schemeClr val="accent4">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4" name="Oval 4">
              <a:extLst>
                <a:ext uri="{FF2B5EF4-FFF2-40B4-BE49-F238E27FC236}">
                  <a16:creationId xmlns:a16="http://schemas.microsoft.com/office/drawing/2014/main" id="{B5B7E540-F168-4FC0-9833-8F30EB0EFAC5}"/>
                </a:ext>
              </a:extLst>
            </p:cNvPr>
            <p:cNvSpPr txBox="1"/>
            <p:nvPr/>
          </p:nvSpPr>
          <p:spPr>
            <a:xfrm>
              <a:off x="2085136" y="1666833"/>
              <a:ext cx="1998460" cy="199846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GB" kern="1200" dirty="0"/>
                <a:t>Project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Systems analysts</a:t>
            </a:r>
            <a:endParaRPr lang="en-GB" sz="3200"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037268" y="963776"/>
            <a:ext cx="8154732" cy="4247317"/>
          </a:xfrm>
          <a:prstGeom prst="rect">
            <a:avLst/>
          </a:prstGeom>
          <a:noFill/>
        </p:spPr>
        <p:txBody>
          <a:bodyPr wrap="square">
            <a:spAutoFit/>
          </a:bodyPr>
          <a:lstStyle/>
          <a:p>
            <a:r>
              <a:rPr lang="en-GB" b="1" dirty="0"/>
              <a:t>Specialises in analysing, designing, and implementing IT systems</a:t>
            </a:r>
          </a:p>
          <a:p>
            <a:pPr marL="742939" lvl="1" indent="-285750">
              <a:buFont typeface="Arial" panose="020B0604020202020204" pitchFamily="34" charset="0"/>
              <a:buChar char="•"/>
            </a:pPr>
            <a:endParaRPr lang="en-GB" sz="1800" dirty="0"/>
          </a:p>
          <a:p>
            <a:pPr marL="742939" lvl="1" indent="-285750">
              <a:buFont typeface="Arial" panose="020B0604020202020204" pitchFamily="34" charset="0"/>
              <a:buChar char="•"/>
            </a:pPr>
            <a:r>
              <a:rPr lang="en-GB" sz="1800" dirty="0"/>
              <a:t>More technical focus.</a:t>
            </a:r>
            <a:br>
              <a:rPr lang="en-GB" sz="1800" dirty="0"/>
            </a:br>
            <a:endParaRPr lang="en-GB" sz="1800" dirty="0"/>
          </a:p>
          <a:p>
            <a:pPr marL="742939" lvl="1" indent="-285750">
              <a:buFont typeface="Arial" panose="020B0604020202020204" pitchFamily="34" charset="0"/>
              <a:buChar char="•"/>
            </a:pPr>
            <a:r>
              <a:rPr lang="en-GB" sz="1800" b="1" dirty="0"/>
              <a:t>Analysis:</a:t>
            </a:r>
          </a:p>
          <a:p>
            <a:pPr marL="1200127" lvl="2" indent="-285750">
              <a:buFont typeface="Arial" panose="020B0604020202020204" pitchFamily="34" charset="0"/>
              <a:buChar char="•"/>
            </a:pPr>
            <a:r>
              <a:rPr lang="en-GB" sz="1800" dirty="0"/>
              <a:t>Understands the role of IT in the process</a:t>
            </a:r>
          </a:p>
          <a:p>
            <a:pPr marL="1200127" lvl="2" indent="-285750">
              <a:buFont typeface="Arial" panose="020B0604020202020204" pitchFamily="34" charset="0"/>
              <a:buChar char="•"/>
            </a:pPr>
            <a:r>
              <a:rPr lang="en-GB" sz="1800" dirty="0"/>
              <a:t>Investigate the current system(s)</a:t>
            </a:r>
          </a:p>
          <a:p>
            <a:pPr marL="1200127" lvl="2" indent="-285750">
              <a:buFont typeface="Arial" panose="020B0604020202020204" pitchFamily="34" charset="0"/>
              <a:buChar char="•"/>
            </a:pPr>
            <a:r>
              <a:rPr lang="en-GB" sz="1800" dirty="0"/>
              <a:t>Document </a:t>
            </a:r>
            <a:r>
              <a:rPr lang="en-GB" sz="1800" b="1" dirty="0"/>
              <a:t>as is </a:t>
            </a:r>
            <a:r>
              <a:rPr lang="en-GB" sz="1800" dirty="0"/>
              <a:t>system using standard models</a:t>
            </a:r>
          </a:p>
          <a:p>
            <a:pPr marL="1200127" lvl="2" indent="-285750">
              <a:buFont typeface="Arial" panose="020B0604020202020204" pitchFamily="34" charset="0"/>
              <a:buChar char="•"/>
            </a:pPr>
            <a:r>
              <a:rPr lang="en-GB" sz="1800" dirty="0"/>
              <a:t>Define new system requirements</a:t>
            </a:r>
            <a:br>
              <a:rPr lang="en-GB" sz="1800" dirty="0"/>
            </a:br>
            <a:endParaRPr lang="en-GB" sz="1800" dirty="0"/>
          </a:p>
          <a:p>
            <a:pPr marL="742939" lvl="1" indent="-285750">
              <a:buFont typeface="Arial" panose="020B0604020202020204" pitchFamily="34" charset="0"/>
              <a:buChar char="•"/>
            </a:pPr>
            <a:r>
              <a:rPr lang="en-GB" sz="1800" b="1" dirty="0"/>
              <a:t>Design:</a:t>
            </a:r>
          </a:p>
          <a:p>
            <a:pPr marL="1200127" lvl="2" indent="-285750">
              <a:buFont typeface="Arial" panose="020B0604020202020204" pitchFamily="34" charset="0"/>
              <a:buChar char="•"/>
            </a:pPr>
            <a:r>
              <a:rPr lang="en-GB" sz="1800" dirty="0"/>
              <a:t>Design systems to meet requirements</a:t>
            </a:r>
          </a:p>
          <a:p>
            <a:pPr marL="1200127" lvl="2" indent="-285750">
              <a:buFont typeface="Arial" panose="020B0604020202020204" pitchFamily="34" charset="0"/>
              <a:buChar char="•"/>
            </a:pPr>
            <a:r>
              <a:rPr lang="en-GB" sz="1800" dirty="0"/>
              <a:t>Write specifications for developers</a:t>
            </a:r>
          </a:p>
          <a:p>
            <a:pPr marL="1200127" lvl="2" indent="-285750">
              <a:buFont typeface="Arial" panose="020B0604020202020204" pitchFamily="34" charset="0"/>
              <a:buChar char="•"/>
            </a:pPr>
            <a:r>
              <a:rPr lang="en-GB" sz="1800" dirty="0"/>
              <a:t>Participate in reviews and testing</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311099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E5C862-AECD-4408-93E5-0F1F16BA16E6}"/>
              </a:ext>
            </a:extLst>
          </p:cNvPr>
          <p:cNvGrpSpPr/>
          <p:nvPr/>
        </p:nvGrpSpPr>
        <p:grpSpPr>
          <a:xfrm>
            <a:off x="9755429" y="4381951"/>
            <a:ext cx="2244903" cy="2244903"/>
            <a:chOff x="1671242" y="1252939"/>
            <a:chExt cx="2826248" cy="2826248"/>
          </a:xfrm>
        </p:grpSpPr>
        <p:sp>
          <p:nvSpPr>
            <p:cNvPr id="8" name="Oval 7">
              <a:extLst>
                <a:ext uri="{FF2B5EF4-FFF2-40B4-BE49-F238E27FC236}">
                  <a16:creationId xmlns:a16="http://schemas.microsoft.com/office/drawing/2014/main" id="{765B52A9-266A-4B6B-8755-8D25169BA2D5}"/>
                </a:ext>
              </a:extLst>
            </p:cNvPr>
            <p:cNvSpPr/>
            <p:nvPr/>
          </p:nvSpPr>
          <p:spPr>
            <a:xfrm>
              <a:off x="1671242" y="1252939"/>
              <a:ext cx="2826248" cy="2826248"/>
            </a:xfrm>
            <a:prstGeom prst="ellipse">
              <a:avLst/>
            </a:prstGeom>
            <a:solidFill>
              <a:schemeClr val="accent4">
                <a:alpha val="50000"/>
              </a:schemeClr>
            </a:solidFill>
          </p:spPr>
          <p:style>
            <a:lnRef idx="2">
              <a:schemeClr val="accent4">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4" name="Oval 4">
              <a:extLst>
                <a:ext uri="{FF2B5EF4-FFF2-40B4-BE49-F238E27FC236}">
                  <a16:creationId xmlns:a16="http://schemas.microsoft.com/office/drawing/2014/main" id="{B5B7E540-F168-4FC0-9833-8F30EB0EFAC5}"/>
                </a:ext>
              </a:extLst>
            </p:cNvPr>
            <p:cNvSpPr txBox="1"/>
            <p:nvPr/>
          </p:nvSpPr>
          <p:spPr>
            <a:xfrm>
              <a:off x="2085136" y="1666833"/>
              <a:ext cx="1998460" cy="199846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GB" kern="1200" dirty="0"/>
                <a:t>Project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Systems analysts</a:t>
            </a:r>
            <a:endParaRPr lang="en-GB" sz="3200"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080510" y="1135226"/>
            <a:ext cx="8088630" cy="4247317"/>
          </a:xfrm>
          <a:prstGeom prst="rect">
            <a:avLst/>
          </a:prstGeom>
          <a:noFill/>
        </p:spPr>
        <p:txBody>
          <a:bodyPr wrap="square">
            <a:spAutoFit/>
          </a:bodyPr>
          <a:lstStyle/>
          <a:p>
            <a:r>
              <a:rPr lang="en-GB" b="1" dirty="0"/>
              <a:t>Specialises in analysing, designing, and implementing IT systems</a:t>
            </a:r>
          </a:p>
          <a:p>
            <a:pPr lvl="1"/>
            <a:endParaRPr lang="en-GB" b="1" dirty="0"/>
          </a:p>
          <a:p>
            <a:pPr lvl="1"/>
            <a:r>
              <a:rPr lang="en-GB" b="1" dirty="0"/>
              <a:t>Implementation</a:t>
            </a:r>
            <a:r>
              <a:rPr lang="en-GB" dirty="0"/>
              <a:t>:</a:t>
            </a:r>
          </a:p>
          <a:p>
            <a:pPr marL="1200150" lvl="2" indent="-285750">
              <a:buFont typeface="Arial" panose="020B0604020202020204" pitchFamily="34" charset="0"/>
              <a:buChar char="•"/>
            </a:pPr>
            <a:r>
              <a:rPr lang="en-GB" dirty="0"/>
              <a:t>Documentation / training</a:t>
            </a:r>
          </a:p>
          <a:p>
            <a:pPr marL="1200150" lvl="2" indent="-285750">
              <a:buFont typeface="Arial" panose="020B0604020202020204" pitchFamily="34" charset="0"/>
              <a:buChar char="•"/>
            </a:pPr>
            <a:r>
              <a:rPr lang="en-GB" dirty="0"/>
              <a:t>Testing / conversion / handover</a:t>
            </a:r>
          </a:p>
          <a:p>
            <a:pPr lvl="1"/>
            <a:endParaRPr lang="en-GB" b="1" dirty="0"/>
          </a:p>
          <a:p>
            <a:pPr lvl="1"/>
            <a:r>
              <a:rPr lang="en-GB" b="1" dirty="0"/>
              <a:t>Review</a:t>
            </a:r>
            <a:r>
              <a:rPr lang="en-GB" dirty="0"/>
              <a:t>:</a:t>
            </a:r>
          </a:p>
          <a:p>
            <a:pPr marL="1200150" lvl="2" indent="-285750">
              <a:buFont typeface="Arial" panose="020B0604020202020204" pitchFamily="34" charset="0"/>
              <a:buChar char="•"/>
            </a:pPr>
            <a:r>
              <a:rPr lang="en-GB" dirty="0"/>
              <a:t>Review of live system / development method</a:t>
            </a:r>
          </a:p>
          <a:p>
            <a:pPr marL="1200150" lvl="2" indent="-285750">
              <a:buFont typeface="Arial" panose="020B0604020202020204" pitchFamily="34" charset="0"/>
              <a:buChar char="•"/>
            </a:pPr>
            <a:r>
              <a:rPr lang="en-GB" dirty="0"/>
              <a:t>What went well / not so well?</a:t>
            </a:r>
          </a:p>
          <a:p>
            <a:pPr marL="1200150" lvl="2" indent="-285750">
              <a:buFont typeface="Arial" panose="020B0604020202020204" pitchFamily="34" charset="0"/>
              <a:buChar char="•"/>
            </a:pPr>
            <a:r>
              <a:rPr lang="en-GB" dirty="0"/>
              <a:t>Lessons learnt / what next?</a:t>
            </a:r>
          </a:p>
          <a:p>
            <a:pPr lvl="1"/>
            <a:endParaRPr lang="en-GB" b="1" dirty="0"/>
          </a:p>
          <a:p>
            <a:pPr lvl="1"/>
            <a:r>
              <a:rPr lang="en-GB" b="1" dirty="0"/>
              <a:t>Skills</a:t>
            </a:r>
            <a:r>
              <a:rPr lang="en-GB" dirty="0"/>
              <a:t>:</a:t>
            </a:r>
          </a:p>
          <a:p>
            <a:pPr marL="1200150" lvl="2" indent="-285750">
              <a:buFont typeface="Arial" panose="020B0604020202020204" pitchFamily="34" charset="0"/>
              <a:buChar char="•"/>
            </a:pPr>
            <a:r>
              <a:rPr lang="en-GB" dirty="0"/>
              <a:t>Communication</a:t>
            </a:r>
          </a:p>
          <a:p>
            <a:pPr marL="1200150" lvl="2" indent="-285750">
              <a:buFont typeface="Arial" panose="020B0604020202020204" pitchFamily="34" charset="0"/>
              <a:buChar char="•"/>
            </a:pPr>
            <a:r>
              <a:rPr lang="en-GB" dirty="0"/>
              <a:t>Use analysis techniques and tools</a:t>
            </a:r>
          </a:p>
          <a:p>
            <a:pPr marL="1200150" lvl="2" indent="-285750">
              <a:buFont typeface="Arial" panose="020B0604020202020204" pitchFamily="34" charset="0"/>
              <a:buChar char="•"/>
            </a:pPr>
            <a:r>
              <a:rPr lang="en-GB" dirty="0"/>
              <a:t>Methodical and quality focus</a:t>
            </a:r>
          </a:p>
        </p:txBody>
      </p:sp>
    </p:spTree>
    <p:extLst>
      <p:ext uri="{BB962C8B-B14F-4D97-AF65-F5344CB8AC3E}">
        <p14:creationId xmlns:p14="http://schemas.microsoft.com/office/powerpoint/2010/main" val="3238107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E5C862-AECD-4408-93E5-0F1F16BA16E6}"/>
              </a:ext>
            </a:extLst>
          </p:cNvPr>
          <p:cNvGrpSpPr/>
          <p:nvPr/>
        </p:nvGrpSpPr>
        <p:grpSpPr>
          <a:xfrm>
            <a:off x="9755429" y="4381951"/>
            <a:ext cx="2244903" cy="2244903"/>
            <a:chOff x="1671242" y="1252939"/>
            <a:chExt cx="2826248" cy="2826248"/>
          </a:xfrm>
        </p:grpSpPr>
        <p:sp>
          <p:nvSpPr>
            <p:cNvPr id="8" name="Oval 7">
              <a:extLst>
                <a:ext uri="{FF2B5EF4-FFF2-40B4-BE49-F238E27FC236}">
                  <a16:creationId xmlns:a16="http://schemas.microsoft.com/office/drawing/2014/main" id="{765B52A9-266A-4B6B-8755-8D25169BA2D5}"/>
                </a:ext>
              </a:extLst>
            </p:cNvPr>
            <p:cNvSpPr/>
            <p:nvPr/>
          </p:nvSpPr>
          <p:spPr>
            <a:xfrm>
              <a:off x="1671242" y="1252939"/>
              <a:ext cx="2826248" cy="2826248"/>
            </a:xfrm>
            <a:prstGeom prst="ellipse">
              <a:avLst/>
            </a:prstGeom>
            <a:solidFill>
              <a:schemeClr val="accent4">
                <a:alpha val="50000"/>
              </a:schemeClr>
            </a:solidFill>
          </p:spPr>
          <p:style>
            <a:lnRef idx="2">
              <a:schemeClr val="accent4">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4" name="Oval 4">
              <a:extLst>
                <a:ext uri="{FF2B5EF4-FFF2-40B4-BE49-F238E27FC236}">
                  <a16:creationId xmlns:a16="http://schemas.microsoft.com/office/drawing/2014/main" id="{B5B7E540-F168-4FC0-9833-8F30EB0EFAC5}"/>
                </a:ext>
              </a:extLst>
            </p:cNvPr>
            <p:cNvSpPr txBox="1"/>
            <p:nvPr/>
          </p:nvSpPr>
          <p:spPr>
            <a:xfrm>
              <a:off x="2085136" y="1666833"/>
              <a:ext cx="1998460" cy="199846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GB" kern="1200" dirty="0"/>
                <a:t>Project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Technical architects</a:t>
            </a:r>
            <a:endParaRPr lang="en-GB" sz="3200"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505898" y="1443836"/>
            <a:ext cx="6992681" cy="2308324"/>
          </a:xfrm>
          <a:prstGeom prst="rect">
            <a:avLst/>
          </a:prstGeom>
          <a:noFill/>
        </p:spPr>
        <p:txBody>
          <a:bodyPr wrap="square">
            <a:spAutoFit/>
          </a:bodyPr>
          <a:lstStyle/>
          <a:p>
            <a:r>
              <a:rPr lang="en-GB" b="1" dirty="0"/>
              <a:t>Designing the solution’s technical architecture:</a:t>
            </a:r>
            <a:br>
              <a:rPr lang="en-GB" b="1" dirty="0"/>
            </a:br>
            <a:endParaRPr lang="en-GB" b="1" dirty="0"/>
          </a:p>
          <a:p>
            <a:pPr marL="742939" lvl="1" indent="-285750">
              <a:buFont typeface="Arial" panose="020B0604020202020204" pitchFamily="34" charset="0"/>
              <a:buChar char="•"/>
            </a:pPr>
            <a:r>
              <a:rPr lang="en-GB" dirty="0"/>
              <a:t>Ensure </a:t>
            </a:r>
            <a:r>
              <a:rPr lang="en-GB" b="1" dirty="0"/>
              <a:t>non-functional</a:t>
            </a:r>
            <a:r>
              <a:rPr lang="en-GB" dirty="0"/>
              <a:t> requirements are met:</a:t>
            </a:r>
            <a:br>
              <a:rPr lang="en-GB" dirty="0"/>
            </a:br>
            <a:endParaRPr lang="en-GB" dirty="0"/>
          </a:p>
          <a:p>
            <a:pPr marL="1200150" lvl="2" indent="-285750">
              <a:buFont typeface="Arial" panose="020B0604020202020204" pitchFamily="34" charset="0"/>
              <a:buChar char="•"/>
            </a:pPr>
            <a:r>
              <a:rPr lang="en-GB" dirty="0"/>
              <a:t>Performance</a:t>
            </a:r>
          </a:p>
          <a:p>
            <a:pPr marL="1200150" lvl="2" indent="-285750">
              <a:buFont typeface="Arial" panose="020B0604020202020204" pitchFamily="34" charset="0"/>
              <a:buChar char="•"/>
            </a:pPr>
            <a:r>
              <a:rPr lang="en-GB" dirty="0"/>
              <a:t>Operating System</a:t>
            </a:r>
          </a:p>
          <a:p>
            <a:pPr marL="1200150" lvl="2" indent="-285750">
              <a:buFont typeface="Arial" panose="020B0604020202020204" pitchFamily="34" charset="0"/>
              <a:buChar char="•"/>
            </a:pPr>
            <a:r>
              <a:rPr lang="en-GB" dirty="0"/>
              <a:t>Network</a:t>
            </a:r>
          </a:p>
          <a:p>
            <a:pPr marL="1200150" lvl="2" indent="-285750">
              <a:buFont typeface="Arial" panose="020B0604020202020204" pitchFamily="34" charset="0"/>
              <a:buChar char="•"/>
            </a:pPr>
            <a:r>
              <a:rPr lang="en-GB" dirty="0"/>
              <a:t>Database</a:t>
            </a:r>
            <a:endParaRPr lang="en-US" dirty="0"/>
          </a:p>
        </p:txBody>
      </p:sp>
    </p:spTree>
    <p:extLst>
      <p:ext uri="{BB962C8B-B14F-4D97-AF65-F5344CB8AC3E}">
        <p14:creationId xmlns:p14="http://schemas.microsoft.com/office/powerpoint/2010/main" val="3538160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E5C862-AECD-4408-93E5-0F1F16BA16E6}"/>
              </a:ext>
            </a:extLst>
          </p:cNvPr>
          <p:cNvGrpSpPr/>
          <p:nvPr/>
        </p:nvGrpSpPr>
        <p:grpSpPr>
          <a:xfrm>
            <a:off x="9755429" y="4381951"/>
            <a:ext cx="2244903" cy="2244903"/>
            <a:chOff x="1671242" y="1252939"/>
            <a:chExt cx="2826248" cy="2826248"/>
          </a:xfrm>
        </p:grpSpPr>
        <p:sp>
          <p:nvSpPr>
            <p:cNvPr id="8" name="Oval 7">
              <a:extLst>
                <a:ext uri="{FF2B5EF4-FFF2-40B4-BE49-F238E27FC236}">
                  <a16:creationId xmlns:a16="http://schemas.microsoft.com/office/drawing/2014/main" id="{765B52A9-266A-4B6B-8755-8D25169BA2D5}"/>
                </a:ext>
              </a:extLst>
            </p:cNvPr>
            <p:cNvSpPr/>
            <p:nvPr/>
          </p:nvSpPr>
          <p:spPr>
            <a:xfrm>
              <a:off x="1671242" y="1252939"/>
              <a:ext cx="2826248" cy="2826248"/>
            </a:xfrm>
            <a:prstGeom prst="ellipse">
              <a:avLst/>
            </a:prstGeom>
            <a:solidFill>
              <a:schemeClr val="accent4">
                <a:alpha val="50000"/>
              </a:schemeClr>
            </a:solidFill>
          </p:spPr>
          <p:style>
            <a:lnRef idx="2">
              <a:schemeClr val="accent4">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4" name="Oval 4">
              <a:extLst>
                <a:ext uri="{FF2B5EF4-FFF2-40B4-BE49-F238E27FC236}">
                  <a16:creationId xmlns:a16="http://schemas.microsoft.com/office/drawing/2014/main" id="{B5B7E540-F168-4FC0-9833-8F30EB0EFAC5}"/>
                </a:ext>
              </a:extLst>
            </p:cNvPr>
            <p:cNvSpPr txBox="1"/>
            <p:nvPr/>
          </p:nvSpPr>
          <p:spPr>
            <a:xfrm>
              <a:off x="2085136" y="1666833"/>
              <a:ext cx="1998460" cy="199846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GB" kern="1200" dirty="0"/>
                <a:t>Project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Designers / developers</a:t>
            </a:r>
            <a:endParaRPr lang="en-GB" sz="3200"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220148" y="1123796"/>
            <a:ext cx="7686102" cy="3139321"/>
          </a:xfrm>
          <a:prstGeom prst="rect">
            <a:avLst/>
          </a:prstGeom>
          <a:noFill/>
        </p:spPr>
        <p:txBody>
          <a:bodyPr wrap="square">
            <a:spAutoFit/>
          </a:bodyPr>
          <a:lstStyle/>
          <a:p>
            <a:r>
              <a:rPr lang="en-GB" b="1" dirty="0"/>
              <a:t>Responsible for creating IT system to meet the requirements:</a:t>
            </a:r>
            <a:br>
              <a:rPr lang="en-GB" b="1" dirty="0"/>
            </a:br>
            <a:endParaRPr lang="en-GB" b="1" dirty="0"/>
          </a:p>
          <a:p>
            <a:pPr marL="742950" lvl="1" indent="-285750">
              <a:buFont typeface="Arial" panose="020B0604020202020204" pitchFamily="34" charset="0"/>
              <a:buChar char="•"/>
            </a:pPr>
            <a:r>
              <a:rPr lang="en-GB" b="1" dirty="0"/>
              <a:t>Designers will specify the system</a:t>
            </a:r>
            <a:r>
              <a:rPr lang="en-GB" dirty="0"/>
              <a:t> – </a:t>
            </a:r>
            <a:br>
              <a:rPr lang="en-GB" dirty="0"/>
            </a:br>
            <a:r>
              <a:rPr lang="en-GB" dirty="0"/>
              <a:t>architecture, screens, reports, interfaces, components.</a:t>
            </a:r>
            <a:br>
              <a:rPr lang="en-GB" dirty="0"/>
            </a:br>
            <a:endParaRPr lang="en-GB" dirty="0"/>
          </a:p>
          <a:p>
            <a:pPr marL="742950" lvl="1" indent="-285750">
              <a:buFont typeface="Arial" panose="020B0604020202020204" pitchFamily="34" charset="0"/>
              <a:buChar char="•"/>
            </a:pPr>
            <a:r>
              <a:rPr lang="en-GB" b="1" dirty="0"/>
              <a:t>Turn the specifications into code</a:t>
            </a:r>
            <a:r>
              <a:rPr lang="en-GB" dirty="0"/>
              <a:t>:</a:t>
            </a:r>
          </a:p>
          <a:p>
            <a:pPr marL="1200150" lvl="2" indent="-285750">
              <a:buFont typeface="Arial" panose="020B0604020202020204" pitchFamily="34" charset="0"/>
              <a:buChar char="•"/>
              <a:defRPr/>
            </a:pPr>
            <a:r>
              <a:rPr lang="en-GB" dirty="0"/>
              <a:t>Understand the specification</a:t>
            </a:r>
          </a:p>
          <a:p>
            <a:pPr marL="1200150" lvl="2" indent="-285750">
              <a:buFont typeface="Arial" panose="020B0604020202020204" pitchFamily="34" charset="0"/>
              <a:buChar char="•"/>
              <a:defRPr/>
            </a:pPr>
            <a:r>
              <a:rPr lang="en-GB" dirty="0"/>
              <a:t>Design the component </a:t>
            </a:r>
          </a:p>
          <a:p>
            <a:pPr marL="1200150" lvl="2" indent="-285750">
              <a:buFont typeface="Arial" panose="020B0604020202020204" pitchFamily="34" charset="0"/>
              <a:buChar char="•"/>
              <a:defRPr/>
            </a:pPr>
            <a:r>
              <a:rPr lang="en-GB" dirty="0"/>
              <a:t>Design the testing</a:t>
            </a:r>
          </a:p>
          <a:p>
            <a:pPr marL="1200150" lvl="2" indent="-285750">
              <a:buFont typeface="Arial" panose="020B0604020202020204" pitchFamily="34" charset="0"/>
              <a:buChar char="•"/>
              <a:defRPr/>
            </a:pPr>
            <a:r>
              <a:rPr lang="en-GB" dirty="0"/>
              <a:t>Write the code</a:t>
            </a:r>
          </a:p>
          <a:p>
            <a:pPr marL="1200150" lvl="2" indent="-285750">
              <a:buFont typeface="Arial" panose="020B0604020202020204" pitchFamily="34" charset="0"/>
              <a:buChar char="•"/>
              <a:defRPr/>
            </a:pPr>
            <a:r>
              <a:rPr lang="en-GB" dirty="0"/>
              <a:t>Test the component</a:t>
            </a:r>
          </a:p>
        </p:txBody>
      </p:sp>
    </p:spTree>
    <p:extLst>
      <p:ext uri="{BB962C8B-B14F-4D97-AF65-F5344CB8AC3E}">
        <p14:creationId xmlns:p14="http://schemas.microsoft.com/office/powerpoint/2010/main" val="777424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E5C862-AECD-4408-93E5-0F1F16BA16E6}"/>
              </a:ext>
            </a:extLst>
          </p:cNvPr>
          <p:cNvGrpSpPr/>
          <p:nvPr/>
        </p:nvGrpSpPr>
        <p:grpSpPr>
          <a:xfrm>
            <a:off x="9755429" y="4381951"/>
            <a:ext cx="2244903" cy="2244903"/>
            <a:chOff x="1671242" y="1252939"/>
            <a:chExt cx="2826248" cy="2826248"/>
          </a:xfrm>
        </p:grpSpPr>
        <p:sp>
          <p:nvSpPr>
            <p:cNvPr id="8" name="Oval 7">
              <a:extLst>
                <a:ext uri="{FF2B5EF4-FFF2-40B4-BE49-F238E27FC236}">
                  <a16:creationId xmlns:a16="http://schemas.microsoft.com/office/drawing/2014/main" id="{765B52A9-266A-4B6B-8755-8D25169BA2D5}"/>
                </a:ext>
              </a:extLst>
            </p:cNvPr>
            <p:cNvSpPr/>
            <p:nvPr/>
          </p:nvSpPr>
          <p:spPr>
            <a:xfrm>
              <a:off x="1671242" y="1252939"/>
              <a:ext cx="2826248" cy="2826248"/>
            </a:xfrm>
            <a:prstGeom prst="ellipse">
              <a:avLst/>
            </a:prstGeom>
            <a:solidFill>
              <a:schemeClr val="accent4">
                <a:alpha val="50000"/>
              </a:schemeClr>
            </a:solidFill>
          </p:spPr>
          <p:style>
            <a:lnRef idx="2">
              <a:schemeClr val="accent4">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4" name="Oval 4">
              <a:extLst>
                <a:ext uri="{FF2B5EF4-FFF2-40B4-BE49-F238E27FC236}">
                  <a16:creationId xmlns:a16="http://schemas.microsoft.com/office/drawing/2014/main" id="{B5B7E540-F168-4FC0-9833-8F30EB0EFAC5}"/>
                </a:ext>
              </a:extLst>
            </p:cNvPr>
            <p:cNvSpPr txBox="1"/>
            <p:nvPr/>
          </p:nvSpPr>
          <p:spPr>
            <a:xfrm>
              <a:off x="2085136" y="1666833"/>
              <a:ext cx="1998460" cy="1998460"/>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GB" kern="1200" dirty="0"/>
                <a:t>Project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Testers</a:t>
            </a:r>
            <a:endParaRPr lang="en-GB" sz="3200"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218137" y="1443836"/>
            <a:ext cx="7349024" cy="3416320"/>
          </a:xfrm>
          <a:prstGeom prst="rect">
            <a:avLst/>
          </a:prstGeom>
          <a:noFill/>
        </p:spPr>
        <p:txBody>
          <a:bodyPr wrap="square">
            <a:spAutoFit/>
          </a:bodyPr>
          <a:lstStyle/>
          <a:p>
            <a:r>
              <a:rPr lang="en-GB" b="1" dirty="0"/>
              <a:t>Ensures the quality, design integrity, and functionality </a:t>
            </a:r>
            <a:br>
              <a:rPr lang="en-GB" b="1" dirty="0"/>
            </a:br>
            <a:r>
              <a:rPr lang="en-GB" b="1" dirty="0"/>
              <a:t>of the system</a:t>
            </a:r>
            <a:endParaRPr lang="en-GB" dirty="0"/>
          </a:p>
          <a:p>
            <a:endParaRPr lang="en-GB" dirty="0"/>
          </a:p>
          <a:p>
            <a:pPr marL="742939" lvl="1" indent="-285750">
              <a:buFont typeface="Arial" panose="020B0604020202020204" pitchFamily="34" charset="0"/>
              <a:buChar char="•"/>
            </a:pPr>
            <a:r>
              <a:rPr lang="en-GB" b="1" dirty="0"/>
              <a:t>This will include</a:t>
            </a:r>
            <a:r>
              <a:rPr lang="en-GB" dirty="0"/>
              <a:t>:</a:t>
            </a:r>
          </a:p>
          <a:p>
            <a:pPr marL="742939" lvl="1" indent="-285750">
              <a:buFont typeface="Arial" panose="020B0604020202020204" pitchFamily="34" charset="0"/>
              <a:buChar char="•"/>
            </a:pPr>
            <a:endParaRPr lang="en-GB" dirty="0"/>
          </a:p>
          <a:p>
            <a:pPr marL="1200150" lvl="2" indent="-285750">
              <a:buFont typeface="Arial" panose="020B0604020202020204" pitchFamily="34" charset="0"/>
              <a:buChar char="•"/>
            </a:pPr>
            <a:r>
              <a:rPr lang="en-GB" dirty="0"/>
              <a:t>planning testing activities</a:t>
            </a:r>
          </a:p>
          <a:p>
            <a:pPr marL="1200150" lvl="2" indent="-285750">
              <a:buFont typeface="Arial" panose="020B0604020202020204" pitchFamily="34" charset="0"/>
              <a:buChar char="•"/>
            </a:pPr>
            <a:endParaRPr lang="en-GB" dirty="0"/>
          </a:p>
          <a:p>
            <a:pPr marL="1200150" lvl="2" indent="-285750">
              <a:buFont typeface="Arial" panose="020B0604020202020204" pitchFamily="34" charset="0"/>
              <a:buChar char="•"/>
            </a:pPr>
            <a:r>
              <a:rPr lang="en-GB" dirty="0"/>
              <a:t>specifying and executing tests</a:t>
            </a:r>
          </a:p>
          <a:p>
            <a:pPr marL="1200150" lvl="2" indent="-285750">
              <a:buFont typeface="Arial" panose="020B0604020202020204" pitchFamily="34" charset="0"/>
              <a:buChar char="•"/>
            </a:pPr>
            <a:endParaRPr lang="en-GB" dirty="0"/>
          </a:p>
          <a:p>
            <a:pPr marL="1200150" lvl="2" indent="-285750">
              <a:buFont typeface="Arial" panose="020B0604020202020204" pitchFamily="34" charset="0"/>
              <a:buChar char="•"/>
            </a:pPr>
            <a:r>
              <a:rPr lang="en-GB" dirty="0"/>
              <a:t>recording the results</a:t>
            </a:r>
          </a:p>
          <a:p>
            <a:pPr marL="1200150" lvl="2" indent="-285750">
              <a:buFont typeface="Arial" panose="020B0604020202020204" pitchFamily="34" charset="0"/>
              <a:buChar char="•"/>
            </a:pPr>
            <a:endParaRPr lang="en-GB" dirty="0"/>
          </a:p>
          <a:p>
            <a:pPr marL="1200150" lvl="2" indent="-285750">
              <a:buFont typeface="Arial" panose="020B0604020202020204" pitchFamily="34" charset="0"/>
              <a:buChar char="•"/>
            </a:pPr>
            <a:r>
              <a:rPr lang="en-GB" dirty="0"/>
              <a:t>checking and reporting progress</a:t>
            </a:r>
          </a:p>
        </p:txBody>
      </p:sp>
    </p:spTree>
    <p:extLst>
      <p:ext uri="{BB962C8B-B14F-4D97-AF65-F5344CB8AC3E}">
        <p14:creationId xmlns:p14="http://schemas.microsoft.com/office/powerpoint/2010/main" val="3280338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5193509-B459-4E70-A8F5-517FEB9E4979}"/>
              </a:ext>
            </a:extLst>
          </p:cNvPr>
          <p:cNvGrpSpPr/>
          <p:nvPr/>
        </p:nvGrpSpPr>
        <p:grpSpPr>
          <a:xfrm>
            <a:off x="9724634" y="4351156"/>
            <a:ext cx="2275698" cy="2275698"/>
            <a:chOff x="2165408" y="1287702"/>
            <a:chExt cx="2701631" cy="2701631"/>
          </a:xfrm>
        </p:grpSpPr>
        <p:sp>
          <p:nvSpPr>
            <p:cNvPr id="12" name="Oval 11">
              <a:extLst>
                <a:ext uri="{FF2B5EF4-FFF2-40B4-BE49-F238E27FC236}">
                  <a16:creationId xmlns:a16="http://schemas.microsoft.com/office/drawing/2014/main" id="{11A5475B-BF72-42C0-A4ED-76374F4E54AF}"/>
                </a:ext>
              </a:extLst>
            </p:cNvPr>
            <p:cNvSpPr/>
            <p:nvPr/>
          </p:nvSpPr>
          <p:spPr>
            <a:xfrm>
              <a:off x="2165408" y="1287702"/>
              <a:ext cx="2701631" cy="2701631"/>
            </a:xfrm>
            <a:prstGeom prst="ellipse">
              <a:avLst/>
            </a:prstGeom>
            <a:solidFill>
              <a:schemeClr val="accent3">
                <a:alpha val="50000"/>
              </a:schemeClr>
            </a:solidFill>
          </p:spPr>
          <p:style>
            <a:lnRef idx="2">
              <a:schemeClr val="accent3">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3" name="Oval 4">
              <a:extLst>
                <a:ext uri="{FF2B5EF4-FFF2-40B4-BE49-F238E27FC236}">
                  <a16:creationId xmlns:a16="http://schemas.microsoft.com/office/drawing/2014/main" id="{A7A73633-66C8-4699-A114-DA009AD6D680}"/>
                </a:ext>
              </a:extLst>
            </p:cNvPr>
            <p:cNvSpPr txBox="1"/>
            <p:nvPr/>
          </p:nvSpPr>
          <p:spPr>
            <a:xfrm>
              <a:off x="2561053" y="1683347"/>
              <a:ext cx="1910341" cy="1910341"/>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kern="1200" dirty="0"/>
                <a:t>External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Customers</a:t>
            </a:r>
            <a:endParaRPr lang="en-GB" sz="3200"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117278" y="1249526"/>
            <a:ext cx="7994712" cy="2862322"/>
          </a:xfrm>
          <a:prstGeom prst="rect">
            <a:avLst/>
          </a:prstGeom>
          <a:noFill/>
        </p:spPr>
        <p:txBody>
          <a:bodyPr wrap="square">
            <a:spAutoFit/>
          </a:bodyPr>
          <a:lstStyle/>
          <a:p>
            <a:r>
              <a:rPr lang="en-GB" b="1" dirty="0"/>
              <a:t>Are affected by the interfaces to the system (inputs and outputs)</a:t>
            </a:r>
          </a:p>
          <a:p>
            <a:pPr marL="742939" lvl="1" indent="-285750">
              <a:buFont typeface="Arial" panose="020B0604020202020204" pitchFamily="34" charset="0"/>
              <a:buChar char="•"/>
            </a:pPr>
            <a:endParaRPr lang="en-GB" sz="1800" dirty="0"/>
          </a:p>
          <a:p>
            <a:pPr marL="742939" lvl="1" indent="-285750">
              <a:buFont typeface="Arial" panose="020B0604020202020204" pitchFamily="34" charset="0"/>
              <a:buChar char="•"/>
            </a:pPr>
            <a:r>
              <a:rPr lang="en-GB" sz="1800" dirty="0"/>
              <a:t>Projects must comply with legal requirements concerning customers.</a:t>
            </a:r>
          </a:p>
          <a:p>
            <a:pPr marL="742939" lvl="1" indent="-285750">
              <a:buFont typeface="Arial" panose="020B0604020202020204" pitchFamily="34" charset="0"/>
              <a:buChar char="•"/>
            </a:pPr>
            <a:endParaRPr lang="en-GB" sz="1800" dirty="0"/>
          </a:p>
          <a:p>
            <a:pPr marL="742939" lvl="1" indent="-285750">
              <a:buFont typeface="Arial" panose="020B0604020202020204" pitchFamily="34" charset="0"/>
              <a:buChar char="•"/>
            </a:pPr>
            <a:r>
              <a:rPr lang="en-GB" sz="1800" dirty="0"/>
              <a:t>Often need to communicate with them to inform them of changes.</a:t>
            </a:r>
          </a:p>
          <a:p>
            <a:pPr marL="742939" lvl="1" indent="-285750">
              <a:buFont typeface="Arial" panose="020B0604020202020204" pitchFamily="34" charset="0"/>
              <a:buChar char="•"/>
            </a:pPr>
            <a:endParaRPr lang="en-GB" sz="1800" dirty="0"/>
          </a:p>
          <a:p>
            <a:pPr marL="742939" lvl="1" indent="-285750">
              <a:buFont typeface="Arial" panose="020B0604020202020204" pitchFamily="34" charset="0"/>
              <a:buChar char="•"/>
            </a:pPr>
            <a:r>
              <a:rPr lang="en-GB" sz="1800" dirty="0"/>
              <a:t>May need to consult with them to discover preferences.</a:t>
            </a:r>
          </a:p>
          <a:p>
            <a:endParaRPr lang="en-GB" dirty="0"/>
          </a:p>
        </p:txBody>
      </p:sp>
    </p:spTree>
    <p:extLst>
      <p:ext uri="{BB962C8B-B14F-4D97-AF65-F5344CB8AC3E}">
        <p14:creationId xmlns:p14="http://schemas.microsoft.com/office/powerpoint/2010/main" val="3631880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5193509-B459-4E70-A8F5-517FEB9E4979}"/>
              </a:ext>
            </a:extLst>
          </p:cNvPr>
          <p:cNvGrpSpPr/>
          <p:nvPr/>
        </p:nvGrpSpPr>
        <p:grpSpPr>
          <a:xfrm>
            <a:off x="9724634" y="4351156"/>
            <a:ext cx="2275698" cy="2275698"/>
            <a:chOff x="2165408" y="1287702"/>
            <a:chExt cx="2701631" cy="2701631"/>
          </a:xfrm>
        </p:grpSpPr>
        <p:sp>
          <p:nvSpPr>
            <p:cNvPr id="12" name="Oval 11">
              <a:extLst>
                <a:ext uri="{FF2B5EF4-FFF2-40B4-BE49-F238E27FC236}">
                  <a16:creationId xmlns:a16="http://schemas.microsoft.com/office/drawing/2014/main" id="{11A5475B-BF72-42C0-A4ED-76374F4E54AF}"/>
                </a:ext>
              </a:extLst>
            </p:cNvPr>
            <p:cNvSpPr/>
            <p:nvPr/>
          </p:nvSpPr>
          <p:spPr>
            <a:xfrm>
              <a:off x="2165408" y="1287702"/>
              <a:ext cx="2701631" cy="2701631"/>
            </a:xfrm>
            <a:prstGeom prst="ellipse">
              <a:avLst/>
            </a:prstGeom>
            <a:solidFill>
              <a:schemeClr val="accent3">
                <a:alpha val="50000"/>
              </a:schemeClr>
            </a:solidFill>
          </p:spPr>
          <p:style>
            <a:lnRef idx="2">
              <a:schemeClr val="accent3">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3" name="Oval 4">
              <a:extLst>
                <a:ext uri="{FF2B5EF4-FFF2-40B4-BE49-F238E27FC236}">
                  <a16:creationId xmlns:a16="http://schemas.microsoft.com/office/drawing/2014/main" id="{A7A73633-66C8-4699-A114-DA009AD6D680}"/>
                </a:ext>
              </a:extLst>
            </p:cNvPr>
            <p:cNvSpPr txBox="1"/>
            <p:nvPr/>
          </p:nvSpPr>
          <p:spPr>
            <a:xfrm>
              <a:off x="2561053" y="1683347"/>
              <a:ext cx="1910341" cy="1910341"/>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kern="1200" dirty="0"/>
                <a:t>External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Regulators</a:t>
            </a:r>
            <a:endParaRPr lang="en-GB" sz="3200"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151568" y="1443836"/>
            <a:ext cx="7987092" cy="2308324"/>
          </a:xfrm>
          <a:prstGeom prst="rect">
            <a:avLst/>
          </a:prstGeom>
          <a:noFill/>
        </p:spPr>
        <p:txBody>
          <a:bodyPr wrap="square">
            <a:spAutoFit/>
          </a:bodyPr>
          <a:lstStyle/>
          <a:p>
            <a:r>
              <a:rPr lang="en-GB" b="1" dirty="0"/>
              <a:t>Many industries have statutory regulatory bodies:</a:t>
            </a:r>
            <a:br>
              <a:rPr lang="en-GB" b="1" dirty="0"/>
            </a:br>
            <a:endParaRPr lang="en-GB" b="1" dirty="0"/>
          </a:p>
          <a:p>
            <a:pPr marL="742939" lvl="1" indent="-285750">
              <a:buFont typeface="Arial" panose="020B0604020202020204" pitchFamily="34" charset="0"/>
              <a:buChar char="•"/>
            </a:pPr>
            <a:r>
              <a:rPr lang="en-GB" sz="1800" dirty="0"/>
              <a:t>Financial, utilities, telecoms.</a:t>
            </a:r>
            <a:br>
              <a:rPr lang="en-GB" sz="1800" dirty="0"/>
            </a:br>
            <a:endParaRPr lang="en-GB" sz="1800" dirty="0"/>
          </a:p>
          <a:p>
            <a:pPr marL="742939" lvl="1" indent="-285750">
              <a:buFont typeface="Arial" panose="020B0604020202020204" pitchFamily="34" charset="0"/>
              <a:buChar char="•"/>
            </a:pPr>
            <a:r>
              <a:rPr lang="en-GB" sz="1800" dirty="0"/>
              <a:t>Regulatory constraints give rise to requirements on projects.</a:t>
            </a:r>
          </a:p>
          <a:p>
            <a:pPr marL="742939" lvl="1" indent="-285750">
              <a:buFont typeface="Arial" panose="020B0604020202020204" pitchFamily="34" charset="0"/>
              <a:buChar char="•"/>
            </a:pPr>
            <a:endParaRPr lang="en-GB" sz="1800" dirty="0"/>
          </a:p>
          <a:p>
            <a:pPr marL="742939" lvl="1" indent="-285750">
              <a:buFont typeface="Arial" panose="020B0604020202020204" pitchFamily="34" charset="0"/>
              <a:buChar char="•"/>
            </a:pPr>
            <a:r>
              <a:rPr lang="en-GB" sz="1800" dirty="0"/>
              <a:t>So do changes in the law.</a:t>
            </a:r>
            <a:endParaRPr lang="en-US" sz="1800" dirty="0"/>
          </a:p>
          <a:p>
            <a:endParaRPr lang="en-GB" dirty="0"/>
          </a:p>
        </p:txBody>
      </p:sp>
    </p:spTree>
    <p:extLst>
      <p:ext uri="{BB962C8B-B14F-4D97-AF65-F5344CB8AC3E}">
        <p14:creationId xmlns:p14="http://schemas.microsoft.com/office/powerpoint/2010/main" val="56697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5193509-B459-4E70-A8F5-517FEB9E4979}"/>
              </a:ext>
            </a:extLst>
          </p:cNvPr>
          <p:cNvGrpSpPr/>
          <p:nvPr/>
        </p:nvGrpSpPr>
        <p:grpSpPr>
          <a:xfrm>
            <a:off x="9724634" y="4351156"/>
            <a:ext cx="2275698" cy="2275698"/>
            <a:chOff x="2165408" y="1287702"/>
            <a:chExt cx="2701631" cy="2701631"/>
          </a:xfrm>
        </p:grpSpPr>
        <p:sp>
          <p:nvSpPr>
            <p:cNvPr id="12" name="Oval 11">
              <a:extLst>
                <a:ext uri="{FF2B5EF4-FFF2-40B4-BE49-F238E27FC236}">
                  <a16:creationId xmlns:a16="http://schemas.microsoft.com/office/drawing/2014/main" id="{11A5475B-BF72-42C0-A4ED-76374F4E54AF}"/>
                </a:ext>
              </a:extLst>
            </p:cNvPr>
            <p:cNvSpPr/>
            <p:nvPr/>
          </p:nvSpPr>
          <p:spPr>
            <a:xfrm>
              <a:off x="2165408" y="1287702"/>
              <a:ext cx="2701631" cy="2701631"/>
            </a:xfrm>
            <a:prstGeom prst="ellipse">
              <a:avLst/>
            </a:prstGeom>
            <a:solidFill>
              <a:schemeClr val="accent3">
                <a:alpha val="50000"/>
              </a:schemeClr>
            </a:solidFill>
          </p:spPr>
          <p:style>
            <a:lnRef idx="2">
              <a:schemeClr val="accent3">
                <a:shade val="80000"/>
                <a:hueOff val="0"/>
                <a:satOff val="0"/>
                <a:lumOff val="0"/>
                <a:alphaOff val="0"/>
              </a:schemeClr>
            </a:lnRef>
            <a:fillRef idx="1">
              <a:scrgbClr r="0" g="0" b="0"/>
            </a:fillRef>
            <a:effectRef idx="0">
              <a:schemeClr val="lt1">
                <a:alpha val="50000"/>
                <a:hueOff val="0"/>
                <a:satOff val="0"/>
                <a:lumOff val="0"/>
                <a:alphaOff val="0"/>
              </a:schemeClr>
            </a:effectRef>
            <a:fontRef idx="minor">
              <a:schemeClr val="tx1"/>
            </a:fontRef>
          </p:style>
          <p:txBody>
            <a:bodyPr/>
            <a:lstStyle/>
            <a:p>
              <a:endParaRPr lang="en-GB"/>
            </a:p>
          </p:txBody>
        </p:sp>
        <p:sp>
          <p:nvSpPr>
            <p:cNvPr id="13" name="Oval 4">
              <a:extLst>
                <a:ext uri="{FF2B5EF4-FFF2-40B4-BE49-F238E27FC236}">
                  <a16:creationId xmlns:a16="http://schemas.microsoft.com/office/drawing/2014/main" id="{A7A73633-66C8-4699-A114-DA009AD6D680}"/>
                </a:ext>
              </a:extLst>
            </p:cNvPr>
            <p:cNvSpPr txBox="1"/>
            <p:nvPr/>
          </p:nvSpPr>
          <p:spPr>
            <a:xfrm>
              <a:off x="2561053" y="1683347"/>
              <a:ext cx="1910341" cy="1910341"/>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GB" kern="1200" dirty="0"/>
                <a:t>External stakeholders</a:t>
              </a:r>
            </a:p>
          </p:txBody>
        </p:sp>
      </p:gr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Suppliers</a:t>
            </a:r>
            <a:endParaRPr lang="en-GB" sz="3200" b="0" dirty="0">
              <a:latin typeface="+mn-lt"/>
            </a:endParaRPr>
          </a:p>
        </p:txBody>
      </p:sp>
      <p:sp>
        <p:nvSpPr>
          <p:cNvPr id="9" name="TextBox 8">
            <a:extLst>
              <a:ext uri="{FF2B5EF4-FFF2-40B4-BE49-F238E27FC236}">
                <a16:creationId xmlns:a16="http://schemas.microsoft.com/office/drawing/2014/main" id="{A1B4BF23-53B8-491B-9F3A-2DFB63F042D1}"/>
              </a:ext>
            </a:extLst>
          </p:cNvPr>
          <p:cNvSpPr txBox="1"/>
          <p:nvPr/>
        </p:nvSpPr>
        <p:spPr>
          <a:xfrm>
            <a:off x="4149090" y="1443836"/>
            <a:ext cx="7851241" cy="2031325"/>
          </a:xfrm>
          <a:prstGeom prst="rect">
            <a:avLst/>
          </a:prstGeom>
          <a:noFill/>
        </p:spPr>
        <p:txBody>
          <a:bodyPr wrap="square">
            <a:spAutoFit/>
          </a:bodyPr>
          <a:lstStyle/>
          <a:p>
            <a:pPr marL="285750" indent="-285750">
              <a:buFont typeface="Arial" panose="020B0604020202020204" pitchFamily="34" charset="0"/>
              <a:buChar char="•"/>
            </a:pPr>
            <a:r>
              <a:rPr lang="en-GB" b="1" dirty="0"/>
              <a:t>May be affected by changes to interfaces</a:t>
            </a:r>
            <a:br>
              <a:rPr lang="en-GB" b="1" dirty="0"/>
            </a:br>
            <a:endParaRPr lang="en-GB" b="1" dirty="0"/>
          </a:p>
          <a:p>
            <a:pPr marL="742939" lvl="1" indent="-285750">
              <a:buFont typeface="Arial" panose="020B0604020202020204" pitchFamily="34" charset="0"/>
              <a:buChar char="•"/>
            </a:pPr>
            <a:r>
              <a:rPr lang="en-GB" sz="1800" dirty="0"/>
              <a:t>Will need time to change their systems if affected.</a:t>
            </a:r>
          </a:p>
          <a:p>
            <a:pPr marL="742939" lvl="1" indent="-285750">
              <a:buFont typeface="Arial" panose="020B0604020202020204" pitchFamily="34" charset="0"/>
              <a:buChar char="•"/>
            </a:pPr>
            <a:endParaRPr lang="en-US" sz="1800" dirty="0"/>
          </a:p>
          <a:p>
            <a:pPr marL="742939" lvl="1" indent="-285750">
              <a:buFont typeface="Arial" panose="020B0604020202020204" pitchFamily="34" charset="0"/>
              <a:buChar char="•"/>
            </a:pPr>
            <a:r>
              <a:rPr lang="en-US" sz="1800" dirty="0"/>
              <a:t>Our degree of influence over the supplier will depend on many things, including the relative sizes of the businesses.</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499992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D75B17-96F3-4A93-BDD7-826002A88251}"/>
              </a:ext>
            </a:extLst>
          </p:cNvPr>
          <p:cNvSpPr>
            <a:spLocks noGrp="1"/>
          </p:cNvSpPr>
          <p:nvPr>
            <p:ph type="body" sz="quarter" idx="15"/>
          </p:nvPr>
        </p:nvSpPr>
        <p:spPr>
          <a:xfrm>
            <a:off x="4491990" y="773936"/>
            <a:ext cx="7629924" cy="5466858"/>
          </a:xfrm>
        </p:spPr>
        <p:txBody>
          <a:bodyPr anchor="t">
            <a:normAutofit/>
          </a:bodyPr>
          <a:lstStyle/>
          <a:p>
            <a:pPr>
              <a:lnSpc>
                <a:spcPct val="90000"/>
              </a:lnSpc>
            </a:pPr>
            <a:r>
              <a:rPr lang="en-GB" b="1" dirty="0"/>
              <a:t>Processes and services administered by IT:</a:t>
            </a:r>
          </a:p>
          <a:p>
            <a:pPr lvl="1">
              <a:lnSpc>
                <a:spcPct val="90000"/>
              </a:lnSpc>
            </a:pPr>
            <a:r>
              <a:rPr lang="en-GB" dirty="0"/>
              <a:t>Support hardware and software for Internal and external clients.</a:t>
            </a:r>
            <a:br>
              <a:rPr lang="en-GB" dirty="0"/>
            </a:br>
            <a:endParaRPr lang="en-GB" b="1" dirty="0"/>
          </a:p>
          <a:p>
            <a:pPr>
              <a:lnSpc>
                <a:spcPct val="90000"/>
              </a:lnSpc>
            </a:pPr>
            <a:r>
              <a:rPr lang="en-GB" b="1" dirty="0"/>
              <a:t>All organisations have some form of IT operations:</a:t>
            </a:r>
          </a:p>
          <a:p>
            <a:pPr lvl="1">
              <a:lnSpc>
                <a:spcPct val="90000"/>
              </a:lnSpc>
            </a:pPr>
            <a:r>
              <a:rPr lang="en-GB" dirty="0"/>
              <a:t>Deliver effective service at required quality and cost.</a:t>
            </a:r>
            <a:br>
              <a:rPr lang="en-GB" dirty="0"/>
            </a:br>
            <a:endParaRPr lang="en-GB" dirty="0"/>
          </a:p>
          <a:p>
            <a:pPr>
              <a:lnSpc>
                <a:spcPct val="90000"/>
              </a:lnSpc>
            </a:pPr>
            <a:r>
              <a:rPr lang="en-GB" b="1" dirty="0"/>
              <a:t>Interface with system development team:</a:t>
            </a:r>
          </a:p>
          <a:p>
            <a:pPr lvl="1">
              <a:lnSpc>
                <a:spcPct val="90000"/>
              </a:lnSpc>
            </a:pPr>
            <a:r>
              <a:rPr lang="en-GB" dirty="0"/>
              <a:t>Usually considered separate to system development.</a:t>
            </a:r>
          </a:p>
          <a:p>
            <a:pPr lvl="1">
              <a:lnSpc>
                <a:spcPct val="90000"/>
              </a:lnSpc>
            </a:pPr>
            <a:r>
              <a:rPr lang="en-GB" dirty="0"/>
              <a:t>Work with system development to support system </a:t>
            </a:r>
          </a:p>
          <a:p>
            <a:pPr lvl="2">
              <a:lnSpc>
                <a:spcPct val="90000"/>
              </a:lnSpc>
            </a:pPr>
            <a:r>
              <a:rPr lang="en-GB" dirty="0"/>
              <a:t>Ensure operational requirements included and working.</a:t>
            </a:r>
          </a:p>
          <a:p>
            <a:pPr lvl="2">
              <a:lnSpc>
                <a:spcPct val="90000"/>
              </a:lnSpc>
            </a:pPr>
            <a:r>
              <a:rPr lang="en-GB" dirty="0"/>
              <a:t>Involved in operational user testing (UAT)</a:t>
            </a:r>
            <a:br>
              <a:rPr lang="en-GB" dirty="0"/>
            </a:br>
            <a:endParaRPr lang="en-GB" dirty="0"/>
          </a:p>
          <a:p>
            <a:pPr lvl="2">
              <a:lnSpc>
                <a:spcPct val="90000"/>
              </a:lnSpc>
            </a:pPr>
            <a:r>
              <a:rPr lang="en-GB" dirty="0"/>
              <a:t>Deployment approach and post-implementation support.</a:t>
            </a:r>
          </a:p>
          <a:p>
            <a:pPr lvl="2">
              <a:lnSpc>
                <a:spcPct val="90000"/>
              </a:lnSpc>
            </a:pPr>
            <a:r>
              <a:rPr lang="en-GB" dirty="0"/>
              <a:t>Documentation and training.</a:t>
            </a:r>
          </a:p>
          <a:p>
            <a:pPr>
              <a:lnSpc>
                <a:spcPct val="90000"/>
              </a:lnSpc>
            </a:pPr>
            <a:endParaRPr lang="en-GB" dirty="0"/>
          </a:p>
        </p:txBody>
      </p:sp>
      <p:sp>
        <p:nvSpPr>
          <p:cNvPr id="8" name="Slide Number Placeholder 2">
            <a:extLst>
              <a:ext uri="{FF2B5EF4-FFF2-40B4-BE49-F238E27FC236}">
                <a16:creationId xmlns:a16="http://schemas.microsoft.com/office/drawing/2014/main" id="{DEEA44FE-26AD-5055-7A9E-711CD35D4A2B}"/>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17</a:t>
            </a:fld>
            <a:endParaRPr lang="en-GB"/>
          </a:p>
        </p:txBody>
      </p:sp>
      <p:sp>
        <p:nvSpPr>
          <p:cNvPr id="2" name="Title 1">
            <a:extLst>
              <a:ext uri="{FF2B5EF4-FFF2-40B4-BE49-F238E27FC236}">
                <a16:creationId xmlns:a16="http://schemas.microsoft.com/office/drawing/2014/main" id="{DFB65817-D239-4F0A-844E-847D414A418D}"/>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dirty="0"/>
              <a:t>Operations</a:t>
            </a:r>
            <a:endParaRPr lang="en-GB"/>
          </a:p>
        </p:txBody>
      </p:sp>
    </p:spTree>
    <p:extLst>
      <p:ext uri="{BB962C8B-B14F-4D97-AF65-F5344CB8AC3E}">
        <p14:creationId xmlns:p14="http://schemas.microsoft.com/office/powerpoint/2010/main" val="212888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68">
            <a:extLst>
              <a:ext uri="{FF2B5EF4-FFF2-40B4-BE49-F238E27FC236}">
                <a16:creationId xmlns:a16="http://schemas.microsoft.com/office/drawing/2014/main" id="{45BDB0DD-A5EF-8EEE-2B6E-5C5FF711D79B}"/>
              </a:ext>
            </a:extLst>
          </p:cNvPr>
          <p:cNvPicPr>
            <a:picLocks noChangeAspect="1"/>
          </p:cNvPicPr>
          <p:nvPr/>
        </p:nvPicPr>
        <p:blipFill>
          <a:blip r:embed="rId3"/>
          <a:srcRect t="6241" b="6241"/>
          <a:stretch/>
        </p:blipFill>
        <p:spPr>
          <a:xfrm>
            <a:off x="6967959" y="11027"/>
            <a:ext cx="5224040" cy="6857989"/>
          </a:xfrm>
          <a:prstGeom prst="rect">
            <a:avLst/>
          </a:prstGeom>
          <a:noFill/>
        </p:spPr>
      </p:pic>
      <p:sp>
        <p:nvSpPr>
          <p:cNvPr id="2" name="Title 1">
            <a:extLst>
              <a:ext uri="{FF2B5EF4-FFF2-40B4-BE49-F238E27FC236}">
                <a16:creationId xmlns:a16="http://schemas.microsoft.com/office/drawing/2014/main" id="{CD25F864-975F-4028-9776-65343FC88B70}"/>
              </a:ext>
            </a:extLst>
          </p:cNvPr>
          <p:cNvSpPr>
            <a:spLocks noGrp="1"/>
          </p:cNvSpPr>
          <p:nvPr>
            <p:ph type="body" sz="quarter" idx="12"/>
          </p:nvPr>
        </p:nvSpPr>
        <p:spPr>
          <a:xfrm>
            <a:off x="385650" y="1147572"/>
            <a:ext cx="6458210" cy="520262"/>
          </a:xfrm>
        </p:spPr>
        <p:txBody>
          <a:bodyPr vert="horz" lIns="0" tIns="0" rIns="0" bIns="0" rtlCol="0" anchor="t" anchorCtr="0">
            <a:normAutofit/>
          </a:bodyPr>
          <a:lstStyle/>
          <a:p>
            <a:pPr>
              <a:lnSpc>
                <a:spcPct val="90000"/>
              </a:lnSpc>
              <a:spcAft>
                <a:spcPts val="600"/>
              </a:spcAft>
            </a:pPr>
            <a:r>
              <a:rPr lang="en-US" b="0" i="0" kern="1200" cap="none" baseline="0">
                <a:latin typeface="Montserrat Black" panose="00000A00000000000000" pitchFamily="2" charset="0"/>
                <a:ea typeface="+mn-ea"/>
                <a:cs typeface="+mn-cs"/>
              </a:rPr>
              <a:t>What is DevOps?</a:t>
            </a:r>
          </a:p>
        </p:txBody>
      </p:sp>
      <p:sp>
        <p:nvSpPr>
          <p:cNvPr id="73" name="Slide Number Placeholder 3">
            <a:extLst>
              <a:ext uri="{FF2B5EF4-FFF2-40B4-BE49-F238E27FC236}">
                <a16:creationId xmlns:a16="http://schemas.microsoft.com/office/drawing/2014/main" id="{E358E15E-3C94-7130-2A57-AAF32396AE37}"/>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18</a:t>
            </a:fld>
            <a:endParaRPr lang="en-GB"/>
          </a:p>
        </p:txBody>
      </p:sp>
      <p:sp>
        <p:nvSpPr>
          <p:cNvPr id="67" name="TextBox 66">
            <a:extLst>
              <a:ext uri="{FF2B5EF4-FFF2-40B4-BE49-F238E27FC236}">
                <a16:creationId xmlns:a16="http://schemas.microsoft.com/office/drawing/2014/main" id="{98A1D624-8DBC-48D4-881E-92BA48FAC134}"/>
              </a:ext>
            </a:extLst>
          </p:cNvPr>
          <p:cNvSpPr txBox="1"/>
          <p:nvPr/>
        </p:nvSpPr>
        <p:spPr>
          <a:xfrm>
            <a:off x="373063" y="1892636"/>
            <a:ext cx="6143484" cy="2742864"/>
          </a:xfrm>
          <a:prstGeom prst="rect">
            <a:avLst/>
          </a:prstGeom>
        </p:spPr>
        <p:txBody>
          <a:bodyPr vert="horz" lIns="0" tIns="0" rIns="0" bIns="0" rtlCol="0" anchor="t" anchorCtr="0">
            <a:normAutofit/>
          </a:bodyPr>
          <a:lstStyle/>
          <a:p>
            <a:pPr marL="0" indent="0">
              <a:spcAft>
                <a:spcPts val="651"/>
              </a:spcAft>
              <a:buFont typeface="Arial" panose="020B0604020202020204" pitchFamily="34" charset="0"/>
              <a:buNone/>
            </a:pPr>
            <a:r>
              <a:rPr lang="en-US" dirty="0">
                <a:latin typeface="Montserrat" pitchFamily="2" charset="77"/>
              </a:rPr>
              <a:t>The multi-skilling of people to make the whole development, operations, and testing workflow more agile.</a:t>
            </a:r>
          </a:p>
        </p:txBody>
      </p:sp>
    </p:spTree>
    <p:extLst>
      <p:ext uri="{BB962C8B-B14F-4D97-AF65-F5344CB8AC3E}">
        <p14:creationId xmlns:p14="http://schemas.microsoft.com/office/powerpoint/2010/main" val="1432702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F9A9580-E054-4CA7-B8B7-82BE503031FB}"/>
              </a:ext>
            </a:extLst>
          </p:cNvPr>
          <p:cNvSpPr>
            <a:spLocks noGrp="1"/>
          </p:cNvSpPr>
          <p:nvPr>
            <p:ph type="body" sz="quarter" idx="15"/>
          </p:nvPr>
        </p:nvSpPr>
        <p:spPr>
          <a:xfrm>
            <a:off x="4659947" y="869296"/>
            <a:ext cx="7147268" cy="5119407"/>
          </a:xfrm>
        </p:spPr>
        <p:txBody>
          <a:bodyPr anchor="t">
            <a:normAutofit lnSpcReduction="10000"/>
          </a:bodyPr>
          <a:lstStyle/>
          <a:p>
            <a:r>
              <a:rPr lang="en-GB" dirty="0"/>
              <a:t>Software engineering practice that aims at unifying:</a:t>
            </a:r>
          </a:p>
          <a:p>
            <a:pPr lvl="1"/>
            <a:r>
              <a:rPr lang="en-GB" dirty="0"/>
              <a:t>software development (dev).</a:t>
            </a:r>
          </a:p>
          <a:p>
            <a:pPr lvl="1"/>
            <a:r>
              <a:rPr lang="en-GB" dirty="0"/>
              <a:t>software operation (ops).</a:t>
            </a:r>
          </a:p>
          <a:p>
            <a:pPr lvl="1"/>
            <a:r>
              <a:rPr lang="en-GB" dirty="0"/>
              <a:t>testing.</a:t>
            </a:r>
            <a:br>
              <a:rPr lang="en-GB" dirty="0"/>
            </a:br>
            <a:endParaRPr lang="en-GB" dirty="0"/>
          </a:p>
          <a:p>
            <a:r>
              <a:rPr lang="en-GB" b="1" dirty="0"/>
              <a:t>Main characteristics</a:t>
            </a:r>
            <a:r>
              <a:rPr lang="en-GB" dirty="0"/>
              <a:t>:</a:t>
            </a:r>
          </a:p>
          <a:p>
            <a:pPr lvl="1"/>
            <a:r>
              <a:rPr lang="en-GB" dirty="0"/>
              <a:t>Automation and monitoring.</a:t>
            </a:r>
          </a:p>
          <a:p>
            <a:pPr lvl="1"/>
            <a:r>
              <a:rPr lang="en-GB" dirty="0"/>
              <a:t>All steps of software construction – from integration, testing, releasing, to deployment and infrastructure management.</a:t>
            </a:r>
            <a:br>
              <a:rPr lang="en-GB" dirty="0"/>
            </a:br>
            <a:endParaRPr lang="en-GB" dirty="0"/>
          </a:p>
          <a:p>
            <a:r>
              <a:rPr lang="en-GB" b="1" dirty="0"/>
              <a:t>Objectives</a:t>
            </a:r>
            <a:r>
              <a:rPr lang="en-GB" dirty="0"/>
              <a:t>:</a:t>
            </a:r>
          </a:p>
          <a:p>
            <a:pPr lvl="1"/>
            <a:r>
              <a:rPr lang="en-GB" dirty="0"/>
              <a:t>Shorter development cycles.</a:t>
            </a:r>
          </a:p>
          <a:p>
            <a:pPr lvl="1"/>
            <a:r>
              <a:rPr lang="en-GB" dirty="0"/>
              <a:t>Increased deployment frequency.</a:t>
            </a:r>
          </a:p>
          <a:p>
            <a:pPr lvl="1"/>
            <a:r>
              <a:rPr lang="en-GB" dirty="0"/>
              <a:t>More dependable releases.</a:t>
            </a:r>
          </a:p>
          <a:p>
            <a:pPr lvl="1"/>
            <a:r>
              <a:rPr lang="en-GB" dirty="0"/>
              <a:t>Greater alignment with business objectives.</a:t>
            </a:r>
          </a:p>
          <a:p>
            <a:endParaRPr lang="en-GB" dirty="0"/>
          </a:p>
        </p:txBody>
      </p:sp>
      <p:sp>
        <p:nvSpPr>
          <p:cNvPr id="11" name="Slide Number Placeholder 2">
            <a:extLst>
              <a:ext uri="{FF2B5EF4-FFF2-40B4-BE49-F238E27FC236}">
                <a16:creationId xmlns:a16="http://schemas.microsoft.com/office/drawing/2014/main" id="{F02E8569-98A5-9247-CDF6-A3C76CE1EA7C}"/>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19</a:t>
            </a:fld>
            <a:endParaRPr lang="en-GB"/>
          </a:p>
        </p:txBody>
      </p:sp>
      <p:sp>
        <p:nvSpPr>
          <p:cNvPr id="2" name="Title 1">
            <a:extLst>
              <a:ext uri="{FF2B5EF4-FFF2-40B4-BE49-F238E27FC236}">
                <a16:creationId xmlns:a16="http://schemas.microsoft.com/office/drawing/2014/main" id="{DFB65817-D239-4F0A-844E-847D414A418D}"/>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dirty="0"/>
              <a:t>DevOps</a:t>
            </a:r>
            <a:endParaRPr lang="en-GB"/>
          </a:p>
        </p:txBody>
      </p:sp>
    </p:spTree>
    <p:extLst>
      <p:ext uri="{BB962C8B-B14F-4D97-AF65-F5344CB8AC3E}">
        <p14:creationId xmlns:p14="http://schemas.microsoft.com/office/powerpoint/2010/main" val="1287718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67">
            <a:extLst>
              <a:ext uri="{FF2B5EF4-FFF2-40B4-BE49-F238E27FC236}">
                <a16:creationId xmlns:a16="http://schemas.microsoft.com/office/drawing/2014/main" id="{EB8FC16B-7F62-4470-AC3C-60AB5E4D0D49}"/>
              </a:ext>
            </a:extLst>
          </p:cNvPr>
          <p:cNvSpPr txBox="1"/>
          <p:nvPr/>
        </p:nvSpPr>
        <p:spPr>
          <a:xfrm>
            <a:off x="4591367" y="538456"/>
            <a:ext cx="7215848" cy="5119407"/>
          </a:xfrm>
          <a:prstGeom prst="rect">
            <a:avLst/>
          </a:prstGeom>
        </p:spPr>
        <p:txBody>
          <a:bodyPr vert="horz" lIns="0" tIns="0" rIns="0" bIns="0" rtlCol="0" anchor="t" anchorCtr="0">
            <a:normAutofit/>
          </a:bodyPr>
          <a:lstStyle/>
          <a:p>
            <a:pPr>
              <a:lnSpc>
                <a:spcPct val="90000"/>
              </a:lnSpc>
              <a:spcAft>
                <a:spcPts val="651"/>
              </a:spcAft>
              <a:buFont typeface="Arial" panose="020B0604020202020204" pitchFamily="34" charset="0"/>
            </a:pPr>
            <a:r>
              <a:rPr lang="en-US" b="1" dirty="0">
                <a:latin typeface="Montserrat" pitchFamily="2" charset="77"/>
              </a:rPr>
              <a:t>More than just a tool or a process change:</a:t>
            </a:r>
          </a:p>
          <a:p>
            <a:pPr marL="742950" lvl="1" indent="-285750">
              <a:lnSpc>
                <a:spcPct val="90000"/>
              </a:lnSpc>
              <a:spcAft>
                <a:spcPts val="651"/>
              </a:spcAft>
              <a:buFont typeface="Arial" panose="020B0604020202020204" pitchFamily="34" charset="0"/>
              <a:buChar char="•"/>
            </a:pPr>
            <a:r>
              <a:rPr lang="en-US" dirty="0">
                <a:latin typeface="Montserrat" pitchFamily="2" charset="77"/>
              </a:rPr>
              <a:t>Requires an organisational culture shift.</a:t>
            </a:r>
          </a:p>
          <a:p>
            <a:pPr marL="742950" lvl="1" indent="-285750">
              <a:lnSpc>
                <a:spcPct val="90000"/>
              </a:lnSpc>
              <a:spcAft>
                <a:spcPts val="651"/>
              </a:spcAft>
              <a:buFont typeface="Arial" panose="020B0604020202020204" pitchFamily="34" charset="0"/>
              <a:buChar char="•"/>
            </a:pPr>
            <a:r>
              <a:rPr lang="en-US" dirty="0">
                <a:latin typeface="Montserrat" pitchFamily="2" charset="77"/>
              </a:rPr>
              <a:t>Difficult due to conflicting nature of roles:</a:t>
            </a:r>
          </a:p>
          <a:p>
            <a:pPr marL="1200150" lvl="2" indent="-285750">
              <a:lnSpc>
                <a:spcPct val="90000"/>
              </a:lnSpc>
              <a:spcAft>
                <a:spcPts val="651"/>
              </a:spcAft>
              <a:buFont typeface="Arial" panose="020B0604020202020204" pitchFamily="34" charset="0"/>
              <a:buChar char="•"/>
            </a:pPr>
            <a:r>
              <a:rPr lang="en-US" dirty="0">
                <a:latin typeface="Montserrat" pitchFamily="2" charset="77"/>
              </a:rPr>
              <a:t>Operations: Seek organisational stability</a:t>
            </a:r>
          </a:p>
          <a:p>
            <a:pPr marL="1200150" lvl="2" indent="-285750">
              <a:lnSpc>
                <a:spcPct val="90000"/>
              </a:lnSpc>
              <a:spcAft>
                <a:spcPts val="651"/>
              </a:spcAft>
              <a:buFont typeface="Arial" panose="020B0604020202020204" pitchFamily="34" charset="0"/>
              <a:buChar char="•"/>
            </a:pPr>
            <a:r>
              <a:rPr lang="en-US" dirty="0">
                <a:latin typeface="Montserrat" pitchFamily="2" charset="77"/>
              </a:rPr>
              <a:t>Developers: Seek change</a:t>
            </a:r>
          </a:p>
          <a:p>
            <a:pPr marL="1200150" lvl="2" indent="-285750">
              <a:lnSpc>
                <a:spcPct val="90000"/>
              </a:lnSpc>
              <a:spcAft>
                <a:spcPts val="651"/>
              </a:spcAft>
              <a:buFont typeface="Arial" panose="020B0604020202020204" pitchFamily="34" charset="0"/>
              <a:buChar char="•"/>
            </a:pPr>
            <a:r>
              <a:rPr lang="en-US" dirty="0">
                <a:latin typeface="Montserrat" pitchFamily="2" charset="77"/>
              </a:rPr>
              <a:t>Testers: Seek risk reduction</a:t>
            </a:r>
          </a:p>
          <a:p>
            <a:pPr marL="742950" lvl="1" indent="-285750">
              <a:lnSpc>
                <a:spcPct val="90000"/>
              </a:lnSpc>
              <a:spcAft>
                <a:spcPts val="651"/>
              </a:spcAft>
              <a:buFont typeface="Arial" panose="020B0604020202020204" pitchFamily="34" charset="0"/>
              <a:buChar char="•"/>
            </a:pPr>
            <a:r>
              <a:rPr lang="en-US" dirty="0">
                <a:latin typeface="Montserrat" pitchFamily="2" charset="77"/>
              </a:rPr>
              <a:t>Getting these groups to work cohesively is challenging</a:t>
            </a:r>
            <a:br>
              <a:rPr lang="en-US" dirty="0">
                <a:latin typeface="Montserrat" pitchFamily="2" charset="77"/>
              </a:rPr>
            </a:br>
            <a:endParaRPr lang="en-US" dirty="0">
              <a:latin typeface="Montserrat" pitchFamily="2" charset="77"/>
            </a:endParaRPr>
          </a:p>
          <a:p>
            <a:pPr>
              <a:lnSpc>
                <a:spcPct val="90000"/>
              </a:lnSpc>
              <a:spcAft>
                <a:spcPts val="651"/>
              </a:spcAft>
              <a:buFont typeface="Arial" panose="020B0604020202020204" pitchFamily="34" charset="0"/>
            </a:pPr>
            <a:r>
              <a:rPr lang="en-US" b="1" dirty="0">
                <a:latin typeface="Montserrat" pitchFamily="2" charset="77"/>
              </a:rPr>
              <a:t>Building a DevOps culture:</a:t>
            </a:r>
          </a:p>
          <a:p>
            <a:pPr marL="742950" lvl="1" indent="-285750">
              <a:lnSpc>
                <a:spcPct val="90000"/>
              </a:lnSpc>
              <a:spcAft>
                <a:spcPts val="651"/>
              </a:spcAft>
              <a:buFont typeface="Arial" panose="020B0604020202020204" pitchFamily="34" charset="0"/>
              <a:buChar char="•"/>
            </a:pPr>
            <a:r>
              <a:rPr lang="en-US" dirty="0">
                <a:latin typeface="Montserrat" pitchFamily="2" charset="77"/>
              </a:rPr>
              <a:t>Strong interdepartmental communication:</a:t>
            </a:r>
          </a:p>
          <a:p>
            <a:pPr marL="1200150" lvl="2" indent="-285750">
              <a:lnSpc>
                <a:spcPct val="90000"/>
              </a:lnSpc>
              <a:spcAft>
                <a:spcPts val="651"/>
              </a:spcAft>
              <a:buFont typeface="Arial" panose="020B0604020202020204" pitchFamily="34" charset="0"/>
              <a:buChar char="•"/>
            </a:pPr>
            <a:r>
              <a:rPr lang="en-US" dirty="0">
                <a:latin typeface="Montserrat" pitchFamily="2" charset="77"/>
              </a:rPr>
              <a:t>Use team-building and other employee engagement activities</a:t>
            </a:r>
          </a:p>
          <a:p>
            <a:pPr marL="742950" lvl="1" indent="-285750">
              <a:lnSpc>
                <a:spcPct val="90000"/>
              </a:lnSpc>
              <a:spcAft>
                <a:spcPts val="651"/>
              </a:spcAft>
              <a:buFont typeface="Arial" panose="020B0604020202020204" pitchFamily="34" charset="0"/>
              <a:buChar char="•"/>
            </a:pPr>
            <a:r>
              <a:rPr lang="en-US" dirty="0">
                <a:latin typeface="Montserrat" pitchFamily="2" charset="77"/>
              </a:rPr>
              <a:t>Create an environment that nurtures cultural change.</a:t>
            </a:r>
          </a:p>
          <a:p>
            <a:pPr marL="742950" lvl="1" indent="-285750">
              <a:lnSpc>
                <a:spcPct val="90000"/>
              </a:lnSpc>
              <a:spcAft>
                <a:spcPts val="651"/>
              </a:spcAft>
              <a:buFont typeface="Arial" panose="020B0604020202020204" pitchFamily="34" charset="0"/>
              <a:buChar char="•"/>
            </a:pPr>
            <a:r>
              <a:rPr lang="en-US" dirty="0">
                <a:latin typeface="Montserrat" pitchFamily="2" charset="77"/>
              </a:rPr>
              <a:t>All software applications meet a set of architecturally significant requirements.</a:t>
            </a:r>
          </a:p>
        </p:txBody>
      </p:sp>
      <p:sp>
        <p:nvSpPr>
          <p:cNvPr id="73" name="Slide Number Placeholder 2">
            <a:extLst>
              <a:ext uri="{FF2B5EF4-FFF2-40B4-BE49-F238E27FC236}">
                <a16:creationId xmlns:a16="http://schemas.microsoft.com/office/drawing/2014/main" id="{3CBC5CE8-50F0-FA2B-7D1C-32F164F387F6}"/>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20</a:t>
            </a:fld>
            <a:endParaRPr lang="en-GB"/>
          </a:p>
        </p:txBody>
      </p:sp>
      <p:sp>
        <p:nvSpPr>
          <p:cNvPr id="2" name="Title 1">
            <a:extLst>
              <a:ext uri="{FF2B5EF4-FFF2-40B4-BE49-F238E27FC236}">
                <a16:creationId xmlns:a16="http://schemas.microsoft.com/office/drawing/2014/main" id="{8534EAB0-AF37-485C-A92D-DC9BE8F97D34}"/>
              </a:ext>
            </a:extLst>
          </p:cNvPr>
          <p:cNvSpPr>
            <a:spLocks noGrp="1"/>
          </p:cNvSpPr>
          <p:nvPr>
            <p:ph type="body" sz="quarter" idx="10"/>
          </p:nvPr>
        </p:nvSpPr>
        <p:spPr>
          <a:xfrm>
            <a:off x="384785" y="1349985"/>
            <a:ext cx="3443732" cy="2751999"/>
          </a:xfrm>
        </p:spPr>
        <p:txBody>
          <a:bodyPr vert="horz" lIns="0" tIns="0" rIns="0" bIns="0" rtlCol="0" anchor="t" anchorCtr="0">
            <a:normAutofit/>
          </a:bodyPr>
          <a:lstStyle/>
          <a:p>
            <a:pPr>
              <a:spcAft>
                <a:spcPts val="600"/>
              </a:spcAft>
            </a:pPr>
            <a:r>
              <a:rPr lang="en-US" b="0" i="0" kern="1200" cap="all" baseline="0" dirty="0">
                <a:latin typeface="Montserrat Black" panose="00000A00000000000000" pitchFamily="2" charset="0"/>
                <a:ea typeface="+mn-ea"/>
                <a:cs typeface="+mn-cs"/>
              </a:rPr>
              <a:t>DevOps: Challenges</a:t>
            </a:r>
          </a:p>
        </p:txBody>
      </p:sp>
    </p:spTree>
    <p:extLst>
      <p:ext uri="{BB962C8B-B14F-4D97-AF65-F5344CB8AC3E}">
        <p14:creationId xmlns:p14="http://schemas.microsoft.com/office/powerpoint/2010/main" val="3267931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943D6-D544-4244-9881-38BF9BA82662}"/>
              </a:ext>
            </a:extLst>
          </p:cNvPr>
          <p:cNvSpPr>
            <a:spLocks noGrp="1"/>
          </p:cNvSpPr>
          <p:nvPr>
            <p:ph type="ctrTitle"/>
          </p:nvPr>
        </p:nvSpPr>
        <p:spPr/>
        <p:txBody>
          <a:bodyPr/>
          <a:lstStyle/>
          <a:p>
            <a:r>
              <a:rPr lang="en-GB" dirty="0"/>
              <a:t>review</a:t>
            </a:r>
          </a:p>
        </p:txBody>
      </p:sp>
      <p:sp>
        <p:nvSpPr>
          <p:cNvPr id="3" name="Action Button: Go Forward or Next 2">
            <a:hlinkClick r:id="rId3" highlightClick="1"/>
            <a:extLst>
              <a:ext uri="{FF2B5EF4-FFF2-40B4-BE49-F238E27FC236}">
                <a16:creationId xmlns:a16="http://schemas.microsoft.com/office/drawing/2014/main" id="{6C04A70E-8905-BAA4-69DD-8D8E423C51A0}"/>
              </a:ext>
            </a:extLst>
          </p:cNvPr>
          <p:cNvSpPr/>
          <p:nvPr/>
        </p:nvSpPr>
        <p:spPr>
          <a:xfrm>
            <a:off x="3584327" y="5769335"/>
            <a:ext cx="1087821" cy="819807"/>
          </a:xfrm>
          <a:prstGeom prst="actionButtonForwardNex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GB"/>
          </a:p>
        </p:txBody>
      </p:sp>
      <p:sp>
        <p:nvSpPr>
          <p:cNvPr id="4" name="Title 1">
            <a:extLst>
              <a:ext uri="{FF2B5EF4-FFF2-40B4-BE49-F238E27FC236}">
                <a16:creationId xmlns:a16="http://schemas.microsoft.com/office/drawing/2014/main" id="{C7DDAC16-352C-83AA-2F65-A36587B50E0C}"/>
              </a:ext>
            </a:extLst>
          </p:cNvPr>
          <p:cNvSpPr txBox="1">
            <a:spLocks/>
          </p:cNvSpPr>
          <p:nvPr/>
        </p:nvSpPr>
        <p:spPr>
          <a:xfrm>
            <a:off x="1812267" y="5650764"/>
            <a:ext cx="5719761" cy="819808"/>
          </a:xfrm>
          <a:prstGeom prst="rect">
            <a:avLst/>
          </a:prstGeom>
        </p:spPr>
        <p:txBody>
          <a:bodyPr vert="horz" lIns="0" tIns="0" rIns="0" bIns="0" rtlCol="0" anchor="b" anchorCtr="0">
            <a:noAutofit/>
          </a:bodyPr>
          <a:lstStyle>
            <a:defPPr>
              <a:defRPr lang="en-US"/>
            </a:defPPr>
            <a:lvl1pPr marL="0" algn="l" defTabSz="914377" rtl="0" eaLnBrk="1" latinLnBrk="0" hangingPunct="1">
              <a:lnSpc>
                <a:spcPct val="90000"/>
              </a:lnSpc>
              <a:spcBef>
                <a:spcPct val="0"/>
              </a:spcBef>
              <a:buNone/>
              <a:defRPr sz="3600" b="0" i="0" kern="1200" cap="none" spc="60" baseline="0">
                <a:solidFill>
                  <a:srgbClr val="004050"/>
                </a:solidFill>
                <a:latin typeface="Montserrat Black" panose="00000A00000000000000" pitchFamily="2" charset="0"/>
                <a:ea typeface="+mj-ea"/>
                <a:cs typeface="+mj-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GB" dirty="0"/>
              <a:t>Quiz</a:t>
            </a:r>
          </a:p>
        </p:txBody>
      </p:sp>
    </p:spTree>
    <p:extLst>
      <p:ext uri="{BB962C8B-B14F-4D97-AF65-F5344CB8AC3E}">
        <p14:creationId xmlns:p14="http://schemas.microsoft.com/office/powerpoint/2010/main" val="1734973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489301-45C5-4586-A14D-022F60CBC6E0}"/>
              </a:ext>
            </a:extLst>
          </p:cNvPr>
          <p:cNvSpPr>
            <a:spLocks noGrp="1"/>
          </p:cNvSpPr>
          <p:nvPr>
            <p:ph type="body" sz="quarter" idx="12"/>
          </p:nvPr>
        </p:nvSpPr>
        <p:spPr/>
        <p:txBody>
          <a:bodyPr/>
          <a:lstStyle/>
          <a:p>
            <a:endParaRPr lang="en-GB"/>
          </a:p>
        </p:txBody>
      </p:sp>
      <p:sp>
        <p:nvSpPr>
          <p:cNvPr id="3" name="Title 2"/>
          <p:cNvSpPr>
            <a:spLocks noGrp="1"/>
          </p:cNvSpPr>
          <p:nvPr>
            <p:ph type="ctrTitle"/>
          </p:nvPr>
        </p:nvSpPr>
        <p:spPr/>
        <p:txBody>
          <a:bodyPr/>
          <a:lstStyle/>
          <a:p>
            <a:r>
              <a:rPr lang="en-GB" dirty="0"/>
              <a:t>Questions and feedback</a:t>
            </a:r>
          </a:p>
        </p:txBody>
      </p:sp>
    </p:spTree>
    <p:extLst>
      <p:ext uri="{BB962C8B-B14F-4D97-AF65-F5344CB8AC3E}">
        <p14:creationId xmlns:p14="http://schemas.microsoft.com/office/powerpoint/2010/main" val="3983785826"/>
      </p:ext>
    </p:extLst>
  </p:cSld>
  <p:clrMapOvr>
    <a:masterClrMapping/>
  </p:clrMapOvr>
</p:sld>
</file>

<file path=ppt/theme/theme1.xml><?xml version="1.0" encoding="utf-8"?>
<a:theme xmlns:a="http://schemas.openxmlformats.org/drawingml/2006/main" name="NoKrana">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NoKrana" id="{6445C680-CEE2-46E4-B67B-52F27D5E4F2B}" vid="{340589B6-7E52-41CF-9204-94B2862D1A69}"/>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CDB2D89-314C-4D83-B504-BF4072DFB9FD}">
  <ds:schemaRefs>
    <ds:schemaRef ds:uri="http://schemas.microsoft.com/sharepoint/v3/contenttype/forms"/>
  </ds:schemaRefs>
</ds:datastoreItem>
</file>

<file path=customXml/itemProps2.xml><?xml version="1.0" encoding="utf-8"?>
<ds:datastoreItem xmlns:ds="http://schemas.openxmlformats.org/officeDocument/2006/customXml" ds:itemID="{049AF017-7CFC-4EC6-BEA6-74BC00C26C3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E287A7-626A-41C1-92DF-BE8EECFCD6C2}">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8152707b-ac2c-4ea2-ac9a-b989788b8469"/>
    <ds:schemaRef ds:uri="http://purl.org/dc/elements/1.1/"/>
    <ds:schemaRef ds:uri="http://schemas.microsoft.com/office/2006/metadata/properties"/>
    <ds:schemaRef ds:uri="9a63c464-9648-4824-9ad1-ed767784f626"/>
    <ds:schemaRef ds:uri="http://www.w3.org/XML/1998/namespace"/>
    <ds:schemaRef ds:uri="http://purl.org/dc/terms/"/>
    <ds:schemaRef ds:uri="9e706368-9a73-4dcc-9221-b8fc62424fbc"/>
    <ds:schemaRef ds:uri="eb7c3fc1-ccd5-477b-94a4-7b6dc96a8d59"/>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2800</Words>
  <Application>Microsoft Office PowerPoint</Application>
  <PresentationFormat>Widescreen</PresentationFormat>
  <Paragraphs>317</Paragraphs>
  <Slides>22</Slides>
  <Notes>22</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22</vt:i4>
      </vt:variant>
    </vt:vector>
  </HeadingPairs>
  <TitlesOfParts>
    <vt:vector size="32" baseType="lpstr">
      <vt:lpstr>Arial</vt:lpstr>
      <vt:lpstr>Courier New</vt:lpstr>
      <vt:lpstr>Krana Fat B</vt:lpstr>
      <vt:lpstr>Montserrat</vt:lpstr>
      <vt:lpstr>Montserrat Black</vt:lpstr>
      <vt:lpstr>NoKrana</vt:lpstr>
      <vt:lpstr>Master_Red_and_Purple</vt:lpstr>
      <vt:lpstr>Master_Yellow_and_Orange</vt:lpstr>
      <vt:lpstr>Master_Blue</vt:lpstr>
      <vt:lpstr>Master_Neutral</vt:lpstr>
      <vt:lpstr>Software Developer  Agile Software Development  Team Roles and Responsibilities </vt:lpstr>
      <vt:lpstr>System development principles</vt:lpstr>
      <vt:lpstr>Main roles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review</vt:lpstr>
      <vt:lpstr>Questions and feedback</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 here and here</dc:title>
  <dc:subject/>
  <dc:creator>Haynes, Amanda</dc:creator>
  <cp:keywords/>
  <dc:description/>
  <cp:lastModifiedBy>Baradaran, Mike</cp:lastModifiedBy>
  <cp:revision>63</cp:revision>
  <cp:lastPrinted>2019-07-03T09:46:41Z</cp:lastPrinted>
  <dcterms:created xsi:type="dcterms:W3CDTF">2021-11-17T15:28:08Z</dcterms:created>
  <dcterms:modified xsi:type="dcterms:W3CDTF">2025-01-24T23:24:03Z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ies>
</file>