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2.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3.xml" ContentType="application/vnd.openxmlformats-officedocument.theme+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theme/theme4.xml" ContentType="application/vnd.openxmlformats-officedocument.theme+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9" r:id="rId4"/>
    <p:sldMasterId id="2147483789" r:id="rId5"/>
    <p:sldMasterId id="2147483824" r:id="rId6"/>
    <p:sldMasterId id="2147483862" r:id="rId7"/>
    <p:sldMasterId id="2147483895" r:id="rId8"/>
  </p:sldMasterIdLst>
  <p:notesMasterIdLst>
    <p:notesMasterId r:id="rId32"/>
  </p:notesMasterIdLst>
  <p:handoutMasterIdLst>
    <p:handoutMasterId r:id="rId33"/>
  </p:handoutMasterIdLst>
  <p:sldIdLst>
    <p:sldId id="278" r:id="rId9"/>
    <p:sldId id="290" r:id="rId10"/>
    <p:sldId id="275" r:id="rId11"/>
    <p:sldId id="303" r:id="rId12"/>
    <p:sldId id="304" r:id="rId13"/>
    <p:sldId id="305" r:id="rId14"/>
    <p:sldId id="307" r:id="rId15"/>
    <p:sldId id="345" r:id="rId16"/>
    <p:sldId id="308" r:id="rId17"/>
    <p:sldId id="309" r:id="rId18"/>
    <p:sldId id="347" r:id="rId19"/>
    <p:sldId id="310" r:id="rId20"/>
    <p:sldId id="311" r:id="rId21"/>
    <p:sldId id="353" r:id="rId22"/>
    <p:sldId id="348" r:id="rId23"/>
    <p:sldId id="312" r:id="rId24"/>
    <p:sldId id="354" r:id="rId25"/>
    <p:sldId id="349" r:id="rId26"/>
    <p:sldId id="314" r:id="rId27"/>
    <p:sldId id="351" r:id="rId28"/>
    <p:sldId id="321" r:id="rId29"/>
    <p:sldId id="477" r:id="rId30"/>
    <p:sldId id="337" r:id="rId31"/>
  </p:sldIdLst>
  <p:sldSz cx="12192000" cy="6858000"/>
  <p:notesSz cx="9775825" cy="6645275"/>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or Divider Slides" id="{DE8BF54A-1323-4403-83F8-D7B5510C9D53}">
          <p14:sldIdLst>
            <p14:sldId id="278"/>
          </p14:sldIdLst>
        </p14:section>
        <p14:section name="Content Slides" id="{1A095CF9-3572-4538-94D7-8ABEC199D1E2}">
          <p14:sldIdLst>
            <p14:sldId id="290"/>
            <p14:sldId id="275"/>
            <p14:sldId id="303"/>
            <p14:sldId id="304"/>
            <p14:sldId id="305"/>
            <p14:sldId id="307"/>
            <p14:sldId id="345"/>
            <p14:sldId id="308"/>
            <p14:sldId id="309"/>
            <p14:sldId id="347"/>
            <p14:sldId id="310"/>
            <p14:sldId id="311"/>
            <p14:sldId id="353"/>
            <p14:sldId id="348"/>
            <p14:sldId id="312"/>
            <p14:sldId id="354"/>
            <p14:sldId id="349"/>
            <p14:sldId id="314"/>
            <p14:sldId id="351"/>
            <p14:sldId id="321"/>
            <p14:sldId id="477"/>
            <p14:sldId id="337"/>
          </p14:sldIdLst>
        </p14:section>
        <p14:section name="Closing slide options" id="{6824D640-AAEC-4A13-80D1-D50C04BFFF2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4C"/>
    <a:srgbClr val="004050"/>
    <a:srgbClr val="20D3FF"/>
    <a:srgbClr val="7F007D"/>
    <a:srgbClr val="F3622C"/>
    <a:srgbClr val="00EDB5"/>
    <a:srgbClr val="000000"/>
    <a:srgbClr val="C4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14" autoAdjust="0"/>
    <p:restoredTop sz="87584" autoAdjust="0"/>
  </p:normalViewPr>
  <p:slideViewPr>
    <p:cSldViewPr snapToGrid="0" snapToObjects="1" showGuides="1">
      <p:cViewPr varScale="1">
        <p:scale>
          <a:sx n="60" d="100"/>
          <a:sy n="60" d="100"/>
        </p:scale>
        <p:origin x="1339" y="274"/>
      </p:cViewPr>
      <p:guideLst/>
    </p:cSldViewPr>
  </p:slideViewPr>
  <p:notesTextViewPr>
    <p:cViewPr>
      <p:scale>
        <a:sx n="1" d="1"/>
        <a:sy n="1" d="1"/>
      </p:scale>
      <p:origin x="0" y="0"/>
    </p:cViewPr>
  </p:notesTextViewPr>
  <p:sorterViewPr>
    <p:cViewPr>
      <p:scale>
        <a:sx n="66" d="100"/>
        <a:sy n="66" d="100"/>
      </p:scale>
      <p:origin x="0" y="-3885"/>
    </p:cViewPr>
  </p:sorterViewPr>
  <p:notesViewPr>
    <p:cSldViewPr snapToGrid="0" snapToObjects="1" showGuides="1">
      <p:cViewPr varScale="1">
        <p:scale>
          <a:sx n="117" d="100"/>
          <a:sy n="117" d="100"/>
        </p:scale>
        <p:origin x="2052" y="6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viewProps" Target="viewProps.xml"/><Relationship Id="rId8" Type="http://schemas.openxmlformats.org/officeDocument/2006/relationships/slideMaster" Target="slideMasters/slideMaster5.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3E2B2E-48A3-4CFD-921D-116B9AE13059}" type="doc">
      <dgm:prSet loTypeId="urn:microsoft.com/office/officeart/2009/3/layout/PlusandMinus" loCatId="relationship" qsTypeId="urn:microsoft.com/office/officeart/2005/8/quickstyle/3d4" qsCatId="3D" csTypeId="urn:microsoft.com/office/officeart/2005/8/colors/colorful3" csCatId="colorful" phldr="1"/>
      <dgm:spPr/>
      <dgm:t>
        <a:bodyPr/>
        <a:lstStyle/>
        <a:p>
          <a:endParaRPr lang="en-GB"/>
        </a:p>
      </dgm:t>
    </dgm:pt>
    <dgm:pt modelId="{1A83CCC3-2782-487C-A9F6-D712FFCF4F07}">
      <dgm:prSet phldrT="[Text]"/>
      <dgm:spPr/>
      <dgm:t>
        <a:bodyPr/>
        <a:lstStyle/>
        <a:p>
          <a:r>
            <a:rPr lang="en-GB" dirty="0">
              <a:sym typeface="Wingdings" panose="05000000000000000000" pitchFamily="2" charset="2"/>
            </a:rPr>
            <a:t> </a:t>
          </a:r>
          <a:r>
            <a:rPr lang="en-GB" dirty="0"/>
            <a:t> Distinct stages, clear stages</a:t>
          </a:r>
          <a:br>
            <a:rPr lang="en-GB" dirty="0"/>
          </a:br>
          <a:br>
            <a:rPr lang="en-GB" dirty="0"/>
          </a:br>
          <a:r>
            <a:rPr lang="en-GB" dirty="0">
              <a:sym typeface="Wingdings" panose="05000000000000000000" pitchFamily="2" charset="2"/>
            </a:rPr>
            <a:t> </a:t>
          </a:r>
          <a:r>
            <a:rPr lang="en-GB" dirty="0"/>
            <a:t> Agree / review each stage 	No need to revisit</a:t>
          </a:r>
          <a:br>
            <a:rPr lang="en-GB" dirty="0"/>
          </a:br>
          <a:br>
            <a:rPr lang="en-GB" dirty="0"/>
          </a:br>
          <a:r>
            <a:rPr lang="en-GB" dirty="0">
              <a:sym typeface="Wingdings" panose="05000000000000000000" pitchFamily="2" charset="2"/>
            </a:rPr>
            <a:t> </a:t>
          </a:r>
          <a:r>
            <a:rPr lang="en-GB" dirty="0"/>
            <a:t> Details designs and 	specifications</a:t>
          </a:r>
          <a:br>
            <a:rPr lang="en-GB" dirty="0"/>
          </a:br>
          <a:br>
            <a:rPr lang="en-GB" dirty="0"/>
          </a:br>
          <a:r>
            <a:rPr lang="en-GB" dirty="0">
              <a:sym typeface="Wingdings" panose="05000000000000000000" pitchFamily="2" charset="2"/>
            </a:rPr>
            <a:t> </a:t>
          </a:r>
          <a:r>
            <a:rPr lang="en-GB" dirty="0"/>
            <a:t> Controls cost and </a:t>
          </a:r>
          <a:br>
            <a:rPr lang="en-GB" dirty="0"/>
          </a:br>
          <a:r>
            <a:rPr lang="en-GB" dirty="0"/>
            <a:t>	scope creep</a:t>
          </a:r>
          <a:br>
            <a:rPr lang="en-GB" dirty="0"/>
          </a:br>
          <a:br>
            <a:rPr lang="en-GB" dirty="0"/>
          </a:br>
          <a:r>
            <a:rPr lang="en-GB" dirty="0">
              <a:sym typeface="Wingdings" panose="05000000000000000000" pitchFamily="2" charset="2"/>
            </a:rPr>
            <a:t></a:t>
          </a:r>
          <a:r>
            <a:rPr lang="en-GB" dirty="0"/>
            <a:t> Simple and intuitive</a:t>
          </a:r>
        </a:p>
      </dgm:t>
    </dgm:pt>
    <dgm:pt modelId="{01D74A4B-2E66-4C81-9C7E-B7DF800C76F7}" type="parTrans" cxnId="{8827C7EB-E3FE-4303-8CD8-B241AA39645C}">
      <dgm:prSet/>
      <dgm:spPr/>
      <dgm:t>
        <a:bodyPr/>
        <a:lstStyle/>
        <a:p>
          <a:endParaRPr lang="en-GB"/>
        </a:p>
      </dgm:t>
    </dgm:pt>
    <dgm:pt modelId="{07DBAC5E-F019-40B4-8B0A-43F67D386D2C}" type="sibTrans" cxnId="{8827C7EB-E3FE-4303-8CD8-B241AA39645C}">
      <dgm:prSet/>
      <dgm:spPr/>
      <dgm:t>
        <a:bodyPr/>
        <a:lstStyle/>
        <a:p>
          <a:endParaRPr lang="en-GB"/>
        </a:p>
      </dgm:t>
    </dgm:pt>
    <dgm:pt modelId="{E0597F0C-58A5-4F4C-9265-381FBE9288A7}">
      <dgm:prSet phldrT="[Text]"/>
      <dgm:spPr/>
      <dgm:t>
        <a:bodyPr/>
        <a:lstStyle/>
        <a:p>
          <a:r>
            <a:rPr lang="en-GB" dirty="0">
              <a:sym typeface="Wingdings" panose="05000000000000000000" pitchFamily="2" charset="2"/>
            </a:rPr>
            <a:t> </a:t>
          </a:r>
          <a:r>
            <a:rPr lang="en-GB" dirty="0"/>
            <a:t> Depends on each stage 	done properly</a:t>
          </a:r>
          <a:br>
            <a:rPr lang="en-GB" dirty="0"/>
          </a:br>
          <a:br>
            <a:rPr lang="en-GB" dirty="0"/>
          </a:br>
          <a:r>
            <a:rPr lang="en-GB" dirty="0">
              <a:sym typeface="Wingdings" panose="05000000000000000000" pitchFamily="2" charset="2"/>
            </a:rPr>
            <a:t> </a:t>
          </a:r>
          <a:r>
            <a:rPr lang="en-GB" dirty="0"/>
            <a:t> Long timescales for 	complex projects</a:t>
          </a:r>
          <a:br>
            <a:rPr lang="en-GB" dirty="0"/>
          </a:br>
          <a:br>
            <a:rPr lang="en-GB" dirty="0"/>
          </a:br>
          <a:r>
            <a:rPr lang="en-GB" dirty="0">
              <a:sym typeface="Wingdings" panose="05000000000000000000" pitchFamily="2" charset="2"/>
            </a:rPr>
            <a:t> </a:t>
          </a:r>
          <a:r>
            <a:rPr lang="en-GB" dirty="0"/>
            <a:t> Changing requirements</a:t>
          </a:r>
          <a:br>
            <a:rPr lang="en-GB" dirty="0"/>
          </a:br>
          <a:br>
            <a:rPr lang="en-GB" dirty="0"/>
          </a:br>
          <a:r>
            <a:rPr lang="en-GB" dirty="0">
              <a:sym typeface="Wingdings" panose="05000000000000000000" pitchFamily="2" charset="2"/>
            </a:rPr>
            <a:t> </a:t>
          </a:r>
          <a:r>
            <a:rPr lang="en-GB" dirty="0"/>
            <a:t> No value until 	implemented</a:t>
          </a:r>
          <a:br>
            <a:rPr lang="en-GB" dirty="0"/>
          </a:br>
          <a:br>
            <a:rPr lang="en-GB" dirty="0"/>
          </a:br>
          <a:r>
            <a:rPr lang="en-GB" dirty="0">
              <a:sym typeface="Wingdings" panose="05000000000000000000" pitchFamily="2" charset="2"/>
            </a:rPr>
            <a:t> </a:t>
          </a:r>
          <a:r>
            <a:rPr lang="en-GB" dirty="0"/>
            <a:t> If stopped early, no value</a:t>
          </a:r>
        </a:p>
      </dgm:t>
    </dgm:pt>
    <dgm:pt modelId="{1C900FC9-AC71-474A-B90D-080766CD7D20}" type="parTrans" cxnId="{DAA944A8-A23A-4C65-88F8-A76E64A5B5DB}">
      <dgm:prSet/>
      <dgm:spPr/>
      <dgm:t>
        <a:bodyPr/>
        <a:lstStyle/>
        <a:p>
          <a:endParaRPr lang="en-GB"/>
        </a:p>
      </dgm:t>
    </dgm:pt>
    <dgm:pt modelId="{26CB88DE-5344-4003-8F61-E03A2D1F0726}" type="sibTrans" cxnId="{DAA944A8-A23A-4C65-88F8-A76E64A5B5DB}">
      <dgm:prSet/>
      <dgm:spPr/>
      <dgm:t>
        <a:bodyPr/>
        <a:lstStyle/>
        <a:p>
          <a:endParaRPr lang="en-GB"/>
        </a:p>
      </dgm:t>
    </dgm:pt>
    <dgm:pt modelId="{420F427E-8F62-4B6B-9FE2-89A189E38346}" type="pres">
      <dgm:prSet presAssocID="{643E2B2E-48A3-4CFD-921D-116B9AE13059}" presName="Name0" presStyleCnt="0">
        <dgm:presLayoutVars>
          <dgm:chMax val="2"/>
          <dgm:chPref val="2"/>
          <dgm:dir/>
          <dgm:animOne/>
          <dgm:resizeHandles val="exact"/>
        </dgm:presLayoutVars>
      </dgm:prSet>
      <dgm:spPr/>
    </dgm:pt>
    <dgm:pt modelId="{FD4F2265-82E8-4A60-BE5A-2C1C4A35755E}" type="pres">
      <dgm:prSet presAssocID="{643E2B2E-48A3-4CFD-921D-116B9AE13059}" presName="Background" presStyleLbl="bgImgPlace1" presStyleIdx="0" presStyleCnt="1"/>
      <dgm:spPr/>
    </dgm:pt>
    <dgm:pt modelId="{BBE4600A-D555-4730-80A5-365FD1C7A5DC}" type="pres">
      <dgm:prSet presAssocID="{643E2B2E-48A3-4CFD-921D-116B9AE13059}" presName="ParentText1" presStyleLbl="revTx" presStyleIdx="0" presStyleCnt="2">
        <dgm:presLayoutVars>
          <dgm:chMax val="0"/>
          <dgm:chPref val="0"/>
          <dgm:bulletEnabled val="1"/>
        </dgm:presLayoutVars>
      </dgm:prSet>
      <dgm:spPr/>
    </dgm:pt>
    <dgm:pt modelId="{F640D1F9-4FA5-48D3-B8CE-506D7300291F}" type="pres">
      <dgm:prSet presAssocID="{643E2B2E-48A3-4CFD-921D-116B9AE13059}" presName="ParentText2" presStyleLbl="revTx" presStyleIdx="1" presStyleCnt="2">
        <dgm:presLayoutVars>
          <dgm:chMax val="0"/>
          <dgm:chPref val="0"/>
          <dgm:bulletEnabled val="1"/>
        </dgm:presLayoutVars>
      </dgm:prSet>
      <dgm:spPr/>
    </dgm:pt>
    <dgm:pt modelId="{FD7427EE-9A5E-46BF-84A9-0B2CEBE06D6E}" type="pres">
      <dgm:prSet presAssocID="{643E2B2E-48A3-4CFD-921D-116B9AE13059}" presName="Plus" presStyleLbl="alignNode1" presStyleIdx="0" presStyleCnt="2" custScaleX="45049" custScaleY="42312"/>
      <dgm:spPr/>
    </dgm:pt>
    <dgm:pt modelId="{8CE50869-3430-42AB-8956-79E6A51C7773}" type="pres">
      <dgm:prSet presAssocID="{643E2B2E-48A3-4CFD-921D-116B9AE13059}" presName="Minus" presStyleLbl="alignNode1" presStyleIdx="1" presStyleCnt="2" custScaleX="51115" custScaleY="42296"/>
      <dgm:spPr/>
    </dgm:pt>
    <dgm:pt modelId="{CBAF0FFD-5932-411E-8D6A-16A93F357B02}" type="pres">
      <dgm:prSet presAssocID="{643E2B2E-48A3-4CFD-921D-116B9AE13059}" presName="Divider" presStyleLbl="parChTrans1D1" presStyleIdx="0" presStyleCnt="1"/>
      <dgm:spPr/>
    </dgm:pt>
  </dgm:ptLst>
  <dgm:cxnLst>
    <dgm:cxn modelId="{E3CF4E36-48EF-43D1-9F0A-6A833F301AE6}" type="presOf" srcId="{1A83CCC3-2782-487C-A9F6-D712FFCF4F07}" destId="{BBE4600A-D555-4730-80A5-365FD1C7A5DC}" srcOrd="0" destOrd="0" presId="urn:microsoft.com/office/officeart/2009/3/layout/PlusandMinus"/>
    <dgm:cxn modelId="{FEB1675C-33AD-470F-9F2F-09FEA5F63941}" type="presOf" srcId="{E0597F0C-58A5-4F4C-9265-381FBE9288A7}" destId="{F640D1F9-4FA5-48D3-B8CE-506D7300291F}" srcOrd="0" destOrd="0" presId="urn:microsoft.com/office/officeart/2009/3/layout/PlusandMinus"/>
    <dgm:cxn modelId="{DAA944A8-A23A-4C65-88F8-A76E64A5B5DB}" srcId="{643E2B2E-48A3-4CFD-921D-116B9AE13059}" destId="{E0597F0C-58A5-4F4C-9265-381FBE9288A7}" srcOrd="1" destOrd="0" parTransId="{1C900FC9-AC71-474A-B90D-080766CD7D20}" sibTransId="{26CB88DE-5344-4003-8F61-E03A2D1F0726}"/>
    <dgm:cxn modelId="{782723E3-EBFA-4893-8DDE-F992CFDA5DE5}" type="presOf" srcId="{643E2B2E-48A3-4CFD-921D-116B9AE13059}" destId="{420F427E-8F62-4B6B-9FE2-89A189E38346}" srcOrd="0" destOrd="0" presId="urn:microsoft.com/office/officeart/2009/3/layout/PlusandMinus"/>
    <dgm:cxn modelId="{8827C7EB-E3FE-4303-8CD8-B241AA39645C}" srcId="{643E2B2E-48A3-4CFD-921D-116B9AE13059}" destId="{1A83CCC3-2782-487C-A9F6-D712FFCF4F07}" srcOrd="0" destOrd="0" parTransId="{01D74A4B-2E66-4C81-9C7E-B7DF800C76F7}" sibTransId="{07DBAC5E-F019-40B4-8B0A-43F67D386D2C}"/>
    <dgm:cxn modelId="{E4062A0E-C510-4ECD-ACC9-85B2B9CB752E}" type="presParOf" srcId="{420F427E-8F62-4B6B-9FE2-89A189E38346}" destId="{FD4F2265-82E8-4A60-BE5A-2C1C4A35755E}" srcOrd="0" destOrd="0" presId="urn:microsoft.com/office/officeart/2009/3/layout/PlusandMinus"/>
    <dgm:cxn modelId="{2D31EA66-95BB-420D-8BAD-E1678B61302E}" type="presParOf" srcId="{420F427E-8F62-4B6B-9FE2-89A189E38346}" destId="{BBE4600A-D555-4730-80A5-365FD1C7A5DC}" srcOrd="1" destOrd="0" presId="urn:microsoft.com/office/officeart/2009/3/layout/PlusandMinus"/>
    <dgm:cxn modelId="{9FDCDB6E-8F38-4F35-AEBF-0B8D0D3A2986}" type="presParOf" srcId="{420F427E-8F62-4B6B-9FE2-89A189E38346}" destId="{F640D1F9-4FA5-48D3-B8CE-506D7300291F}" srcOrd="2" destOrd="0" presId="urn:microsoft.com/office/officeart/2009/3/layout/PlusandMinus"/>
    <dgm:cxn modelId="{9DF35492-97EB-4E39-9A3A-16CA55F3D30D}" type="presParOf" srcId="{420F427E-8F62-4B6B-9FE2-89A189E38346}" destId="{FD7427EE-9A5E-46BF-84A9-0B2CEBE06D6E}" srcOrd="3" destOrd="0" presId="urn:microsoft.com/office/officeart/2009/3/layout/PlusandMinus"/>
    <dgm:cxn modelId="{9519AAC2-58EB-496C-B449-708803C94747}" type="presParOf" srcId="{420F427E-8F62-4B6B-9FE2-89A189E38346}" destId="{8CE50869-3430-42AB-8956-79E6A51C7773}" srcOrd="4" destOrd="0" presId="urn:microsoft.com/office/officeart/2009/3/layout/PlusandMinus"/>
    <dgm:cxn modelId="{342D53A6-97BC-4C3E-BBA0-77E76287AA58}" type="presParOf" srcId="{420F427E-8F62-4B6B-9FE2-89A189E38346}" destId="{CBAF0FFD-5932-411E-8D6A-16A93F357B02}" srcOrd="5" destOrd="0" presId="urn:microsoft.com/office/officeart/2009/3/layout/PlusandMinu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43E2B2E-48A3-4CFD-921D-116B9AE13059}" type="doc">
      <dgm:prSet loTypeId="urn:microsoft.com/office/officeart/2009/3/layout/PlusandMinus" loCatId="relationship" qsTypeId="urn:microsoft.com/office/officeart/2005/8/quickstyle/3d4" qsCatId="3D" csTypeId="urn:microsoft.com/office/officeart/2005/8/colors/colorful3" csCatId="colorful" phldr="1"/>
      <dgm:spPr/>
      <dgm:t>
        <a:bodyPr/>
        <a:lstStyle/>
        <a:p>
          <a:endParaRPr lang="en-GB"/>
        </a:p>
      </dgm:t>
    </dgm:pt>
    <dgm:pt modelId="{1A83CCC3-2782-487C-A9F6-D712FFCF4F07}">
      <dgm:prSet phldrT="[Text]"/>
      <dgm:spPr/>
      <dgm:t>
        <a:bodyPr/>
        <a:lstStyle/>
        <a:p>
          <a:r>
            <a:rPr lang="en-GB" dirty="0">
              <a:sym typeface="Wingdings" panose="05000000000000000000" pitchFamily="2" charset="2"/>
            </a:rPr>
            <a:t>  </a:t>
          </a:r>
          <a:r>
            <a:rPr lang="en-GB" dirty="0"/>
            <a:t>Safe and signed off</a:t>
          </a:r>
        </a:p>
        <a:p>
          <a:r>
            <a:rPr lang="en-GB" dirty="0">
              <a:sym typeface="Wingdings" panose="05000000000000000000" pitchFamily="2" charset="2"/>
            </a:rPr>
            <a:t>  </a:t>
          </a:r>
          <a:r>
            <a:rPr lang="en-GB" dirty="0"/>
            <a:t>Thorough</a:t>
          </a:r>
        </a:p>
        <a:p>
          <a:r>
            <a:rPr lang="en-GB" dirty="0">
              <a:sym typeface="Wingdings" panose="05000000000000000000" pitchFamily="2" charset="2"/>
            </a:rPr>
            <a:t>  </a:t>
          </a:r>
          <a:r>
            <a:rPr lang="en-GB" dirty="0"/>
            <a:t>Quality built in</a:t>
          </a:r>
        </a:p>
        <a:p>
          <a:r>
            <a:rPr lang="en-GB" dirty="0">
              <a:sym typeface="Wingdings" panose="05000000000000000000" pitchFamily="2" charset="2"/>
            </a:rPr>
            <a:t>  </a:t>
          </a:r>
          <a:r>
            <a:rPr lang="en-GB" dirty="0"/>
            <a:t>Easy to manage</a:t>
          </a:r>
        </a:p>
        <a:p>
          <a:r>
            <a:rPr lang="en-GB" dirty="0">
              <a:sym typeface="Wingdings" panose="05000000000000000000" pitchFamily="2" charset="2"/>
            </a:rPr>
            <a:t>  </a:t>
          </a:r>
          <a:r>
            <a:rPr lang="en-GB" dirty="0"/>
            <a:t>Design based on all 	requirements</a:t>
          </a:r>
        </a:p>
        <a:p>
          <a:r>
            <a:rPr lang="en-GB" dirty="0">
              <a:sym typeface="Wingdings" panose="05000000000000000000" pitchFamily="2" charset="2"/>
            </a:rPr>
            <a:t>  </a:t>
          </a:r>
          <a:r>
            <a:rPr lang="en-GB" dirty="0"/>
            <a:t>Good documentation</a:t>
          </a:r>
        </a:p>
      </dgm:t>
    </dgm:pt>
    <dgm:pt modelId="{01D74A4B-2E66-4C81-9C7E-B7DF800C76F7}" type="parTrans" cxnId="{8827C7EB-E3FE-4303-8CD8-B241AA39645C}">
      <dgm:prSet/>
      <dgm:spPr/>
      <dgm:t>
        <a:bodyPr/>
        <a:lstStyle/>
        <a:p>
          <a:endParaRPr lang="en-GB"/>
        </a:p>
      </dgm:t>
    </dgm:pt>
    <dgm:pt modelId="{07DBAC5E-F019-40B4-8B0A-43F67D386D2C}" type="sibTrans" cxnId="{8827C7EB-E3FE-4303-8CD8-B241AA39645C}">
      <dgm:prSet/>
      <dgm:spPr/>
      <dgm:t>
        <a:bodyPr/>
        <a:lstStyle/>
        <a:p>
          <a:endParaRPr lang="en-GB"/>
        </a:p>
      </dgm:t>
    </dgm:pt>
    <dgm:pt modelId="{E0597F0C-58A5-4F4C-9265-381FBE9288A7}">
      <dgm:prSet phldrT="[Text]"/>
      <dgm:spPr/>
      <dgm:t>
        <a:bodyPr/>
        <a:lstStyle/>
        <a:p>
          <a:r>
            <a:rPr lang="en-GB" dirty="0">
              <a:sym typeface="Wingdings" panose="05000000000000000000" pitchFamily="2" charset="2"/>
            </a:rPr>
            <a:t>  </a:t>
          </a:r>
          <a:r>
            <a:rPr lang="en-GB" dirty="0"/>
            <a:t>Difficult to go back</a:t>
          </a:r>
        </a:p>
        <a:p>
          <a:r>
            <a:rPr lang="en-GB" dirty="0">
              <a:sym typeface="Wingdings" panose="05000000000000000000" pitchFamily="2" charset="2"/>
            </a:rPr>
            <a:t>  </a:t>
          </a:r>
          <a:r>
            <a:rPr lang="en-GB" dirty="0"/>
            <a:t>Lack of user 	involvement</a:t>
          </a:r>
        </a:p>
        <a:p>
          <a:r>
            <a:rPr lang="en-GB" dirty="0">
              <a:sym typeface="Wingdings" panose="05000000000000000000" pitchFamily="2" charset="2"/>
            </a:rPr>
            <a:t>  </a:t>
          </a:r>
          <a:r>
            <a:rPr lang="en-GB" dirty="0"/>
            <a:t>No early vision of system</a:t>
          </a:r>
        </a:p>
        <a:p>
          <a:r>
            <a:rPr lang="en-GB" dirty="0">
              <a:sym typeface="Wingdings" panose="05000000000000000000" pitchFamily="2" charset="2"/>
            </a:rPr>
            <a:t>  </a:t>
          </a:r>
          <a:r>
            <a:rPr lang="en-GB" dirty="0"/>
            <a:t>Difficult to add missing 	requirements</a:t>
          </a:r>
        </a:p>
        <a:p>
          <a:r>
            <a:rPr lang="en-GB" dirty="0">
              <a:sym typeface="Wingdings" panose="05000000000000000000" pitchFamily="2" charset="2"/>
            </a:rPr>
            <a:t>  </a:t>
          </a:r>
          <a:r>
            <a:rPr lang="en-GB" dirty="0"/>
            <a:t>Business change has 	high impact</a:t>
          </a:r>
        </a:p>
        <a:p>
          <a:r>
            <a:rPr lang="en-GB" dirty="0">
              <a:sym typeface="Wingdings" panose="05000000000000000000" pitchFamily="2" charset="2"/>
            </a:rPr>
            <a:t>  </a:t>
          </a:r>
          <a:r>
            <a:rPr lang="en-GB" dirty="0"/>
            <a:t>Fosters silo mentality</a:t>
          </a:r>
        </a:p>
      </dgm:t>
    </dgm:pt>
    <dgm:pt modelId="{1C900FC9-AC71-474A-B90D-080766CD7D20}" type="parTrans" cxnId="{DAA944A8-A23A-4C65-88F8-A76E64A5B5DB}">
      <dgm:prSet/>
      <dgm:spPr/>
      <dgm:t>
        <a:bodyPr/>
        <a:lstStyle/>
        <a:p>
          <a:endParaRPr lang="en-GB"/>
        </a:p>
      </dgm:t>
    </dgm:pt>
    <dgm:pt modelId="{26CB88DE-5344-4003-8F61-E03A2D1F0726}" type="sibTrans" cxnId="{DAA944A8-A23A-4C65-88F8-A76E64A5B5DB}">
      <dgm:prSet/>
      <dgm:spPr/>
      <dgm:t>
        <a:bodyPr/>
        <a:lstStyle/>
        <a:p>
          <a:endParaRPr lang="en-GB"/>
        </a:p>
      </dgm:t>
    </dgm:pt>
    <dgm:pt modelId="{420F427E-8F62-4B6B-9FE2-89A189E38346}" type="pres">
      <dgm:prSet presAssocID="{643E2B2E-48A3-4CFD-921D-116B9AE13059}" presName="Name0" presStyleCnt="0">
        <dgm:presLayoutVars>
          <dgm:chMax val="2"/>
          <dgm:chPref val="2"/>
          <dgm:dir/>
          <dgm:animOne/>
          <dgm:resizeHandles val="exact"/>
        </dgm:presLayoutVars>
      </dgm:prSet>
      <dgm:spPr/>
    </dgm:pt>
    <dgm:pt modelId="{FD4F2265-82E8-4A60-BE5A-2C1C4A35755E}" type="pres">
      <dgm:prSet presAssocID="{643E2B2E-48A3-4CFD-921D-116B9AE13059}" presName="Background" presStyleLbl="bgImgPlace1" presStyleIdx="0" presStyleCnt="1" custScaleX="110526" custLinFactNeighborX="-134" custLinFactNeighborY="1811"/>
      <dgm:spPr/>
    </dgm:pt>
    <dgm:pt modelId="{BBE4600A-D555-4730-80A5-365FD1C7A5DC}" type="pres">
      <dgm:prSet presAssocID="{643E2B2E-48A3-4CFD-921D-116B9AE13059}" presName="ParentText1" presStyleLbl="revTx" presStyleIdx="0" presStyleCnt="2">
        <dgm:presLayoutVars>
          <dgm:chMax val="0"/>
          <dgm:chPref val="0"/>
          <dgm:bulletEnabled val="1"/>
        </dgm:presLayoutVars>
      </dgm:prSet>
      <dgm:spPr/>
    </dgm:pt>
    <dgm:pt modelId="{F640D1F9-4FA5-48D3-B8CE-506D7300291F}" type="pres">
      <dgm:prSet presAssocID="{643E2B2E-48A3-4CFD-921D-116B9AE13059}" presName="ParentText2" presStyleLbl="revTx" presStyleIdx="1" presStyleCnt="2">
        <dgm:presLayoutVars>
          <dgm:chMax val="0"/>
          <dgm:chPref val="0"/>
          <dgm:bulletEnabled val="1"/>
        </dgm:presLayoutVars>
      </dgm:prSet>
      <dgm:spPr/>
    </dgm:pt>
    <dgm:pt modelId="{FD7427EE-9A5E-46BF-84A9-0B2CEBE06D6E}" type="pres">
      <dgm:prSet presAssocID="{643E2B2E-48A3-4CFD-921D-116B9AE13059}" presName="Plus" presStyleLbl="alignNode1" presStyleIdx="0" presStyleCnt="2" custScaleX="56494" custScaleY="63822"/>
      <dgm:spPr/>
    </dgm:pt>
    <dgm:pt modelId="{8CE50869-3430-42AB-8956-79E6A51C7773}" type="pres">
      <dgm:prSet presAssocID="{643E2B2E-48A3-4CFD-921D-116B9AE13059}" presName="Minus" presStyleLbl="alignNode1" presStyleIdx="1" presStyleCnt="2" custScaleX="65332" custScaleY="65635"/>
      <dgm:spPr/>
    </dgm:pt>
    <dgm:pt modelId="{CBAF0FFD-5932-411E-8D6A-16A93F357B02}" type="pres">
      <dgm:prSet presAssocID="{643E2B2E-48A3-4CFD-921D-116B9AE13059}" presName="Divider" presStyleLbl="parChTrans1D1" presStyleIdx="0" presStyleCnt="1"/>
      <dgm:spPr/>
    </dgm:pt>
  </dgm:ptLst>
  <dgm:cxnLst>
    <dgm:cxn modelId="{E3CF4E36-48EF-43D1-9F0A-6A833F301AE6}" type="presOf" srcId="{1A83CCC3-2782-487C-A9F6-D712FFCF4F07}" destId="{BBE4600A-D555-4730-80A5-365FD1C7A5DC}" srcOrd="0" destOrd="0" presId="urn:microsoft.com/office/officeart/2009/3/layout/PlusandMinus"/>
    <dgm:cxn modelId="{FEB1675C-33AD-470F-9F2F-09FEA5F63941}" type="presOf" srcId="{E0597F0C-58A5-4F4C-9265-381FBE9288A7}" destId="{F640D1F9-4FA5-48D3-B8CE-506D7300291F}" srcOrd="0" destOrd="0" presId="urn:microsoft.com/office/officeart/2009/3/layout/PlusandMinus"/>
    <dgm:cxn modelId="{DAA944A8-A23A-4C65-88F8-A76E64A5B5DB}" srcId="{643E2B2E-48A3-4CFD-921D-116B9AE13059}" destId="{E0597F0C-58A5-4F4C-9265-381FBE9288A7}" srcOrd="1" destOrd="0" parTransId="{1C900FC9-AC71-474A-B90D-080766CD7D20}" sibTransId="{26CB88DE-5344-4003-8F61-E03A2D1F0726}"/>
    <dgm:cxn modelId="{782723E3-EBFA-4893-8DDE-F992CFDA5DE5}" type="presOf" srcId="{643E2B2E-48A3-4CFD-921D-116B9AE13059}" destId="{420F427E-8F62-4B6B-9FE2-89A189E38346}" srcOrd="0" destOrd="0" presId="urn:microsoft.com/office/officeart/2009/3/layout/PlusandMinus"/>
    <dgm:cxn modelId="{8827C7EB-E3FE-4303-8CD8-B241AA39645C}" srcId="{643E2B2E-48A3-4CFD-921D-116B9AE13059}" destId="{1A83CCC3-2782-487C-A9F6-D712FFCF4F07}" srcOrd="0" destOrd="0" parTransId="{01D74A4B-2E66-4C81-9C7E-B7DF800C76F7}" sibTransId="{07DBAC5E-F019-40B4-8B0A-43F67D386D2C}"/>
    <dgm:cxn modelId="{E4062A0E-C510-4ECD-ACC9-85B2B9CB752E}" type="presParOf" srcId="{420F427E-8F62-4B6B-9FE2-89A189E38346}" destId="{FD4F2265-82E8-4A60-BE5A-2C1C4A35755E}" srcOrd="0" destOrd="0" presId="urn:microsoft.com/office/officeart/2009/3/layout/PlusandMinus"/>
    <dgm:cxn modelId="{2D31EA66-95BB-420D-8BAD-E1678B61302E}" type="presParOf" srcId="{420F427E-8F62-4B6B-9FE2-89A189E38346}" destId="{BBE4600A-D555-4730-80A5-365FD1C7A5DC}" srcOrd="1" destOrd="0" presId="urn:microsoft.com/office/officeart/2009/3/layout/PlusandMinus"/>
    <dgm:cxn modelId="{9FDCDB6E-8F38-4F35-AEBF-0B8D0D3A2986}" type="presParOf" srcId="{420F427E-8F62-4B6B-9FE2-89A189E38346}" destId="{F640D1F9-4FA5-48D3-B8CE-506D7300291F}" srcOrd="2" destOrd="0" presId="urn:microsoft.com/office/officeart/2009/3/layout/PlusandMinus"/>
    <dgm:cxn modelId="{9DF35492-97EB-4E39-9A3A-16CA55F3D30D}" type="presParOf" srcId="{420F427E-8F62-4B6B-9FE2-89A189E38346}" destId="{FD7427EE-9A5E-46BF-84A9-0B2CEBE06D6E}" srcOrd="3" destOrd="0" presId="urn:microsoft.com/office/officeart/2009/3/layout/PlusandMinus"/>
    <dgm:cxn modelId="{9519AAC2-58EB-496C-B449-708803C94747}" type="presParOf" srcId="{420F427E-8F62-4B6B-9FE2-89A189E38346}" destId="{8CE50869-3430-42AB-8956-79E6A51C7773}" srcOrd="4" destOrd="0" presId="urn:microsoft.com/office/officeart/2009/3/layout/PlusandMinus"/>
    <dgm:cxn modelId="{342D53A6-97BC-4C3E-BBA0-77E76287AA58}" type="presParOf" srcId="{420F427E-8F62-4B6B-9FE2-89A189E38346}" destId="{CBAF0FFD-5932-411E-8D6A-16A93F357B02}" srcOrd="5" destOrd="0" presId="urn:microsoft.com/office/officeart/2009/3/layout/PlusandMinu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43E2B2E-48A3-4CFD-921D-116B9AE13059}" type="doc">
      <dgm:prSet loTypeId="urn:microsoft.com/office/officeart/2009/3/layout/PlusandMinus" loCatId="relationship" qsTypeId="urn:microsoft.com/office/officeart/2005/8/quickstyle/3d4" qsCatId="3D" csTypeId="urn:microsoft.com/office/officeart/2005/8/colors/colorful3" csCatId="colorful" phldr="1"/>
      <dgm:spPr/>
      <dgm:t>
        <a:bodyPr/>
        <a:lstStyle/>
        <a:p>
          <a:endParaRPr lang="en-GB"/>
        </a:p>
      </dgm:t>
    </dgm:pt>
    <dgm:pt modelId="{1A83CCC3-2782-487C-A9F6-D712FFCF4F07}">
      <dgm:prSet phldrT="[Text]"/>
      <dgm:spPr/>
      <dgm:t>
        <a:bodyPr/>
        <a:lstStyle/>
        <a:p>
          <a:r>
            <a:rPr lang="en-GB" dirty="0">
              <a:sym typeface="Wingdings" panose="05000000000000000000" pitchFamily="2" charset="2"/>
            </a:rPr>
            <a:t>  </a:t>
          </a:r>
          <a:r>
            <a:rPr lang="en-GB" dirty="0"/>
            <a:t>Early delivery of software.</a:t>
          </a:r>
        </a:p>
        <a:p>
          <a:r>
            <a:rPr lang="en-GB" dirty="0">
              <a:sym typeface="Wingdings" panose="05000000000000000000" pitchFamily="2" charset="2"/>
            </a:rPr>
            <a:t>  </a:t>
          </a:r>
          <a:r>
            <a:rPr lang="en-GB" dirty="0"/>
            <a:t>Minimises project risk.</a:t>
          </a:r>
        </a:p>
        <a:p>
          <a:r>
            <a:rPr lang="en-GB" dirty="0">
              <a:sym typeface="Wingdings" panose="05000000000000000000" pitchFamily="2" charset="2"/>
            </a:rPr>
            <a:t>  </a:t>
          </a:r>
          <a:r>
            <a:rPr lang="en-GB" dirty="0"/>
            <a:t>Handles complex 	requirements.</a:t>
          </a:r>
        </a:p>
        <a:p>
          <a:r>
            <a:rPr lang="en-GB" dirty="0">
              <a:sym typeface="Wingdings" panose="05000000000000000000" pitchFamily="2" charset="2"/>
            </a:rPr>
            <a:t>  </a:t>
          </a:r>
          <a:r>
            <a:rPr lang="en-GB" dirty="0"/>
            <a:t>Increased collaboration 	with business / users.</a:t>
          </a:r>
        </a:p>
        <a:p>
          <a:r>
            <a:rPr lang="en-GB" dirty="0">
              <a:sym typeface="Wingdings" panose="05000000000000000000" pitchFamily="2" charset="2"/>
            </a:rPr>
            <a:t>  </a:t>
          </a:r>
          <a:r>
            <a:rPr lang="en-GB" dirty="0"/>
            <a:t>Do just enough – </a:t>
          </a:r>
          <a:br>
            <a:rPr lang="en-GB" dirty="0"/>
          </a:br>
          <a:r>
            <a:rPr lang="en-GB" dirty="0"/>
            <a:t>	refine later.</a:t>
          </a:r>
        </a:p>
      </dgm:t>
    </dgm:pt>
    <dgm:pt modelId="{01D74A4B-2E66-4C81-9C7E-B7DF800C76F7}" type="parTrans" cxnId="{8827C7EB-E3FE-4303-8CD8-B241AA39645C}">
      <dgm:prSet/>
      <dgm:spPr/>
      <dgm:t>
        <a:bodyPr/>
        <a:lstStyle/>
        <a:p>
          <a:endParaRPr lang="en-GB"/>
        </a:p>
      </dgm:t>
    </dgm:pt>
    <dgm:pt modelId="{07DBAC5E-F019-40B4-8B0A-43F67D386D2C}" type="sibTrans" cxnId="{8827C7EB-E3FE-4303-8CD8-B241AA39645C}">
      <dgm:prSet/>
      <dgm:spPr/>
      <dgm:t>
        <a:bodyPr/>
        <a:lstStyle/>
        <a:p>
          <a:endParaRPr lang="en-GB"/>
        </a:p>
      </dgm:t>
    </dgm:pt>
    <dgm:pt modelId="{E0597F0C-58A5-4F4C-9265-381FBE9288A7}">
      <dgm:prSet phldrT="[Text]"/>
      <dgm:spPr/>
      <dgm:t>
        <a:bodyPr/>
        <a:lstStyle/>
        <a:p>
          <a:r>
            <a:rPr lang="en-GB" dirty="0">
              <a:sym typeface="Wingdings" panose="05000000000000000000" pitchFamily="2" charset="2"/>
            </a:rPr>
            <a:t>  </a:t>
          </a:r>
          <a:r>
            <a:rPr lang="en-GB" dirty="0"/>
            <a:t>Hard to manage project 	due to multiple 	teams, iterations and 	complex products</a:t>
          </a:r>
        </a:p>
        <a:p>
          <a:r>
            <a:rPr lang="en-GB" dirty="0">
              <a:sym typeface="Wingdings" panose="05000000000000000000" pitchFamily="2" charset="2"/>
            </a:rPr>
            <a:t>  </a:t>
          </a:r>
          <a:r>
            <a:rPr lang="en-GB" dirty="0"/>
            <a:t>Danger of scope creep</a:t>
          </a:r>
        </a:p>
        <a:p>
          <a:r>
            <a:rPr lang="en-GB" dirty="0">
              <a:sym typeface="Wingdings" panose="05000000000000000000" pitchFamily="2" charset="2"/>
            </a:rPr>
            <a:t>  </a:t>
          </a:r>
          <a:r>
            <a:rPr lang="en-GB" dirty="0"/>
            <a:t>Costs higher due to extra 	integration &amp; testing</a:t>
          </a:r>
        </a:p>
        <a:p>
          <a:r>
            <a:rPr lang="en-GB" dirty="0">
              <a:sym typeface="Wingdings" panose="05000000000000000000" pitchFamily="2" charset="2"/>
            </a:rPr>
            <a:t>  </a:t>
          </a:r>
          <a:r>
            <a:rPr lang="en-GB" dirty="0"/>
            <a:t>Danger of over promising 	early functionality</a:t>
          </a:r>
        </a:p>
      </dgm:t>
    </dgm:pt>
    <dgm:pt modelId="{1C900FC9-AC71-474A-B90D-080766CD7D20}" type="parTrans" cxnId="{DAA944A8-A23A-4C65-88F8-A76E64A5B5DB}">
      <dgm:prSet/>
      <dgm:spPr/>
      <dgm:t>
        <a:bodyPr/>
        <a:lstStyle/>
        <a:p>
          <a:endParaRPr lang="en-GB"/>
        </a:p>
      </dgm:t>
    </dgm:pt>
    <dgm:pt modelId="{26CB88DE-5344-4003-8F61-E03A2D1F0726}" type="sibTrans" cxnId="{DAA944A8-A23A-4C65-88F8-A76E64A5B5DB}">
      <dgm:prSet/>
      <dgm:spPr/>
      <dgm:t>
        <a:bodyPr/>
        <a:lstStyle/>
        <a:p>
          <a:endParaRPr lang="en-GB"/>
        </a:p>
      </dgm:t>
    </dgm:pt>
    <dgm:pt modelId="{420F427E-8F62-4B6B-9FE2-89A189E38346}" type="pres">
      <dgm:prSet presAssocID="{643E2B2E-48A3-4CFD-921D-116B9AE13059}" presName="Name0" presStyleCnt="0">
        <dgm:presLayoutVars>
          <dgm:chMax val="2"/>
          <dgm:chPref val="2"/>
          <dgm:dir/>
          <dgm:animOne/>
          <dgm:resizeHandles val="exact"/>
        </dgm:presLayoutVars>
      </dgm:prSet>
      <dgm:spPr/>
    </dgm:pt>
    <dgm:pt modelId="{FD4F2265-82E8-4A60-BE5A-2C1C4A35755E}" type="pres">
      <dgm:prSet presAssocID="{643E2B2E-48A3-4CFD-921D-116B9AE13059}" presName="Background" presStyleLbl="bgImgPlace1" presStyleIdx="0" presStyleCnt="1"/>
      <dgm:spPr/>
    </dgm:pt>
    <dgm:pt modelId="{BBE4600A-D555-4730-80A5-365FD1C7A5DC}" type="pres">
      <dgm:prSet presAssocID="{643E2B2E-48A3-4CFD-921D-116B9AE13059}" presName="ParentText1" presStyleLbl="revTx" presStyleIdx="0" presStyleCnt="2">
        <dgm:presLayoutVars>
          <dgm:chMax val="0"/>
          <dgm:chPref val="0"/>
          <dgm:bulletEnabled val="1"/>
        </dgm:presLayoutVars>
      </dgm:prSet>
      <dgm:spPr/>
    </dgm:pt>
    <dgm:pt modelId="{F640D1F9-4FA5-48D3-B8CE-506D7300291F}" type="pres">
      <dgm:prSet presAssocID="{643E2B2E-48A3-4CFD-921D-116B9AE13059}" presName="ParentText2" presStyleLbl="revTx" presStyleIdx="1" presStyleCnt="2">
        <dgm:presLayoutVars>
          <dgm:chMax val="0"/>
          <dgm:chPref val="0"/>
          <dgm:bulletEnabled val="1"/>
        </dgm:presLayoutVars>
      </dgm:prSet>
      <dgm:spPr/>
    </dgm:pt>
    <dgm:pt modelId="{FD7427EE-9A5E-46BF-84A9-0B2CEBE06D6E}" type="pres">
      <dgm:prSet presAssocID="{643E2B2E-48A3-4CFD-921D-116B9AE13059}" presName="Plus" presStyleLbl="alignNode1" presStyleIdx="0" presStyleCnt="2" custScaleX="50262" custScaleY="50253"/>
      <dgm:spPr/>
    </dgm:pt>
    <dgm:pt modelId="{8CE50869-3430-42AB-8956-79E6A51C7773}" type="pres">
      <dgm:prSet presAssocID="{643E2B2E-48A3-4CFD-921D-116B9AE13059}" presName="Minus" presStyleLbl="alignNode1" presStyleIdx="1" presStyleCnt="2" custScaleX="59840" custScaleY="62226"/>
      <dgm:spPr/>
    </dgm:pt>
    <dgm:pt modelId="{CBAF0FFD-5932-411E-8D6A-16A93F357B02}" type="pres">
      <dgm:prSet presAssocID="{643E2B2E-48A3-4CFD-921D-116B9AE13059}" presName="Divider" presStyleLbl="parChTrans1D1" presStyleIdx="0" presStyleCnt="1"/>
      <dgm:spPr/>
    </dgm:pt>
  </dgm:ptLst>
  <dgm:cxnLst>
    <dgm:cxn modelId="{E3CF4E36-48EF-43D1-9F0A-6A833F301AE6}" type="presOf" srcId="{1A83CCC3-2782-487C-A9F6-D712FFCF4F07}" destId="{BBE4600A-D555-4730-80A5-365FD1C7A5DC}" srcOrd="0" destOrd="0" presId="urn:microsoft.com/office/officeart/2009/3/layout/PlusandMinus"/>
    <dgm:cxn modelId="{FEB1675C-33AD-470F-9F2F-09FEA5F63941}" type="presOf" srcId="{E0597F0C-58A5-4F4C-9265-381FBE9288A7}" destId="{F640D1F9-4FA5-48D3-B8CE-506D7300291F}" srcOrd="0" destOrd="0" presId="urn:microsoft.com/office/officeart/2009/3/layout/PlusandMinus"/>
    <dgm:cxn modelId="{DAA944A8-A23A-4C65-88F8-A76E64A5B5DB}" srcId="{643E2B2E-48A3-4CFD-921D-116B9AE13059}" destId="{E0597F0C-58A5-4F4C-9265-381FBE9288A7}" srcOrd="1" destOrd="0" parTransId="{1C900FC9-AC71-474A-B90D-080766CD7D20}" sibTransId="{26CB88DE-5344-4003-8F61-E03A2D1F0726}"/>
    <dgm:cxn modelId="{782723E3-EBFA-4893-8DDE-F992CFDA5DE5}" type="presOf" srcId="{643E2B2E-48A3-4CFD-921D-116B9AE13059}" destId="{420F427E-8F62-4B6B-9FE2-89A189E38346}" srcOrd="0" destOrd="0" presId="urn:microsoft.com/office/officeart/2009/3/layout/PlusandMinus"/>
    <dgm:cxn modelId="{8827C7EB-E3FE-4303-8CD8-B241AA39645C}" srcId="{643E2B2E-48A3-4CFD-921D-116B9AE13059}" destId="{1A83CCC3-2782-487C-A9F6-D712FFCF4F07}" srcOrd="0" destOrd="0" parTransId="{01D74A4B-2E66-4C81-9C7E-B7DF800C76F7}" sibTransId="{07DBAC5E-F019-40B4-8B0A-43F67D386D2C}"/>
    <dgm:cxn modelId="{E4062A0E-C510-4ECD-ACC9-85B2B9CB752E}" type="presParOf" srcId="{420F427E-8F62-4B6B-9FE2-89A189E38346}" destId="{FD4F2265-82E8-4A60-BE5A-2C1C4A35755E}" srcOrd="0" destOrd="0" presId="urn:microsoft.com/office/officeart/2009/3/layout/PlusandMinus"/>
    <dgm:cxn modelId="{2D31EA66-95BB-420D-8BAD-E1678B61302E}" type="presParOf" srcId="{420F427E-8F62-4B6B-9FE2-89A189E38346}" destId="{BBE4600A-D555-4730-80A5-365FD1C7A5DC}" srcOrd="1" destOrd="0" presId="urn:microsoft.com/office/officeart/2009/3/layout/PlusandMinus"/>
    <dgm:cxn modelId="{9FDCDB6E-8F38-4F35-AEBF-0B8D0D3A2986}" type="presParOf" srcId="{420F427E-8F62-4B6B-9FE2-89A189E38346}" destId="{F640D1F9-4FA5-48D3-B8CE-506D7300291F}" srcOrd="2" destOrd="0" presId="urn:microsoft.com/office/officeart/2009/3/layout/PlusandMinus"/>
    <dgm:cxn modelId="{9DF35492-97EB-4E39-9A3A-16CA55F3D30D}" type="presParOf" srcId="{420F427E-8F62-4B6B-9FE2-89A189E38346}" destId="{FD7427EE-9A5E-46BF-84A9-0B2CEBE06D6E}" srcOrd="3" destOrd="0" presId="urn:microsoft.com/office/officeart/2009/3/layout/PlusandMinus"/>
    <dgm:cxn modelId="{9519AAC2-58EB-496C-B449-708803C94747}" type="presParOf" srcId="{420F427E-8F62-4B6B-9FE2-89A189E38346}" destId="{8CE50869-3430-42AB-8956-79E6A51C7773}" srcOrd="4" destOrd="0" presId="urn:microsoft.com/office/officeart/2009/3/layout/PlusandMinus"/>
    <dgm:cxn modelId="{342D53A6-97BC-4C3E-BBA0-77E76287AA58}" type="presParOf" srcId="{420F427E-8F62-4B6B-9FE2-89A189E38346}" destId="{CBAF0FFD-5932-411E-8D6A-16A93F357B02}" srcOrd="5" destOrd="0" presId="urn:microsoft.com/office/officeart/2009/3/layout/PlusandMinu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43E2B2E-48A3-4CFD-921D-116B9AE13059}" type="doc">
      <dgm:prSet loTypeId="urn:microsoft.com/office/officeart/2009/3/layout/PlusandMinus" loCatId="relationship" qsTypeId="urn:microsoft.com/office/officeart/2005/8/quickstyle/3d4" qsCatId="3D" csTypeId="urn:microsoft.com/office/officeart/2005/8/colors/colorful3" csCatId="colorful" phldr="1"/>
      <dgm:spPr/>
      <dgm:t>
        <a:bodyPr/>
        <a:lstStyle/>
        <a:p>
          <a:endParaRPr lang="en-GB"/>
        </a:p>
      </dgm:t>
    </dgm:pt>
    <dgm:pt modelId="{1A83CCC3-2782-487C-A9F6-D712FFCF4F07}">
      <dgm:prSet phldrT="[Text]"/>
      <dgm:spPr/>
      <dgm:t>
        <a:bodyPr/>
        <a:lstStyle/>
        <a:p>
          <a:r>
            <a:rPr lang="en-GB" dirty="0">
              <a:sym typeface="Wingdings" panose="05000000000000000000" pitchFamily="2" charset="2"/>
            </a:rPr>
            <a:t>  </a:t>
          </a:r>
          <a:r>
            <a:rPr lang="en-GB" dirty="0"/>
            <a:t>Delivers software 	early.</a:t>
          </a:r>
        </a:p>
        <a:p>
          <a:r>
            <a:rPr lang="en-GB" dirty="0">
              <a:sym typeface="Wingdings" panose="05000000000000000000" pitchFamily="2" charset="2"/>
            </a:rPr>
            <a:t>  </a:t>
          </a:r>
          <a:r>
            <a:rPr lang="en-GB" dirty="0"/>
            <a:t>Easier to manage risks by identifying and handling in early increments.</a:t>
          </a:r>
        </a:p>
        <a:p>
          <a:r>
            <a:rPr lang="en-GB" dirty="0">
              <a:sym typeface="Wingdings" panose="05000000000000000000" pitchFamily="2" charset="2"/>
            </a:rPr>
            <a:t>  </a:t>
          </a:r>
          <a:r>
            <a:rPr lang="en-GB" dirty="0"/>
            <a:t>Easier to test and debug 	smaller increments.</a:t>
          </a:r>
        </a:p>
        <a:p>
          <a:r>
            <a:rPr lang="en-GB" dirty="0">
              <a:sym typeface="Wingdings" panose="05000000000000000000" pitchFamily="2" charset="2"/>
            </a:rPr>
            <a:t>  </a:t>
          </a:r>
          <a:r>
            <a:rPr lang="en-GB" dirty="0"/>
            <a:t>Overall delivery time can 	be reduced by 	building increments in 	parallel.</a:t>
          </a:r>
        </a:p>
      </dgm:t>
    </dgm:pt>
    <dgm:pt modelId="{01D74A4B-2E66-4C81-9C7E-B7DF800C76F7}" type="parTrans" cxnId="{8827C7EB-E3FE-4303-8CD8-B241AA39645C}">
      <dgm:prSet/>
      <dgm:spPr/>
      <dgm:t>
        <a:bodyPr/>
        <a:lstStyle/>
        <a:p>
          <a:endParaRPr lang="en-GB"/>
        </a:p>
      </dgm:t>
    </dgm:pt>
    <dgm:pt modelId="{07DBAC5E-F019-40B4-8B0A-43F67D386D2C}" type="sibTrans" cxnId="{8827C7EB-E3FE-4303-8CD8-B241AA39645C}">
      <dgm:prSet/>
      <dgm:spPr/>
      <dgm:t>
        <a:bodyPr/>
        <a:lstStyle/>
        <a:p>
          <a:endParaRPr lang="en-GB"/>
        </a:p>
      </dgm:t>
    </dgm:pt>
    <dgm:pt modelId="{E0597F0C-58A5-4F4C-9265-381FBE9288A7}">
      <dgm:prSet phldrT="[Text]"/>
      <dgm:spPr/>
      <dgm:t>
        <a:bodyPr/>
        <a:lstStyle/>
        <a:p>
          <a:r>
            <a:rPr lang="en-GB" dirty="0">
              <a:sym typeface="Wingdings" panose="05000000000000000000" pitchFamily="2" charset="2"/>
            </a:rPr>
            <a:t>  </a:t>
          </a:r>
          <a:r>
            <a:rPr lang="en-GB" dirty="0"/>
            <a:t>Hard to manage parallel 	deliveries.</a:t>
          </a:r>
        </a:p>
        <a:p>
          <a:r>
            <a:rPr lang="en-GB" dirty="0">
              <a:sym typeface="Wingdings" panose="05000000000000000000" pitchFamily="2" charset="2"/>
            </a:rPr>
            <a:t>  </a:t>
          </a:r>
          <a:r>
            <a:rPr lang="en-GB" dirty="0"/>
            <a:t>Still hard to manage change as requirements are agreed before increments are decided.</a:t>
          </a:r>
        </a:p>
        <a:p>
          <a:r>
            <a:rPr lang="en-GB" dirty="0">
              <a:sym typeface="Wingdings" panose="05000000000000000000" pitchFamily="2" charset="2"/>
            </a:rPr>
            <a:t>  </a:t>
          </a:r>
          <a:r>
            <a:rPr lang="en-GB" dirty="0"/>
            <a:t>Overall costs can be higher due to the additional overheads of parallel implementation and additional regression testing.</a:t>
          </a:r>
        </a:p>
      </dgm:t>
    </dgm:pt>
    <dgm:pt modelId="{1C900FC9-AC71-474A-B90D-080766CD7D20}" type="parTrans" cxnId="{DAA944A8-A23A-4C65-88F8-A76E64A5B5DB}">
      <dgm:prSet/>
      <dgm:spPr/>
      <dgm:t>
        <a:bodyPr/>
        <a:lstStyle/>
        <a:p>
          <a:endParaRPr lang="en-GB"/>
        </a:p>
      </dgm:t>
    </dgm:pt>
    <dgm:pt modelId="{26CB88DE-5344-4003-8F61-E03A2D1F0726}" type="sibTrans" cxnId="{DAA944A8-A23A-4C65-88F8-A76E64A5B5DB}">
      <dgm:prSet/>
      <dgm:spPr/>
      <dgm:t>
        <a:bodyPr/>
        <a:lstStyle/>
        <a:p>
          <a:endParaRPr lang="en-GB"/>
        </a:p>
      </dgm:t>
    </dgm:pt>
    <dgm:pt modelId="{420F427E-8F62-4B6B-9FE2-89A189E38346}" type="pres">
      <dgm:prSet presAssocID="{643E2B2E-48A3-4CFD-921D-116B9AE13059}" presName="Name0" presStyleCnt="0">
        <dgm:presLayoutVars>
          <dgm:chMax val="2"/>
          <dgm:chPref val="2"/>
          <dgm:dir/>
          <dgm:animOne/>
          <dgm:resizeHandles val="exact"/>
        </dgm:presLayoutVars>
      </dgm:prSet>
      <dgm:spPr/>
    </dgm:pt>
    <dgm:pt modelId="{FD4F2265-82E8-4A60-BE5A-2C1C4A35755E}" type="pres">
      <dgm:prSet presAssocID="{643E2B2E-48A3-4CFD-921D-116B9AE13059}" presName="Background" presStyleLbl="bgImgPlace1" presStyleIdx="0" presStyleCnt="1"/>
      <dgm:spPr/>
    </dgm:pt>
    <dgm:pt modelId="{BBE4600A-D555-4730-80A5-365FD1C7A5DC}" type="pres">
      <dgm:prSet presAssocID="{643E2B2E-48A3-4CFD-921D-116B9AE13059}" presName="ParentText1" presStyleLbl="revTx" presStyleIdx="0" presStyleCnt="2">
        <dgm:presLayoutVars>
          <dgm:chMax val="0"/>
          <dgm:chPref val="0"/>
          <dgm:bulletEnabled val="1"/>
        </dgm:presLayoutVars>
      </dgm:prSet>
      <dgm:spPr/>
    </dgm:pt>
    <dgm:pt modelId="{F640D1F9-4FA5-48D3-B8CE-506D7300291F}" type="pres">
      <dgm:prSet presAssocID="{643E2B2E-48A3-4CFD-921D-116B9AE13059}" presName="ParentText2" presStyleLbl="revTx" presStyleIdx="1" presStyleCnt="2">
        <dgm:presLayoutVars>
          <dgm:chMax val="0"/>
          <dgm:chPref val="0"/>
          <dgm:bulletEnabled val="1"/>
        </dgm:presLayoutVars>
      </dgm:prSet>
      <dgm:spPr/>
    </dgm:pt>
    <dgm:pt modelId="{FD7427EE-9A5E-46BF-84A9-0B2CEBE06D6E}" type="pres">
      <dgm:prSet presAssocID="{643E2B2E-48A3-4CFD-921D-116B9AE13059}" presName="Plus" presStyleLbl="alignNode1" presStyleIdx="0" presStyleCnt="2" custScaleX="54368" custScaleY="49777"/>
      <dgm:spPr/>
    </dgm:pt>
    <dgm:pt modelId="{8CE50869-3430-42AB-8956-79E6A51C7773}" type="pres">
      <dgm:prSet presAssocID="{643E2B2E-48A3-4CFD-921D-116B9AE13059}" presName="Minus" presStyleLbl="alignNode1" presStyleIdx="1" presStyleCnt="2" custScaleX="73655" custScaleY="77809"/>
      <dgm:spPr/>
    </dgm:pt>
    <dgm:pt modelId="{CBAF0FFD-5932-411E-8D6A-16A93F357B02}" type="pres">
      <dgm:prSet presAssocID="{643E2B2E-48A3-4CFD-921D-116B9AE13059}" presName="Divider" presStyleLbl="parChTrans1D1" presStyleIdx="0" presStyleCnt="1"/>
      <dgm:spPr/>
    </dgm:pt>
  </dgm:ptLst>
  <dgm:cxnLst>
    <dgm:cxn modelId="{E3CF4E36-48EF-43D1-9F0A-6A833F301AE6}" type="presOf" srcId="{1A83CCC3-2782-487C-A9F6-D712FFCF4F07}" destId="{BBE4600A-D555-4730-80A5-365FD1C7A5DC}" srcOrd="0" destOrd="0" presId="urn:microsoft.com/office/officeart/2009/3/layout/PlusandMinus"/>
    <dgm:cxn modelId="{FEB1675C-33AD-470F-9F2F-09FEA5F63941}" type="presOf" srcId="{E0597F0C-58A5-4F4C-9265-381FBE9288A7}" destId="{F640D1F9-4FA5-48D3-B8CE-506D7300291F}" srcOrd="0" destOrd="0" presId="urn:microsoft.com/office/officeart/2009/3/layout/PlusandMinus"/>
    <dgm:cxn modelId="{DAA944A8-A23A-4C65-88F8-A76E64A5B5DB}" srcId="{643E2B2E-48A3-4CFD-921D-116B9AE13059}" destId="{E0597F0C-58A5-4F4C-9265-381FBE9288A7}" srcOrd="1" destOrd="0" parTransId="{1C900FC9-AC71-474A-B90D-080766CD7D20}" sibTransId="{26CB88DE-5344-4003-8F61-E03A2D1F0726}"/>
    <dgm:cxn modelId="{782723E3-EBFA-4893-8DDE-F992CFDA5DE5}" type="presOf" srcId="{643E2B2E-48A3-4CFD-921D-116B9AE13059}" destId="{420F427E-8F62-4B6B-9FE2-89A189E38346}" srcOrd="0" destOrd="0" presId="urn:microsoft.com/office/officeart/2009/3/layout/PlusandMinus"/>
    <dgm:cxn modelId="{8827C7EB-E3FE-4303-8CD8-B241AA39645C}" srcId="{643E2B2E-48A3-4CFD-921D-116B9AE13059}" destId="{1A83CCC3-2782-487C-A9F6-D712FFCF4F07}" srcOrd="0" destOrd="0" parTransId="{01D74A4B-2E66-4C81-9C7E-B7DF800C76F7}" sibTransId="{07DBAC5E-F019-40B4-8B0A-43F67D386D2C}"/>
    <dgm:cxn modelId="{E4062A0E-C510-4ECD-ACC9-85B2B9CB752E}" type="presParOf" srcId="{420F427E-8F62-4B6B-9FE2-89A189E38346}" destId="{FD4F2265-82E8-4A60-BE5A-2C1C4A35755E}" srcOrd="0" destOrd="0" presId="urn:microsoft.com/office/officeart/2009/3/layout/PlusandMinus"/>
    <dgm:cxn modelId="{2D31EA66-95BB-420D-8BAD-E1678B61302E}" type="presParOf" srcId="{420F427E-8F62-4B6B-9FE2-89A189E38346}" destId="{BBE4600A-D555-4730-80A5-365FD1C7A5DC}" srcOrd="1" destOrd="0" presId="urn:microsoft.com/office/officeart/2009/3/layout/PlusandMinus"/>
    <dgm:cxn modelId="{9FDCDB6E-8F38-4F35-AEBF-0B8D0D3A2986}" type="presParOf" srcId="{420F427E-8F62-4B6B-9FE2-89A189E38346}" destId="{F640D1F9-4FA5-48D3-B8CE-506D7300291F}" srcOrd="2" destOrd="0" presId="urn:microsoft.com/office/officeart/2009/3/layout/PlusandMinus"/>
    <dgm:cxn modelId="{9DF35492-97EB-4E39-9A3A-16CA55F3D30D}" type="presParOf" srcId="{420F427E-8F62-4B6B-9FE2-89A189E38346}" destId="{FD7427EE-9A5E-46BF-84A9-0B2CEBE06D6E}" srcOrd="3" destOrd="0" presId="urn:microsoft.com/office/officeart/2009/3/layout/PlusandMinus"/>
    <dgm:cxn modelId="{9519AAC2-58EB-496C-B449-708803C94747}" type="presParOf" srcId="{420F427E-8F62-4B6B-9FE2-89A189E38346}" destId="{8CE50869-3430-42AB-8956-79E6A51C7773}" srcOrd="4" destOrd="0" presId="urn:microsoft.com/office/officeart/2009/3/layout/PlusandMinus"/>
    <dgm:cxn modelId="{342D53A6-97BC-4C3E-BBA0-77E76287AA58}" type="presParOf" srcId="{420F427E-8F62-4B6B-9FE2-89A189E38346}" destId="{CBAF0FFD-5932-411E-8D6A-16A93F357B02}" srcOrd="5" destOrd="0" presId="urn:microsoft.com/office/officeart/2009/3/layout/PlusandMinu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43E2B2E-48A3-4CFD-921D-116B9AE13059}" type="doc">
      <dgm:prSet loTypeId="urn:microsoft.com/office/officeart/2009/3/layout/PlusandMinus" loCatId="relationship" qsTypeId="urn:microsoft.com/office/officeart/2005/8/quickstyle/3d4" qsCatId="3D" csTypeId="urn:microsoft.com/office/officeart/2005/8/colors/colorful3" csCatId="colorful" phldr="1"/>
      <dgm:spPr/>
      <dgm:t>
        <a:bodyPr/>
        <a:lstStyle/>
        <a:p>
          <a:endParaRPr lang="en-GB"/>
        </a:p>
      </dgm:t>
    </dgm:pt>
    <dgm:pt modelId="{1A83CCC3-2782-487C-A9F6-D712FFCF4F07}">
      <dgm:prSet phldrT="[Text]"/>
      <dgm:spPr/>
      <dgm:t>
        <a:bodyPr/>
        <a:lstStyle/>
        <a:p>
          <a:r>
            <a:rPr lang="en-GB" dirty="0">
              <a:sym typeface="Wingdings" panose="05000000000000000000" pitchFamily="2" charset="2"/>
            </a:rPr>
            <a:t>  </a:t>
          </a:r>
          <a:r>
            <a:rPr lang="en-GB" dirty="0"/>
            <a:t>Requirements evolve.</a:t>
          </a:r>
        </a:p>
        <a:p>
          <a:r>
            <a:rPr lang="en-GB" dirty="0">
              <a:sym typeface="Wingdings" panose="05000000000000000000" pitchFamily="2" charset="2"/>
            </a:rPr>
            <a:t>  </a:t>
          </a:r>
          <a:r>
            <a:rPr lang="en-GB" dirty="0"/>
            <a:t>Encourages 	collaboration.</a:t>
          </a:r>
        </a:p>
        <a:p>
          <a:r>
            <a:rPr lang="en-GB" dirty="0">
              <a:sym typeface="Wingdings" panose="05000000000000000000" pitchFamily="2" charset="2"/>
            </a:rPr>
            <a:t>  </a:t>
          </a:r>
          <a:r>
            <a:rPr lang="en-GB" dirty="0"/>
            <a:t>Change easier to 	manage.</a:t>
          </a:r>
        </a:p>
        <a:p>
          <a:r>
            <a:rPr lang="en-GB" dirty="0">
              <a:sym typeface="Wingdings" panose="05000000000000000000" pitchFamily="2" charset="2"/>
            </a:rPr>
            <a:t>  </a:t>
          </a:r>
          <a:r>
            <a:rPr lang="en-GB" dirty="0"/>
            <a:t>Cost can be controlled.</a:t>
          </a:r>
        </a:p>
      </dgm:t>
    </dgm:pt>
    <dgm:pt modelId="{01D74A4B-2E66-4C81-9C7E-B7DF800C76F7}" type="parTrans" cxnId="{8827C7EB-E3FE-4303-8CD8-B241AA39645C}">
      <dgm:prSet/>
      <dgm:spPr/>
      <dgm:t>
        <a:bodyPr/>
        <a:lstStyle/>
        <a:p>
          <a:endParaRPr lang="en-GB"/>
        </a:p>
      </dgm:t>
    </dgm:pt>
    <dgm:pt modelId="{07DBAC5E-F019-40B4-8B0A-43F67D386D2C}" type="sibTrans" cxnId="{8827C7EB-E3FE-4303-8CD8-B241AA39645C}">
      <dgm:prSet/>
      <dgm:spPr/>
      <dgm:t>
        <a:bodyPr/>
        <a:lstStyle/>
        <a:p>
          <a:endParaRPr lang="en-GB"/>
        </a:p>
      </dgm:t>
    </dgm:pt>
    <dgm:pt modelId="{E0597F0C-58A5-4F4C-9265-381FBE9288A7}">
      <dgm:prSet phldrT="[Text]"/>
      <dgm:spPr/>
      <dgm:t>
        <a:bodyPr/>
        <a:lstStyle/>
        <a:p>
          <a:r>
            <a:rPr lang="en-GB" dirty="0">
              <a:sym typeface="Wingdings" panose="05000000000000000000" pitchFamily="2" charset="2"/>
            </a:rPr>
            <a:t>  </a:t>
          </a:r>
          <a:r>
            <a:rPr lang="en-GB" dirty="0"/>
            <a:t>Hard to manage due to 	multiple iterations.</a:t>
          </a:r>
        </a:p>
        <a:p>
          <a:r>
            <a:rPr lang="en-GB" dirty="0">
              <a:sym typeface="Wingdings" panose="05000000000000000000" pitchFamily="2" charset="2"/>
            </a:rPr>
            <a:t>  </a:t>
          </a:r>
          <a:r>
            <a:rPr lang="en-GB" dirty="0"/>
            <a:t>Evolving requirements 	result in scope 	creep.</a:t>
          </a:r>
        </a:p>
        <a:p>
          <a:r>
            <a:rPr lang="en-GB" dirty="0">
              <a:sym typeface="Wingdings" panose="05000000000000000000" pitchFamily="2" charset="2"/>
            </a:rPr>
            <a:t>  </a:t>
          </a:r>
          <a:r>
            <a:rPr lang="en-GB" dirty="0"/>
            <a:t>Can become like single 	Waterfall project.</a:t>
          </a:r>
        </a:p>
        <a:p>
          <a:r>
            <a:rPr lang="en-GB" dirty="0">
              <a:sym typeface="Wingdings" panose="05000000000000000000" pitchFamily="2" charset="2"/>
            </a:rPr>
            <a:t>  </a:t>
          </a:r>
          <a:r>
            <a:rPr lang="en-GB" dirty="0"/>
            <a:t>Higher cost due to 	additional 	integration and 	testing activities. </a:t>
          </a:r>
        </a:p>
      </dgm:t>
    </dgm:pt>
    <dgm:pt modelId="{1C900FC9-AC71-474A-B90D-080766CD7D20}" type="parTrans" cxnId="{DAA944A8-A23A-4C65-88F8-A76E64A5B5DB}">
      <dgm:prSet/>
      <dgm:spPr/>
      <dgm:t>
        <a:bodyPr/>
        <a:lstStyle/>
        <a:p>
          <a:endParaRPr lang="en-GB"/>
        </a:p>
      </dgm:t>
    </dgm:pt>
    <dgm:pt modelId="{26CB88DE-5344-4003-8F61-E03A2D1F0726}" type="sibTrans" cxnId="{DAA944A8-A23A-4C65-88F8-A76E64A5B5DB}">
      <dgm:prSet/>
      <dgm:spPr/>
      <dgm:t>
        <a:bodyPr/>
        <a:lstStyle/>
        <a:p>
          <a:endParaRPr lang="en-GB"/>
        </a:p>
      </dgm:t>
    </dgm:pt>
    <dgm:pt modelId="{420F427E-8F62-4B6B-9FE2-89A189E38346}" type="pres">
      <dgm:prSet presAssocID="{643E2B2E-48A3-4CFD-921D-116B9AE13059}" presName="Name0" presStyleCnt="0">
        <dgm:presLayoutVars>
          <dgm:chMax val="2"/>
          <dgm:chPref val="2"/>
          <dgm:dir/>
          <dgm:animOne/>
          <dgm:resizeHandles val="exact"/>
        </dgm:presLayoutVars>
      </dgm:prSet>
      <dgm:spPr/>
    </dgm:pt>
    <dgm:pt modelId="{FD4F2265-82E8-4A60-BE5A-2C1C4A35755E}" type="pres">
      <dgm:prSet presAssocID="{643E2B2E-48A3-4CFD-921D-116B9AE13059}" presName="Background" presStyleLbl="bgImgPlace1" presStyleIdx="0" presStyleCnt="1"/>
      <dgm:spPr/>
    </dgm:pt>
    <dgm:pt modelId="{BBE4600A-D555-4730-80A5-365FD1C7A5DC}" type="pres">
      <dgm:prSet presAssocID="{643E2B2E-48A3-4CFD-921D-116B9AE13059}" presName="ParentText1" presStyleLbl="revTx" presStyleIdx="0" presStyleCnt="2">
        <dgm:presLayoutVars>
          <dgm:chMax val="0"/>
          <dgm:chPref val="0"/>
          <dgm:bulletEnabled val="1"/>
        </dgm:presLayoutVars>
      </dgm:prSet>
      <dgm:spPr/>
    </dgm:pt>
    <dgm:pt modelId="{F640D1F9-4FA5-48D3-B8CE-506D7300291F}" type="pres">
      <dgm:prSet presAssocID="{643E2B2E-48A3-4CFD-921D-116B9AE13059}" presName="ParentText2" presStyleLbl="revTx" presStyleIdx="1" presStyleCnt="2">
        <dgm:presLayoutVars>
          <dgm:chMax val="0"/>
          <dgm:chPref val="0"/>
          <dgm:bulletEnabled val="1"/>
        </dgm:presLayoutVars>
      </dgm:prSet>
      <dgm:spPr/>
    </dgm:pt>
    <dgm:pt modelId="{FD7427EE-9A5E-46BF-84A9-0B2CEBE06D6E}" type="pres">
      <dgm:prSet presAssocID="{643E2B2E-48A3-4CFD-921D-116B9AE13059}" presName="Plus" presStyleLbl="alignNode1" presStyleIdx="0" presStyleCnt="2" custScaleX="62580" custScaleY="72034"/>
      <dgm:spPr/>
    </dgm:pt>
    <dgm:pt modelId="{8CE50869-3430-42AB-8956-79E6A51C7773}" type="pres">
      <dgm:prSet presAssocID="{643E2B2E-48A3-4CFD-921D-116B9AE13059}" presName="Minus" presStyleLbl="alignNode1" presStyleIdx="1" presStyleCnt="2" custScaleX="73220" custScaleY="57427"/>
      <dgm:spPr/>
    </dgm:pt>
    <dgm:pt modelId="{CBAF0FFD-5932-411E-8D6A-16A93F357B02}" type="pres">
      <dgm:prSet presAssocID="{643E2B2E-48A3-4CFD-921D-116B9AE13059}" presName="Divider" presStyleLbl="parChTrans1D1" presStyleIdx="0" presStyleCnt="1"/>
      <dgm:spPr/>
    </dgm:pt>
  </dgm:ptLst>
  <dgm:cxnLst>
    <dgm:cxn modelId="{E3CF4E36-48EF-43D1-9F0A-6A833F301AE6}" type="presOf" srcId="{1A83CCC3-2782-487C-A9F6-D712FFCF4F07}" destId="{BBE4600A-D555-4730-80A5-365FD1C7A5DC}" srcOrd="0" destOrd="0" presId="urn:microsoft.com/office/officeart/2009/3/layout/PlusandMinus"/>
    <dgm:cxn modelId="{FEB1675C-33AD-470F-9F2F-09FEA5F63941}" type="presOf" srcId="{E0597F0C-58A5-4F4C-9265-381FBE9288A7}" destId="{F640D1F9-4FA5-48D3-B8CE-506D7300291F}" srcOrd="0" destOrd="0" presId="urn:microsoft.com/office/officeart/2009/3/layout/PlusandMinus"/>
    <dgm:cxn modelId="{DAA944A8-A23A-4C65-88F8-A76E64A5B5DB}" srcId="{643E2B2E-48A3-4CFD-921D-116B9AE13059}" destId="{E0597F0C-58A5-4F4C-9265-381FBE9288A7}" srcOrd="1" destOrd="0" parTransId="{1C900FC9-AC71-474A-B90D-080766CD7D20}" sibTransId="{26CB88DE-5344-4003-8F61-E03A2D1F0726}"/>
    <dgm:cxn modelId="{782723E3-EBFA-4893-8DDE-F992CFDA5DE5}" type="presOf" srcId="{643E2B2E-48A3-4CFD-921D-116B9AE13059}" destId="{420F427E-8F62-4B6B-9FE2-89A189E38346}" srcOrd="0" destOrd="0" presId="urn:microsoft.com/office/officeart/2009/3/layout/PlusandMinus"/>
    <dgm:cxn modelId="{8827C7EB-E3FE-4303-8CD8-B241AA39645C}" srcId="{643E2B2E-48A3-4CFD-921D-116B9AE13059}" destId="{1A83CCC3-2782-487C-A9F6-D712FFCF4F07}" srcOrd="0" destOrd="0" parTransId="{01D74A4B-2E66-4C81-9C7E-B7DF800C76F7}" sibTransId="{07DBAC5E-F019-40B4-8B0A-43F67D386D2C}"/>
    <dgm:cxn modelId="{E4062A0E-C510-4ECD-ACC9-85B2B9CB752E}" type="presParOf" srcId="{420F427E-8F62-4B6B-9FE2-89A189E38346}" destId="{FD4F2265-82E8-4A60-BE5A-2C1C4A35755E}" srcOrd="0" destOrd="0" presId="urn:microsoft.com/office/officeart/2009/3/layout/PlusandMinus"/>
    <dgm:cxn modelId="{2D31EA66-95BB-420D-8BAD-E1678B61302E}" type="presParOf" srcId="{420F427E-8F62-4B6B-9FE2-89A189E38346}" destId="{BBE4600A-D555-4730-80A5-365FD1C7A5DC}" srcOrd="1" destOrd="0" presId="urn:microsoft.com/office/officeart/2009/3/layout/PlusandMinus"/>
    <dgm:cxn modelId="{9FDCDB6E-8F38-4F35-AEBF-0B8D0D3A2986}" type="presParOf" srcId="{420F427E-8F62-4B6B-9FE2-89A189E38346}" destId="{F640D1F9-4FA5-48D3-B8CE-506D7300291F}" srcOrd="2" destOrd="0" presId="urn:microsoft.com/office/officeart/2009/3/layout/PlusandMinus"/>
    <dgm:cxn modelId="{9DF35492-97EB-4E39-9A3A-16CA55F3D30D}" type="presParOf" srcId="{420F427E-8F62-4B6B-9FE2-89A189E38346}" destId="{FD7427EE-9A5E-46BF-84A9-0B2CEBE06D6E}" srcOrd="3" destOrd="0" presId="urn:microsoft.com/office/officeart/2009/3/layout/PlusandMinus"/>
    <dgm:cxn modelId="{9519AAC2-58EB-496C-B449-708803C94747}" type="presParOf" srcId="{420F427E-8F62-4B6B-9FE2-89A189E38346}" destId="{8CE50869-3430-42AB-8956-79E6A51C7773}" srcOrd="4" destOrd="0" presId="urn:microsoft.com/office/officeart/2009/3/layout/PlusandMinus"/>
    <dgm:cxn modelId="{342D53A6-97BC-4C3E-BBA0-77E76287AA58}" type="presParOf" srcId="{420F427E-8F62-4B6B-9FE2-89A189E38346}" destId="{CBAF0FFD-5932-411E-8D6A-16A93F357B02}" srcOrd="5" destOrd="0" presId="urn:microsoft.com/office/officeart/2009/3/layout/PlusandMinu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43E2B2E-48A3-4CFD-921D-116B9AE13059}" type="doc">
      <dgm:prSet loTypeId="urn:microsoft.com/office/officeart/2009/3/layout/PlusandMinus" loCatId="relationship" qsTypeId="urn:microsoft.com/office/officeart/2005/8/quickstyle/3d4" qsCatId="3D" csTypeId="urn:microsoft.com/office/officeart/2005/8/colors/colorful3" csCatId="colorful" phldr="1"/>
      <dgm:spPr/>
      <dgm:t>
        <a:bodyPr/>
        <a:lstStyle/>
        <a:p>
          <a:endParaRPr lang="en-GB"/>
        </a:p>
      </dgm:t>
    </dgm:pt>
    <dgm:pt modelId="{1A83CCC3-2782-487C-A9F6-D712FFCF4F07}">
      <dgm:prSet phldrT="[Text]"/>
      <dgm:spPr/>
      <dgm:t>
        <a:bodyPr/>
        <a:lstStyle/>
        <a:p>
          <a:r>
            <a:rPr lang="en-GB" dirty="0">
              <a:sym typeface="Wingdings" panose="05000000000000000000" pitchFamily="2" charset="2"/>
            </a:rPr>
            <a:t>  </a:t>
          </a:r>
          <a:r>
            <a:rPr lang="en-GB" dirty="0"/>
            <a:t>Earlier delivery of software.</a:t>
          </a:r>
        </a:p>
        <a:p>
          <a:r>
            <a:rPr lang="en-GB" dirty="0">
              <a:sym typeface="Wingdings" panose="05000000000000000000" pitchFamily="2" charset="2"/>
            </a:rPr>
            <a:t>  </a:t>
          </a:r>
          <a:r>
            <a:rPr lang="en-GB" dirty="0"/>
            <a:t>Risks identified and handled sooner</a:t>
          </a:r>
        </a:p>
        <a:p>
          <a:br>
            <a:rPr lang="en-GB" dirty="0">
              <a:sym typeface="Wingdings" panose="05000000000000000000" pitchFamily="2" charset="2"/>
            </a:rPr>
          </a:br>
          <a:r>
            <a:rPr lang="en-GB" dirty="0">
              <a:sym typeface="Wingdings" panose="05000000000000000000" pitchFamily="2" charset="2"/>
            </a:rPr>
            <a:t>  </a:t>
          </a:r>
          <a:r>
            <a:rPr lang="en-GB" dirty="0"/>
            <a:t>Requirements evolve and change easier to manage.</a:t>
          </a:r>
          <a:br>
            <a:rPr lang="en-GB" dirty="0"/>
          </a:br>
          <a:endParaRPr lang="en-GB" dirty="0"/>
        </a:p>
        <a:p>
          <a:r>
            <a:rPr lang="en-GB" dirty="0">
              <a:sym typeface="Wingdings" panose="05000000000000000000" pitchFamily="2" charset="2"/>
            </a:rPr>
            <a:t>  </a:t>
          </a:r>
          <a:r>
            <a:rPr lang="en-GB" dirty="0"/>
            <a:t>Encourages collaboration so more customer buy-in.</a:t>
          </a:r>
          <a:br>
            <a:rPr lang="en-GB" dirty="0"/>
          </a:br>
          <a:endParaRPr lang="en-GB" dirty="0"/>
        </a:p>
        <a:p>
          <a:r>
            <a:rPr lang="en-GB" dirty="0">
              <a:sym typeface="Wingdings" panose="05000000000000000000" pitchFamily="2" charset="2"/>
            </a:rPr>
            <a:t>  </a:t>
          </a:r>
          <a:r>
            <a:rPr lang="en-GB" dirty="0"/>
            <a:t>Costs controlled.</a:t>
          </a:r>
        </a:p>
      </dgm:t>
    </dgm:pt>
    <dgm:pt modelId="{01D74A4B-2E66-4C81-9C7E-B7DF800C76F7}" type="parTrans" cxnId="{8827C7EB-E3FE-4303-8CD8-B241AA39645C}">
      <dgm:prSet/>
      <dgm:spPr/>
      <dgm:t>
        <a:bodyPr/>
        <a:lstStyle/>
        <a:p>
          <a:endParaRPr lang="en-GB"/>
        </a:p>
      </dgm:t>
    </dgm:pt>
    <dgm:pt modelId="{07DBAC5E-F019-40B4-8B0A-43F67D386D2C}" type="sibTrans" cxnId="{8827C7EB-E3FE-4303-8CD8-B241AA39645C}">
      <dgm:prSet/>
      <dgm:spPr/>
      <dgm:t>
        <a:bodyPr/>
        <a:lstStyle/>
        <a:p>
          <a:endParaRPr lang="en-GB"/>
        </a:p>
      </dgm:t>
    </dgm:pt>
    <dgm:pt modelId="{E0597F0C-58A5-4F4C-9265-381FBE9288A7}">
      <dgm:prSet phldrT="[Text]"/>
      <dgm:spPr/>
      <dgm:t>
        <a:bodyPr/>
        <a:lstStyle/>
        <a:p>
          <a:r>
            <a:rPr lang="en-GB" dirty="0">
              <a:sym typeface="Wingdings" panose="05000000000000000000" pitchFamily="2" charset="2"/>
            </a:rPr>
            <a:t>  </a:t>
          </a:r>
          <a:r>
            <a:rPr lang="en-GB" dirty="0"/>
            <a:t>More complex to manage 	multiple iterations and 	teams that may be 	dispersed.</a:t>
          </a:r>
        </a:p>
        <a:p>
          <a:r>
            <a:rPr lang="en-GB" dirty="0">
              <a:sym typeface="Wingdings" panose="05000000000000000000" pitchFamily="2" charset="2"/>
            </a:rPr>
            <a:t>  </a:t>
          </a:r>
          <a:r>
            <a:rPr lang="en-GB" dirty="0"/>
            <a:t>Danger of scope creep.</a:t>
          </a:r>
        </a:p>
        <a:p>
          <a:r>
            <a:rPr lang="en-GB" dirty="0">
              <a:sym typeface="Wingdings" panose="05000000000000000000" pitchFamily="2" charset="2"/>
            </a:rPr>
            <a:t>  </a:t>
          </a:r>
          <a:r>
            <a:rPr lang="en-GB" dirty="0"/>
            <a:t>Not suited when there are 	audit, regulatory, </a:t>
          </a:r>
          <a:br>
            <a:rPr lang="en-GB" dirty="0"/>
          </a:br>
          <a:r>
            <a:rPr lang="en-GB" dirty="0"/>
            <a:t>	safety-critical 	requirements in strict contractual commitments.</a:t>
          </a:r>
        </a:p>
        <a:p>
          <a:r>
            <a:rPr lang="en-GB" dirty="0">
              <a:sym typeface="Wingdings" panose="05000000000000000000" pitchFamily="2" charset="2"/>
            </a:rPr>
            <a:t>  </a:t>
          </a:r>
          <a:r>
            <a:rPr lang="en-GB" dirty="0"/>
            <a:t>Additional costs of testing, 	integration &amp; deployment.</a:t>
          </a:r>
        </a:p>
      </dgm:t>
    </dgm:pt>
    <dgm:pt modelId="{1C900FC9-AC71-474A-B90D-080766CD7D20}" type="parTrans" cxnId="{DAA944A8-A23A-4C65-88F8-A76E64A5B5DB}">
      <dgm:prSet/>
      <dgm:spPr/>
      <dgm:t>
        <a:bodyPr/>
        <a:lstStyle/>
        <a:p>
          <a:endParaRPr lang="en-GB"/>
        </a:p>
      </dgm:t>
    </dgm:pt>
    <dgm:pt modelId="{26CB88DE-5344-4003-8F61-E03A2D1F0726}" type="sibTrans" cxnId="{DAA944A8-A23A-4C65-88F8-A76E64A5B5DB}">
      <dgm:prSet/>
      <dgm:spPr/>
      <dgm:t>
        <a:bodyPr/>
        <a:lstStyle/>
        <a:p>
          <a:endParaRPr lang="en-GB"/>
        </a:p>
      </dgm:t>
    </dgm:pt>
    <dgm:pt modelId="{420F427E-8F62-4B6B-9FE2-89A189E38346}" type="pres">
      <dgm:prSet presAssocID="{643E2B2E-48A3-4CFD-921D-116B9AE13059}" presName="Name0" presStyleCnt="0">
        <dgm:presLayoutVars>
          <dgm:chMax val="2"/>
          <dgm:chPref val="2"/>
          <dgm:dir/>
          <dgm:animOne/>
          <dgm:resizeHandles val="exact"/>
        </dgm:presLayoutVars>
      </dgm:prSet>
      <dgm:spPr/>
    </dgm:pt>
    <dgm:pt modelId="{FD4F2265-82E8-4A60-BE5A-2C1C4A35755E}" type="pres">
      <dgm:prSet presAssocID="{643E2B2E-48A3-4CFD-921D-116B9AE13059}" presName="Background" presStyleLbl="bgImgPlace1" presStyleIdx="0" presStyleCnt="1"/>
      <dgm:spPr/>
    </dgm:pt>
    <dgm:pt modelId="{BBE4600A-D555-4730-80A5-365FD1C7A5DC}" type="pres">
      <dgm:prSet presAssocID="{643E2B2E-48A3-4CFD-921D-116B9AE13059}" presName="ParentText1" presStyleLbl="revTx" presStyleIdx="0" presStyleCnt="2">
        <dgm:presLayoutVars>
          <dgm:chMax val="0"/>
          <dgm:chPref val="0"/>
          <dgm:bulletEnabled val="1"/>
        </dgm:presLayoutVars>
      </dgm:prSet>
      <dgm:spPr/>
    </dgm:pt>
    <dgm:pt modelId="{F640D1F9-4FA5-48D3-B8CE-506D7300291F}" type="pres">
      <dgm:prSet presAssocID="{643E2B2E-48A3-4CFD-921D-116B9AE13059}" presName="ParentText2" presStyleLbl="revTx" presStyleIdx="1" presStyleCnt="2">
        <dgm:presLayoutVars>
          <dgm:chMax val="0"/>
          <dgm:chPref val="0"/>
          <dgm:bulletEnabled val="1"/>
        </dgm:presLayoutVars>
      </dgm:prSet>
      <dgm:spPr/>
    </dgm:pt>
    <dgm:pt modelId="{FD7427EE-9A5E-46BF-84A9-0B2CEBE06D6E}" type="pres">
      <dgm:prSet presAssocID="{643E2B2E-48A3-4CFD-921D-116B9AE13059}" presName="Plus" presStyleLbl="alignNode1" presStyleIdx="0" presStyleCnt="2" custScaleX="50262" custScaleY="52515"/>
      <dgm:spPr/>
    </dgm:pt>
    <dgm:pt modelId="{8CE50869-3430-42AB-8956-79E6A51C7773}" type="pres">
      <dgm:prSet presAssocID="{643E2B2E-48A3-4CFD-921D-116B9AE13059}" presName="Minus" presStyleLbl="alignNode1" presStyleIdx="1" presStyleCnt="2" custScaleX="69585" custScaleY="53738"/>
      <dgm:spPr/>
    </dgm:pt>
    <dgm:pt modelId="{CBAF0FFD-5932-411E-8D6A-16A93F357B02}" type="pres">
      <dgm:prSet presAssocID="{643E2B2E-48A3-4CFD-921D-116B9AE13059}" presName="Divider" presStyleLbl="parChTrans1D1" presStyleIdx="0" presStyleCnt="1"/>
      <dgm:spPr/>
    </dgm:pt>
  </dgm:ptLst>
  <dgm:cxnLst>
    <dgm:cxn modelId="{E3CF4E36-48EF-43D1-9F0A-6A833F301AE6}" type="presOf" srcId="{1A83CCC3-2782-487C-A9F6-D712FFCF4F07}" destId="{BBE4600A-D555-4730-80A5-365FD1C7A5DC}" srcOrd="0" destOrd="0" presId="urn:microsoft.com/office/officeart/2009/3/layout/PlusandMinus"/>
    <dgm:cxn modelId="{FEB1675C-33AD-470F-9F2F-09FEA5F63941}" type="presOf" srcId="{E0597F0C-58A5-4F4C-9265-381FBE9288A7}" destId="{F640D1F9-4FA5-48D3-B8CE-506D7300291F}" srcOrd="0" destOrd="0" presId="urn:microsoft.com/office/officeart/2009/3/layout/PlusandMinus"/>
    <dgm:cxn modelId="{DAA944A8-A23A-4C65-88F8-A76E64A5B5DB}" srcId="{643E2B2E-48A3-4CFD-921D-116B9AE13059}" destId="{E0597F0C-58A5-4F4C-9265-381FBE9288A7}" srcOrd="1" destOrd="0" parTransId="{1C900FC9-AC71-474A-B90D-080766CD7D20}" sibTransId="{26CB88DE-5344-4003-8F61-E03A2D1F0726}"/>
    <dgm:cxn modelId="{782723E3-EBFA-4893-8DDE-F992CFDA5DE5}" type="presOf" srcId="{643E2B2E-48A3-4CFD-921D-116B9AE13059}" destId="{420F427E-8F62-4B6B-9FE2-89A189E38346}" srcOrd="0" destOrd="0" presId="urn:microsoft.com/office/officeart/2009/3/layout/PlusandMinus"/>
    <dgm:cxn modelId="{8827C7EB-E3FE-4303-8CD8-B241AA39645C}" srcId="{643E2B2E-48A3-4CFD-921D-116B9AE13059}" destId="{1A83CCC3-2782-487C-A9F6-D712FFCF4F07}" srcOrd="0" destOrd="0" parTransId="{01D74A4B-2E66-4C81-9C7E-B7DF800C76F7}" sibTransId="{07DBAC5E-F019-40B4-8B0A-43F67D386D2C}"/>
    <dgm:cxn modelId="{E4062A0E-C510-4ECD-ACC9-85B2B9CB752E}" type="presParOf" srcId="{420F427E-8F62-4B6B-9FE2-89A189E38346}" destId="{FD4F2265-82E8-4A60-BE5A-2C1C4A35755E}" srcOrd="0" destOrd="0" presId="urn:microsoft.com/office/officeart/2009/3/layout/PlusandMinus"/>
    <dgm:cxn modelId="{2D31EA66-95BB-420D-8BAD-E1678B61302E}" type="presParOf" srcId="{420F427E-8F62-4B6B-9FE2-89A189E38346}" destId="{BBE4600A-D555-4730-80A5-365FD1C7A5DC}" srcOrd="1" destOrd="0" presId="urn:microsoft.com/office/officeart/2009/3/layout/PlusandMinus"/>
    <dgm:cxn modelId="{9FDCDB6E-8F38-4F35-AEBF-0B8D0D3A2986}" type="presParOf" srcId="{420F427E-8F62-4B6B-9FE2-89A189E38346}" destId="{F640D1F9-4FA5-48D3-B8CE-506D7300291F}" srcOrd="2" destOrd="0" presId="urn:microsoft.com/office/officeart/2009/3/layout/PlusandMinus"/>
    <dgm:cxn modelId="{9DF35492-97EB-4E39-9A3A-16CA55F3D30D}" type="presParOf" srcId="{420F427E-8F62-4B6B-9FE2-89A189E38346}" destId="{FD7427EE-9A5E-46BF-84A9-0B2CEBE06D6E}" srcOrd="3" destOrd="0" presId="urn:microsoft.com/office/officeart/2009/3/layout/PlusandMinus"/>
    <dgm:cxn modelId="{9519AAC2-58EB-496C-B449-708803C94747}" type="presParOf" srcId="{420F427E-8F62-4B6B-9FE2-89A189E38346}" destId="{8CE50869-3430-42AB-8956-79E6A51C7773}" srcOrd="4" destOrd="0" presId="urn:microsoft.com/office/officeart/2009/3/layout/PlusandMinus"/>
    <dgm:cxn modelId="{342D53A6-97BC-4C3E-BBA0-77E76287AA58}" type="presParOf" srcId="{420F427E-8F62-4B6B-9FE2-89A189E38346}" destId="{CBAF0FFD-5932-411E-8D6A-16A93F357B02}" srcOrd="5" destOrd="0" presId="urn:microsoft.com/office/officeart/2009/3/layout/PlusandMinu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4F2265-82E8-4A60-BE5A-2C1C4A35755E}">
      <dsp:nvSpPr>
        <dsp:cNvPr id="0" name=""/>
        <dsp:cNvSpPr/>
      </dsp:nvSpPr>
      <dsp:spPr>
        <a:xfrm>
          <a:off x="836451" y="1257408"/>
          <a:ext cx="8442162" cy="4362858"/>
        </a:xfrm>
        <a:prstGeom prst="rect">
          <a:avLst/>
        </a:prstGeom>
        <a:solidFill>
          <a:schemeClr val="accent3">
            <a:tint val="50000"/>
            <a:hueOff val="0"/>
            <a:satOff val="0"/>
            <a:lumOff val="0"/>
            <a:alphaOff val="0"/>
          </a:schemeClr>
        </a:solidFill>
        <a:ln>
          <a:noFill/>
        </a:ln>
        <a:effectLst/>
        <a:scene3d>
          <a:camera prst="orthographicFront"/>
          <a:lightRig rig="chilly" dir="t"/>
        </a:scene3d>
        <a:sp3d z="-25700" extrusionH="63500" contourW="12700" prstMaterial="matte">
          <a:contourClr>
            <a:schemeClr val="lt1"/>
          </a:contourClr>
        </a:sp3d>
      </dsp:spPr>
      <dsp:style>
        <a:lnRef idx="0">
          <a:scrgbClr r="0" g="0" b="0"/>
        </a:lnRef>
        <a:fillRef idx="1">
          <a:scrgbClr r="0" g="0" b="0"/>
        </a:fillRef>
        <a:effectRef idx="0">
          <a:scrgbClr r="0" g="0" b="0"/>
        </a:effectRef>
        <a:fontRef idx="minor"/>
      </dsp:style>
    </dsp:sp>
    <dsp:sp modelId="{BBE4600A-D555-4730-80A5-365FD1C7A5DC}">
      <dsp:nvSpPr>
        <dsp:cNvPr id="0" name=""/>
        <dsp:cNvSpPr/>
      </dsp:nvSpPr>
      <dsp:spPr>
        <a:xfrm>
          <a:off x="1088746" y="1767650"/>
          <a:ext cx="3920268" cy="3732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889000">
            <a:lnSpc>
              <a:spcPct val="90000"/>
            </a:lnSpc>
            <a:spcBef>
              <a:spcPct val="0"/>
            </a:spcBef>
            <a:spcAft>
              <a:spcPct val="35000"/>
            </a:spcAft>
            <a:buNone/>
          </a:pPr>
          <a:r>
            <a:rPr lang="en-GB" sz="2000" kern="1200" dirty="0">
              <a:sym typeface="Wingdings" panose="05000000000000000000" pitchFamily="2" charset="2"/>
            </a:rPr>
            <a:t> </a:t>
          </a:r>
          <a:r>
            <a:rPr lang="en-GB" sz="2000" kern="1200" dirty="0"/>
            <a:t> Distinct stages, clear stages</a:t>
          </a:r>
          <a:br>
            <a:rPr lang="en-GB" sz="2000" kern="1200" dirty="0"/>
          </a:br>
          <a:br>
            <a:rPr lang="en-GB" sz="2000" kern="1200" dirty="0"/>
          </a:br>
          <a:r>
            <a:rPr lang="en-GB" sz="2000" kern="1200" dirty="0">
              <a:sym typeface="Wingdings" panose="05000000000000000000" pitchFamily="2" charset="2"/>
            </a:rPr>
            <a:t> </a:t>
          </a:r>
          <a:r>
            <a:rPr lang="en-GB" sz="2000" kern="1200" dirty="0"/>
            <a:t> Agree / review each stage 	No need to revisit</a:t>
          </a:r>
          <a:br>
            <a:rPr lang="en-GB" sz="2000" kern="1200" dirty="0"/>
          </a:br>
          <a:br>
            <a:rPr lang="en-GB" sz="2000" kern="1200" dirty="0"/>
          </a:br>
          <a:r>
            <a:rPr lang="en-GB" sz="2000" kern="1200" dirty="0">
              <a:sym typeface="Wingdings" panose="05000000000000000000" pitchFamily="2" charset="2"/>
            </a:rPr>
            <a:t> </a:t>
          </a:r>
          <a:r>
            <a:rPr lang="en-GB" sz="2000" kern="1200" dirty="0"/>
            <a:t> Details designs and 	specifications</a:t>
          </a:r>
          <a:br>
            <a:rPr lang="en-GB" sz="2000" kern="1200" dirty="0"/>
          </a:br>
          <a:br>
            <a:rPr lang="en-GB" sz="2000" kern="1200" dirty="0"/>
          </a:br>
          <a:r>
            <a:rPr lang="en-GB" sz="2000" kern="1200" dirty="0">
              <a:sym typeface="Wingdings" panose="05000000000000000000" pitchFamily="2" charset="2"/>
            </a:rPr>
            <a:t> </a:t>
          </a:r>
          <a:r>
            <a:rPr lang="en-GB" sz="2000" kern="1200" dirty="0"/>
            <a:t> Controls cost and </a:t>
          </a:r>
          <a:br>
            <a:rPr lang="en-GB" sz="2000" kern="1200" dirty="0"/>
          </a:br>
          <a:r>
            <a:rPr lang="en-GB" sz="2000" kern="1200" dirty="0"/>
            <a:t>	scope creep</a:t>
          </a:r>
          <a:br>
            <a:rPr lang="en-GB" sz="2000" kern="1200" dirty="0"/>
          </a:br>
          <a:br>
            <a:rPr lang="en-GB" sz="2000" kern="1200" dirty="0"/>
          </a:br>
          <a:r>
            <a:rPr lang="en-GB" sz="2000" kern="1200" dirty="0">
              <a:sym typeface="Wingdings" panose="05000000000000000000" pitchFamily="2" charset="2"/>
            </a:rPr>
            <a:t></a:t>
          </a:r>
          <a:r>
            <a:rPr lang="en-GB" sz="2000" kern="1200" dirty="0"/>
            <a:t> Simple and intuitive</a:t>
          </a:r>
        </a:p>
      </dsp:txBody>
      <dsp:txXfrm>
        <a:off x="1088746" y="1767650"/>
        <a:ext cx="3920268" cy="3732371"/>
      </dsp:txXfrm>
    </dsp:sp>
    <dsp:sp modelId="{F640D1F9-4FA5-48D3-B8CE-506D7300291F}">
      <dsp:nvSpPr>
        <dsp:cNvPr id="0" name=""/>
        <dsp:cNvSpPr/>
      </dsp:nvSpPr>
      <dsp:spPr>
        <a:xfrm>
          <a:off x="5096347" y="1767650"/>
          <a:ext cx="3920268" cy="3732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889000">
            <a:lnSpc>
              <a:spcPct val="90000"/>
            </a:lnSpc>
            <a:spcBef>
              <a:spcPct val="0"/>
            </a:spcBef>
            <a:spcAft>
              <a:spcPct val="35000"/>
            </a:spcAft>
            <a:buNone/>
          </a:pPr>
          <a:r>
            <a:rPr lang="en-GB" sz="2000" kern="1200" dirty="0">
              <a:sym typeface="Wingdings" panose="05000000000000000000" pitchFamily="2" charset="2"/>
            </a:rPr>
            <a:t> </a:t>
          </a:r>
          <a:r>
            <a:rPr lang="en-GB" sz="2000" kern="1200" dirty="0"/>
            <a:t> Depends on each stage 	done properly</a:t>
          </a:r>
          <a:br>
            <a:rPr lang="en-GB" sz="2000" kern="1200" dirty="0"/>
          </a:br>
          <a:br>
            <a:rPr lang="en-GB" sz="2000" kern="1200" dirty="0"/>
          </a:br>
          <a:r>
            <a:rPr lang="en-GB" sz="2000" kern="1200" dirty="0">
              <a:sym typeface="Wingdings" panose="05000000000000000000" pitchFamily="2" charset="2"/>
            </a:rPr>
            <a:t> </a:t>
          </a:r>
          <a:r>
            <a:rPr lang="en-GB" sz="2000" kern="1200" dirty="0"/>
            <a:t> Long timescales for 	complex projects</a:t>
          </a:r>
          <a:br>
            <a:rPr lang="en-GB" sz="2000" kern="1200" dirty="0"/>
          </a:br>
          <a:br>
            <a:rPr lang="en-GB" sz="2000" kern="1200" dirty="0"/>
          </a:br>
          <a:r>
            <a:rPr lang="en-GB" sz="2000" kern="1200" dirty="0">
              <a:sym typeface="Wingdings" panose="05000000000000000000" pitchFamily="2" charset="2"/>
            </a:rPr>
            <a:t> </a:t>
          </a:r>
          <a:r>
            <a:rPr lang="en-GB" sz="2000" kern="1200" dirty="0"/>
            <a:t> Changing requirements</a:t>
          </a:r>
          <a:br>
            <a:rPr lang="en-GB" sz="2000" kern="1200" dirty="0"/>
          </a:br>
          <a:br>
            <a:rPr lang="en-GB" sz="2000" kern="1200" dirty="0"/>
          </a:br>
          <a:r>
            <a:rPr lang="en-GB" sz="2000" kern="1200" dirty="0">
              <a:sym typeface="Wingdings" panose="05000000000000000000" pitchFamily="2" charset="2"/>
            </a:rPr>
            <a:t> </a:t>
          </a:r>
          <a:r>
            <a:rPr lang="en-GB" sz="2000" kern="1200" dirty="0"/>
            <a:t> No value until 	implemented</a:t>
          </a:r>
          <a:br>
            <a:rPr lang="en-GB" sz="2000" kern="1200" dirty="0"/>
          </a:br>
          <a:br>
            <a:rPr lang="en-GB" sz="2000" kern="1200" dirty="0"/>
          </a:br>
          <a:r>
            <a:rPr lang="en-GB" sz="2000" kern="1200" dirty="0">
              <a:sym typeface="Wingdings" panose="05000000000000000000" pitchFamily="2" charset="2"/>
            </a:rPr>
            <a:t> </a:t>
          </a:r>
          <a:r>
            <a:rPr lang="en-GB" sz="2000" kern="1200" dirty="0"/>
            <a:t> If stopped early, no value</a:t>
          </a:r>
        </a:p>
      </dsp:txBody>
      <dsp:txXfrm>
        <a:off x="5096347" y="1767650"/>
        <a:ext cx="3920268" cy="3732371"/>
      </dsp:txXfrm>
    </dsp:sp>
    <dsp:sp modelId="{FD7427EE-9A5E-46BF-84A9-0B2CEBE06D6E}">
      <dsp:nvSpPr>
        <dsp:cNvPr id="0" name=""/>
        <dsp:cNvSpPr/>
      </dsp:nvSpPr>
      <dsp:spPr>
        <a:xfrm>
          <a:off x="416365" y="860120"/>
          <a:ext cx="743136" cy="697986"/>
        </a:xfrm>
        <a:prstGeom prst="plus">
          <a:avLst>
            <a:gd name="adj" fmla="val 32810"/>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8CE50869-3430-42AB-8956-79E6A51C7773}">
      <dsp:nvSpPr>
        <dsp:cNvPr id="0" name=""/>
        <dsp:cNvSpPr/>
      </dsp:nvSpPr>
      <dsp:spPr>
        <a:xfrm>
          <a:off x="8493667" y="1131056"/>
          <a:ext cx="793602" cy="225038"/>
        </a:xfrm>
        <a:prstGeom prst="rect">
          <a:avLst/>
        </a:prstGeom>
        <a:solidFill>
          <a:schemeClr val="accent3">
            <a:hueOff val="2470397"/>
            <a:satOff val="0"/>
            <a:lumOff val="25098"/>
            <a:alphaOff val="0"/>
          </a:schemeClr>
        </a:solidFill>
        <a:ln w="6350" cap="flat" cmpd="sng" algn="ctr">
          <a:solidFill>
            <a:schemeClr val="accent3">
              <a:hueOff val="2470397"/>
              <a:satOff val="0"/>
              <a:lumOff val="25098"/>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CBAF0FFD-5932-411E-8D6A-16A93F357B02}">
      <dsp:nvSpPr>
        <dsp:cNvPr id="0" name=""/>
        <dsp:cNvSpPr/>
      </dsp:nvSpPr>
      <dsp:spPr>
        <a:xfrm>
          <a:off x="5057532" y="1775631"/>
          <a:ext cx="970" cy="3564774"/>
        </a:xfrm>
        <a:prstGeom prst="line">
          <a:avLst/>
        </a:prstGeom>
        <a:noFill/>
        <a:ln w="12700" cap="flat" cmpd="sng" algn="ctr">
          <a:solidFill>
            <a:schemeClr val="accent3">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4F2265-82E8-4A60-BE5A-2C1C4A35755E}">
      <dsp:nvSpPr>
        <dsp:cNvPr id="0" name=""/>
        <dsp:cNvSpPr/>
      </dsp:nvSpPr>
      <dsp:spPr>
        <a:xfrm>
          <a:off x="210200" y="1425128"/>
          <a:ext cx="9330784" cy="4362858"/>
        </a:xfrm>
        <a:prstGeom prst="rect">
          <a:avLst/>
        </a:prstGeom>
        <a:solidFill>
          <a:schemeClr val="accent3">
            <a:tint val="50000"/>
            <a:hueOff val="0"/>
            <a:satOff val="0"/>
            <a:lumOff val="0"/>
            <a:alphaOff val="0"/>
          </a:schemeClr>
        </a:solidFill>
        <a:ln>
          <a:noFill/>
        </a:ln>
        <a:effectLst/>
        <a:scene3d>
          <a:camera prst="orthographicFront"/>
          <a:lightRig rig="chilly" dir="t"/>
        </a:scene3d>
        <a:sp3d z="-25700" extrusionH="63500" contourW="12700" prstMaterial="matte">
          <a:contourClr>
            <a:schemeClr val="lt1"/>
          </a:contourClr>
        </a:sp3d>
      </dsp:spPr>
      <dsp:style>
        <a:lnRef idx="0">
          <a:scrgbClr r="0" g="0" b="0"/>
        </a:lnRef>
        <a:fillRef idx="1">
          <a:scrgbClr r="0" g="0" b="0"/>
        </a:fillRef>
        <a:effectRef idx="0">
          <a:scrgbClr r="0" g="0" b="0"/>
        </a:effectRef>
        <a:fontRef idx="minor"/>
      </dsp:style>
    </dsp:sp>
    <dsp:sp modelId="{BBE4600A-D555-4730-80A5-365FD1C7A5DC}">
      <dsp:nvSpPr>
        <dsp:cNvPr id="0" name=""/>
        <dsp:cNvSpPr/>
      </dsp:nvSpPr>
      <dsp:spPr>
        <a:xfrm>
          <a:off x="918118" y="1856358"/>
          <a:ext cx="3920268" cy="3732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977900">
            <a:lnSpc>
              <a:spcPct val="90000"/>
            </a:lnSpc>
            <a:spcBef>
              <a:spcPct val="0"/>
            </a:spcBef>
            <a:spcAft>
              <a:spcPct val="35000"/>
            </a:spcAft>
            <a:buNone/>
          </a:pPr>
          <a:r>
            <a:rPr lang="en-GB" sz="2200" kern="1200" dirty="0">
              <a:sym typeface="Wingdings" panose="05000000000000000000" pitchFamily="2" charset="2"/>
            </a:rPr>
            <a:t>  </a:t>
          </a:r>
          <a:r>
            <a:rPr lang="en-GB" sz="2200" kern="1200" dirty="0"/>
            <a:t>Safe and signed off</a:t>
          </a:r>
        </a:p>
        <a:p>
          <a:pPr marL="0" lvl="0" indent="0" algn="l" defTabSz="977900">
            <a:lnSpc>
              <a:spcPct val="90000"/>
            </a:lnSpc>
            <a:spcBef>
              <a:spcPct val="0"/>
            </a:spcBef>
            <a:spcAft>
              <a:spcPct val="35000"/>
            </a:spcAft>
            <a:buNone/>
          </a:pPr>
          <a:r>
            <a:rPr lang="en-GB" sz="2200" kern="1200" dirty="0">
              <a:sym typeface="Wingdings" panose="05000000000000000000" pitchFamily="2" charset="2"/>
            </a:rPr>
            <a:t>  </a:t>
          </a:r>
          <a:r>
            <a:rPr lang="en-GB" sz="2200" kern="1200" dirty="0"/>
            <a:t>Thorough</a:t>
          </a:r>
        </a:p>
        <a:p>
          <a:pPr marL="0" lvl="0" indent="0" algn="l" defTabSz="977900">
            <a:lnSpc>
              <a:spcPct val="90000"/>
            </a:lnSpc>
            <a:spcBef>
              <a:spcPct val="0"/>
            </a:spcBef>
            <a:spcAft>
              <a:spcPct val="35000"/>
            </a:spcAft>
            <a:buNone/>
          </a:pPr>
          <a:r>
            <a:rPr lang="en-GB" sz="2200" kern="1200" dirty="0">
              <a:sym typeface="Wingdings" panose="05000000000000000000" pitchFamily="2" charset="2"/>
            </a:rPr>
            <a:t>  </a:t>
          </a:r>
          <a:r>
            <a:rPr lang="en-GB" sz="2200" kern="1200" dirty="0"/>
            <a:t>Quality built in</a:t>
          </a:r>
        </a:p>
        <a:p>
          <a:pPr marL="0" lvl="0" indent="0" algn="l" defTabSz="977900">
            <a:lnSpc>
              <a:spcPct val="90000"/>
            </a:lnSpc>
            <a:spcBef>
              <a:spcPct val="0"/>
            </a:spcBef>
            <a:spcAft>
              <a:spcPct val="35000"/>
            </a:spcAft>
            <a:buNone/>
          </a:pPr>
          <a:r>
            <a:rPr lang="en-GB" sz="2200" kern="1200" dirty="0">
              <a:sym typeface="Wingdings" panose="05000000000000000000" pitchFamily="2" charset="2"/>
            </a:rPr>
            <a:t>  </a:t>
          </a:r>
          <a:r>
            <a:rPr lang="en-GB" sz="2200" kern="1200" dirty="0"/>
            <a:t>Easy to manage</a:t>
          </a:r>
        </a:p>
        <a:p>
          <a:pPr marL="0" lvl="0" indent="0" algn="l" defTabSz="977900">
            <a:lnSpc>
              <a:spcPct val="90000"/>
            </a:lnSpc>
            <a:spcBef>
              <a:spcPct val="0"/>
            </a:spcBef>
            <a:spcAft>
              <a:spcPct val="35000"/>
            </a:spcAft>
            <a:buNone/>
          </a:pPr>
          <a:r>
            <a:rPr lang="en-GB" sz="2200" kern="1200" dirty="0">
              <a:sym typeface="Wingdings" panose="05000000000000000000" pitchFamily="2" charset="2"/>
            </a:rPr>
            <a:t>  </a:t>
          </a:r>
          <a:r>
            <a:rPr lang="en-GB" sz="2200" kern="1200" dirty="0"/>
            <a:t>Design based on all 	requirements</a:t>
          </a:r>
        </a:p>
        <a:p>
          <a:pPr marL="0" lvl="0" indent="0" algn="l" defTabSz="977900">
            <a:lnSpc>
              <a:spcPct val="90000"/>
            </a:lnSpc>
            <a:spcBef>
              <a:spcPct val="0"/>
            </a:spcBef>
            <a:spcAft>
              <a:spcPct val="35000"/>
            </a:spcAft>
            <a:buNone/>
          </a:pPr>
          <a:r>
            <a:rPr lang="en-GB" sz="2200" kern="1200" dirty="0">
              <a:sym typeface="Wingdings" panose="05000000000000000000" pitchFamily="2" charset="2"/>
            </a:rPr>
            <a:t>  </a:t>
          </a:r>
          <a:r>
            <a:rPr lang="en-GB" sz="2200" kern="1200" dirty="0"/>
            <a:t>Good documentation</a:t>
          </a:r>
        </a:p>
      </dsp:txBody>
      <dsp:txXfrm>
        <a:off x="918118" y="1856358"/>
        <a:ext cx="3920268" cy="3732371"/>
      </dsp:txXfrm>
    </dsp:sp>
    <dsp:sp modelId="{F640D1F9-4FA5-48D3-B8CE-506D7300291F}">
      <dsp:nvSpPr>
        <dsp:cNvPr id="0" name=""/>
        <dsp:cNvSpPr/>
      </dsp:nvSpPr>
      <dsp:spPr>
        <a:xfrm>
          <a:off x="4925719" y="1856358"/>
          <a:ext cx="3920268" cy="3732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977900">
            <a:lnSpc>
              <a:spcPct val="90000"/>
            </a:lnSpc>
            <a:spcBef>
              <a:spcPct val="0"/>
            </a:spcBef>
            <a:spcAft>
              <a:spcPct val="35000"/>
            </a:spcAft>
            <a:buNone/>
          </a:pPr>
          <a:r>
            <a:rPr lang="en-GB" sz="2200" kern="1200" dirty="0">
              <a:sym typeface="Wingdings" panose="05000000000000000000" pitchFamily="2" charset="2"/>
            </a:rPr>
            <a:t>  </a:t>
          </a:r>
          <a:r>
            <a:rPr lang="en-GB" sz="2200" kern="1200" dirty="0"/>
            <a:t>Difficult to go back</a:t>
          </a:r>
        </a:p>
        <a:p>
          <a:pPr marL="0" lvl="0" indent="0" algn="l" defTabSz="977900">
            <a:lnSpc>
              <a:spcPct val="90000"/>
            </a:lnSpc>
            <a:spcBef>
              <a:spcPct val="0"/>
            </a:spcBef>
            <a:spcAft>
              <a:spcPct val="35000"/>
            </a:spcAft>
            <a:buNone/>
          </a:pPr>
          <a:r>
            <a:rPr lang="en-GB" sz="2200" kern="1200" dirty="0">
              <a:sym typeface="Wingdings" panose="05000000000000000000" pitchFamily="2" charset="2"/>
            </a:rPr>
            <a:t>  </a:t>
          </a:r>
          <a:r>
            <a:rPr lang="en-GB" sz="2200" kern="1200" dirty="0"/>
            <a:t>Lack of user 	involvement</a:t>
          </a:r>
        </a:p>
        <a:p>
          <a:pPr marL="0" lvl="0" indent="0" algn="l" defTabSz="977900">
            <a:lnSpc>
              <a:spcPct val="90000"/>
            </a:lnSpc>
            <a:spcBef>
              <a:spcPct val="0"/>
            </a:spcBef>
            <a:spcAft>
              <a:spcPct val="35000"/>
            </a:spcAft>
            <a:buNone/>
          </a:pPr>
          <a:r>
            <a:rPr lang="en-GB" sz="2200" kern="1200" dirty="0">
              <a:sym typeface="Wingdings" panose="05000000000000000000" pitchFamily="2" charset="2"/>
            </a:rPr>
            <a:t>  </a:t>
          </a:r>
          <a:r>
            <a:rPr lang="en-GB" sz="2200" kern="1200" dirty="0"/>
            <a:t>No early vision of system</a:t>
          </a:r>
        </a:p>
        <a:p>
          <a:pPr marL="0" lvl="0" indent="0" algn="l" defTabSz="977900">
            <a:lnSpc>
              <a:spcPct val="90000"/>
            </a:lnSpc>
            <a:spcBef>
              <a:spcPct val="0"/>
            </a:spcBef>
            <a:spcAft>
              <a:spcPct val="35000"/>
            </a:spcAft>
            <a:buNone/>
          </a:pPr>
          <a:r>
            <a:rPr lang="en-GB" sz="2200" kern="1200" dirty="0">
              <a:sym typeface="Wingdings" panose="05000000000000000000" pitchFamily="2" charset="2"/>
            </a:rPr>
            <a:t>  </a:t>
          </a:r>
          <a:r>
            <a:rPr lang="en-GB" sz="2200" kern="1200" dirty="0"/>
            <a:t>Difficult to add missing 	requirements</a:t>
          </a:r>
        </a:p>
        <a:p>
          <a:pPr marL="0" lvl="0" indent="0" algn="l" defTabSz="977900">
            <a:lnSpc>
              <a:spcPct val="90000"/>
            </a:lnSpc>
            <a:spcBef>
              <a:spcPct val="0"/>
            </a:spcBef>
            <a:spcAft>
              <a:spcPct val="35000"/>
            </a:spcAft>
            <a:buNone/>
          </a:pPr>
          <a:r>
            <a:rPr lang="en-GB" sz="2200" kern="1200" dirty="0">
              <a:sym typeface="Wingdings" panose="05000000000000000000" pitchFamily="2" charset="2"/>
            </a:rPr>
            <a:t>  </a:t>
          </a:r>
          <a:r>
            <a:rPr lang="en-GB" sz="2200" kern="1200" dirty="0"/>
            <a:t>Business change has 	high impact</a:t>
          </a:r>
        </a:p>
        <a:p>
          <a:pPr marL="0" lvl="0" indent="0" algn="l" defTabSz="977900">
            <a:lnSpc>
              <a:spcPct val="90000"/>
            </a:lnSpc>
            <a:spcBef>
              <a:spcPct val="0"/>
            </a:spcBef>
            <a:spcAft>
              <a:spcPct val="35000"/>
            </a:spcAft>
            <a:buNone/>
          </a:pPr>
          <a:r>
            <a:rPr lang="en-GB" sz="2200" kern="1200" dirty="0">
              <a:sym typeface="Wingdings" panose="05000000000000000000" pitchFamily="2" charset="2"/>
            </a:rPr>
            <a:t>  </a:t>
          </a:r>
          <a:r>
            <a:rPr lang="en-GB" sz="2200" kern="1200" dirty="0"/>
            <a:t>Fosters silo mentality</a:t>
          </a:r>
        </a:p>
      </dsp:txBody>
      <dsp:txXfrm>
        <a:off x="4925719" y="1856358"/>
        <a:ext cx="3920268" cy="3732371"/>
      </dsp:txXfrm>
    </dsp:sp>
    <dsp:sp modelId="{FD7427EE-9A5E-46BF-84A9-0B2CEBE06D6E}">
      <dsp:nvSpPr>
        <dsp:cNvPr id="0" name=""/>
        <dsp:cNvSpPr/>
      </dsp:nvSpPr>
      <dsp:spPr>
        <a:xfrm>
          <a:off x="151337" y="771412"/>
          <a:ext cx="931935" cy="1052819"/>
        </a:xfrm>
        <a:prstGeom prst="plus">
          <a:avLst>
            <a:gd name="adj" fmla="val 32810"/>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8CE50869-3430-42AB-8956-79E6A51C7773}">
      <dsp:nvSpPr>
        <dsp:cNvPr id="0" name=""/>
        <dsp:cNvSpPr/>
      </dsp:nvSpPr>
      <dsp:spPr>
        <a:xfrm>
          <a:off x="8212674" y="1157676"/>
          <a:ext cx="1014332" cy="349214"/>
        </a:xfrm>
        <a:prstGeom prst="rect">
          <a:avLst/>
        </a:prstGeom>
        <a:solidFill>
          <a:schemeClr val="accent3">
            <a:hueOff val="2470397"/>
            <a:satOff val="0"/>
            <a:lumOff val="25098"/>
            <a:alphaOff val="0"/>
          </a:schemeClr>
        </a:solidFill>
        <a:ln w="6350" cap="flat" cmpd="sng" algn="ctr">
          <a:solidFill>
            <a:schemeClr val="accent3">
              <a:hueOff val="2470397"/>
              <a:satOff val="0"/>
              <a:lumOff val="25098"/>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CBAF0FFD-5932-411E-8D6A-16A93F357B02}">
      <dsp:nvSpPr>
        <dsp:cNvPr id="0" name=""/>
        <dsp:cNvSpPr/>
      </dsp:nvSpPr>
      <dsp:spPr>
        <a:xfrm>
          <a:off x="4886904" y="1864339"/>
          <a:ext cx="970" cy="3564774"/>
        </a:xfrm>
        <a:prstGeom prst="line">
          <a:avLst/>
        </a:prstGeom>
        <a:noFill/>
        <a:ln w="12700" cap="flat" cmpd="sng" algn="ctr">
          <a:solidFill>
            <a:schemeClr val="accent3">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4F2265-82E8-4A60-BE5A-2C1C4A35755E}">
      <dsp:nvSpPr>
        <dsp:cNvPr id="0" name=""/>
        <dsp:cNvSpPr/>
      </dsp:nvSpPr>
      <dsp:spPr>
        <a:xfrm>
          <a:off x="824084" y="1290157"/>
          <a:ext cx="8442162" cy="4362858"/>
        </a:xfrm>
        <a:prstGeom prst="rect">
          <a:avLst/>
        </a:prstGeom>
        <a:solidFill>
          <a:schemeClr val="accent3">
            <a:tint val="50000"/>
            <a:hueOff val="0"/>
            <a:satOff val="0"/>
            <a:lumOff val="0"/>
            <a:alphaOff val="0"/>
          </a:schemeClr>
        </a:solidFill>
        <a:ln>
          <a:noFill/>
        </a:ln>
        <a:effectLst/>
        <a:scene3d>
          <a:camera prst="orthographicFront"/>
          <a:lightRig rig="chilly" dir="t"/>
        </a:scene3d>
        <a:sp3d z="-25700" extrusionH="63500" contourW="12700" prstMaterial="matte">
          <a:contourClr>
            <a:schemeClr val="lt1"/>
          </a:contourClr>
        </a:sp3d>
      </dsp:spPr>
      <dsp:style>
        <a:lnRef idx="0">
          <a:scrgbClr r="0" g="0" b="0"/>
        </a:lnRef>
        <a:fillRef idx="1">
          <a:scrgbClr r="0" g="0" b="0"/>
        </a:fillRef>
        <a:effectRef idx="0">
          <a:scrgbClr r="0" g="0" b="0"/>
        </a:effectRef>
        <a:fontRef idx="minor"/>
      </dsp:style>
    </dsp:sp>
    <dsp:sp modelId="{BBE4600A-D555-4730-80A5-365FD1C7A5DC}">
      <dsp:nvSpPr>
        <dsp:cNvPr id="0" name=""/>
        <dsp:cNvSpPr/>
      </dsp:nvSpPr>
      <dsp:spPr>
        <a:xfrm>
          <a:off x="1076379" y="1800399"/>
          <a:ext cx="3920268" cy="3732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005" tIns="40005" rIns="40005" bIns="40005" numCol="1" spcCol="1270" anchor="t" anchorCtr="0">
          <a:noAutofit/>
        </a:bodyPr>
        <a:lstStyle/>
        <a:p>
          <a:pPr marL="0" lvl="0" indent="0" algn="l" defTabSz="933450">
            <a:lnSpc>
              <a:spcPct val="90000"/>
            </a:lnSpc>
            <a:spcBef>
              <a:spcPct val="0"/>
            </a:spcBef>
            <a:spcAft>
              <a:spcPct val="35000"/>
            </a:spcAft>
            <a:buNone/>
          </a:pPr>
          <a:r>
            <a:rPr lang="en-GB" sz="2100" kern="1200" dirty="0">
              <a:sym typeface="Wingdings" panose="05000000000000000000" pitchFamily="2" charset="2"/>
            </a:rPr>
            <a:t>  </a:t>
          </a:r>
          <a:r>
            <a:rPr lang="en-GB" sz="2100" kern="1200" dirty="0"/>
            <a:t>Early delivery of software.</a:t>
          </a:r>
        </a:p>
        <a:p>
          <a:pPr marL="0" lvl="0" indent="0" algn="l" defTabSz="933450">
            <a:lnSpc>
              <a:spcPct val="90000"/>
            </a:lnSpc>
            <a:spcBef>
              <a:spcPct val="0"/>
            </a:spcBef>
            <a:spcAft>
              <a:spcPct val="35000"/>
            </a:spcAft>
            <a:buNone/>
          </a:pPr>
          <a:r>
            <a:rPr lang="en-GB" sz="2100" kern="1200" dirty="0">
              <a:sym typeface="Wingdings" panose="05000000000000000000" pitchFamily="2" charset="2"/>
            </a:rPr>
            <a:t>  </a:t>
          </a:r>
          <a:r>
            <a:rPr lang="en-GB" sz="2100" kern="1200" dirty="0"/>
            <a:t>Minimises project risk.</a:t>
          </a:r>
        </a:p>
        <a:p>
          <a:pPr marL="0" lvl="0" indent="0" algn="l" defTabSz="933450">
            <a:lnSpc>
              <a:spcPct val="90000"/>
            </a:lnSpc>
            <a:spcBef>
              <a:spcPct val="0"/>
            </a:spcBef>
            <a:spcAft>
              <a:spcPct val="35000"/>
            </a:spcAft>
            <a:buNone/>
          </a:pPr>
          <a:r>
            <a:rPr lang="en-GB" sz="2100" kern="1200" dirty="0">
              <a:sym typeface="Wingdings" panose="05000000000000000000" pitchFamily="2" charset="2"/>
            </a:rPr>
            <a:t>  </a:t>
          </a:r>
          <a:r>
            <a:rPr lang="en-GB" sz="2100" kern="1200" dirty="0"/>
            <a:t>Handles complex 	requirements.</a:t>
          </a:r>
        </a:p>
        <a:p>
          <a:pPr marL="0" lvl="0" indent="0" algn="l" defTabSz="933450">
            <a:lnSpc>
              <a:spcPct val="90000"/>
            </a:lnSpc>
            <a:spcBef>
              <a:spcPct val="0"/>
            </a:spcBef>
            <a:spcAft>
              <a:spcPct val="35000"/>
            </a:spcAft>
            <a:buNone/>
          </a:pPr>
          <a:r>
            <a:rPr lang="en-GB" sz="2100" kern="1200" dirty="0">
              <a:sym typeface="Wingdings" panose="05000000000000000000" pitchFamily="2" charset="2"/>
            </a:rPr>
            <a:t>  </a:t>
          </a:r>
          <a:r>
            <a:rPr lang="en-GB" sz="2100" kern="1200" dirty="0"/>
            <a:t>Increased collaboration 	with business / users.</a:t>
          </a:r>
        </a:p>
        <a:p>
          <a:pPr marL="0" lvl="0" indent="0" algn="l" defTabSz="933450">
            <a:lnSpc>
              <a:spcPct val="90000"/>
            </a:lnSpc>
            <a:spcBef>
              <a:spcPct val="0"/>
            </a:spcBef>
            <a:spcAft>
              <a:spcPct val="35000"/>
            </a:spcAft>
            <a:buNone/>
          </a:pPr>
          <a:r>
            <a:rPr lang="en-GB" sz="2100" kern="1200" dirty="0">
              <a:sym typeface="Wingdings" panose="05000000000000000000" pitchFamily="2" charset="2"/>
            </a:rPr>
            <a:t>  </a:t>
          </a:r>
          <a:r>
            <a:rPr lang="en-GB" sz="2100" kern="1200" dirty="0"/>
            <a:t>Do just enough – </a:t>
          </a:r>
          <a:br>
            <a:rPr lang="en-GB" sz="2100" kern="1200" dirty="0"/>
          </a:br>
          <a:r>
            <a:rPr lang="en-GB" sz="2100" kern="1200" dirty="0"/>
            <a:t>	refine later.</a:t>
          </a:r>
        </a:p>
      </dsp:txBody>
      <dsp:txXfrm>
        <a:off x="1076379" y="1800399"/>
        <a:ext cx="3920268" cy="3732371"/>
      </dsp:txXfrm>
    </dsp:sp>
    <dsp:sp modelId="{F640D1F9-4FA5-48D3-B8CE-506D7300291F}">
      <dsp:nvSpPr>
        <dsp:cNvPr id="0" name=""/>
        <dsp:cNvSpPr/>
      </dsp:nvSpPr>
      <dsp:spPr>
        <a:xfrm>
          <a:off x="5083980" y="1800399"/>
          <a:ext cx="3920268" cy="3732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005" tIns="40005" rIns="40005" bIns="40005" numCol="1" spcCol="1270" anchor="t" anchorCtr="0">
          <a:noAutofit/>
        </a:bodyPr>
        <a:lstStyle/>
        <a:p>
          <a:pPr marL="0" lvl="0" indent="0" algn="l" defTabSz="933450">
            <a:lnSpc>
              <a:spcPct val="90000"/>
            </a:lnSpc>
            <a:spcBef>
              <a:spcPct val="0"/>
            </a:spcBef>
            <a:spcAft>
              <a:spcPct val="35000"/>
            </a:spcAft>
            <a:buNone/>
          </a:pPr>
          <a:r>
            <a:rPr lang="en-GB" sz="2100" kern="1200" dirty="0">
              <a:sym typeface="Wingdings" panose="05000000000000000000" pitchFamily="2" charset="2"/>
            </a:rPr>
            <a:t>  </a:t>
          </a:r>
          <a:r>
            <a:rPr lang="en-GB" sz="2100" kern="1200" dirty="0"/>
            <a:t>Hard to manage project 	due to multiple 	teams, iterations and 	complex products</a:t>
          </a:r>
        </a:p>
        <a:p>
          <a:pPr marL="0" lvl="0" indent="0" algn="l" defTabSz="933450">
            <a:lnSpc>
              <a:spcPct val="90000"/>
            </a:lnSpc>
            <a:spcBef>
              <a:spcPct val="0"/>
            </a:spcBef>
            <a:spcAft>
              <a:spcPct val="35000"/>
            </a:spcAft>
            <a:buNone/>
          </a:pPr>
          <a:r>
            <a:rPr lang="en-GB" sz="2100" kern="1200" dirty="0">
              <a:sym typeface="Wingdings" panose="05000000000000000000" pitchFamily="2" charset="2"/>
            </a:rPr>
            <a:t>  </a:t>
          </a:r>
          <a:r>
            <a:rPr lang="en-GB" sz="2100" kern="1200" dirty="0"/>
            <a:t>Danger of scope creep</a:t>
          </a:r>
        </a:p>
        <a:p>
          <a:pPr marL="0" lvl="0" indent="0" algn="l" defTabSz="933450">
            <a:lnSpc>
              <a:spcPct val="90000"/>
            </a:lnSpc>
            <a:spcBef>
              <a:spcPct val="0"/>
            </a:spcBef>
            <a:spcAft>
              <a:spcPct val="35000"/>
            </a:spcAft>
            <a:buNone/>
          </a:pPr>
          <a:r>
            <a:rPr lang="en-GB" sz="2100" kern="1200" dirty="0">
              <a:sym typeface="Wingdings" panose="05000000000000000000" pitchFamily="2" charset="2"/>
            </a:rPr>
            <a:t>  </a:t>
          </a:r>
          <a:r>
            <a:rPr lang="en-GB" sz="2100" kern="1200" dirty="0"/>
            <a:t>Costs higher due to extra 	integration &amp; testing</a:t>
          </a:r>
        </a:p>
        <a:p>
          <a:pPr marL="0" lvl="0" indent="0" algn="l" defTabSz="933450">
            <a:lnSpc>
              <a:spcPct val="90000"/>
            </a:lnSpc>
            <a:spcBef>
              <a:spcPct val="0"/>
            </a:spcBef>
            <a:spcAft>
              <a:spcPct val="35000"/>
            </a:spcAft>
            <a:buNone/>
          </a:pPr>
          <a:r>
            <a:rPr lang="en-GB" sz="2100" kern="1200" dirty="0">
              <a:sym typeface="Wingdings" panose="05000000000000000000" pitchFamily="2" charset="2"/>
            </a:rPr>
            <a:t>  </a:t>
          </a:r>
          <a:r>
            <a:rPr lang="en-GB" sz="2100" kern="1200" dirty="0"/>
            <a:t>Danger of over promising 	early functionality</a:t>
          </a:r>
        </a:p>
      </dsp:txBody>
      <dsp:txXfrm>
        <a:off x="5083980" y="1800399"/>
        <a:ext cx="3920268" cy="3732371"/>
      </dsp:txXfrm>
    </dsp:sp>
    <dsp:sp modelId="{FD7427EE-9A5E-46BF-84A9-0B2CEBE06D6E}">
      <dsp:nvSpPr>
        <dsp:cNvPr id="0" name=""/>
        <dsp:cNvSpPr/>
      </dsp:nvSpPr>
      <dsp:spPr>
        <a:xfrm>
          <a:off x="361000" y="827371"/>
          <a:ext cx="829130" cy="828982"/>
        </a:xfrm>
        <a:prstGeom prst="plus">
          <a:avLst>
            <a:gd name="adj" fmla="val 32810"/>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8CE50869-3430-42AB-8956-79E6A51C7773}">
      <dsp:nvSpPr>
        <dsp:cNvPr id="0" name=""/>
        <dsp:cNvSpPr/>
      </dsp:nvSpPr>
      <dsp:spPr>
        <a:xfrm>
          <a:off x="8413569" y="1110785"/>
          <a:ext cx="929064" cy="331077"/>
        </a:xfrm>
        <a:prstGeom prst="rect">
          <a:avLst/>
        </a:prstGeom>
        <a:solidFill>
          <a:schemeClr val="accent3">
            <a:hueOff val="2470397"/>
            <a:satOff val="0"/>
            <a:lumOff val="25098"/>
            <a:alphaOff val="0"/>
          </a:schemeClr>
        </a:solidFill>
        <a:ln w="6350" cap="flat" cmpd="sng" algn="ctr">
          <a:solidFill>
            <a:schemeClr val="accent3">
              <a:hueOff val="2470397"/>
              <a:satOff val="0"/>
              <a:lumOff val="25098"/>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CBAF0FFD-5932-411E-8D6A-16A93F357B02}">
      <dsp:nvSpPr>
        <dsp:cNvPr id="0" name=""/>
        <dsp:cNvSpPr/>
      </dsp:nvSpPr>
      <dsp:spPr>
        <a:xfrm>
          <a:off x="5045165" y="1808380"/>
          <a:ext cx="970" cy="3564774"/>
        </a:xfrm>
        <a:prstGeom prst="line">
          <a:avLst/>
        </a:prstGeom>
        <a:noFill/>
        <a:ln w="12700" cap="flat" cmpd="sng" algn="ctr">
          <a:solidFill>
            <a:schemeClr val="accent3">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4F2265-82E8-4A60-BE5A-2C1C4A35755E}">
      <dsp:nvSpPr>
        <dsp:cNvPr id="0" name=""/>
        <dsp:cNvSpPr/>
      </dsp:nvSpPr>
      <dsp:spPr>
        <a:xfrm>
          <a:off x="787395" y="1288194"/>
          <a:ext cx="8442162" cy="4362858"/>
        </a:xfrm>
        <a:prstGeom prst="rect">
          <a:avLst/>
        </a:prstGeom>
        <a:solidFill>
          <a:schemeClr val="accent3">
            <a:tint val="50000"/>
            <a:hueOff val="0"/>
            <a:satOff val="0"/>
            <a:lumOff val="0"/>
            <a:alphaOff val="0"/>
          </a:schemeClr>
        </a:solidFill>
        <a:ln>
          <a:noFill/>
        </a:ln>
        <a:effectLst/>
        <a:scene3d>
          <a:camera prst="orthographicFront"/>
          <a:lightRig rig="chilly" dir="t"/>
        </a:scene3d>
        <a:sp3d z="-25700" extrusionH="63500" contourW="12700" prstMaterial="matte">
          <a:contourClr>
            <a:schemeClr val="lt1"/>
          </a:contourClr>
        </a:sp3d>
      </dsp:spPr>
      <dsp:style>
        <a:lnRef idx="0">
          <a:scrgbClr r="0" g="0" b="0"/>
        </a:lnRef>
        <a:fillRef idx="1">
          <a:scrgbClr r="0" g="0" b="0"/>
        </a:fillRef>
        <a:effectRef idx="0">
          <a:scrgbClr r="0" g="0" b="0"/>
        </a:effectRef>
        <a:fontRef idx="minor"/>
      </dsp:style>
    </dsp:sp>
    <dsp:sp modelId="{BBE4600A-D555-4730-80A5-365FD1C7A5DC}">
      <dsp:nvSpPr>
        <dsp:cNvPr id="0" name=""/>
        <dsp:cNvSpPr/>
      </dsp:nvSpPr>
      <dsp:spPr>
        <a:xfrm>
          <a:off x="1039690" y="1798436"/>
          <a:ext cx="3920268" cy="3732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889000">
            <a:lnSpc>
              <a:spcPct val="90000"/>
            </a:lnSpc>
            <a:spcBef>
              <a:spcPct val="0"/>
            </a:spcBef>
            <a:spcAft>
              <a:spcPct val="35000"/>
            </a:spcAft>
            <a:buNone/>
          </a:pPr>
          <a:r>
            <a:rPr lang="en-GB" sz="2000" kern="1200" dirty="0">
              <a:sym typeface="Wingdings" panose="05000000000000000000" pitchFamily="2" charset="2"/>
            </a:rPr>
            <a:t>  </a:t>
          </a:r>
          <a:r>
            <a:rPr lang="en-GB" sz="2000" kern="1200" dirty="0"/>
            <a:t>Delivers software 	early.</a:t>
          </a:r>
        </a:p>
        <a:p>
          <a:pPr marL="0" lvl="0" indent="0" algn="l" defTabSz="889000">
            <a:lnSpc>
              <a:spcPct val="90000"/>
            </a:lnSpc>
            <a:spcBef>
              <a:spcPct val="0"/>
            </a:spcBef>
            <a:spcAft>
              <a:spcPct val="35000"/>
            </a:spcAft>
            <a:buNone/>
          </a:pPr>
          <a:r>
            <a:rPr lang="en-GB" sz="2000" kern="1200" dirty="0">
              <a:sym typeface="Wingdings" panose="05000000000000000000" pitchFamily="2" charset="2"/>
            </a:rPr>
            <a:t>  </a:t>
          </a:r>
          <a:r>
            <a:rPr lang="en-GB" sz="2000" kern="1200" dirty="0"/>
            <a:t>Easier to manage risks by identifying and handling in early increments.</a:t>
          </a:r>
        </a:p>
        <a:p>
          <a:pPr marL="0" lvl="0" indent="0" algn="l" defTabSz="889000">
            <a:lnSpc>
              <a:spcPct val="90000"/>
            </a:lnSpc>
            <a:spcBef>
              <a:spcPct val="0"/>
            </a:spcBef>
            <a:spcAft>
              <a:spcPct val="35000"/>
            </a:spcAft>
            <a:buNone/>
          </a:pPr>
          <a:r>
            <a:rPr lang="en-GB" sz="2000" kern="1200" dirty="0">
              <a:sym typeface="Wingdings" panose="05000000000000000000" pitchFamily="2" charset="2"/>
            </a:rPr>
            <a:t>  </a:t>
          </a:r>
          <a:r>
            <a:rPr lang="en-GB" sz="2000" kern="1200" dirty="0"/>
            <a:t>Easier to test and debug 	smaller increments.</a:t>
          </a:r>
        </a:p>
        <a:p>
          <a:pPr marL="0" lvl="0" indent="0" algn="l" defTabSz="889000">
            <a:lnSpc>
              <a:spcPct val="90000"/>
            </a:lnSpc>
            <a:spcBef>
              <a:spcPct val="0"/>
            </a:spcBef>
            <a:spcAft>
              <a:spcPct val="35000"/>
            </a:spcAft>
            <a:buNone/>
          </a:pPr>
          <a:r>
            <a:rPr lang="en-GB" sz="2000" kern="1200" dirty="0">
              <a:sym typeface="Wingdings" panose="05000000000000000000" pitchFamily="2" charset="2"/>
            </a:rPr>
            <a:t>  </a:t>
          </a:r>
          <a:r>
            <a:rPr lang="en-GB" sz="2000" kern="1200" dirty="0"/>
            <a:t>Overall delivery time can 	be reduced by 	building increments in 	parallel.</a:t>
          </a:r>
        </a:p>
      </dsp:txBody>
      <dsp:txXfrm>
        <a:off x="1039690" y="1798436"/>
        <a:ext cx="3920268" cy="3732371"/>
      </dsp:txXfrm>
    </dsp:sp>
    <dsp:sp modelId="{F640D1F9-4FA5-48D3-B8CE-506D7300291F}">
      <dsp:nvSpPr>
        <dsp:cNvPr id="0" name=""/>
        <dsp:cNvSpPr/>
      </dsp:nvSpPr>
      <dsp:spPr>
        <a:xfrm>
          <a:off x="5047291" y="1798436"/>
          <a:ext cx="3920268" cy="3732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889000">
            <a:lnSpc>
              <a:spcPct val="90000"/>
            </a:lnSpc>
            <a:spcBef>
              <a:spcPct val="0"/>
            </a:spcBef>
            <a:spcAft>
              <a:spcPct val="35000"/>
            </a:spcAft>
            <a:buNone/>
          </a:pPr>
          <a:r>
            <a:rPr lang="en-GB" sz="2000" kern="1200" dirty="0">
              <a:sym typeface="Wingdings" panose="05000000000000000000" pitchFamily="2" charset="2"/>
            </a:rPr>
            <a:t>  </a:t>
          </a:r>
          <a:r>
            <a:rPr lang="en-GB" sz="2000" kern="1200" dirty="0"/>
            <a:t>Hard to manage parallel 	deliveries.</a:t>
          </a:r>
        </a:p>
        <a:p>
          <a:pPr marL="0" lvl="0" indent="0" algn="l" defTabSz="889000">
            <a:lnSpc>
              <a:spcPct val="90000"/>
            </a:lnSpc>
            <a:spcBef>
              <a:spcPct val="0"/>
            </a:spcBef>
            <a:spcAft>
              <a:spcPct val="35000"/>
            </a:spcAft>
            <a:buNone/>
          </a:pPr>
          <a:r>
            <a:rPr lang="en-GB" sz="2000" kern="1200" dirty="0">
              <a:sym typeface="Wingdings" panose="05000000000000000000" pitchFamily="2" charset="2"/>
            </a:rPr>
            <a:t>  </a:t>
          </a:r>
          <a:r>
            <a:rPr lang="en-GB" sz="2000" kern="1200" dirty="0"/>
            <a:t>Still hard to manage change as requirements are agreed before increments are decided.</a:t>
          </a:r>
        </a:p>
        <a:p>
          <a:pPr marL="0" lvl="0" indent="0" algn="l" defTabSz="889000">
            <a:lnSpc>
              <a:spcPct val="90000"/>
            </a:lnSpc>
            <a:spcBef>
              <a:spcPct val="0"/>
            </a:spcBef>
            <a:spcAft>
              <a:spcPct val="35000"/>
            </a:spcAft>
            <a:buNone/>
          </a:pPr>
          <a:r>
            <a:rPr lang="en-GB" sz="2000" kern="1200" dirty="0">
              <a:sym typeface="Wingdings" panose="05000000000000000000" pitchFamily="2" charset="2"/>
            </a:rPr>
            <a:t>  </a:t>
          </a:r>
          <a:r>
            <a:rPr lang="en-GB" sz="2000" kern="1200" dirty="0"/>
            <a:t>Overall costs can be higher due to the additional overheads of parallel implementation and additional regression testing.</a:t>
          </a:r>
        </a:p>
      </dsp:txBody>
      <dsp:txXfrm>
        <a:off x="5047291" y="1798436"/>
        <a:ext cx="3920268" cy="3732371"/>
      </dsp:txXfrm>
    </dsp:sp>
    <dsp:sp modelId="{FD7427EE-9A5E-46BF-84A9-0B2CEBE06D6E}">
      <dsp:nvSpPr>
        <dsp:cNvPr id="0" name=""/>
        <dsp:cNvSpPr/>
      </dsp:nvSpPr>
      <dsp:spPr>
        <a:xfrm>
          <a:off x="290445" y="829334"/>
          <a:ext cx="896864" cy="821130"/>
        </a:xfrm>
        <a:prstGeom prst="plus">
          <a:avLst>
            <a:gd name="adj" fmla="val 32810"/>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8CE50869-3430-42AB-8956-79E6A51C7773}">
      <dsp:nvSpPr>
        <dsp:cNvPr id="0" name=""/>
        <dsp:cNvSpPr/>
      </dsp:nvSpPr>
      <dsp:spPr>
        <a:xfrm>
          <a:off x="8269635" y="1067367"/>
          <a:ext cx="1143553" cy="413987"/>
        </a:xfrm>
        <a:prstGeom prst="rect">
          <a:avLst/>
        </a:prstGeom>
        <a:solidFill>
          <a:schemeClr val="accent3">
            <a:hueOff val="2470397"/>
            <a:satOff val="0"/>
            <a:lumOff val="25098"/>
            <a:alphaOff val="0"/>
          </a:schemeClr>
        </a:solidFill>
        <a:ln w="6350" cap="flat" cmpd="sng" algn="ctr">
          <a:solidFill>
            <a:schemeClr val="accent3">
              <a:hueOff val="2470397"/>
              <a:satOff val="0"/>
              <a:lumOff val="25098"/>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CBAF0FFD-5932-411E-8D6A-16A93F357B02}">
      <dsp:nvSpPr>
        <dsp:cNvPr id="0" name=""/>
        <dsp:cNvSpPr/>
      </dsp:nvSpPr>
      <dsp:spPr>
        <a:xfrm>
          <a:off x="5008476" y="1806417"/>
          <a:ext cx="970" cy="3564774"/>
        </a:xfrm>
        <a:prstGeom prst="line">
          <a:avLst/>
        </a:prstGeom>
        <a:noFill/>
        <a:ln w="12700" cap="flat" cmpd="sng" algn="ctr">
          <a:solidFill>
            <a:schemeClr val="accent3">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4F2265-82E8-4A60-BE5A-2C1C4A35755E}">
      <dsp:nvSpPr>
        <dsp:cNvPr id="0" name=""/>
        <dsp:cNvSpPr/>
      </dsp:nvSpPr>
      <dsp:spPr>
        <a:xfrm>
          <a:off x="822950" y="1379983"/>
          <a:ext cx="8442162" cy="4362858"/>
        </a:xfrm>
        <a:prstGeom prst="rect">
          <a:avLst/>
        </a:prstGeom>
        <a:solidFill>
          <a:schemeClr val="accent3">
            <a:tint val="50000"/>
            <a:hueOff val="0"/>
            <a:satOff val="0"/>
            <a:lumOff val="0"/>
            <a:alphaOff val="0"/>
          </a:schemeClr>
        </a:solidFill>
        <a:ln>
          <a:noFill/>
        </a:ln>
        <a:effectLst/>
        <a:scene3d>
          <a:camera prst="orthographicFront"/>
          <a:lightRig rig="chilly" dir="t"/>
        </a:scene3d>
        <a:sp3d z="-25700" extrusionH="63500" contourW="12700" prstMaterial="matte">
          <a:contourClr>
            <a:schemeClr val="lt1"/>
          </a:contourClr>
        </a:sp3d>
      </dsp:spPr>
      <dsp:style>
        <a:lnRef idx="0">
          <a:scrgbClr r="0" g="0" b="0"/>
        </a:lnRef>
        <a:fillRef idx="1">
          <a:scrgbClr r="0" g="0" b="0"/>
        </a:fillRef>
        <a:effectRef idx="0">
          <a:scrgbClr r="0" g="0" b="0"/>
        </a:effectRef>
        <a:fontRef idx="minor"/>
      </dsp:style>
    </dsp:sp>
    <dsp:sp modelId="{BBE4600A-D555-4730-80A5-365FD1C7A5DC}">
      <dsp:nvSpPr>
        <dsp:cNvPr id="0" name=""/>
        <dsp:cNvSpPr/>
      </dsp:nvSpPr>
      <dsp:spPr>
        <a:xfrm>
          <a:off x="1075245" y="1890225"/>
          <a:ext cx="3920268" cy="3732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005" tIns="40005" rIns="40005" bIns="40005" numCol="1" spcCol="1270" anchor="t" anchorCtr="0">
          <a:noAutofit/>
        </a:bodyPr>
        <a:lstStyle/>
        <a:p>
          <a:pPr marL="0" lvl="0" indent="0" algn="l" defTabSz="933450">
            <a:lnSpc>
              <a:spcPct val="90000"/>
            </a:lnSpc>
            <a:spcBef>
              <a:spcPct val="0"/>
            </a:spcBef>
            <a:spcAft>
              <a:spcPct val="35000"/>
            </a:spcAft>
            <a:buNone/>
          </a:pPr>
          <a:r>
            <a:rPr lang="en-GB" sz="2100" kern="1200" dirty="0">
              <a:sym typeface="Wingdings" panose="05000000000000000000" pitchFamily="2" charset="2"/>
            </a:rPr>
            <a:t>  </a:t>
          </a:r>
          <a:r>
            <a:rPr lang="en-GB" sz="2100" kern="1200" dirty="0"/>
            <a:t>Requirements evolve.</a:t>
          </a:r>
        </a:p>
        <a:p>
          <a:pPr marL="0" lvl="0" indent="0" algn="l" defTabSz="933450">
            <a:lnSpc>
              <a:spcPct val="90000"/>
            </a:lnSpc>
            <a:spcBef>
              <a:spcPct val="0"/>
            </a:spcBef>
            <a:spcAft>
              <a:spcPct val="35000"/>
            </a:spcAft>
            <a:buNone/>
          </a:pPr>
          <a:r>
            <a:rPr lang="en-GB" sz="2100" kern="1200" dirty="0">
              <a:sym typeface="Wingdings" panose="05000000000000000000" pitchFamily="2" charset="2"/>
            </a:rPr>
            <a:t>  </a:t>
          </a:r>
          <a:r>
            <a:rPr lang="en-GB" sz="2100" kern="1200" dirty="0"/>
            <a:t>Encourages 	collaboration.</a:t>
          </a:r>
        </a:p>
        <a:p>
          <a:pPr marL="0" lvl="0" indent="0" algn="l" defTabSz="933450">
            <a:lnSpc>
              <a:spcPct val="90000"/>
            </a:lnSpc>
            <a:spcBef>
              <a:spcPct val="0"/>
            </a:spcBef>
            <a:spcAft>
              <a:spcPct val="35000"/>
            </a:spcAft>
            <a:buNone/>
          </a:pPr>
          <a:r>
            <a:rPr lang="en-GB" sz="2100" kern="1200" dirty="0">
              <a:sym typeface="Wingdings" panose="05000000000000000000" pitchFamily="2" charset="2"/>
            </a:rPr>
            <a:t>  </a:t>
          </a:r>
          <a:r>
            <a:rPr lang="en-GB" sz="2100" kern="1200" dirty="0"/>
            <a:t>Change easier to 	manage.</a:t>
          </a:r>
        </a:p>
        <a:p>
          <a:pPr marL="0" lvl="0" indent="0" algn="l" defTabSz="933450">
            <a:lnSpc>
              <a:spcPct val="90000"/>
            </a:lnSpc>
            <a:spcBef>
              <a:spcPct val="0"/>
            </a:spcBef>
            <a:spcAft>
              <a:spcPct val="35000"/>
            </a:spcAft>
            <a:buNone/>
          </a:pPr>
          <a:r>
            <a:rPr lang="en-GB" sz="2100" kern="1200" dirty="0">
              <a:sym typeface="Wingdings" panose="05000000000000000000" pitchFamily="2" charset="2"/>
            </a:rPr>
            <a:t>  </a:t>
          </a:r>
          <a:r>
            <a:rPr lang="en-GB" sz="2100" kern="1200" dirty="0"/>
            <a:t>Cost can be controlled.</a:t>
          </a:r>
        </a:p>
      </dsp:txBody>
      <dsp:txXfrm>
        <a:off x="1075245" y="1890225"/>
        <a:ext cx="3920268" cy="3732371"/>
      </dsp:txXfrm>
    </dsp:sp>
    <dsp:sp modelId="{F640D1F9-4FA5-48D3-B8CE-506D7300291F}">
      <dsp:nvSpPr>
        <dsp:cNvPr id="0" name=""/>
        <dsp:cNvSpPr/>
      </dsp:nvSpPr>
      <dsp:spPr>
        <a:xfrm>
          <a:off x="5082846" y="1890225"/>
          <a:ext cx="3920268" cy="3732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005" tIns="40005" rIns="40005" bIns="40005" numCol="1" spcCol="1270" anchor="t" anchorCtr="0">
          <a:noAutofit/>
        </a:bodyPr>
        <a:lstStyle/>
        <a:p>
          <a:pPr marL="0" lvl="0" indent="0" algn="l" defTabSz="933450">
            <a:lnSpc>
              <a:spcPct val="90000"/>
            </a:lnSpc>
            <a:spcBef>
              <a:spcPct val="0"/>
            </a:spcBef>
            <a:spcAft>
              <a:spcPct val="35000"/>
            </a:spcAft>
            <a:buNone/>
          </a:pPr>
          <a:r>
            <a:rPr lang="en-GB" sz="2100" kern="1200" dirty="0">
              <a:sym typeface="Wingdings" panose="05000000000000000000" pitchFamily="2" charset="2"/>
            </a:rPr>
            <a:t>  </a:t>
          </a:r>
          <a:r>
            <a:rPr lang="en-GB" sz="2100" kern="1200" dirty="0"/>
            <a:t>Hard to manage due to 	multiple iterations.</a:t>
          </a:r>
        </a:p>
        <a:p>
          <a:pPr marL="0" lvl="0" indent="0" algn="l" defTabSz="933450">
            <a:lnSpc>
              <a:spcPct val="90000"/>
            </a:lnSpc>
            <a:spcBef>
              <a:spcPct val="0"/>
            </a:spcBef>
            <a:spcAft>
              <a:spcPct val="35000"/>
            </a:spcAft>
            <a:buNone/>
          </a:pPr>
          <a:r>
            <a:rPr lang="en-GB" sz="2100" kern="1200" dirty="0">
              <a:sym typeface="Wingdings" panose="05000000000000000000" pitchFamily="2" charset="2"/>
            </a:rPr>
            <a:t>  </a:t>
          </a:r>
          <a:r>
            <a:rPr lang="en-GB" sz="2100" kern="1200" dirty="0"/>
            <a:t>Evolving requirements 	result in scope 	creep.</a:t>
          </a:r>
        </a:p>
        <a:p>
          <a:pPr marL="0" lvl="0" indent="0" algn="l" defTabSz="933450">
            <a:lnSpc>
              <a:spcPct val="90000"/>
            </a:lnSpc>
            <a:spcBef>
              <a:spcPct val="0"/>
            </a:spcBef>
            <a:spcAft>
              <a:spcPct val="35000"/>
            </a:spcAft>
            <a:buNone/>
          </a:pPr>
          <a:r>
            <a:rPr lang="en-GB" sz="2100" kern="1200" dirty="0">
              <a:sym typeface="Wingdings" panose="05000000000000000000" pitchFamily="2" charset="2"/>
            </a:rPr>
            <a:t>  </a:t>
          </a:r>
          <a:r>
            <a:rPr lang="en-GB" sz="2100" kern="1200" dirty="0"/>
            <a:t>Can become like single 	Waterfall project.</a:t>
          </a:r>
        </a:p>
        <a:p>
          <a:pPr marL="0" lvl="0" indent="0" algn="l" defTabSz="933450">
            <a:lnSpc>
              <a:spcPct val="90000"/>
            </a:lnSpc>
            <a:spcBef>
              <a:spcPct val="0"/>
            </a:spcBef>
            <a:spcAft>
              <a:spcPct val="35000"/>
            </a:spcAft>
            <a:buNone/>
          </a:pPr>
          <a:r>
            <a:rPr lang="en-GB" sz="2100" kern="1200" dirty="0">
              <a:sym typeface="Wingdings" panose="05000000000000000000" pitchFamily="2" charset="2"/>
            </a:rPr>
            <a:t>  </a:t>
          </a:r>
          <a:r>
            <a:rPr lang="en-GB" sz="2100" kern="1200" dirty="0"/>
            <a:t>Higher cost due to 	additional 	integration and 	testing activities. </a:t>
          </a:r>
        </a:p>
      </dsp:txBody>
      <dsp:txXfrm>
        <a:off x="5082846" y="1890225"/>
        <a:ext cx="3920268" cy="3732371"/>
      </dsp:txXfrm>
    </dsp:sp>
    <dsp:sp modelId="{FD7427EE-9A5E-46BF-84A9-0B2CEBE06D6E}">
      <dsp:nvSpPr>
        <dsp:cNvPr id="0" name=""/>
        <dsp:cNvSpPr/>
      </dsp:nvSpPr>
      <dsp:spPr>
        <a:xfrm>
          <a:off x="258267" y="737546"/>
          <a:ext cx="1032330" cy="1188285"/>
        </a:xfrm>
        <a:prstGeom prst="plus">
          <a:avLst>
            <a:gd name="adj" fmla="val 32810"/>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8CE50869-3430-42AB-8956-79E6A51C7773}">
      <dsp:nvSpPr>
        <dsp:cNvPr id="0" name=""/>
        <dsp:cNvSpPr/>
      </dsp:nvSpPr>
      <dsp:spPr>
        <a:xfrm>
          <a:off x="8308567" y="1213378"/>
          <a:ext cx="1136800" cy="305543"/>
        </a:xfrm>
        <a:prstGeom prst="rect">
          <a:avLst/>
        </a:prstGeom>
        <a:solidFill>
          <a:schemeClr val="accent3">
            <a:hueOff val="2470397"/>
            <a:satOff val="0"/>
            <a:lumOff val="25098"/>
            <a:alphaOff val="0"/>
          </a:schemeClr>
        </a:solidFill>
        <a:ln w="6350" cap="flat" cmpd="sng" algn="ctr">
          <a:solidFill>
            <a:schemeClr val="accent3">
              <a:hueOff val="2470397"/>
              <a:satOff val="0"/>
              <a:lumOff val="25098"/>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CBAF0FFD-5932-411E-8D6A-16A93F357B02}">
      <dsp:nvSpPr>
        <dsp:cNvPr id="0" name=""/>
        <dsp:cNvSpPr/>
      </dsp:nvSpPr>
      <dsp:spPr>
        <a:xfrm>
          <a:off x="5044031" y="1898206"/>
          <a:ext cx="970" cy="3564774"/>
        </a:xfrm>
        <a:prstGeom prst="line">
          <a:avLst/>
        </a:prstGeom>
        <a:noFill/>
        <a:ln w="12700" cap="flat" cmpd="sng" algn="ctr">
          <a:solidFill>
            <a:schemeClr val="accent3">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4F2265-82E8-4A60-BE5A-2C1C4A35755E}">
      <dsp:nvSpPr>
        <dsp:cNvPr id="0" name=""/>
        <dsp:cNvSpPr/>
      </dsp:nvSpPr>
      <dsp:spPr>
        <a:xfrm>
          <a:off x="786259" y="1299486"/>
          <a:ext cx="8442162" cy="4362858"/>
        </a:xfrm>
        <a:prstGeom prst="rect">
          <a:avLst/>
        </a:prstGeom>
        <a:solidFill>
          <a:schemeClr val="accent3">
            <a:tint val="50000"/>
            <a:hueOff val="0"/>
            <a:satOff val="0"/>
            <a:lumOff val="0"/>
            <a:alphaOff val="0"/>
          </a:schemeClr>
        </a:solidFill>
        <a:ln>
          <a:noFill/>
        </a:ln>
        <a:effectLst/>
        <a:scene3d>
          <a:camera prst="orthographicFront"/>
          <a:lightRig rig="chilly" dir="t"/>
        </a:scene3d>
        <a:sp3d z="-25700" extrusionH="63500" contourW="12700" prstMaterial="matte">
          <a:contourClr>
            <a:schemeClr val="lt1"/>
          </a:contourClr>
        </a:sp3d>
      </dsp:spPr>
      <dsp:style>
        <a:lnRef idx="0">
          <a:scrgbClr r="0" g="0" b="0"/>
        </a:lnRef>
        <a:fillRef idx="1">
          <a:scrgbClr r="0" g="0" b="0"/>
        </a:fillRef>
        <a:effectRef idx="0">
          <a:scrgbClr r="0" g="0" b="0"/>
        </a:effectRef>
        <a:fontRef idx="minor"/>
      </dsp:style>
    </dsp:sp>
    <dsp:sp modelId="{BBE4600A-D555-4730-80A5-365FD1C7A5DC}">
      <dsp:nvSpPr>
        <dsp:cNvPr id="0" name=""/>
        <dsp:cNvSpPr/>
      </dsp:nvSpPr>
      <dsp:spPr>
        <a:xfrm>
          <a:off x="1038554" y="1809728"/>
          <a:ext cx="3920268" cy="3732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800100">
            <a:lnSpc>
              <a:spcPct val="90000"/>
            </a:lnSpc>
            <a:spcBef>
              <a:spcPct val="0"/>
            </a:spcBef>
            <a:spcAft>
              <a:spcPct val="35000"/>
            </a:spcAft>
            <a:buNone/>
          </a:pPr>
          <a:r>
            <a:rPr lang="en-GB" sz="1800" kern="1200" dirty="0">
              <a:sym typeface="Wingdings" panose="05000000000000000000" pitchFamily="2" charset="2"/>
            </a:rPr>
            <a:t>  </a:t>
          </a:r>
          <a:r>
            <a:rPr lang="en-GB" sz="1800" kern="1200" dirty="0"/>
            <a:t>Earlier delivery of software.</a:t>
          </a:r>
        </a:p>
        <a:p>
          <a:pPr marL="0" lvl="0" indent="0" algn="l" defTabSz="800100">
            <a:lnSpc>
              <a:spcPct val="90000"/>
            </a:lnSpc>
            <a:spcBef>
              <a:spcPct val="0"/>
            </a:spcBef>
            <a:spcAft>
              <a:spcPct val="35000"/>
            </a:spcAft>
            <a:buNone/>
          </a:pPr>
          <a:r>
            <a:rPr lang="en-GB" sz="1800" kern="1200" dirty="0">
              <a:sym typeface="Wingdings" panose="05000000000000000000" pitchFamily="2" charset="2"/>
            </a:rPr>
            <a:t>  </a:t>
          </a:r>
          <a:r>
            <a:rPr lang="en-GB" sz="1800" kern="1200" dirty="0"/>
            <a:t>Risks identified and handled sooner</a:t>
          </a:r>
        </a:p>
        <a:p>
          <a:pPr marL="0" lvl="0" indent="0" algn="l" defTabSz="800100">
            <a:lnSpc>
              <a:spcPct val="90000"/>
            </a:lnSpc>
            <a:spcBef>
              <a:spcPct val="0"/>
            </a:spcBef>
            <a:spcAft>
              <a:spcPct val="35000"/>
            </a:spcAft>
            <a:buNone/>
          </a:pPr>
          <a:br>
            <a:rPr lang="en-GB" sz="1800" kern="1200" dirty="0">
              <a:sym typeface="Wingdings" panose="05000000000000000000" pitchFamily="2" charset="2"/>
            </a:rPr>
          </a:br>
          <a:r>
            <a:rPr lang="en-GB" sz="1800" kern="1200" dirty="0">
              <a:sym typeface="Wingdings" panose="05000000000000000000" pitchFamily="2" charset="2"/>
            </a:rPr>
            <a:t>  </a:t>
          </a:r>
          <a:r>
            <a:rPr lang="en-GB" sz="1800" kern="1200" dirty="0"/>
            <a:t>Requirements evolve and change easier to manage.</a:t>
          </a:r>
          <a:br>
            <a:rPr lang="en-GB" sz="1800" kern="1200" dirty="0"/>
          </a:br>
          <a:endParaRPr lang="en-GB" sz="1800" kern="1200" dirty="0"/>
        </a:p>
        <a:p>
          <a:pPr marL="0" lvl="0" indent="0" algn="l" defTabSz="800100">
            <a:lnSpc>
              <a:spcPct val="90000"/>
            </a:lnSpc>
            <a:spcBef>
              <a:spcPct val="0"/>
            </a:spcBef>
            <a:spcAft>
              <a:spcPct val="35000"/>
            </a:spcAft>
            <a:buNone/>
          </a:pPr>
          <a:r>
            <a:rPr lang="en-GB" sz="1800" kern="1200" dirty="0">
              <a:sym typeface="Wingdings" panose="05000000000000000000" pitchFamily="2" charset="2"/>
            </a:rPr>
            <a:t>  </a:t>
          </a:r>
          <a:r>
            <a:rPr lang="en-GB" sz="1800" kern="1200" dirty="0"/>
            <a:t>Encourages collaboration so more customer buy-in.</a:t>
          </a:r>
          <a:br>
            <a:rPr lang="en-GB" sz="1800" kern="1200" dirty="0"/>
          </a:br>
          <a:endParaRPr lang="en-GB" sz="1800" kern="1200" dirty="0"/>
        </a:p>
        <a:p>
          <a:pPr marL="0" lvl="0" indent="0" algn="l" defTabSz="800100">
            <a:lnSpc>
              <a:spcPct val="90000"/>
            </a:lnSpc>
            <a:spcBef>
              <a:spcPct val="0"/>
            </a:spcBef>
            <a:spcAft>
              <a:spcPct val="35000"/>
            </a:spcAft>
            <a:buNone/>
          </a:pPr>
          <a:r>
            <a:rPr lang="en-GB" sz="1800" kern="1200" dirty="0">
              <a:sym typeface="Wingdings" panose="05000000000000000000" pitchFamily="2" charset="2"/>
            </a:rPr>
            <a:t>  </a:t>
          </a:r>
          <a:r>
            <a:rPr lang="en-GB" sz="1800" kern="1200" dirty="0"/>
            <a:t>Costs controlled.</a:t>
          </a:r>
        </a:p>
      </dsp:txBody>
      <dsp:txXfrm>
        <a:off x="1038554" y="1809728"/>
        <a:ext cx="3920268" cy="3732371"/>
      </dsp:txXfrm>
    </dsp:sp>
    <dsp:sp modelId="{F640D1F9-4FA5-48D3-B8CE-506D7300291F}">
      <dsp:nvSpPr>
        <dsp:cNvPr id="0" name=""/>
        <dsp:cNvSpPr/>
      </dsp:nvSpPr>
      <dsp:spPr>
        <a:xfrm>
          <a:off x="5046155" y="1809728"/>
          <a:ext cx="3920268" cy="3732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800100">
            <a:lnSpc>
              <a:spcPct val="90000"/>
            </a:lnSpc>
            <a:spcBef>
              <a:spcPct val="0"/>
            </a:spcBef>
            <a:spcAft>
              <a:spcPct val="35000"/>
            </a:spcAft>
            <a:buNone/>
          </a:pPr>
          <a:r>
            <a:rPr lang="en-GB" sz="1800" kern="1200" dirty="0">
              <a:sym typeface="Wingdings" panose="05000000000000000000" pitchFamily="2" charset="2"/>
            </a:rPr>
            <a:t>  </a:t>
          </a:r>
          <a:r>
            <a:rPr lang="en-GB" sz="1800" kern="1200" dirty="0"/>
            <a:t>More complex to manage 	multiple iterations and 	teams that may be 	dispersed.</a:t>
          </a:r>
        </a:p>
        <a:p>
          <a:pPr marL="0" lvl="0" indent="0" algn="l" defTabSz="800100">
            <a:lnSpc>
              <a:spcPct val="90000"/>
            </a:lnSpc>
            <a:spcBef>
              <a:spcPct val="0"/>
            </a:spcBef>
            <a:spcAft>
              <a:spcPct val="35000"/>
            </a:spcAft>
            <a:buNone/>
          </a:pPr>
          <a:r>
            <a:rPr lang="en-GB" sz="1800" kern="1200" dirty="0">
              <a:sym typeface="Wingdings" panose="05000000000000000000" pitchFamily="2" charset="2"/>
            </a:rPr>
            <a:t>  </a:t>
          </a:r>
          <a:r>
            <a:rPr lang="en-GB" sz="1800" kern="1200" dirty="0"/>
            <a:t>Danger of scope creep.</a:t>
          </a:r>
        </a:p>
        <a:p>
          <a:pPr marL="0" lvl="0" indent="0" algn="l" defTabSz="800100">
            <a:lnSpc>
              <a:spcPct val="90000"/>
            </a:lnSpc>
            <a:spcBef>
              <a:spcPct val="0"/>
            </a:spcBef>
            <a:spcAft>
              <a:spcPct val="35000"/>
            </a:spcAft>
            <a:buNone/>
          </a:pPr>
          <a:r>
            <a:rPr lang="en-GB" sz="1800" kern="1200" dirty="0">
              <a:sym typeface="Wingdings" panose="05000000000000000000" pitchFamily="2" charset="2"/>
            </a:rPr>
            <a:t>  </a:t>
          </a:r>
          <a:r>
            <a:rPr lang="en-GB" sz="1800" kern="1200" dirty="0"/>
            <a:t>Not suited when there are 	audit, regulatory, </a:t>
          </a:r>
          <a:br>
            <a:rPr lang="en-GB" sz="1800" kern="1200" dirty="0"/>
          </a:br>
          <a:r>
            <a:rPr lang="en-GB" sz="1800" kern="1200" dirty="0"/>
            <a:t>	safety-critical 	requirements in strict contractual commitments.</a:t>
          </a:r>
        </a:p>
        <a:p>
          <a:pPr marL="0" lvl="0" indent="0" algn="l" defTabSz="800100">
            <a:lnSpc>
              <a:spcPct val="90000"/>
            </a:lnSpc>
            <a:spcBef>
              <a:spcPct val="0"/>
            </a:spcBef>
            <a:spcAft>
              <a:spcPct val="35000"/>
            </a:spcAft>
            <a:buNone/>
          </a:pPr>
          <a:r>
            <a:rPr lang="en-GB" sz="1800" kern="1200" dirty="0">
              <a:sym typeface="Wingdings" panose="05000000000000000000" pitchFamily="2" charset="2"/>
            </a:rPr>
            <a:t>  </a:t>
          </a:r>
          <a:r>
            <a:rPr lang="en-GB" sz="1800" kern="1200" dirty="0"/>
            <a:t>Additional costs of testing, 	integration &amp; deployment.</a:t>
          </a:r>
        </a:p>
      </dsp:txBody>
      <dsp:txXfrm>
        <a:off x="5046155" y="1809728"/>
        <a:ext cx="3920268" cy="3732371"/>
      </dsp:txXfrm>
    </dsp:sp>
    <dsp:sp modelId="{FD7427EE-9A5E-46BF-84A9-0B2CEBE06D6E}">
      <dsp:nvSpPr>
        <dsp:cNvPr id="0" name=""/>
        <dsp:cNvSpPr/>
      </dsp:nvSpPr>
      <dsp:spPr>
        <a:xfrm>
          <a:off x="323176" y="818043"/>
          <a:ext cx="829130" cy="866296"/>
        </a:xfrm>
        <a:prstGeom prst="plus">
          <a:avLst>
            <a:gd name="adj" fmla="val 32810"/>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8CE50869-3430-42AB-8956-79E6A51C7773}">
      <dsp:nvSpPr>
        <dsp:cNvPr id="0" name=""/>
        <dsp:cNvSpPr/>
      </dsp:nvSpPr>
      <dsp:spPr>
        <a:xfrm>
          <a:off x="8300094" y="1142694"/>
          <a:ext cx="1080363" cy="285916"/>
        </a:xfrm>
        <a:prstGeom prst="rect">
          <a:avLst/>
        </a:prstGeom>
        <a:solidFill>
          <a:schemeClr val="accent3">
            <a:hueOff val="2470397"/>
            <a:satOff val="0"/>
            <a:lumOff val="25098"/>
            <a:alphaOff val="0"/>
          </a:schemeClr>
        </a:solidFill>
        <a:ln w="6350" cap="flat" cmpd="sng" algn="ctr">
          <a:solidFill>
            <a:schemeClr val="accent3">
              <a:hueOff val="2470397"/>
              <a:satOff val="0"/>
              <a:lumOff val="25098"/>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CBAF0FFD-5932-411E-8D6A-16A93F357B02}">
      <dsp:nvSpPr>
        <dsp:cNvPr id="0" name=""/>
        <dsp:cNvSpPr/>
      </dsp:nvSpPr>
      <dsp:spPr>
        <a:xfrm>
          <a:off x="5007341" y="1817708"/>
          <a:ext cx="970" cy="3564774"/>
        </a:xfrm>
        <a:prstGeom prst="line">
          <a:avLst/>
        </a:prstGeom>
        <a:noFill/>
        <a:ln w="12700" cap="flat" cmpd="sng" algn="ctr">
          <a:solidFill>
            <a:schemeClr val="accent3">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layout2.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layout3.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layout4.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layout5.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layout6.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sz="1050" dirty="0">
              <a:latin typeface="Montserrat" panose="00000500000000000000" pitchFamily="2" charset="0"/>
            </a:endParaRPr>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z="1050" smtClean="0">
                <a:latin typeface="Montserrat" panose="00000500000000000000" pitchFamily="2" charset="0"/>
              </a:rPr>
              <a:t>24/01/2025</a:t>
            </a:fld>
            <a:endParaRPr lang="en-GB" sz="1050">
              <a:latin typeface="Montserrat" panose="00000500000000000000" pitchFamily="2" charset="0"/>
            </a:endParaRPr>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sz="1050">
              <a:latin typeface="Montserrat" panose="00000500000000000000" pitchFamily="2" charset="0"/>
            </a:endParaRPr>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z="1050" smtClean="0">
                <a:latin typeface="Montserrat" panose="00000500000000000000" pitchFamily="2" charset="0"/>
              </a:rPr>
              <a:t>‹#›</a:t>
            </a:fld>
            <a:endParaRPr lang="en-GB" sz="1050">
              <a:latin typeface="Montserrat" panose="00000500000000000000" pitchFamily="2" charset="0"/>
            </a:endParaRPr>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05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050">
                <a:latin typeface="Montserrat" panose="00000500000000000000" pitchFamily="2" charset="0"/>
              </a:defRPr>
            </a:lvl1pPr>
          </a:lstStyle>
          <a:p>
            <a:fld id="{1D6B66C6-1E92-0F4E-A300-9D4ED1F0C23F}" type="datetimeFigureOut">
              <a:rPr lang="en-GB" smtClean="0"/>
              <a:pPr/>
              <a:t>24/01/2025</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05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05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050" kern="1200">
        <a:solidFill>
          <a:schemeClr val="tx1"/>
        </a:solidFill>
        <a:latin typeface="Montserrat" panose="00000500000000000000" pitchFamily="2" charset="0"/>
        <a:ea typeface="+mn-ea"/>
        <a:cs typeface="+mn-cs"/>
      </a:defRPr>
    </a:lvl1pPr>
    <a:lvl2pPr marL="457200" algn="l" defTabSz="914400" rtl="0" eaLnBrk="1" latinLnBrk="0" hangingPunct="1">
      <a:defRPr sz="1050" kern="1200">
        <a:solidFill>
          <a:schemeClr val="tx1"/>
        </a:solidFill>
        <a:latin typeface="Montserrat" panose="00000500000000000000" pitchFamily="2" charset="0"/>
        <a:ea typeface="+mn-ea"/>
        <a:cs typeface="+mn-cs"/>
      </a:defRPr>
    </a:lvl2pPr>
    <a:lvl3pPr marL="914400" algn="l" defTabSz="914400" rtl="0" eaLnBrk="1" latinLnBrk="0" hangingPunct="1">
      <a:defRPr sz="1050" kern="1200">
        <a:solidFill>
          <a:schemeClr val="tx1"/>
        </a:solidFill>
        <a:latin typeface="Montserrat" panose="00000500000000000000" pitchFamily="2" charset="0"/>
        <a:ea typeface="+mn-ea"/>
        <a:cs typeface="+mn-cs"/>
      </a:defRPr>
    </a:lvl3pPr>
    <a:lvl4pPr marL="1371600" algn="l" defTabSz="914400" rtl="0" eaLnBrk="1" latinLnBrk="0" hangingPunct="1">
      <a:defRPr sz="1050" kern="1200">
        <a:solidFill>
          <a:schemeClr val="tx1"/>
        </a:solidFill>
        <a:latin typeface="Montserrat" panose="00000500000000000000" pitchFamily="2" charset="0"/>
        <a:ea typeface="+mn-ea"/>
        <a:cs typeface="+mn-cs"/>
      </a:defRPr>
    </a:lvl4pPr>
    <a:lvl5pPr marL="1828800" algn="l" defTabSz="914400" rtl="0" eaLnBrk="1" latinLnBrk="0" hangingPunct="1">
      <a:defRPr sz="105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term Software Development Methodology is often also known by</a:t>
            </a:r>
            <a:r>
              <a:rPr lang="en-GB" baseline="0" dirty="0"/>
              <a:t> alternative names such as</a:t>
            </a:r>
            <a:r>
              <a:rPr lang="en-GB" dirty="0"/>
              <a:t>:</a:t>
            </a:r>
          </a:p>
          <a:p>
            <a:pPr marL="362448" lvl="1" indent="-181224"/>
            <a:r>
              <a:rPr lang="en-GB" dirty="0"/>
              <a:t>System development methodology</a:t>
            </a:r>
          </a:p>
          <a:p>
            <a:pPr marL="362448" lvl="1" indent="-181224"/>
            <a:r>
              <a:rPr lang="en-GB" dirty="0"/>
              <a:t>Software development life cycle</a:t>
            </a:r>
          </a:p>
          <a:p>
            <a:pPr marL="362448" lvl="1" indent="-181224"/>
            <a:r>
              <a:rPr lang="en-GB" dirty="0"/>
              <a:t>Software development process</a:t>
            </a:r>
          </a:p>
          <a:p>
            <a:pPr marL="362448" lvl="1" indent="-181224"/>
            <a:r>
              <a:rPr lang="en-GB" dirty="0"/>
              <a:t>Software process</a:t>
            </a:r>
          </a:p>
          <a:p>
            <a:r>
              <a:rPr lang="en-GB" dirty="0"/>
              <a:t>It is</a:t>
            </a:r>
            <a:r>
              <a:rPr lang="en-GB" baseline="0" dirty="0"/>
              <a:t> simply the </a:t>
            </a:r>
            <a:r>
              <a:rPr lang="en-GB" dirty="0"/>
              <a:t>split of software development work into distinct phases or stages. Each phase then contains appropriate activities to improve the planning and management</a:t>
            </a:r>
            <a:r>
              <a:rPr lang="en-GB" baseline="0" dirty="0"/>
              <a:t> of the work. It is o</a:t>
            </a:r>
            <a:r>
              <a:rPr lang="en-GB" dirty="0"/>
              <a:t>ften considered a subset of the systems development life cycle. Also</a:t>
            </a:r>
            <a:r>
              <a:rPr lang="en-GB" baseline="0" dirty="0"/>
              <a:t> within each phase a number </a:t>
            </a:r>
            <a:r>
              <a:rPr lang="en-GB" dirty="0"/>
              <a:t>of specific deliverables and artefacts are defined.</a:t>
            </a:r>
            <a:r>
              <a:rPr lang="en-GB" baseline="0" dirty="0"/>
              <a:t> These are c</a:t>
            </a:r>
            <a:r>
              <a:rPr lang="en-GB" dirty="0"/>
              <a:t>reated and completed by a project team to develop and / or maintain an application.</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a:p>
        </p:txBody>
      </p:sp>
    </p:spTree>
    <p:extLst>
      <p:ext uri="{BB962C8B-B14F-4D97-AF65-F5344CB8AC3E}">
        <p14:creationId xmlns:p14="http://schemas.microsoft.com/office/powerpoint/2010/main" val="962793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many SDLCs in use today. It</a:t>
            </a:r>
            <a:r>
              <a:rPr lang="en-GB" baseline="0" dirty="0"/>
              <a:t> is important to understand the features of each to </a:t>
            </a:r>
            <a:r>
              <a:rPr lang="en-GB" dirty="0"/>
              <a:t>make an appropriate choice</a:t>
            </a:r>
            <a:r>
              <a:rPr lang="en-GB" baseline="0" dirty="0"/>
              <a:t> for nature of your organisation and the specific requirements of a project. They can be considered to exist on a spectrum:</a:t>
            </a:r>
            <a:endParaRPr lang="en-GB" dirty="0"/>
          </a:p>
          <a:p>
            <a:pPr marL="362448" lvl="1" indent="-181224"/>
            <a:r>
              <a:rPr lang="en-GB" dirty="0"/>
              <a:t>From linear that</a:t>
            </a:r>
            <a:r>
              <a:rPr lang="en-GB" baseline="0" dirty="0"/>
              <a:t> consist of s</a:t>
            </a:r>
            <a:r>
              <a:rPr lang="en-GB" dirty="0"/>
              <a:t>equential stages and tasks such as Waterfall and ‘V’ Model.</a:t>
            </a:r>
          </a:p>
          <a:p>
            <a:pPr marL="362448" lvl="1" indent="-181224"/>
            <a:r>
              <a:rPr lang="en-GB" dirty="0"/>
              <a:t>To evolutionary that evolve through progressive versions including Incremental, Iterative and Agile.</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1884796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 that the scope of</a:t>
            </a:r>
            <a:r>
              <a:rPr lang="en-GB" baseline="0" dirty="0"/>
              <a:t> Systems Development </a:t>
            </a:r>
            <a:r>
              <a:rPr lang="en-GB" dirty="0"/>
              <a:t>does not end when system released. There will be the need for new or updated requirements, faults to be fixed and improvements to made, and general</a:t>
            </a:r>
            <a:r>
              <a:rPr lang="en-GB" baseline="0" dirty="0"/>
              <a:t> m</a:t>
            </a:r>
            <a:r>
              <a:rPr lang="en-GB" dirty="0"/>
              <a:t>aintenance and support.</a:t>
            </a:r>
          </a:p>
          <a:p>
            <a:r>
              <a:rPr lang="en-GB" dirty="0"/>
              <a:t>Most SDLCs just cover development and implementation. However ‘through life costs’ can vastly exceed initial development costs so the extended System Lifecycle needs to includes</a:t>
            </a:r>
            <a:r>
              <a:rPr lang="en-GB" baseline="0" dirty="0"/>
              <a:t> on</a:t>
            </a:r>
            <a:r>
              <a:rPr lang="en-GB" dirty="0"/>
              <a:t>going support and maintenance, through to end-of-life and the decommission of the system.</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Tree>
    <p:extLst>
      <p:ext uri="{BB962C8B-B14F-4D97-AF65-F5344CB8AC3E}">
        <p14:creationId xmlns:p14="http://schemas.microsoft.com/office/powerpoint/2010/main" val="646818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linear approach completes stages in a defined order. Each of which is completed and agreed before the next is started. Often with formal reviews and sign-offs. These</a:t>
            </a:r>
            <a:r>
              <a:rPr lang="en-GB" baseline="0" dirty="0"/>
              <a:t> stages provide appropriate p</a:t>
            </a:r>
            <a:r>
              <a:rPr lang="en-GB" dirty="0"/>
              <a:t>roject and payment milestones.</a:t>
            </a:r>
          </a:p>
          <a:p>
            <a:r>
              <a:rPr lang="en-GB" dirty="0"/>
              <a:t>They are suitable when the</a:t>
            </a:r>
            <a:r>
              <a:rPr lang="en-GB" baseline="0" dirty="0"/>
              <a:t> r</a:t>
            </a:r>
            <a:r>
              <a:rPr lang="en-GB" dirty="0"/>
              <a:t>equirements are well understood and stable, rigour and documentation is required to meet quality standards and there is the need to closely control cost and scope.</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624155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Strengths of sequential</a:t>
            </a:r>
            <a:r>
              <a:rPr lang="en-GB" baseline="0" dirty="0"/>
              <a:t> approaches are:</a:t>
            </a:r>
          </a:p>
          <a:p>
            <a:pPr marL="362448" lvl="1" indent="-181224"/>
            <a:r>
              <a:rPr lang="en-GB" baseline="0" dirty="0"/>
              <a:t>There are distinct stages each with a clear purpose.</a:t>
            </a:r>
          </a:p>
          <a:p>
            <a:pPr marL="362448" lvl="1" indent="-181224"/>
            <a:r>
              <a:rPr lang="en-GB" baseline="0" dirty="0"/>
              <a:t>Agreement and review of each stage so there should be no need to revisit.</a:t>
            </a:r>
          </a:p>
          <a:p>
            <a:pPr marL="362448" lvl="1" indent="-181224"/>
            <a:r>
              <a:rPr lang="en-GB" baseline="0" dirty="0"/>
              <a:t>It provides a structure for complex projects.</a:t>
            </a:r>
          </a:p>
          <a:p>
            <a:pPr marL="362448" lvl="1" indent="-181224"/>
            <a:r>
              <a:rPr lang="en-GB" baseline="0" dirty="0"/>
              <a:t>It details the designs and specifications required.</a:t>
            </a:r>
          </a:p>
          <a:p>
            <a:pPr marL="362448" lvl="1" indent="-181224"/>
            <a:r>
              <a:rPr lang="en-GB" baseline="0" dirty="0"/>
              <a:t>Allows control of cost and ‘scope creep’.</a:t>
            </a:r>
          </a:p>
          <a:p>
            <a:pPr marL="362448" lvl="1" indent="-181224"/>
            <a:r>
              <a:rPr lang="en-GB" baseline="0" dirty="0"/>
              <a:t>Relatively simple and intuitive to follow.</a:t>
            </a:r>
          </a:p>
          <a:p>
            <a:r>
              <a:rPr lang="en-GB" baseline="0" dirty="0"/>
              <a:t>And weaknesses: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Success depends on each stage being done properly.</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It can be a long timescale for complex projects.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It does not handle changing requirements.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There is no value until the final solution is implemented.</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If the project stop early there is nothing to deliver and therefore no value.</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864308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dirty="0"/>
              <a:t>Waterfall</a:t>
            </a:r>
            <a:r>
              <a:rPr lang="en-GB" baseline="0" dirty="0"/>
              <a:t> is</a:t>
            </a:r>
            <a:r>
              <a:rPr lang="en-GB" dirty="0"/>
              <a:t> the traditional approach to systems development. Unfortunately it does not allow for early testing as no thought is given to testing until all of the development is done. It consists of the following sequential phases: </a:t>
            </a:r>
          </a:p>
          <a:p>
            <a:pPr lvl="1"/>
            <a:r>
              <a:rPr lang="en-GB" dirty="0"/>
              <a:t>1.Feasibility Study – See if the project is worthwhile. Will include:</a:t>
            </a:r>
            <a:r>
              <a:rPr lang="en-GB" baseline="0" dirty="0"/>
              <a:t> </a:t>
            </a:r>
            <a:r>
              <a:rPr lang="en-GB" dirty="0"/>
              <a:t>project initiation, definition of terms of reference (TOR), high-level investigation and estimates, preliminary exploration of problems and possible solutions, benefits versus costs of candidate solutions, recommendation of one option.</a:t>
            </a:r>
            <a:r>
              <a:rPr lang="en-GB" baseline="0" dirty="0"/>
              <a:t> </a:t>
            </a:r>
            <a:r>
              <a:rPr lang="en-GB" dirty="0"/>
              <a:t>This is where the business analyst is involved. </a:t>
            </a:r>
          </a:p>
          <a:p>
            <a:pPr lvl="1"/>
            <a:r>
              <a:rPr lang="en-GB" dirty="0"/>
              <a:t>2.Requirements Engineering – To analyse the business need and specify the users’ requirements. Will include:  investigation, documentation and assessment of the current system, gathering and analysis of new requirements, requirements documentation and signed off.</a:t>
            </a:r>
          </a:p>
          <a:p>
            <a:pPr lvl="1"/>
            <a:r>
              <a:rPr lang="en-GB" dirty="0"/>
              <a:t>3. Design – Design the system to meet the users’ needs. Will include: high-level design of the system which itself may include database design and user interface design. If software is to be created, as opposed to procured, it will include detailed design when program specifications are produced. Alternatively a software package is acquired.</a:t>
            </a:r>
          </a:p>
          <a:p>
            <a:pPr lvl="1"/>
            <a:r>
              <a:rPr lang="en-GB" dirty="0"/>
              <a:t>4. Development (Programming) – Technical components, both hardware and software, are created, or package is configured. The developers follow the design to ensure that the system does what is needed for the customer</a:t>
            </a:r>
          </a:p>
          <a:p>
            <a:pPr lvl="1"/>
            <a:r>
              <a:rPr lang="en-GB" dirty="0"/>
              <a:t>5. Testing – Testing of the system components produced, procured or configured during development. Typical levels of testing would include unit, component, system and user acceptance. </a:t>
            </a:r>
          </a:p>
          <a:p>
            <a:pPr lvl="1"/>
            <a:r>
              <a:rPr lang="en-GB" dirty="0"/>
              <a:t>6. Implementation – Train staff, and handover to ‘live’  environment.</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2912809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strengths of the </a:t>
            </a:r>
            <a:r>
              <a:rPr lang="en-GB" baseline="0" dirty="0"/>
              <a:t>Waterfall Model are:</a:t>
            </a:r>
          </a:p>
          <a:p>
            <a:pPr marL="362448" lvl="1" indent="-181224"/>
            <a:r>
              <a:rPr lang="en-GB" baseline="0" dirty="0"/>
              <a:t>It is safe and each stage is ‘signed off’.</a:t>
            </a:r>
          </a:p>
          <a:p>
            <a:pPr marL="362448" lvl="1" indent="-181224"/>
            <a:r>
              <a:rPr lang="en-GB" baseline="0" dirty="0"/>
              <a:t>It is detailed and thorough</a:t>
            </a:r>
          </a:p>
          <a:p>
            <a:pPr marL="362448" lvl="1" indent="-181224"/>
            <a:r>
              <a:rPr lang="en-GB" baseline="0" dirty="0"/>
              <a:t>Quality is built in due to stage reviews and ‘sign off’.</a:t>
            </a:r>
          </a:p>
          <a:p>
            <a:pPr marL="362448" lvl="1" indent="-181224"/>
            <a:r>
              <a:rPr lang="en-GB" baseline="0" dirty="0"/>
              <a:t>It is easy to manage.</a:t>
            </a:r>
          </a:p>
          <a:p>
            <a:pPr marL="362448" lvl="1" indent="-181224"/>
            <a:r>
              <a:rPr lang="en-GB" baseline="0" dirty="0"/>
              <a:t>The design is based on all the requirements and interfaces.</a:t>
            </a:r>
          </a:p>
          <a:p>
            <a:pPr marL="362448" lvl="1" indent="-181224"/>
            <a:r>
              <a:rPr lang="en-GB" baseline="0" dirty="0"/>
              <a:t>Good documentation is produced.</a:t>
            </a:r>
          </a:p>
          <a:p>
            <a:r>
              <a:rPr lang="en-GB" baseline="0" dirty="0"/>
              <a:t>And weaknesses: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It is difficult to go back if there is significant change or a major issue that can’t be resolved.</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There is a lack of user involvement except at the start and end of the project.</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There is no early vision of the system.</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It is difficult to add missing requirements.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Any business change has a high impact.</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The defined stages and roles fosters a ‘silo’ mentality.</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a:p>
        </p:txBody>
      </p:sp>
    </p:spTree>
    <p:extLst>
      <p:ext uri="{BB962C8B-B14F-4D97-AF65-F5344CB8AC3E}">
        <p14:creationId xmlns:p14="http://schemas.microsoft.com/office/powerpoint/2010/main" val="1918425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noProof="0" dirty="0"/>
              <a:t>The V-model is really an extension of the waterfall, and describes how testing activities should occur in parallel with other tasks in the project lifecycle. At each phase in the project, a test plan is produced to show the overall approach, tasks and schedule plus test specifications with the test design and test cases. At the same time, reviews are performed to verify and validate lifecycle work products and systems deliverables.</a:t>
            </a:r>
          </a:p>
          <a:p>
            <a:pPr lvl="0"/>
            <a:r>
              <a:rPr lang="en-GB" noProof="0" dirty="0"/>
              <a:t>Although variants of the V-model exist, a common type of V-model uses four test levels, corresponding to four development levels:</a:t>
            </a:r>
          </a:p>
          <a:p>
            <a:pPr lvl="1"/>
            <a:r>
              <a:rPr lang="en-GB" noProof="0" dirty="0"/>
              <a:t>Unit testing</a:t>
            </a:r>
          </a:p>
          <a:p>
            <a:pPr lvl="1"/>
            <a:r>
              <a:rPr lang="en-GB" noProof="0" dirty="0"/>
              <a:t>Integration testing</a:t>
            </a:r>
          </a:p>
          <a:p>
            <a:pPr lvl="1"/>
            <a:r>
              <a:rPr lang="en-GB" noProof="0" dirty="0"/>
              <a:t>System testing</a:t>
            </a:r>
          </a:p>
          <a:p>
            <a:pPr lvl="1"/>
            <a:r>
              <a:rPr lang="en-GB" noProof="0" dirty="0"/>
              <a:t>User acceptance testing</a:t>
            </a:r>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a:p>
        </p:txBody>
      </p:sp>
    </p:spTree>
    <p:extLst>
      <p:ext uri="{BB962C8B-B14F-4D97-AF65-F5344CB8AC3E}">
        <p14:creationId xmlns:p14="http://schemas.microsoft.com/office/powerpoint/2010/main" val="2356302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evolutionary approaches the solution is developed through early prototype or iteration releases; this is</a:t>
            </a:r>
            <a:r>
              <a:rPr lang="en-GB" baseline="0" dirty="0"/>
              <a:t> the b</a:t>
            </a:r>
            <a:r>
              <a:rPr lang="en-GB" dirty="0"/>
              <a:t>asis of Agile development.</a:t>
            </a:r>
          </a:p>
          <a:p>
            <a:r>
              <a:rPr lang="en-GB" dirty="0"/>
              <a:t>It is suitable when requirements not well understood such as new products where it is difficult to define and express what is needed. The iterations uncover understanding and demonstrations of working software can be used to gather feedback.</a:t>
            </a:r>
          </a:p>
          <a:p>
            <a:r>
              <a:rPr lang="en-GB" dirty="0"/>
              <a:t>Early delivery is more important than the completeness of the solution. This can provide</a:t>
            </a:r>
            <a:r>
              <a:rPr lang="en-GB" baseline="0" dirty="0"/>
              <a:t> e</a:t>
            </a:r>
            <a:r>
              <a:rPr lang="en-GB" dirty="0"/>
              <a:t>arly benefits that can be used to justify further funding. The</a:t>
            </a:r>
            <a:r>
              <a:rPr lang="en-GB" baseline="0" dirty="0"/>
              <a:t> initial solution can be released to the market sooner often prioritising the h</a:t>
            </a:r>
            <a:r>
              <a:rPr lang="en-GB" dirty="0"/>
              <a:t>igh value features first.</a:t>
            </a:r>
          </a:p>
          <a:p>
            <a:r>
              <a:rPr lang="en-GB" dirty="0"/>
              <a:t>The</a:t>
            </a:r>
            <a:r>
              <a:rPr lang="en-GB" baseline="0" dirty="0"/>
              <a:t> approach is also useful if there is h</a:t>
            </a:r>
            <a:r>
              <a:rPr lang="en-GB" dirty="0"/>
              <a:t>igh business or technical risk with the</a:t>
            </a:r>
            <a:r>
              <a:rPr lang="en-GB" baseline="0" dirty="0"/>
              <a:t> project. Issues are highlighted early, providing a focus for their resolution. If they are resolved the project can be stopped before too much time or resource is invested.</a:t>
            </a:r>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2873511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Strengths</a:t>
            </a:r>
            <a:r>
              <a:rPr lang="en-GB" baseline="0" dirty="0"/>
              <a:t> of evolutionary approaches are:</a:t>
            </a:r>
          </a:p>
          <a:p>
            <a:pPr marL="362448" lvl="1" indent="-181224"/>
            <a:r>
              <a:rPr lang="en-GB" baseline="0" dirty="0"/>
              <a:t>The early delivery of value through working versions of software that can be released and used by the business or customer.</a:t>
            </a:r>
          </a:p>
          <a:p>
            <a:pPr marL="362448" lvl="1" indent="-181224"/>
            <a:r>
              <a:rPr lang="en-GB" baseline="0" dirty="0"/>
              <a:t>Project risk is minimised as issues are highlighted early for resolution or if not the project is stopped.</a:t>
            </a:r>
          </a:p>
          <a:p>
            <a:pPr marL="362448" lvl="1" indent="-181224"/>
            <a:r>
              <a:rPr lang="en-GB" baseline="0" dirty="0"/>
              <a:t>It can handle complex and changing requirements.</a:t>
            </a:r>
          </a:p>
          <a:p>
            <a:pPr marL="362448" lvl="1" indent="-181224"/>
            <a:r>
              <a:rPr lang="en-GB" baseline="0" dirty="0"/>
              <a:t>It encourages and indeed is dependent on increased collaboration with the business and users.</a:t>
            </a:r>
          </a:p>
          <a:p>
            <a:pPr marL="362448" lvl="1" indent="-181224"/>
            <a:r>
              <a:rPr lang="en-GB" baseline="0" dirty="0"/>
              <a:t>Focus on doing just enough for now with the option to refine and enhance later.</a:t>
            </a:r>
          </a:p>
          <a:p>
            <a:r>
              <a:rPr lang="en-GB" baseline="0" dirty="0"/>
              <a:t>And weaknesses:</a:t>
            </a:r>
          </a:p>
          <a:p>
            <a:pPr marL="362448" lvl="1" indent="-181224"/>
            <a:r>
              <a:rPr lang="en-GB" dirty="0"/>
              <a:t>It can be harder to manage project due to multiple teams, iterations and complex products.</a:t>
            </a:r>
          </a:p>
          <a:p>
            <a:pPr marL="362448" lvl="1" indent="-181224"/>
            <a:r>
              <a:rPr lang="en-GB" dirty="0"/>
              <a:t>There is a greater</a:t>
            </a:r>
            <a:r>
              <a:rPr lang="en-GB" baseline="0" dirty="0"/>
              <a:t> d</a:t>
            </a:r>
            <a:r>
              <a:rPr lang="en-GB" dirty="0"/>
              <a:t>anger of scope creep.</a:t>
            </a:r>
          </a:p>
          <a:p>
            <a:pPr marL="362448" lvl="1" indent="-181224"/>
            <a:r>
              <a:rPr lang="en-GB" dirty="0"/>
              <a:t>Additional costs due to the extra integration and testing required.</a:t>
            </a:r>
          </a:p>
          <a:p>
            <a:pPr marL="362448" lvl="1" indent="-181224"/>
            <a:r>
              <a:rPr lang="en-GB" dirty="0"/>
              <a:t>There is a danger of over promising early functionality.</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Tree>
    <p:extLst>
      <p:ext uri="{BB962C8B-B14F-4D97-AF65-F5344CB8AC3E}">
        <p14:creationId xmlns:p14="http://schemas.microsoft.com/office/powerpoint/2010/main" val="39061974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Of the five basic lifecycles three follow an evolutionary approach:</a:t>
            </a:r>
          </a:p>
          <a:p>
            <a:pPr lvl="1"/>
            <a:r>
              <a:rPr lang="en-GB" dirty="0"/>
              <a:t>Incremental</a:t>
            </a:r>
          </a:p>
          <a:p>
            <a:pPr lvl="1"/>
            <a:r>
              <a:rPr lang="en-GB" dirty="0"/>
              <a:t>Iterative</a:t>
            </a:r>
          </a:p>
          <a:p>
            <a:pPr lvl="1"/>
            <a:r>
              <a:rPr lang="en-GB" dirty="0"/>
              <a:t>Spiral</a:t>
            </a:r>
          </a:p>
          <a:p>
            <a:r>
              <a:rPr lang="en-GB" dirty="0"/>
              <a:t>Evolutionary approaches have been around since 1980’s and underpin more popular Agile approaches of today.</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Tree>
    <p:extLst>
      <p:ext uri="{BB962C8B-B14F-4D97-AF65-F5344CB8AC3E}">
        <p14:creationId xmlns:p14="http://schemas.microsoft.com/office/powerpoint/2010/main" val="16299821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noProof="0" dirty="0"/>
              <a:t>The incremental model is a method of software development where the product is decomposed into a number of components, each of which are designed, implemented and tested incrementally, a little more is added each time, until the product is finished. It involves both development and maintenance. The product is defined as finished when it satisfies all of its requirements. This model combines the elements of the waterfall model with the iterative philosophy of prototyping.</a:t>
            </a:r>
          </a:p>
          <a:p>
            <a:pPr lvl="0"/>
            <a:r>
              <a:rPr lang="en-GB" noProof="0" dirty="0"/>
              <a:t>Each component is released to the client when it is complete. This allows partial utilisation of the product and avoids a long development time. It provides the user with earlier use of some of the system functionality and avoids a large initial capital outlay with the subsequent long wait for the IT system. This model of development also helps ease the traumatic effect of introducing a completely new system all at once. There are, overall, few problems with this model.</a:t>
            </a:r>
          </a:p>
          <a:p>
            <a:pPr lvl="0"/>
            <a:r>
              <a:rPr lang="en-US" noProof="0" dirty="0"/>
              <a:t>It allows frequent reassessment of scope, requirements and solutions. </a:t>
            </a:r>
            <a:r>
              <a:rPr lang="en-GB" noProof="0" dirty="0"/>
              <a:t>The basic idea behind this approach is to develop a system incrementally, allowing the developer to take advantage of what was learned during the development of earlier, incremental, deliverable versions of the system. Learning comes from both the development and use of the system, where possible.</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Tree>
    <p:extLst>
      <p:ext uri="{BB962C8B-B14F-4D97-AF65-F5344CB8AC3E}">
        <p14:creationId xmlns:p14="http://schemas.microsoft.com/office/powerpoint/2010/main" val="3463457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strengths</a:t>
            </a:r>
            <a:r>
              <a:rPr lang="en-GB" baseline="0" dirty="0"/>
              <a:t> of the Incremental Model are:</a:t>
            </a:r>
          </a:p>
          <a:p>
            <a:pPr marL="362448" lvl="1" indent="-181224"/>
            <a:r>
              <a:rPr lang="en-GB" baseline="0" dirty="0"/>
              <a:t>It delivers working software earlier, potentially at the end of each increment.</a:t>
            </a:r>
          </a:p>
          <a:p>
            <a:pPr marL="362448" lvl="1" indent="-181224"/>
            <a:r>
              <a:rPr lang="en-GB" baseline="0" dirty="0"/>
              <a:t>It is easier to manage risks by identifying and handling them in early increments.</a:t>
            </a:r>
          </a:p>
          <a:p>
            <a:pPr marL="362448" lvl="1" indent="-181224"/>
            <a:r>
              <a:rPr lang="en-GB" baseline="0" dirty="0"/>
              <a:t>It is easier to test and debug smaller increments than the full system.</a:t>
            </a:r>
          </a:p>
          <a:p>
            <a:pPr marL="362448" lvl="1" indent="-181224"/>
            <a:r>
              <a:rPr lang="en-GB" baseline="0" dirty="0"/>
              <a:t>The overall delivery time can be reduced by building increments in parallel.</a:t>
            </a:r>
          </a:p>
          <a:p>
            <a:r>
              <a:rPr lang="en-GB" baseline="0" dirty="0"/>
              <a:t>And weaknesses: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It can be harder to manage parallel deliveries.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It is still hard to manage change as requirements are agreed before the increments are decided.</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Overall costs can be higher due to the additional overheads of parallel implementation and additional regression testing.</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Tree>
    <p:extLst>
      <p:ext uri="{BB962C8B-B14F-4D97-AF65-F5344CB8AC3E}">
        <p14:creationId xmlns:p14="http://schemas.microsoft.com/office/powerpoint/2010/main" val="551929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dirty="0"/>
              <a:t>Iterative development is a lifecycle where the overall project is composed of several small time- boxed developments called iterations which take place in sequence. Each iteration is a self-contained mini-project  composed of typical stages of requirements, analysis and design, development and test. Each iteration develops a working systems that delivers some value that is added to in later iterations.</a:t>
            </a:r>
          </a:p>
          <a:p>
            <a:pPr lvl="0"/>
            <a:r>
              <a:rPr lang="en-GB" dirty="0"/>
              <a:t>The overall solution evolves as the requirements evolve through the iterations.</a:t>
            </a:r>
          </a:p>
          <a:p>
            <a:pPr lvl="0"/>
            <a:r>
              <a:rPr lang="en-GB" dirty="0"/>
              <a:t>Typically there will be a minimum of three iteration:</a:t>
            </a:r>
          </a:p>
          <a:p>
            <a:pPr lvl="1"/>
            <a:r>
              <a:rPr lang="en-GB" dirty="0"/>
              <a:t>Investigate – Focus on risks such as technology and functionality to gain a better understanding of requirements and how to deliver them.</a:t>
            </a:r>
          </a:p>
          <a:p>
            <a:pPr lvl="1"/>
            <a:r>
              <a:rPr lang="en-GB" dirty="0"/>
              <a:t>Refine – Often multiple iterations to fully detail the requirements, design and build the system to meet the business goals.</a:t>
            </a:r>
          </a:p>
          <a:p>
            <a:pPr lvl="1"/>
            <a:r>
              <a:rPr lang="en-GB" dirty="0"/>
              <a:t>Consolidate – Final iteration that ensures the code stabilised and fully integrated before external release to achieve the overall business goal.</a:t>
            </a:r>
          </a:p>
          <a:p>
            <a:pPr lvl="0"/>
            <a:r>
              <a:rPr lang="en-GB" dirty="0"/>
              <a:t>Iterative development is often combined with incremental delivery approach to avoid one final stage external release.   </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a:p>
        </p:txBody>
      </p:sp>
    </p:spTree>
    <p:extLst>
      <p:ext uri="{BB962C8B-B14F-4D97-AF65-F5344CB8AC3E}">
        <p14:creationId xmlns:p14="http://schemas.microsoft.com/office/powerpoint/2010/main" val="13730216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strengths of iterative</a:t>
            </a:r>
            <a:r>
              <a:rPr lang="en-GB" baseline="0" dirty="0"/>
              <a:t> development are:</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The requirements evolve through feedback and increased understanding of each iteration. </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The approach encourages and indeed relies on collaboration with the business and users.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Changes to requirements are easier to manage as they can be incorporated into future iterations.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Cost can be controlled as the project can be stopped at the end of an iteration.</a:t>
            </a:r>
          </a:p>
          <a:p>
            <a:r>
              <a:rPr lang="en-GB" baseline="0" dirty="0"/>
              <a:t>And weaknesses: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It can be harder to project manage due to the multiple iterations.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The evolving requirements can result in ‘scope creep’ is not controlled.</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It can become like single final, Waterfall, project</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There is higher cost due to additional integration and testing activities.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18</a:t>
            </a:fld>
            <a:endParaRPr lang="en-GB"/>
          </a:p>
        </p:txBody>
      </p:sp>
    </p:spTree>
    <p:extLst>
      <p:ext uri="{BB962C8B-B14F-4D97-AF65-F5344CB8AC3E}">
        <p14:creationId xmlns:p14="http://schemas.microsoft.com/office/powerpoint/2010/main" val="17078910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manifesto was developed in 2001 by 17 leading IT professionals who felt that IT development was failing to meet the growing challenges faced</a:t>
            </a:r>
            <a:r>
              <a:rPr lang="en-GB" baseline="0" dirty="0"/>
              <a:t> by business. This led to a whole new way of thinking about software development. Linear lifecycles fell out of favour and more evolutionary approaches like Scrum became more popular.</a:t>
            </a:r>
          </a:p>
          <a:p>
            <a:r>
              <a:rPr lang="en-GB" baseline="0" dirty="0"/>
              <a:t>The four values summarised the key points of their combined experience of developing software and helping others develop software. Explanations of each value are:</a:t>
            </a:r>
          </a:p>
          <a:p>
            <a:pPr marL="362448" lvl="1" indent="-181224"/>
            <a:r>
              <a:rPr lang="en-GB" dirty="0"/>
              <a:t>Individuals and interactions - Self-organization and motivation of individuals and their interactions through co-location and pair programming are more important that a reliance on tools and processes.</a:t>
            </a:r>
          </a:p>
          <a:p>
            <a:pPr marL="362448" lvl="1" indent="-181224"/>
            <a:r>
              <a:rPr lang="en-GB" dirty="0"/>
              <a:t>Working software - Actual software that works is more useful than documents about what the software will or can do.</a:t>
            </a:r>
          </a:p>
          <a:p>
            <a:pPr marL="362448" lvl="1" indent="-181224"/>
            <a:r>
              <a:rPr lang="en-GB" dirty="0"/>
              <a:t>Customer collaboration – It is difficult, if not impossible, to specify the requirements fully at the start of the project, therefore continuous customer and stakeholder involvement throughout the project is key rather that defining and agreeing a contract.</a:t>
            </a:r>
          </a:p>
          <a:p>
            <a:pPr marL="362448" lvl="1" indent="-181224"/>
            <a:r>
              <a:rPr lang="en-GB" dirty="0"/>
              <a:t>Responding to change - Agile development focuses on quick responses to change and continuous development instead of just sticking to the original plan.</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19</a:t>
            </a:fld>
            <a:endParaRPr lang="en-GB"/>
          </a:p>
        </p:txBody>
      </p:sp>
    </p:spTree>
    <p:extLst>
      <p:ext uri="{BB962C8B-B14F-4D97-AF65-F5344CB8AC3E}">
        <p14:creationId xmlns:p14="http://schemas.microsoft.com/office/powerpoint/2010/main" val="18536543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strengths of Agile are:</a:t>
            </a:r>
          </a:p>
          <a:p>
            <a:pPr marL="362448" lvl="1"/>
            <a:r>
              <a:rPr lang="en-GB" dirty="0"/>
              <a:t>Working software is delivered earlier providing value to the business and the opportunity for feedback.</a:t>
            </a:r>
          </a:p>
          <a:p>
            <a:pPr marL="362448" lvl="1"/>
            <a:r>
              <a:rPr lang="en-GB" dirty="0"/>
              <a:t>The development of actual software identifies risks sooner so that they can addressed in a timely fashion.</a:t>
            </a:r>
          </a:p>
          <a:p>
            <a:pPr marL="362448" lvl="1"/>
            <a:r>
              <a:rPr lang="en-GB" dirty="0"/>
              <a:t>Requirements are expected to evolve therefore change is easier to manage.</a:t>
            </a:r>
          </a:p>
          <a:p>
            <a:pPr marL="362448" lvl="1"/>
            <a:r>
              <a:rPr lang="en-GB" dirty="0"/>
              <a:t>Collaboration from the business and customer is encouraged ensuring greater buy-in for the delivered software.</a:t>
            </a:r>
          </a:p>
          <a:p>
            <a:pPr marL="362448" lvl="1"/>
            <a:r>
              <a:rPr lang="en-GB" dirty="0"/>
              <a:t>By setting a fixed budget or time and prioritising what is required helps to control costs.</a:t>
            </a:r>
          </a:p>
          <a:p>
            <a:r>
              <a:rPr lang="en-GB" dirty="0"/>
              <a:t>And weaknesses:</a:t>
            </a:r>
          </a:p>
          <a:p>
            <a:pPr marL="362448" lvl="1" indent="-181224" defTabSz="920618">
              <a:spcAft>
                <a:spcPts val="604"/>
              </a:spcAft>
              <a:buClr>
                <a:srgbClr val="B8CCE4"/>
              </a:buClr>
              <a:tabLst>
                <a:tab pos="274907" algn="l"/>
                <a:tab pos="548216" algn="l"/>
                <a:tab pos="802344" algn="l"/>
                <a:tab pos="1077251" algn="l"/>
                <a:tab pos="1352158" algn="l"/>
                <a:tab pos="1625467" algn="l"/>
                <a:tab pos="1900373" algn="l"/>
                <a:tab pos="2173681" algn="l"/>
                <a:tab pos="2429408" algn="l"/>
                <a:tab pos="2702717" algn="l"/>
              </a:tabLst>
              <a:defRPr/>
            </a:pPr>
            <a:r>
              <a:rPr lang="en-GB" kern="1200" noProof="0" dirty="0">
                <a:solidFill>
                  <a:schemeClr val="tx1"/>
                </a:solidFill>
              </a:rPr>
              <a:t>Agile projects can be more complex to manage as they will involve multiple iterations and possibly multiple teams that can be dispersed.</a:t>
            </a:r>
          </a:p>
          <a:p>
            <a:pPr marL="362448" lvl="1" indent="-181224" defTabSz="920618">
              <a:spcAft>
                <a:spcPts val="604"/>
              </a:spcAft>
              <a:buClr>
                <a:srgbClr val="B8CCE4"/>
              </a:buClr>
              <a:tabLst>
                <a:tab pos="274907" algn="l"/>
                <a:tab pos="548216" algn="l"/>
                <a:tab pos="802344" algn="l"/>
                <a:tab pos="1077251" algn="l"/>
                <a:tab pos="1352158" algn="l"/>
                <a:tab pos="1625467" algn="l"/>
                <a:tab pos="1900373" algn="l"/>
                <a:tab pos="2173681" algn="l"/>
                <a:tab pos="2429408" algn="l"/>
                <a:tab pos="2702717" algn="l"/>
              </a:tabLst>
              <a:defRPr/>
            </a:pPr>
            <a:r>
              <a:rPr lang="en-GB" kern="1200" noProof="0" dirty="0">
                <a:solidFill>
                  <a:schemeClr val="tx1"/>
                </a:solidFill>
              </a:rPr>
              <a:t>Uncontrolled or ill-disciplined changes to requirements can result in scope creep.</a:t>
            </a:r>
          </a:p>
          <a:p>
            <a:pPr marL="362448" lvl="1" indent="-181224" defTabSz="920618">
              <a:spcAft>
                <a:spcPts val="604"/>
              </a:spcAft>
              <a:buClr>
                <a:srgbClr val="B8CCE4"/>
              </a:buClr>
              <a:tabLst>
                <a:tab pos="274907" algn="l"/>
                <a:tab pos="548216" algn="l"/>
                <a:tab pos="802344" algn="l"/>
                <a:tab pos="1077251" algn="l"/>
                <a:tab pos="1352158" algn="l"/>
                <a:tab pos="1625467" algn="l"/>
                <a:tab pos="1900373" algn="l"/>
                <a:tab pos="2173681" algn="l"/>
                <a:tab pos="2429408" algn="l"/>
                <a:tab pos="2702717" algn="l"/>
              </a:tabLst>
              <a:defRPr/>
            </a:pPr>
            <a:r>
              <a:rPr lang="en-GB" kern="1200" noProof="0" dirty="0">
                <a:solidFill>
                  <a:schemeClr val="tx1"/>
                </a:solidFill>
              </a:rPr>
              <a:t>An evolutionary approach is not suited when there are strict audit, regulatory, safety critical requirements or contractual commitments.</a:t>
            </a:r>
          </a:p>
          <a:p>
            <a:pPr marL="362448" lvl="1" indent="-181224" defTabSz="920618">
              <a:spcAft>
                <a:spcPts val="604"/>
              </a:spcAft>
              <a:buClr>
                <a:srgbClr val="B8CCE4"/>
              </a:buClr>
              <a:tabLst>
                <a:tab pos="274907" algn="l"/>
                <a:tab pos="548216" algn="l"/>
                <a:tab pos="802344" algn="l"/>
                <a:tab pos="1077251" algn="l"/>
                <a:tab pos="1352158" algn="l"/>
                <a:tab pos="1625467" algn="l"/>
                <a:tab pos="1900373" algn="l"/>
                <a:tab pos="2173681" algn="l"/>
                <a:tab pos="2429408" algn="l"/>
                <a:tab pos="2702717" algn="l"/>
              </a:tabLst>
              <a:defRPr/>
            </a:pPr>
            <a:r>
              <a:rPr lang="en-GB" kern="1200" noProof="0" dirty="0">
                <a:solidFill>
                  <a:schemeClr val="tx1"/>
                </a:solidFill>
              </a:rPr>
              <a:t>Multiple iterations increase the total cost of testing, integration and deployment throughout the project.</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20</a:t>
            </a:fld>
            <a:endParaRPr lang="en-GB"/>
          </a:p>
        </p:txBody>
      </p:sp>
    </p:spTree>
    <p:extLst>
      <p:ext uri="{BB962C8B-B14F-4D97-AF65-F5344CB8AC3E}">
        <p14:creationId xmlns:p14="http://schemas.microsoft.com/office/powerpoint/2010/main" val="7885004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main differences</a:t>
            </a:r>
            <a:r>
              <a:rPr lang="en-GB" baseline="0" dirty="0"/>
              <a:t> between a sequential (waterfall) and evolutionary (agile) methodology are:</a:t>
            </a:r>
          </a:p>
          <a:p>
            <a:pPr lvl="1" algn="l" eaLnBrk="1" fontAlgn="t" hangingPunct="1"/>
            <a:r>
              <a:rPr lang="en-GB" dirty="0">
                <a:solidFill>
                  <a:srgbClr val="000000"/>
                </a:solidFill>
              </a:rPr>
              <a:t>Structure:</a:t>
            </a:r>
          </a:p>
          <a:p>
            <a:pPr lvl="2" algn="l" eaLnBrk="1" fontAlgn="t" hangingPunct="1"/>
            <a:r>
              <a:rPr lang="en-GB" dirty="0">
                <a:solidFill>
                  <a:srgbClr val="000000"/>
                </a:solidFill>
              </a:rPr>
              <a:t>Sequential: Only have a single pass of linear steps through the development lifecycle which makes backtracking difficult.</a:t>
            </a:r>
          </a:p>
          <a:p>
            <a:pPr lvl="2" algn="l" eaLnBrk="1" fontAlgn="t" hangingPunct="1"/>
            <a:r>
              <a:rPr lang="en-GB" dirty="0">
                <a:solidFill>
                  <a:srgbClr val="000000"/>
                </a:solidFill>
              </a:rPr>
              <a:t>Incremental or Iterative: Repeated passes through all the development steps making backtracking possible. </a:t>
            </a:r>
          </a:p>
          <a:p>
            <a:pPr lvl="1" algn="l" eaLnBrk="1" fontAlgn="t" hangingPunct="1"/>
            <a:r>
              <a:rPr lang="en-GB" dirty="0">
                <a:solidFill>
                  <a:srgbClr val="000000"/>
                </a:solidFill>
              </a:rPr>
              <a:t>Value:</a:t>
            </a:r>
          </a:p>
          <a:p>
            <a:pPr lvl="2" algn="l" eaLnBrk="1" fontAlgn="t" hangingPunct="1"/>
            <a:r>
              <a:rPr lang="en-GB" dirty="0">
                <a:solidFill>
                  <a:srgbClr val="000000"/>
                </a:solidFill>
              </a:rPr>
              <a:t>Sequential: Only </a:t>
            </a:r>
            <a:r>
              <a:rPr lang="en-GB" b="0" i="0" u="none" strike="noStrike" kern="1200" baseline="0" dirty="0">
                <a:solidFill>
                  <a:srgbClr val="000000"/>
                </a:solidFill>
                <a:effectLst/>
                <a:latin typeface="Arial" panose="020B0604020202020204" pitchFamily="34" charset="0"/>
              </a:rPr>
              <a:t>deliver any value at the </a:t>
            </a:r>
            <a:r>
              <a:rPr lang="en-GB" b="0" i="0" u="none" strike="noStrike" kern="1200" dirty="0">
                <a:solidFill>
                  <a:srgbClr val="000000"/>
                </a:solidFill>
                <a:effectLst/>
                <a:latin typeface="Arial" panose="020B0604020202020204" pitchFamily="34" charset="0"/>
              </a:rPr>
              <a:t>end of project.</a:t>
            </a:r>
          </a:p>
          <a:p>
            <a:pPr lvl="2" algn="l" eaLnBrk="1" fontAlgn="t" hangingPunct="1"/>
            <a:r>
              <a:rPr lang="en-GB" b="0" i="0" u="none" strike="noStrike" kern="1200" baseline="0" dirty="0">
                <a:solidFill>
                  <a:srgbClr val="000000"/>
                </a:solidFill>
                <a:effectLst/>
                <a:latin typeface="Arial" panose="020B0604020202020204" pitchFamily="34" charset="0"/>
              </a:rPr>
              <a:t>Increment / Iteration: Deliver value at the end</a:t>
            </a:r>
            <a:r>
              <a:rPr lang="en-GB" b="0" i="0" u="none" strike="noStrike" kern="1200" dirty="0">
                <a:solidFill>
                  <a:srgbClr val="000000"/>
                </a:solidFill>
                <a:effectLst/>
                <a:latin typeface="Arial" panose="020B0604020202020204" pitchFamily="34" charset="0"/>
              </a:rPr>
              <a:t> of each </a:t>
            </a:r>
            <a:r>
              <a:rPr lang="en-GB" b="0" i="0" u="none" strike="noStrike" kern="1200" baseline="0" dirty="0">
                <a:solidFill>
                  <a:srgbClr val="000000"/>
                </a:solidFill>
                <a:effectLst/>
                <a:latin typeface="Arial" panose="020B0604020202020204" pitchFamily="34" charset="0"/>
              </a:rPr>
              <a:t>increment or iteration.</a:t>
            </a:r>
            <a:endParaRPr lang="en-GB" b="0" i="0" u="none" strike="noStrike" dirty="0">
              <a:effectLst/>
              <a:latin typeface="Arial" panose="020B0604020202020204" pitchFamily="34" charset="0"/>
            </a:endParaRPr>
          </a:p>
          <a:p>
            <a:pPr marL="362448" lvl="1" indent="-181224" algn="l" eaLnBrk="1" fontAlgn="t" hangingPunct="1"/>
            <a:r>
              <a:rPr lang="en-GB" dirty="0">
                <a:solidFill>
                  <a:srgbClr val="000000"/>
                </a:solidFill>
              </a:rPr>
              <a:t>User Involvement:</a:t>
            </a:r>
          </a:p>
          <a:p>
            <a:pPr lvl="2" algn="l" eaLnBrk="1" fontAlgn="t" hangingPunct="1"/>
            <a:r>
              <a:rPr lang="en-GB" dirty="0">
                <a:solidFill>
                  <a:srgbClr val="000000"/>
                </a:solidFill>
              </a:rPr>
              <a:t>Sequential: G</a:t>
            </a:r>
            <a:r>
              <a:rPr lang="en-GB" b="0" i="0" u="none" strike="noStrike" kern="1200" dirty="0">
                <a:solidFill>
                  <a:srgbClr val="000000"/>
                </a:solidFill>
                <a:effectLst/>
                <a:latin typeface="Arial" panose="020B0604020202020204" pitchFamily="34" charset="0"/>
              </a:rPr>
              <a:t>enerally </a:t>
            </a:r>
            <a:r>
              <a:rPr lang="en-GB" b="0" i="0" u="none" strike="noStrike" kern="1200" baseline="0" dirty="0">
                <a:solidFill>
                  <a:srgbClr val="000000"/>
                </a:solidFill>
                <a:effectLst/>
                <a:latin typeface="Arial" panose="020B0604020202020204" pitchFamily="34" charset="0"/>
              </a:rPr>
              <a:t>only during the requirements and testing stages.</a:t>
            </a:r>
          </a:p>
          <a:p>
            <a:pPr lvl="2" algn="l" eaLnBrk="1" fontAlgn="t" hangingPunct="1"/>
            <a:r>
              <a:rPr lang="en-GB" dirty="0">
                <a:solidFill>
                  <a:srgbClr val="000000"/>
                </a:solidFill>
              </a:rPr>
              <a:t>Incremental / Iterative: C</a:t>
            </a:r>
            <a:r>
              <a:rPr lang="en-GB" b="0" i="0" u="none" strike="noStrike" kern="1200" baseline="0" dirty="0">
                <a:solidFill>
                  <a:srgbClr val="000000"/>
                </a:solidFill>
                <a:effectLst/>
                <a:latin typeface="Arial" panose="020B0604020202020204" pitchFamily="34" charset="0"/>
              </a:rPr>
              <a:t>ontinual involvement and collaboration.</a:t>
            </a:r>
            <a:endParaRPr lang="en-GB" b="0" i="0" u="none" strike="noStrike" dirty="0">
              <a:effectLst/>
              <a:latin typeface="Arial" panose="020B0604020202020204" pitchFamily="34" charset="0"/>
            </a:endParaRPr>
          </a:p>
          <a:p>
            <a:pPr marL="362448" lvl="1" indent="-181224" algn="l" eaLnBrk="1" fontAlgn="t" hangingPunct="1"/>
            <a:r>
              <a:rPr lang="en-GB" dirty="0">
                <a:solidFill>
                  <a:srgbClr val="000000"/>
                </a:solidFill>
              </a:rPr>
              <a:t>Time:</a:t>
            </a:r>
          </a:p>
          <a:p>
            <a:pPr lvl="2" algn="l" eaLnBrk="1" fontAlgn="t" hangingPunct="1"/>
            <a:r>
              <a:rPr lang="en-GB" dirty="0">
                <a:solidFill>
                  <a:srgbClr val="000000"/>
                </a:solidFill>
              </a:rPr>
              <a:t>Sequential: </a:t>
            </a:r>
            <a:r>
              <a:rPr lang="en-GB" b="0" i="0" u="none" strike="noStrike" kern="1200" dirty="0">
                <a:solidFill>
                  <a:srgbClr val="000000"/>
                </a:solidFill>
                <a:effectLst/>
                <a:latin typeface="Arial" panose="020B0604020202020204" pitchFamily="34" charset="0"/>
              </a:rPr>
              <a:t>As with value the solution is only delivered after all the stages are completed</a:t>
            </a:r>
            <a:r>
              <a:rPr lang="en-GB" b="0" i="0" u="none" strike="noStrike" kern="1200" baseline="0" dirty="0">
                <a:solidFill>
                  <a:srgbClr val="000000"/>
                </a:solidFill>
                <a:effectLst/>
                <a:latin typeface="Arial" panose="020B0604020202020204" pitchFamily="34" charset="0"/>
              </a:rPr>
              <a:t>. If a project is stopped before the end no value is delivered.</a:t>
            </a:r>
          </a:p>
          <a:p>
            <a:pPr lvl="2" algn="l" eaLnBrk="1" fontAlgn="t" hangingPunct="1"/>
            <a:r>
              <a:rPr lang="en-GB" b="0" i="0" u="none" strike="noStrike" kern="1200" baseline="0" dirty="0">
                <a:solidFill>
                  <a:srgbClr val="000000"/>
                </a:solidFill>
                <a:effectLst/>
                <a:latin typeface="Arial" panose="020B0604020202020204" pitchFamily="34" charset="0"/>
              </a:rPr>
              <a:t>Incremental / Iterative: Regular releases are delivered for feedback and approval in incremental or iterative methods. If a project stops there is still value from previous increments or iterations.</a:t>
            </a:r>
            <a:endParaRPr lang="en-GB" baseline="0"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a:p>
        </p:txBody>
      </p:sp>
    </p:spTree>
    <p:extLst>
      <p:ext uri="{BB962C8B-B14F-4D97-AF65-F5344CB8AC3E}">
        <p14:creationId xmlns:p14="http://schemas.microsoft.com/office/powerpoint/2010/main" val="17648859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just" defTabSz="914400" rtl="0" eaLnBrk="0" fontAlgn="base" latinLnBrk="0" hangingPunct="0">
              <a:lnSpc>
                <a:spcPct val="100000"/>
              </a:lnSpc>
              <a:spcBef>
                <a:spcPts val="0"/>
              </a:spcBef>
              <a:spcAft>
                <a:spcPts val="60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The final section is a review of module, specifically the Learning Outcomes and Assessment Criteria, with a quick quiz and a chance to ask any further questions and provide brief feedback.</a:t>
            </a:r>
          </a:p>
        </p:txBody>
      </p:sp>
      <p:sp>
        <p:nvSpPr>
          <p:cNvPr id="4" name="Slide Number Placeholder 3"/>
          <p:cNvSpPr>
            <a:spLocks noGrp="1"/>
          </p:cNvSpPr>
          <p:nvPr>
            <p:ph type="sldNum" sz="quarter" idx="5"/>
          </p:nvPr>
        </p:nvSpPr>
        <p:spPr/>
        <p:txBody>
          <a:bodyPr/>
          <a:lstStyle/>
          <a:p>
            <a:fld id="{9C44FC15-3C85-489A-BB43-3349185627FC}" type="slidenum">
              <a:rPr lang="en-GB" smtClean="0"/>
              <a:t>22</a:t>
            </a:fld>
            <a:endParaRPr lang="en-GB"/>
          </a:p>
        </p:txBody>
      </p:sp>
    </p:spTree>
    <p:extLst>
      <p:ext uri="{BB962C8B-B14F-4D97-AF65-F5344CB8AC3E}">
        <p14:creationId xmlns:p14="http://schemas.microsoft.com/office/powerpoint/2010/main" val="25867414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C44FC15-3C85-489A-BB43-3349185627FC}" type="slidenum">
              <a:rPr lang="en-GB" smtClean="0"/>
              <a:t>23</a:t>
            </a:fld>
            <a:endParaRPr lang="en-GB"/>
          </a:p>
        </p:txBody>
      </p:sp>
    </p:spTree>
    <p:extLst>
      <p:ext uri="{BB962C8B-B14F-4D97-AF65-F5344CB8AC3E}">
        <p14:creationId xmlns:p14="http://schemas.microsoft.com/office/powerpoint/2010/main" val="42362840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20.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_rels/slideLayout8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8.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29.pn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5" Type="http://schemas.microsoft.com/office/2007/relationships/hdphoto" Target="../media/hdphoto3.wdp"/><Relationship Id="rId4" Type="http://schemas.openxmlformats.org/officeDocument/2006/relationships/image" Target="../media/image28.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8.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11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0.png"/><Relationship Id="rId1" Type="http://schemas.openxmlformats.org/officeDocument/2006/relationships/slideMaster" Target="../slideMasters/slideMaster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 Id="rId5" Type="http://schemas.microsoft.com/office/2007/relationships/hdphoto" Target="../media/hdphoto2.wdp"/><Relationship Id="rId4" Type="http://schemas.openxmlformats.org/officeDocument/2006/relationships/image" Target="../media/image8.png"/></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0.png"/><Relationship Id="rId1" Type="http://schemas.openxmlformats.org/officeDocument/2006/relationships/slideMaster" Target="../slideMasters/slideMaster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4.jpeg"/><Relationship Id="rId1" Type="http://schemas.openxmlformats.org/officeDocument/2006/relationships/slideMaster" Target="../slideMasters/slideMaster5.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923141659"/>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dirty="0"/>
              <a:t>Housekeeping</a:t>
            </a:r>
            <a:endParaRPr lang="en-GB" noProof="0" dirty="0"/>
          </a:p>
        </p:txBody>
      </p:sp>
      <p:pic>
        <p:nvPicPr>
          <p:cNvPr id="6"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8" name="Text Placeholder 6">
            <a:extLst>
              <a:ext uri="{FF2B5EF4-FFF2-40B4-BE49-F238E27FC236}">
                <a16:creationId xmlns:a16="http://schemas.microsoft.com/office/drawing/2014/main" id="{EC1B3813-DD9D-954E-BE79-A994AB3AFD51}"/>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1830371073"/>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Meet &amp; Greet">
    <p:bg>
      <p:bgPr>
        <a:solidFill>
          <a:schemeClr val="tx2"/>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7" name="Picture 6">
            <a:extLst>
              <a:ext uri="{FF2B5EF4-FFF2-40B4-BE49-F238E27FC236}">
                <a16:creationId xmlns:a16="http://schemas.microsoft.com/office/drawing/2014/main" id="{4E33C862-6C7D-4099-B29A-B18CFC640A13}"/>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87443885"/>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rgbClr val="004050"/>
                </a:solidFill>
              </a:defRPr>
            </a:lvl1pPr>
          </a:lstStyle>
          <a:p>
            <a:r>
              <a:rPr lang="en-US" noProof="0" dirty="0"/>
              <a:t>CLICK TO EDIT TITLE</a:t>
            </a:r>
            <a:endParaRPr lang="en-GB" noProof="0" dirty="0"/>
          </a:p>
        </p:txBody>
      </p:sp>
      <p:sp>
        <p:nvSpPr>
          <p:cNvPr id="2" name="Rectangle 1"/>
          <p:cNvSpPr/>
          <p:nvPr/>
        </p:nvSpPr>
        <p:spPr>
          <a:xfrm>
            <a:off x="0" y="3843795"/>
            <a:ext cx="8229600"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01222365"/>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2"/>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33447175"/>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rgbClr val="004050"/>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476141981"/>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18805657"/>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940093963"/>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1710228376"/>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1" name="Rectangle 10"/>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864580811"/>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12034234"/>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75103296"/>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976699477"/>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202089030"/>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560747095"/>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100275525"/>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707900291"/>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8CE8C71-4A26-D849-813C-580602CCBDA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228920122"/>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122CC552-B995-3D44-97DB-048FA9D7391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324940932"/>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C6C80C38-3722-474E-8B11-A2D0DDDA408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175407708"/>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DF12CDA4-6DB7-9B47-B8BD-BC72661022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806039455"/>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C688DDD5-996C-5A49-B7AA-2FBE4622651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410814267"/>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67306422-B398-BC4C-8476-3EB6DBC1663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954251088"/>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4044263659"/>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5440E06-BD51-134C-8922-1FED8CE30B1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011497220"/>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D437921-F8BF-FB43-B188-28C7B472CCE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725349814"/>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8D950501-8A96-F740-8901-23C73CDCDD2D}"/>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341556074"/>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602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5ABD8F74-8FD6-554A-BB95-259D126DE6E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178051423"/>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7336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093A48C6-BAF4-C24C-927C-1277EFA8D0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592887047"/>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408EE555-3A54-004C-A759-75B8B80EEC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633523078"/>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Activity 01">
    <p:bg>
      <p:bgPr>
        <a:solidFill>
          <a:srgbClr val="0FEEB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7"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Tree>
    <p:extLst>
      <p:ext uri="{BB962C8B-B14F-4D97-AF65-F5344CB8AC3E}">
        <p14:creationId xmlns:p14="http://schemas.microsoft.com/office/powerpoint/2010/main" val="139664842"/>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6" name="Title 1">
            <a:extLst>
              <a:ext uri="{FF2B5EF4-FFF2-40B4-BE49-F238E27FC236}">
                <a16:creationId xmlns:a16="http://schemas.microsoft.com/office/drawing/2014/main" id="{4E7C86B2-491D-4175-B781-C85C7A96028A}"/>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327755152"/>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Divider or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5A61FC8-7A75-4791-8E3A-93C63D7CBE3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20682" y="290721"/>
            <a:ext cx="2323508" cy="1416483"/>
          </a:xfrm>
          <a:prstGeom prst="rect">
            <a:avLst/>
          </a:prstGeom>
        </p:spPr>
      </p:pic>
      <p:sp>
        <p:nvSpPr>
          <p:cNvPr id="6" name="Title 1">
            <a:extLst>
              <a:ext uri="{FF2B5EF4-FFF2-40B4-BE49-F238E27FC236}">
                <a16:creationId xmlns:a16="http://schemas.microsoft.com/office/drawing/2014/main" id="{5A1CD1B7-29EB-4FA8-8E8E-E672878F69C9}"/>
              </a:ext>
            </a:extLst>
          </p:cNvPr>
          <p:cNvSpPr>
            <a:spLocks noGrp="1"/>
          </p:cNvSpPr>
          <p:nvPr>
            <p:ph type="ctrTitle"/>
          </p:nvPr>
        </p:nvSpPr>
        <p:spPr>
          <a:xfrm>
            <a:off x="548369" y="3637583"/>
            <a:ext cx="6484729" cy="1247616"/>
          </a:xfrm>
        </p:spPr>
        <p:txBody>
          <a:bodyPr anchor="ctr" anchorCtr="0">
            <a:normAutofit/>
          </a:bodyPr>
          <a:lstStyle>
            <a:lvl1pPr algn="l">
              <a:lnSpc>
                <a:spcPct val="80000"/>
              </a:lnSpc>
              <a:defRPr sz="4800" cap="all" baseline="0">
                <a:solidFill>
                  <a:schemeClr val="bg1"/>
                </a:solidFill>
              </a:defRPr>
            </a:lvl1pPr>
          </a:lstStyle>
          <a:p>
            <a:r>
              <a:rPr lang="en-US" noProof="0" dirty="0"/>
              <a:t>Click to edit Master title</a:t>
            </a:r>
            <a:endParaRPr lang="en-GB" noProof="0" dirty="0"/>
          </a:p>
        </p:txBody>
      </p:sp>
      <p:sp>
        <p:nvSpPr>
          <p:cNvPr id="7" name="Text Placeholder 7">
            <a:extLst>
              <a:ext uri="{FF2B5EF4-FFF2-40B4-BE49-F238E27FC236}">
                <a16:creationId xmlns:a16="http://schemas.microsoft.com/office/drawing/2014/main" id="{207F7D92-0503-4291-B4C6-7F995240BD86}"/>
              </a:ext>
            </a:extLst>
          </p:cNvPr>
          <p:cNvSpPr>
            <a:spLocks noGrp="1"/>
          </p:cNvSpPr>
          <p:nvPr>
            <p:ph type="body" sz="quarter" idx="10" hasCustomPrompt="1"/>
          </p:nvPr>
        </p:nvSpPr>
        <p:spPr>
          <a:xfrm>
            <a:off x="548368" y="4983151"/>
            <a:ext cx="6484729" cy="354384"/>
          </a:xfrm>
        </p:spPr>
        <p:txBody>
          <a:bodyPr/>
          <a:lstStyle>
            <a:lvl1pPr marL="0" indent="0">
              <a:buFont typeface="Arial" panose="020B0604020202020204" pitchFamily="34" charset="0"/>
              <a:buNone/>
              <a:defRPr>
                <a:solidFill>
                  <a:schemeClr val="bg1"/>
                </a:solidFill>
              </a:defRPr>
            </a:lvl1pPr>
            <a:lvl5pPr>
              <a:defRPr/>
            </a:lvl5pPr>
          </a:lstStyle>
          <a:p>
            <a:pPr lvl="0"/>
            <a:r>
              <a:rPr lang="en-GB" dirty="0"/>
              <a:t>Subtitle to sit here</a:t>
            </a:r>
          </a:p>
        </p:txBody>
      </p:sp>
      <p:pic>
        <p:nvPicPr>
          <p:cNvPr id="8" name="Graphic 7">
            <a:extLst>
              <a:ext uri="{FF2B5EF4-FFF2-40B4-BE49-F238E27FC236}">
                <a16:creationId xmlns:a16="http://schemas.microsoft.com/office/drawing/2014/main" id="{83148DA8-E7DA-4E0B-BC5B-50A9C28797A5}"/>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273082" y="443121"/>
            <a:ext cx="2323508" cy="1416483"/>
          </a:xfrm>
          <a:prstGeom prst="rect">
            <a:avLst/>
          </a:prstGeom>
        </p:spPr>
      </p:pic>
    </p:spTree>
    <p:extLst>
      <p:ext uri="{BB962C8B-B14F-4D97-AF65-F5344CB8AC3E}">
        <p14:creationId xmlns:p14="http://schemas.microsoft.com/office/powerpoint/2010/main" val="10650426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Contents or agenda">
    <p:spTree>
      <p:nvGrpSpPr>
        <p:cNvPr id="1" name=""/>
        <p:cNvGrpSpPr/>
        <p:nvPr/>
      </p:nvGrpSpPr>
      <p:grpSpPr>
        <a:xfrm>
          <a:off x="0" y="0"/>
          <a:ext cx="0" cy="0"/>
          <a:chOff x="0" y="0"/>
          <a:chExt cx="0" cy="0"/>
        </a:xfrm>
      </p:grpSpPr>
      <p:pic>
        <p:nvPicPr>
          <p:cNvPr id="26" name="Picture 25" descr="Shape&#10;&#10;Description automatically generated with medium confidence">
            <a:extLst>
              <a:ext uri="{FF2B5EF4-FFF2-40B4-BE49-F238E27FC236}">
                <a16:creationId xmlns:a16="http://schemas.microsoft.com/office/drawing/2014/main" id="{3B4E1F50-500D-4F08-9594-04DCAC10E481}"/>
              </a:ext>
            </a:extLst>
          </p:cNvPr>
          <p:cNvPicPr>
            <a:picLocks noChangeAspect="1"/>
          </p:cNvPicPr>
          <p:nvPr userDrawn="1"/>
        </p:nvPicPr>
        <p:blipFill>
          <a:blip r:embed="rId2"/>
          <a:stretch>
            <a:fillRect/>
          </a:stretch>
        </p:blipFill>
        <p:spPr>
          <a:xfrm>
            <a:off x="7877310" y="0"/>
            <a:ext cx="4314690" cy="6858000"/>
          </a:xfrm>
          <a:prstGeom prst="rect">
            <a:avLst/>
          </a:prstGeom>
        </p:spPr>
      </p:pic>
      <p:cxnSp>
        <p:nvCxnSpPr>
          <p:cNvPr id="13" name="Straight Connector 12"/>
          <p:cNvCxnSpPr/>
          <p:nvPr userDrawn="1"/>
        </p:nvCxnSpPr>
        <p:spPr>
          <a:xfrm>
            <a:off x="3101975" y="1484598"/>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3101975" y="2145891"/>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101975" y="2807184"/>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3101975" y="3468477"/>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101975" y="4129770"/>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3101975" y="4791062"/>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sp>
        <p:nvSpPr>
          <p:cNvPr id="30" name="Text Placeholder 2"/>
          <p:cNvSpPr>
            <a:spLocks noGrp="1"/>
          </p:cNvSpPr>
          <p:nvPr>
            <p:ph type="body" sz="quarter" idx="10" hasCustomPrompt="1"/>
          </p:nvPr>
        </p:nvSpPr>
        <p:spPr>
          <a:xfrm>
            <a:off x="384784" y="1484598"/>
            <a:ext cx="2521449" cy="1962150"/>
          </a:xfrm>
        </p:spPr>
        <p:txBody>
          <a:bodyPr/>
          <a:lstStyle>
            <a:lvl1pPr marL="0" indent="0">
              <a:lnSpc>
                <a:spcPct val="90000"/>
              </a:lnSpc>
              <a:spcAft>
                <a:spcPts val="0"/>
              </a:spcAft>
              <a:buFont typeface="Arial" panose="020B0604020202020204" pitchFamily="34" charset="0"/>
              <a:buNone/>
              <a:defRPr sz="4000" b="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Add title</a:t>
            </a:r>
          </a:p>
        </p:txBody>
      </p:sp>
      <p:sp>
        <p:nvSpPr>
          <p:cNvPr id="5" name="Text Placeholder 4"/>
          <p:cNvSpPr>
            <a:spLocks noGrp="1"/>
          </p:cNvSpPr>
          <p:nvPr>
            <p:ph type="body" sz="quarter" idx="11" hasCustomPrompt="1"/>
          </p:nvPr>
        </p:nvSpPr>
        <p:spPr>
          <a:xfrm>
            <a:off x="3299565" y="1619445"/>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7" name="Text Placeholder 6"/>
          <p:cNvSpPr>
            <a:spLocks noGrp="1"/>
          </p:cNvSpPr>
          <p:nvPr>
            <p:ph type="body" sz="quarter" idx="12" hasCustomPrompt="1"/>
          </p:nvPr>
        </p:nvSpPr>
        <p:spPr>
          <a:xfrm>
            <a:off x="5037138" y="166661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38" name="Text Placeholder 4"/>
          <p:cNvSpPr>
            <a:spLocks noGrp="1"/>
          </p:cNvSpPr>
          <p:nvPr>
            <p:ph type="body" sz="quarter" idx="13" hasCustomPrompt="1"/>
          </p:nvPr>
        </p:nvSpPr>
        <p:spPr>
          <a:xfrm>
            <a:off x="3299565" y="2280736"/>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39" name="Text Placeholder 6"/>
          <p:cNvSpPr>
            <a:spLocks noGrp="1"/>
          </p:cNvSpPr>
          <p:nvPr>
            <p:ph type="body" sz="quarter" idx="14" hasCustomPrompt="1"/>
          </p:nvPr>
        </p:nvSpPr>
        <p:spPr>
          <a:xfrm>
            <a:off x="5037138" y="2327903"/>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0" name="Text Placeholder 4"/>
          <p:cNvSpPr>
            <a:spLocks noGrp="1"/>
          </p:cNvSpPr>
          <p:nvPr>
            <p:ph type="body" sz="quarter" idx="15" hasCustomPrompt="1"/>
          </p:nvPr>
        </p:nvSpPr>
        <p:spPr>
          <a:xfrm>
            <a:off x="3305695" y="2939432"/>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41" name="Text Placeholder 6"/>
          <p:cNvSpPr>
            <a:spLocks noGrp="1"/>
          </p:cNvSpPr>
          <p:nvPr>
            <p:ph type="body" sz="quarter" idx="16" hasCustomPrompt="1"/>
          </p:nvPr>
        </p:nvSpPr>
        <p:spPr>
          <a:xfrm>
            <a:off x="5043268" y="2986599"/>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2" name="Text Placeholder 4"/>
          <p:cNvSpPr>
            <a:spLocks noGrp="1"/>
          </p:cNvSpPr>
          <p:nvPr>
            <p:ph type="body" sz="quarter" idx="17" hasCustomPrompt="1"/>
          </p:nvPr>
        </p:nvSpPr>
        <p:spPr>
          <a:xfrm>
            <a:off x="3305695" y="3594428"/>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3" name="Text Placeholder 6"/>
          <p:cNvSpPr>
            <a:spLocks noGrp="1"/>
          </p:cNvSpPr>
          <p:nvPr>
            <p:ph type="body" sz="quarter" idx="18" hasCustomPrompt="1"/>
          </p:nvPr>
        </p:nvSpPr>
        <p:spPr>
          <a:xfrm>
            <a:off x="5043268" y="3641595"/>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4" name="Text Placeholder 4"/>
          <p:cNvSpPr>
            <a:spLocks noGrp="1"/>
          </p:cNvSpPr>
          <p:nvPr>
            <p:ph type="body" sz="quarter" idx="19" hasCustomPrompt="1"/>
          </p:nvPr>
        </p:nvSpPr>
        <p:spPr>
          <a:xfrm>
            <a:off x="3299564" y="4259419"/>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5" name="Text Placeholder 6"/>
          <p:cNvSpPr>
            <a:spLocks noGrp="1"/>
          </p:cNvSpPr>
          <p:nvPr>
            <p:ph type="body" sz="quarter" idx="20" hasCustomPrompt="1"/>
          </p:nvPr>
        </p:nvSpPr>
        <p:spPr>
          <a:xfrm>
            <a:off x="5037137" y="4306586"/>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6" name="Text Placeholder 4"/>
          <p:cNvSpPr>
            <a:spLocks noGrp="1"/>
          </p:cNvSpPr>
          <p:nvPr>
            <p:ph type="body" sz="quarter" idx="21" hasCustomPrompt="1"/>
          </p:nvPr>
        </p:nvSpPr>
        <p:spPr>
          <a:xfrm>
            <a:off x="3305695" y="4937056"/>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7" name="Text Placeholder 6"/>
          <p:cNvSpPr>
            <a:spLocks noGrp="1"/>
          </p:cNvSpPr>
          <p:nvPr>
            <p:ph type="body" sz="quarter" idx="22" hasCustomPrompt="1"/>
          </p:nvPr>
        </p:nvSpPr>
        <p:spPr>
          <a:xfrm>
            <a:off x="5043268" y="4984223"/>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pic>
        <p:nvPicPr>
          <p:cNvPr id="2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714554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wo Columns A">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0B3D3E76-7890-4FA3-97ED-08A6CF0084EA}"/>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18773747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 Column B">
    <p:spTree>
      <p:nvGrpSpPr>
        <p:cNvPr id="1" name=""/>
        <p:cNvGrpSpPr/>
        <p:nvPr/>
      </p:nvGrpSpPr>
      <p:grpSpPr>
        <a:xfrm>
          <a:off x="0" y="0"/>
          <a:ext cx="0" cy="0"/>
          <a:chOff x="0" y="0"/>
          <a:chExt cx="0" cy="0"/>
        </a:xfrm>
      </p:grpSpPr>
      <p:pic>
        <p:nvPicPr>
          <p:cNvPr id="10" name="Picture 9" descr="Shape&#10;&#10;Description automatically generated with medium confidence">
            <a:extLst>
              <a:ext uri="{FF2B5EF4-FFF2-40B4-BE49-F238E27FC236}">
                <a16:creationId xmlns:a16="http://schemas.microsoft.com/office/drawing/2014/main" id="{13D787C6-D70B-4FC4-97F4-CFE3F4731862}"/>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5" name="Text Placeholder 2"/>
          <p:cNvSpPr>
            <a:spLocks noGrp="1"/>
          </p:cNvSpPr>
          <p:nvPr>
            <p:ph type="body" sz="quarter" idx="12" hasCustomPrompt="1"/>
          </p:nvPr>
        </p:nvSpPr>
        <p:spPr>
          <a:xfrm>
            <a:off x="376238" y="453058"/>
            <a:ext cx="10464801"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376239" y="1635854"/>
            <a:ext cx="10464800"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8DEF2034-2DE3-492A-96E2-AC3A81511FC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57455455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 Column A">
    <p:spTree>
      <p:nvGrpSpPr>
        <p:cNvPr id="1" name=""/>
        <p:cNvGrpSpPr/>
        <p:nvPr/>
      </p:nvGrpSpPr>
      <p:grpSpPr>
        <a:xfrm>
          <a:off x="0" y="0"/>
          <a:ext cx="0" cy="0"/>
          <a:chOff x="0" y="0"/>
          <a:chExt cx="0" cy="0"/>
        </a:xfrm>
      </p:grpSpPr>
      <p:pic>
        <p:nvPicPr>
          <p:cNvPr id="10" name="Picture 9" descr="Shape&#10;&#10;Description automatically generated with medium confidence">
            <a:extLst>
              <a:ext uri="{FF2B5EF4-FFF2-40B4-BE49-F238E27FC236}">
                <a16:creationId xmlns:a16="http://schemas.microsoft.com/office/drawing/2014/main" id="{13D787C6-D70B-4FC4-97F4-CFE3F4731862}"/>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5" name="Text Placeholder 2"/>
          <p:cNvSpPr>
            <a:spLocks noGrp="1"/>
          </p:cNvSpPr>
          <p:nvPr>
            <p:ph type="body" sz="quarter" idx="12" hasCustomPrompt="1"/>
          </p:nvPr>
        </p:nvSpPr>
        <p:spPr>
          <a:xfrm>
            <a:off x="1357921" y="453058"/>
            <a:ext cx="9483118"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1357921" y="1635854"/>
            <a:ext cx="9483117"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lumn A Plain">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357921" y="453058"/>
            <a:ext cx="9483118"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1357921" y="1635854"/>
            <a:ext cx="9483117"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14729812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s A Pla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679632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Columns B">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F8457ED5-FFC6-4734-A6E8-9C12AAF7EA0D}"/>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a:xfrm>
            <a:off x="376238" y="450398"/>
            <a:ext cx="10464799" cy="687614"/>
          </a:xfrm>
        </p:spPr>
        <p:txBody>
          <a:bodyPr/>
          <a:lstStyle/>
          <a:p>
            <a:r>
              <a:rPr lang="en-US" dirty="0"/>
              <a:t>Click to edit Master title style</a:t>
            </a:r>
            <a:endParaRPr lang="en-GB" dirty="0"/>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376238" y="1635854"/>
            <a:ext cx="5627688"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5" name="Graphic 31">
            <a:extLst>
              <a:ext uri="{FF2B5EF4-FFF2-40B4-BE49-F238E27FC236}">
                <a16:creationId xmlns:a16="http://schemas.microsoft.com/office/drawing/2014/main" id="{6E7E2E15-3B47-4552-B2F2-43A358272F5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3930530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1438039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py Slide - QA Left Side">
    <p:bg>
      <p:bgPr>
        <a:solidFill>
          <a:schemeClr val="bg1"/>
        </a:solidFill>
        <a:effectLst/>
      </p:bgPr>
    </p:bg>
    <p:spTree>
      <p:nvGrpSpPr>
        <p:cNvPr id="1" name=""/>
        <p:cNvGrpSpPr/>
        <p:nvPr/>
      </p:nvGrpSpPr>
      <p:grpSpPr>
        <a:xfrm>
          <a:off x="0" y="0"/>
          <a:ext cx="0" cy="0"/>
          <a:chOff x="0" y="0"/>
          <a:chExt cx="0" cy="0"/>
        </a:xfrm>
      </p:grpSpPr>
      <p:pic>
        <p:nvPicPr>
          <p:cNvPr id="7" name="Graphic 31">
            <a:extLst>
              <a:ext uri="{FF2B5EF4-FFF2-40B4-BE49-F238E27FC236}">
                <a16:creationId xmlns:a16="http://schemas.microsoft.com/office/drawing/2014/main" id="{E91400AF-DDE0-4462-9B4B-DC7F95F911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3747991474"/>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lain Background">
    <p:spTree>
      <p:nvGrpSpPr>
        <p:cNvPr id="1" name=""/>
        <p:cNvGrpSpPr/>
        <p:nvPr/>
      </p:nvGrpSpPr>
      <p:grpSpPr>
        <a:xfrm>
          <a:off x="0" y="0"/>
          <a:ext cx="0" cy="0"/>
          <a:chOff x="0" y="0"/>
          <a:chExt cx="0" cy="0"/>
        </a:xfrm>
      </p:grpSpPr>
      <p:sp>
        <p:nvSpPr>
          <p:cNvPr id="2" name="Rectangle 1"/>
          <p:cNvSpPr/>
          <p:nvPr userDrawn="1"/>
        </p:nvSpPr>
        <p:spPr>
          <a:xfrm>
            <a:off x="269737" y="304800"/>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6157694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lain side block - A">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71E76E-2742-450B-96BA-3BB549EE2428}"/>
              </a:ext>
            </a:extLst>
          </p:cNvPr>
          <p:cNvSpPr/>
          <p:nvPr userDrawn="1"/>
        </p:nvSpPr>
        <p:spPr>
          <a:xfrm>
            <a:off x="0" y="0"/>
            <a:ext cx="4152550"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 Placeholder 2"/>
          <p:cNvSpPr>
            <a:spLocks noGrp="1"/>
          </p:cNvSpPr>
          <p:nvPr>
            <p:ph type="body" sz="quarter" idx="12" hasCustomPrompt="1"/>
          </p:nvPr>
        </p:nvSpPr>
        <p:spPr>
          <a:xfrm>
            <a:off x="376238" y="1233488"/>
            <a:ext cx="3437005" cy="2030142"/>
          </a:xfrm>
        </p:spPr>
        <p:txBody>
          <a:bodyPr/>
          <a:lstStyle>
            <a:lvl1pPr marL="0" indent="0">
              <a:lnSpc>
                <a:spcPct val="90000"/>
              </a:lnSpc>
              <a:spcAft>
                <a:spcPts val="0"/>
              </a:spcAft>
              <a:buFont typeface="Arial" panose="020B0604020202020204" pitchFamily="34" charset="0"/>
              <a:buNone/>
              <a:defRPr sz="4000" b="0" cap="none"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5037138" y="1233488"/>
            <a:ext cx="6770687" cy="4651746"/>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E91400AF-DDE0-4462-9B4B-DC7F95F911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45063" y="5980266"/>
            <a:ext cx="781218" cy="552176"/>
          </a:xfrm>
          <a:prstGeom prst="rect">
            <a:avLst/>
          </a:prstGeom>
        </p:spPr>
      </p:pic>
      <p:pic>
        <p:nvPicPr>
          <p:cNvPr id="8" name="Picture 7">
            <a:extLst>
              <a:ext uri="{FF2B5EF4-FFF2-40B4-BE49-F238E27FC236}">
                <a16:creationId xmlns:a16="http://schemas.microsoft.com/office/drawing/2014/main" id="{AB547ADA-2CB9-46E7-811F-C8E01F6F3CE5}"/>
              </a:ext>
            </a:extLst>
          </p:cNvPr>
          <p:cNvPicPr>
            <a:picLocks noChangeAspect="1"/>
          </p:cNvPicPr>
          <p:nvPr userDrawn="1"/>
        </p:nvPicPr>
        <p:blipFill>
          <a:blip r:embed="rId4"/>
          <a:srcRect/>
          <a:stretch/>
        </p:blipFill>
        <p:spPr>
          <a:xfrm>
            <a:off x="0" y="4283345"/>
            <a:ext cx="5907041" cy="2574654"/>
          </a:xfrm>
          <a:prstGeom prst="rect">
            <a:avLst/>
          </a:prstGeom>
        </p:spPr>
      </p:pic>
    </p:spTree>
    <p:extLst>
      <p:ext uri="{BB962C8B-B14F-4D97-AF65-F5344CB8AC3E}">
        <p14:creationId xmlns:p14="http://schemas.microsoft.com/office/powerpoint/2010/main" val="89513587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255743483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4994310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accent3"/>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4"/>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0948F714-4D77-CD42-BD58-84592393B6D2}"/>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306372646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1_Meet &amp; Greet">
    <p:bg>
      <p:bgPr>
        <a:solidFill>
          <a:schemeClr val="accent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CDCD9ABD-8C57-4882-866C-BC056D757780}"/>
              </a:ext>
            </a:extLst>
          </p:cNvPr>
          <p:cNvPicPr>
            <a:picLocks noChangeAspect="1"/>
          </p:cNvPicPr>
          <p:nvPr/>
        </p:nvPicPr>
        <p:blipFill rotWithShape="1">
          <a:blip r:embed="rId4">
            <a:duotone>
              <a:schemeClr val="accent3">
                <a:shade val="45000"/>
                <a:satMod val="135000"/>
              </a:schemeClr>
              <a:prstClr val="white"/>
            </a:duotone>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141166524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accent3"/>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accent3"/>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5835584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4"/>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7510413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accent3"/>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5892647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35213997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9260106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3"/>
          </a:solidFill>
        </p:spPr>
        <p:txBody>
          <a:bodyPr wrap="square" lIns="0" tIns="0" rIns="0" bIns="0" rtlCol="0"/>
          <a:lstStyle/>
          <a:p>
            <a:endParaRPr sz="1029"/>
          </a:p>
        </p:txBody>
      </p:sp>
    </p:spTree>
    <p:extLst>
      <p:ext uri="{BB962C8B-B14F-4D97-AF65-F5344CB8AC3E}">
        <p14:creationId xmlns:p14="http://schemas.microsoft.com/office/powerpoint/2010/main" val="303560357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81426905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1094165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5584452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9634813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40778462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6143840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3040673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6893853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9930038-7324-754A-9850-A216F52D7ED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02557132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CDF1ACB8-AF73-DE42-B25D-407198650B9A}"/>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36235711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E45BD70D-705E-6C48-85F0-2B8B8D29C2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32207590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61090407-4F3B-F847-A7AB-C8C0EFB28AF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19593324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E49C0454-8721-7947-A56E-58D569350C28}"/>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2996926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E98B0132-AE9F-DA4C-9229-D8371E10A71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19250532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08530640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3935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46C840F-99B2-8C4C-A37D-F1F388F0C20C}"/>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714063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8241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39C13B6-7320-8544-8C3F-972BE573F629}"/>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8539084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91069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032C547-F94C-1241-9D31-1F73ADBB2494}"/>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88678948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0865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698D41BD-7B3B-1742-B394-CDE3B9E03C5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0440036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E2A682AD-D487-474A-ACC8-8097477C31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23356713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37A21872-726D-FD41-8C44-AEDB5C04354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2766496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Activity 0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514" y="377546"/>
            <a:ext cx="5336420" cy="6147015"/>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423286047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1_Title Slide - White / Purple">
    <p:spTree>
      <p:nvGrpSpPr>
        <p:cNvPr id="1" name=""/>
        <p:cNvGrpSpPr/>
        <p:nvPr/>
      </p:nvGrpSpPr>
      <p:grpSpPr>
        <a:xfrm>
          <a:off x="0" y="0"/>
          <a:ext cx="0" cy="0"/>
          <a:chOff x="0" y="0"/>
          <a:chExt cx="0" cy="0"/>
        </a:xfrm>
      </p:grpSpPr>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
        <p:nvSpPr>
          <p:cNvPr id="6" name="Title 1">
            <a:extLst>
              <a:ext uri="{FF2B5EF4-FFF2-40B4-BE49-F238E27FC236}">
                <a16:creationId xmlns:a16="http://schemas.microsoft.com/office/drawing/2014/main" id="{E0184910-58FA-4EFA-A539-4B89BFCDC982}"/>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
        <p:nvSpPr>
          <p:cNvPr id="8" name="Text Placeholder 3">
            <a:extLst>
              <a:ext uri="{FF2B5EF4-FFF2-40B4-BE49-F238E27FC236}">
                <a16:creationId xmlns:a16="http://schemas.microsoft.com/office/drawing/2014/main" id="{E6FB43B3-B490-477F-9165-5EA7092C4040}"/>
              </a:ext>
            </a:extLst>
          </p:cNvPr>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293257497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1_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1801444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userDrawn="1">
  <p:cSld name="Divider or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5A61FC8-7A75-4791-8E3A-93C63D7CBE3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20682" y="290721"/>
            <a:ext cx="2323508" cy="1416483"/>
          </a:xfrm>
          <a:prstGeom prst="rect">
            <a:avLst/>
          </a:prstGeom>
        </p:spPr>
      </p:pic>
      <p:sp>
        <p:nvSpPr>
          <p:cNvPr id="6" name="Title 1">
            <a:extLst>
              <a:ext uri="{FF2B5EF4-FFF2-40B4-BE49-F238E27FC236}">
                <a16:creationId xmlns:a16="http://schemas.microsoft.com/office/drawing/2014/main" id="{5A1CD1B7-29EB-4FA8-8E8E-E672878F69C9}"/>
              </a:ext>
            </a:extLst>
          </p:cNvPr>
          <p:cNvSpPr>
            <a:spLocks noGrp="1"/>
          </p:cNvSpPr>
          <p:nvPr>
            <p:ph type="ctrTitle"/>
          </p:nvPr>
        </p:nvSpPr>
        <p:spPr>
          <a:xfrm>
            <a:off x="548369" y="3637583"/>
            <a:ext cx="6484729" cy="1247616"/>
          </a:xfrm>
        </p:spPr>
        <p:txBody>
          <a:bodyPr anchor="ctr" anchorCtr="0">
            <a:normAutofit/>
          </a:bodyPr>
          <a:lstStyle>
            <a:lvl1pPr algn="l">
              <a:lnSpc>
                <a:spcPct val="80000"/>
              </a:lnSpc>
              <a:defRPr sz="4800" cap="all" baseline="0">
                <a:solidFill>
                  <a:schemeClr val="bg1"/>
                </a:solidFill>
              </a:defRPr>
            </a:lvl1pPr>
          </a:lstStyle>
          <a:p>
            <a:r>
              <a:rPr lang="en-US" noProof="0" dirty="0"/>
              <a:t>Click to edit Master title</a:t>
            </a:r>
            <a:endParaRPr lang="en-GB" noProof="0" dirty="0"/>
          </a:p>
        </p:txBody>
      </p:sp>
      <p:sp>
        <p:nvSpPr>
          <p:cNvPr id="7" name="Text Placeholder 7">
            <a:extLst>
              <a:ext uri="{FF2B5EF4-FFF2-40B4-BE49-F238E27FC236}">
                <a16:creationId xmlns:a16="http://schemas.microsoft.com/office/drawing/2014/main" id="{207F7D92-0503-4291-B4C6-7F995240BD86}"/>
              </a:ext>
            </a:extLst>
          </p:cNvPr>
          <p:cNvSpPr>
            <a:spLocks noGrp="1"/>
          </p:cNvSpPr>
          <p:nvPr>
            <p:ph type="body" sz="quarter" idx="10" hasCustomPrompt="1"/>
          </p:nvPr>
        </p:nvSpPr>
        <p:spPr>
          <a:xfrm>
            <a:off x="548368" y="4983151"/>
            <a:ext cx="6484729" cy="354384"/>
          </a:xfrm>
        </p:spPr>
        <p:txBody>
          <a:bodyPr/>
          <a:lstStyle>
            <a:lvl1pPr marL="0" indent="0">
              <a:buFont typeface="Arial" panose="020B0604020202020204" pitchFamily="34" charset="0"/>
              <a:buNone/>
              <a:defRPr>
                <a:solidFill>
                  <a:schemeClr val="bg1"/>
                </a:solidFill>
              </a:defRPr>
            </a:lvl1pPr>
            <a:lvl5pPr>
              <a:defRPr/>
            </a:lvl5pPr>
          </a:lstStyle>
          <a:p>
            <a:pPr lvl="0"/>
            <a:r>
              <a:rPr lang="en-GB" dirty="0"/>
              <a:t>Subtitle to sit here</a:t>
            </a:r>
          </a:p>
        </p:txBody>
      </p:sp>
      <p:pic>
        <p:nvPicPr>
          <p:cNvPr id="8" name="Graphic 7">
            <a:extLst>
              <a:ext uri="{FF2B5EF4-FFF2-40B4-BE49-F238E27FC236}">
                <a16:creationId xmlns:a16="http://schemas.microsoft.com/office/drawing/2014/main" id="{83148DA8-E7DA-4E0B-BC5B-50A9C28797A5}"/>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273082" y="443121"/>
            <a:ext cx="2323508" cy="1416483"/>
          </a:xfrm>
          <a:prstGeom prst="rect">
            <a:avLst/>
          </a:prstGeom>
        </p:spPr>
      </p:pic>
    </p:spTree>
    <p:extLst>
      <p:ext uri="{BB962C8B-B14F-4D97-AF65-F5344CB8AC3E}">
        <p14:creationId xmlns:p14="http://schemas.microsoft.com/office/powerpoint/2010/main" val="200054253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 Column B">
    <p:spTree>
      <p:nvGrpSpPr>
        <p:cNvPr id="1" name=""/>
        <p:cNvGrpSpPr/>
        <p:nvPr/>
      </p:nvGrpSpPr>
      <p:grpSpPr>
        <a:xfrm>
          <a:off x="0" y="0"/>
          <a:ext cx="0" cy="0"/>
          <a:chOff x="0" y="0"/>
          <a:chExt cx="0" cy="0"/>
        </a:xfrm>
      </p:grpSpPr>
      <p:pic>
        <p:nvPicPr>
          <p:cNvPr id="10" name="Picture 9" descr="Shape&#10;&#10;Description automatically generated with medium confidence">
            <a:extLst>
              <a:ext uri="{FF2B5EF4-FFF2-40B4-BE49-F238E27FC236}">
                <a16:creationId xmlns:a16="http://schemas.microsoft.com/office/drawing/2014/main" id="{13D787C6-D70B-4FC4-97F4-CFE3F4731862}"/>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5" name="Text Placeholder 2"/>
          <p:cNvSpPr>
            <a:spLocks noGrp="1"/>
          </p:cNvSpPr>
          <p:nvPr>
            <p:ph type="body" sz="quarter" idx="12" hasCustomPrompt="1"/>
          </p:nvPr>
        </p:nvSpPr>
        <p:spPr>
          <a:xfrm>
            <a:off x="376238" y="453058"/>
            <a:ext cx="10464801"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376239" y="1635854"/>
            <a:ext cx="10464800"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8DEF2034-2DE3-492A-96E2-AC3A81511FC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190838318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1_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81129700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46524816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accent5"/>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6"/>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BC7927F0-0060-E641-9DF6-FBEA1036D28B}"/>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12921912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chemeClr val="accent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63AF44A-1995-DE4D-9A46-5A2394C80A9F}"/>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61714071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Meet &amp; Greet 2">
    <p:bg>
      <p:bgPr>
        <a:solidFill>
          <a:srgbClr val="E8CC47"/>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D5995ECC-57F0-414E-B59C-F055BAC9DFC8}"/>
              </a:ext>
            </a:extLst>
          </p:cNvPr>
          <p:cNvPicPr>
            <a:picLocks noChangeAspect="1"/>
          </p:cNvPicPr>
          <p:nvPr/>
        </p:nvPicPr>
        <p:blipFill rotWithShape="1">
          <a:blip r:embed="rId4">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122392930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1_Meet &amp; Greet 2">
    <p:bg>
      <p:bgPr>
        <a:solidFill>
          <a:srgbClr val="FF612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EF62B12B-0209-4F2C-B3BB-EE7164671235}"/>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325859245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accent5"/>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accent6"/>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bg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53124593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5"/>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24776789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5"/>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accent6"/>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16981898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bg1"/>
                </a:solidFill>
              </a:defRPr>
            </a:lvl1pPr>
          </a:lstStyle>
          <a:p>
            <a:r>
              <a:rPr lang="en-US" noProof="0" dirty="0"/>
              <a:t>CLICK TO EDIT TITLE</a:t>
            </a:r>
            <a:endParaRPr lang="en-GB" noProof="0" dirty="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6082467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69553922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Tree>
    <p:extLst>
      <p:ext uri="{BB962C8B-B14F-4D97-AF65-F5344CB8AC3E}">
        <p14:creationId xmlns:p14="http://schemas.microsoft.com/office/powerpoint/2010/main" val="40074809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46966899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5302946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480655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73539248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22094100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23689517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0685886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80966197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E719BA34-23BB-1044-9AD7-64A0FC498A8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5822395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303A16D8-C47D-2646-8D74-7305970A0AC7}"/>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97419097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99CE94EC-D689-0844-B168-B5C04CE1057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29350323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0D1907F4-B2E5-E241-8CFF-3C1A5962F4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65525486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5A35AD87-FF52-FA40-A269-A1F35A25AE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88755216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592D96B5-6708-5946-B56D-48C7C909EBD0}"/>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30113780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93427823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63942"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0ADBD2A6-9D59-8A42-B712-28AECE5544C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06859389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9795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425D0E0-656F-8441-9B06-9CCBF96661F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0489564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90422B83-86F8-9643-B75F-38DF13EE57D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81449736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85337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ECDA1F6-68EE-9047-9ECF-D975CA62C8D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14423125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3F2FEA9A-101A-5A4C-83E2-4C0044BA6EE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03759895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23A21BE0-4841-FF4C-ABD6-32E1F111A99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9466575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p:cSld name="Activity 3">
    <p:bg>
      <p:bgPr>
        <a:solidFill>
          <a:srgbClr val="E8602E"/>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
        <p:nvSpPr>
          <p:cNvPr id="7" name="Title 1">
            <a:extLst>
              <a:ext uri="{FF2B5EF4-FFF2-40B4-BE49-F238E27FC236}">
                <a16:creationId xmlns:a16="http://schemas.microsoft.com/office/drawing/2014/main" id="{0B84A5C5-2EE0-4240-9019-8B715BEE897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DE123B60-D604-9A41-BA50-1BF4AC36AE93}"/>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176441794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1_Activity 3">
    <p:bg>
      <p:bgPr>
        <a:solidFill>
          <a:srgbClr val="FFD217"/>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2F7793DD-F793-8F4F-B74E-6B8630C8266F}"/>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BF20315E-2B12-1B43-A789-90CFB92D6FF0}"/>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97055062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p:cSld name="2_Title Slide - White / Orange">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2B509EB7-6C12-4E21-BEEC-0CCC27628661}"/>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6A2322C5-1CF3-42B4-96D7-04AE4FF89F65}"/>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69602205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p:cSld name="3_Title Slide - White / Orange">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D507EE1D-A14D-478F-853C-B98EB3E70EB2}"/>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3A918B64-9105-4E90-815B-8AC734F02D2B}"/>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83363169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22103633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rgbClr val="28CEF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tx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1EB17D6-1862-9E4C-AC48-E047218919E4}"/>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tx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177465315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p:cSld name="Meet &amp; Greet 3">
    <p:bg>
      <p:bgPr>
        <a:solidFill>
          <a:srgbClr val="28CFF9"/>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F9FE28BE-DA40-4803-B8FE-167E8D45A140}"/>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308502501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rgbClr val="28CEF6"/>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tx1"/>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tx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638835973"/>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rgbClr val="28CEF6"/>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247632899"/>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tx1"/>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52163723"/>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66403436"/>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99789224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206897644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solidFill>
                <a:schemeClr val="tx1"/>
              </a:solidFill>
            </a:endParaRPr>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74825892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7645485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98799623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tx1"/>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32971423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tx1"/>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838487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tx1"/>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5535298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37079859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9443513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22BB93A1-2BBC-6E43-8966-8BC896D7241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56646746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47482870-8F1E-4A40-98B3-EB4E14D20B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5498529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B5231A29-C420-A24A-83D8-2845B3719A8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62373252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15EB805A-E7B4-1A4B-A713-5EC6CFC1859D}"/>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16749904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rgbClr val="28CEF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BE3A48D2-2003-3B48-9BA7-3C3C764A534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2441556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DFAD0D0D-8846-2F49-A055-6C6BC6354FF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1451982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746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402113105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5821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D4D068D3-76D2-6C48-BF65-509B44CACE3E}"/>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50385520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72216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04FCF7FD-3F84-F04D-B73E-0F9F6BA8316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96420646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033245"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96E7A6F-DAC6-B441-B5F5-018B0C7C2A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7341025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3196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5A0BA27-1B3E-284F-A41F-F988E900707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5401522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9184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rgbClr val="28CEF6"/>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F39D1C75-606C-4D47-8814-AB30DCA4C3B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6237302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44802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CC321F0F-9EE5-FC4B-A5AF-678F2F4F9CB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1823001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Activity 2">
    <p:bg>
      <p:bgPr>
        <a:solidFill>
          <a:srgbClr val="23CEF9"/>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44DC967D-822F-0D4D-9D88-47A397D6890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F99DB077-1C85-A441-AE94-AEC6EEA7D38E}"/>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76232478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52F189F0-0DDE-404F-9FD7-21EBA1DC016F}"/>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7BA3DF19-D33D-4658-9164-10D3FE685928}"/>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371635035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6" name="Text Placeholder 7"/>
          <p:cNvSpPr>
            <a:spLocks noGrp="1"/>
          </p:cNvSpPr>
          <p:nvPr>
            <p:ph type="body" sz="quarter" idx="11" hasCustomPrompt="1"/>
          </p:nvPr>
        </p:nvSpPr>
        <p:spPr>
          <a:xfrm>
            <a:off x="376237" y="1240838"/>
            <a:ext cx="11431587" cy="5237751"/>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marL="88898" indent="0">
              <a:lnSpc>
                <a:spcPct val="100000"/>
              </a:lnSpc>
              <a:buFont typeface="Arial" panose="020B0604020202020204" pitchFamily="34" charset="0"/>
              <a:buNone/>
              <a:defRPr sz="1800" b="0"/>
            </a:lvl3pPr>
            <a:lvl4pPr marL="88898" indent="0">
              <a:lnSpc>
                <a:spcPct val="100000"/>
              </a:lnSpc>
              <a:buFont typeface="Arial" panose="020B0604020202020204" pitchFamily="34" charset="0"/>
              <a:buNone/>
              <a:defRPr sz="1800" b="0"/>
            </a:lvl4pPr>
            <a:lvl5pPr marL="355591" indent="-266693">
              <a:lnSpc>
                <a:spcPct val="100000"/>
              </a:lnSpc>
              <a:buFont typeface="Arial" panose="020B0604020202020204" pitchFamily="34" charset="0"/>
              <a:buChar char="•"/>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328029791"/>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5" name="Text Placeholder 2">
            <a:extLst>
              <a:ext uri="{FF2B5EF4-FFF2-40B4-BE49-F238E27FC236}">
                <a16:creationId xmlns:a16="http://schemas.microsoft.com/office/drawing/2014/main" id="{503A14FE-D075-C54D-A7E3-E22DBF933384}"/>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394244196"/>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167298" y="2921079"/>
            <a:ext cx="2124159" cy="2749952"/>
          </a:xfrm>
        </p:spPr>
        <p:txBody>
          <a:bodyPr/>
          <a:lstStyle>
            <a:lvl1pPr marL="0" indent="0">
              <a:lnSpc>
                <a:spcPct val="100000"/>
              </a:lnSpc>
              <a:buFont typeface="Arial" panose="020B0604020202020204" pitchFamily="34" charset="0"/>
              <a:buNone/>
              <a:defRPr sz="1800" b="0"/>
            </a:lvl1pPr>
            <a:lvl2pPr marL="0" indent="0">
              <a:buFont typeface="Arial" panose="020B0604020202020204" pitchFamily="34" charset="0"/>
              <a:buNone/>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4" name="Text Placeholder 4"/>
          <p:cNvSpPr>
            <a:spLocks noGrp="1"/>
          </p:cNvSpPr>
          <p:nvPr>
            <p:ph type="body" sz="quarter" idx="16" hasCustomPrompt="1"/>
          </p:nvPr>
        </p:nvSpPr>
        <p:spPr>
          <a:xfrm>
            <a:off x="3747517" y="2921079"/>
            <a:ext cx="2068065"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6" name="Text Placeholder 4"/>
          <p:cNvSpPr>
            <a:spLocks noGrp="1"/>
          </p:cNvSpPr>
          <p:nvPr>
            <p:ph type="body" sz="quarter" idx="17" hasCustomPrompt="1"/>
          </p:nvPr>
        </p:nvSpPr>
        <p:spPr>
          <a:xfrm>
            <a:off x="6257866" y="2921079"/>
            <a:ext cx="2130523"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7" name="Picture Placeholder 21"/>
          <p:cNvSpPr>
            <a:spLocks noGrp="1"/>
          </p:cNvSpPr>
          <p:nvPr>
            <p:ph type="pic" sz="quarter" idx="18" hasCustomPrompt="1"/>
          </p:nvPr>
        </p:nvSpPr>
        <p:spPr>
          <a:xfrm>
            <a:off x="1167299" y="1240564"/>
            <a:ext cx="1437932" cy="1437931"/>
          </a:xfrm>
        </p:spPr>
        <p:txBody>
          <a:bodyPr/>
          <a:lstStyle>
            <a:lvl1pPr marL="0" indent="0">
              <a:buNone/>
              <a:defRPr/>
            </a:lvl1pPr>
          </a:lstStyle>
          <a:p>
            <a:r>
              <a:rPr lang="en-GB"/>
              <a:t>icon</a:t>
            </a:r>
          </a:p>
        </p:txBody>
      </p:sp>
      <p:sp>
        <p:nvSpPr>
          <p:cNvPr id="8" name="Picture Placeholder 21"/>
          <p:cNvSpPr>
            <a:spLocks noGrp="1"/>
          </p:cNvSpPr>
          <p:nvPr>
            <p:ph type="pic" sz="quarter" idx="19" hasCustomPrompt="1"/>
          </p:nvPr>
        </p:nvSpPr>
        <p:spPr>
          <a:xfrm>
            <a:off x="3747517" y="1233488"/>
            <a:ext cx="1437932" cy="1437931"/>
          </a:xfrm>
        </p:spPr>
        <p:txBody>
          <a:bodyPr/>
          <a:lstStyle>
            <a:lvl1pPr marL="0" indent="0">
              <a:buNone/>
              <a:defRPr/>
            </a:lvl1pPr>
          </a:lstStyle>
          <a:p>
            <a:r>
              <a:rPr lang="en-GB"/>
              <a:t>icon</a:t>
            </a:r>
          </a:p>
        </p:txBody>
      </p:sp>
      <p:sp>
        <p:nvSpPr>
          <p:cNvPr id="9" name="Picture Placeholder 21"/>
          <p:cNvSpPr>
            <a:spLocks noGrp="1"/>
          </p:cNvSpPr>
          <p:nvPr>
            <p:ph type="pic" sz="quarter" idx="20" hasCustomPrompt="1"/>
          </p:nvPr>
        </p:nvSpPr>
        <p:spPr>
          <a:xfrm>
            <a:off x="6257867" y="1240564"/>
            <a:ext cx="1437932" cy="1437931"/>
          </a:xfrm>
        </p:spPr>
        <p:txBody>
          <a:bodyPr/>
          <a:lstStyle>
            <a:lvl1pPr marL="0" indent="0">
              <a:buNone/>
              <a:defRPr/>
            </a:lvl1pPr>
          </a:lstStyle>
          <a:p>
            <a:r>
              <a:rPr lang="en-GB"/>
              <a:t>icon</a:t>
            </a:r>
          </a:p>
        </p:txBody>
      </p:sp>
      <p:sp>
        <p:nvSpPr>
          <p:cNvPr id="10" name="Text Placeholder 4"/>
          <p:cNvSpPr>
            <a:spLocks noGrp="1"/>
          </p:cNvSpPr>
          <p:nvPr>
            <p:ph type="body" sz="quarter" idx="21" hasCustomPrompt="1"/>
          </p:nvPr>
        </p:nvSpPr>
        <p:spPr>
          <a:xfrm>
            <a:off x="8744941" y="2936069"/>
            <a:ext cx="2183449"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11" name="Picture Placeholder 21"/>
          <p:cNvSpPr>
            <a:spLocks noGrp="1"/>
          </p:cNvSpPr>
          <p:nvPr>
            <p:ph type="pic" sz="quarter" idx="22" hasCustomPrompt="1"/>
          </p:nvPr>
        </p:nvSpPr>
        <p:spPr>
          <a:xfrm>
            <a:off x="8744942" y="1255555"/>
            <a:ext cx="1437932" cy="1437931"/>
          </a:xfrm>
        </p:spPr>
        <p:txBody>
          <a:bodyPr/>
          <a:lstStyle>
            <a:lvl1pPr marL="0" indent="0">
              <a:buNone/>
              <a:defRPr/>
            </a:lvl1pPr>
          </a:lstStyle>
          <a:p>
            <a:r>
              <a:rPr lang="en-GB"/>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4" name="Text Placeholder 2">
            <a:extLst>
              <a:ext uri="{FF2B5EF4-FFF2-40B4-BE49-F238E27FC236}">
                <a16:creationId xmlns:a16="http://schemas.microsoft.com/office/drawing/2014/main" id="{92C408C0-1A1B-4D4D-B79A-2D37D6F3CB19}"/>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410210955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167876"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613794"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Text Placeholder 7"/>
          <p:cNvSpPr>
            <a:spLocks noGrp="1"/>
          </p:cNvSpPr>
          <p:nvPr>
            <p:ph type="body" sz="quarter" idx="14" hasCustomPrompt="1"/>
          </p:nvPr>
        </p:nvSpPr>
        <p:spPr>
          <a:xfrm>
            <a:off x="6059713" y="1246664"/>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Text Placeholder 7"/>
          <p:cNvSpPr>
            <a:spLocks noGrp="1"/>
          </p:cNvSpPr>
          <p:nvPr>
            <p:ph type="body" sz="quarter" idx="15" hasCustomPrompt="1"/>
          </p:nvPr>
        </p:nvSpPr>
        <p:spPr>
          <a:xfrm>
            <a:off x="8505633" y="1246663"/>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DC41670F-D9DB-3140-AAEA-4430FBF2D30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77661810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6186490" y="1246663"/>
            <a:ext cx="5612791"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82589" y="1246661"/>
            <a:ext cx="5621337"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FE1C86EE-79CD-A844-BC58-36532ABD5C56}"/>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15274255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Image and Tex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91181" y="1240839"/>
            <a:ext cx="5612745" cy="5237749"/>
          </a:xfrm>
          <a:prstGeom prst="rect">
            <a:avLst/>
          </a:prstGeom>
        </p:spPr>
        <p:txBody>
          <a:bodyPr/>
          <a:lstStyle>
            <a:lvl1pPr marL="0" indent="0">
              <a:buNone/>
              <a:defRPr/>
            </a:lvl1pPr>
          </a:lstStyle>
          <a:p>
            <a:r>
              <a:rPr lang="en-US"/>
              <a:t>Click icon to add picture</a:t>
            </a:r>
          </a:p>
        </p:txBody>
      </p:sp>
      <p:sp>
        <p:nvSpPr>
          <p:cNvPr id="10" name="Text Placeholder 7"/>
          <p:cNvSpPr>
            <a:spLocks noGrp="1"/>
          </p:cNvSpPr>
          <p:nvPr>
            <p:ph type="body" sz="quarter" idx="11" hasCustomPrompt="1"/>
          </p:nvPr>
        </p:nvSpPr>
        <p:spPr>
          <a:xfrm>
            <a:off x="6186489" y="1239313"/>
            <a:ext cx="5621337" cy="5239275"/>
          </a:xfrm>
        </p:spPr>
        <p:txBody>
          <a:bodyPr/>
          <a:lstStyle>
            <a:lvl1pPr marL="0" indent="0">
              <a:lnSpc>
                <a:spcPct val="100000"/>
              </a:lnSpc>
              <a:buFont typeface="Arial" panose="020B0604020202020204" pitchFamily="34" charset="0"/>
              <a:buNone/>
              <a:defRPr sz="1800" b="0"/>
            </a:lvl1pPr>
            <a:lvl2pPr marL="171446" marR="0" indent="-171446" algn="l" defTabSz="914377" rtl="0" eaLnBrk="1" fontAlgn="auto" latinLnBrk="0" hangingPunct="1">
              <a:lnSpc>
                <a:spcPct val="100000"/>
              </a:lnSpc>
              <a:spcBef>
                <a:spcPts val="0"/>
              </a:spcBef>
              <a:spcAft>
                <a:spcPts val="651"/>
              </a:spcAft>
              <a:buClrTx/>
              <a:buSzPct val="125000"/>
              <a:buFont typeface="Arial" panose="020B0604020202020204" pitchFamily="34" charset="0"/>
              <a:buChar char="•"/>
              <a:tabLst/>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BC6158FE-928A-7845-B66A-66F0FE0F7F9C}"/>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72972732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Text and Image">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82062" y="1239312"/>
            <a:ext cx="5621863" cy="5239275"/>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199185" y="1246663"/>
            <a:ext cx="5608641" cy="5231924"/>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3FBF726-3A82-7143-ACCB-5046CC509D9D}"/>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47644924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376238" y="3968576"/>
            <a:ext cx="5627687" cy="2520000"/>
          </a:xfrm>
        </p:spPr>
        <p:txBody>
          <a:bodyPr/>
          <a:lstStyle>
            <a:lvl1pPr marL="0" indent="0">
              <a:lnSpc>
                <a:spcPct val="100000"/>
              </a:lnSpc>
              <a:buFont typeface="Arial" panose="020B0604020202020204" pitchFamily="34" charset="0"/>
              <a:buNone/>
              <a:defRPr sz="1800" b="0"/>
            </a:lvl1pPr>
            <a:lvl2pPr marL="171446" indent="-171446">
              <a:buFont typeface="Arial" panose="020B0604020202020204" pitchFamily="34" charset="0"/>
              <a:buChar char="•"/>
              <a:defRPr sz="1800"/>
            </a:lvl2pPr>
            <a:lvl3pPr marL="0" indent="0">
              <a:buNone/>
              <a:defRPr sz="1800"/>
            </a:lvl3pPr>
            <a:lvl4pPr>
              <a:defRPr sz="1800"/>
            </a:lvl4pPr>
            <a:lvl5pPr>
              <a:defRPr sz="1800"/>
            </a:lvl5pPr>
          </a:lstStyle>
          <a:p>
            <a:pPr lvl="0"/>
            <a:r>
              <a:rPr lang="en-US"/>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76249" y="1233490"/>
            <a:ext cx="5627676" cy="2576511"/>
          </a:xfrm>
          <a:prstGeom prst="rect">
            <a:avLst/>
          </a:prstGeom>
        </p:spPr>
        <p:txBody>
          <a:bodyPr/>
          <a:lstStyle>
            <a:lvl1pPr marL="0" indent="0">
              <a:buNone/>
              <a:defRPr baseline="0"/>
            </a:lvl1pPr>
          </a:lstStyle>
          <a:p>
            <a:r>
              <a:rPr lang="en-US"/>
              <a:t>Click icon to add picture</a:t>
            </a:r>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6180195" y="1233489"/>
            <a:ext cx="5627631" cy="2576511"/>
          </a:xfrm>
          <a:prstGeom prst="rect">
            <a:avLst/>
          </a:prstGeom>
        </p:spPr>
        <p:txBody>
          <a:bodyPr/>
          <a:lstStyle>
            <a:lvl1pPr marL="0" indent="0">
              <a:buNone/>
              <a:defRPr baseline="0"/>
            </a:lvl1pPr>
          </a:lstStyle>
          <a:p>
            <a:r>
              <a:rPr lang="en-US"/>
              <a:t>Click icon to add picture</a:t>
            </a:r>
          </a:p>
        </p:txBody>
      </p:sp>
      <p:sp>
        <p:nvSpPr>
          <p:cNvPr id="8" name="Text Placeholder 7"/>
          <p:cNvSpPr>
            <a:spLocks noGrp="1"/>
          </p:cNvSpPr>
          <p:nvPr>
            <p:ph type="body" sz="quarter" idx="11" hasCustomPrompt="1"/>
          </p:nvPr>
        </p:nvSpPr>
        <p:spPr>
          <a:xfrm>
            <a:off x="6180195" y="3968576"/>
            <a:ext cx="5627631" cy="2520000"/>
          </a:xfrm>
        </p:spPr>
        <p:txBody>
          <a:bodyPr/>
          <a:lstStyle>
            <a:lvl1pPr marL="0" indent="0">
              <a:lnSpc>
                <a:spcPct val="100000"/>
              </a:lnSpc>
              <a:buFont typeface="Arial" panose="020B0604020202020204" pitchFamily="34" charset="0"/>
              <a:buNone/>
              <a:defRPr b="0"/>
            </a:lvl1pPr>
            <a:lvl2pPr marL="171446" indent="-171446">
              <a:buFont typeface="Arial" panose="020B0604020202020204" pitchFamily="34" charset="0"/>
              <a:buChar char="•"/>
              <a:defRPr/>
            </a:lvl2pPr>
          </a:lstStyle>
          <a:p>
            <a:pPr lvl="0"/>
            <a:r>
              <a:rPr lang="en-US"/>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0270B6DD-EFD0-B148-AC2D-17D9B4352A1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2870295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1922831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userDrawn="1">
  <p:cSld name="Teal">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719761" cy="1988032"/>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2356542016"/>
      </p:ext>
    </p:extLst>
  </p:cSld>
  <p:clrMapOvr>
    <a:masterClrMapping/>
  </p:clrMapOvr>
  <p:extLst>
    <p:ext uri="{DCECCB84-F9BA-43D5-87BE-67443E8EF086}">
      <p15:sldGuideLst xmlns:p15="http://schemas.microsoft.com/office/powerpoint/2012/main">
        <p15:guide id="1" orient="horz" pos="2251">
          <p15:clr>
            <a:srgbClr val="FBAE40"/>
          </p15:clr>
        </p15:guide>
        <p15:guide id="2" pos="3840">
          <p15:clr>
            <a:srgbClr val="FBAE40"/>
          </p15:clr>
        </p15:guide>
        <p15:guide id="3" orient="horz" pos="981">
          <p15:clr>
            <a:srgbClr val="FBAE40"/>
          </p15:clr>
        </p15:guide>
        <p15:guide id="4" pos="234">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userDrawn="1">
  <p:cSld name="Teal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6849686" y="249382"/>
            <a:ext cx="5342313" cy="6608618"/>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169" r="-169"/>
          <a:stretch/>
        </p:blipFill>
        <p:spPr>
          <a:xfrm>
            <a:off x="349135" y="532015"/>
            <a:ext cx="2119745" cy="1230283"/>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normAutofit/>
          </a:bodyPr>
          <a:lstStyle>
            <a:lvl1pPr marL="0" marR="0" indent="0" algn="l" defTabSz="914400" rtl="0" eaLnBrk="1" fontAlgn="auto" latinLnBrk="0" hangingPunct="1">
              <a:lnSpc>
                <a:spcPct val="100000"/>
              </a:lnSpc>
              <a:spcBef>
                <a:spcPts val="0"/>
              </a:spcBef>
              <a:spcAft>
                <a:spcPts val="0"/>
              </a:spcAft>
              <a:buClrTx/>
              <a:buSzPct val="115000"/>
              <a:buFontTx/>
              <a:buNone/>
              <a:tabLst/>
              <a:defRPr sz="2400" b="1"/>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1914129"/>
            <a:ext cx="5710699" cy="2277604"/>
          </a:xfrm>
        </p:spPr>
        <p:txBody>
          <a:bodyPr anchor="ctr" anchorCtr="0">
            <a:noAutofit/>
          </a:bodyPr>
          <a:lstStyle>
            <a:lvl1pPr algn="l">
              <a:lnSpc>
                <a:spcPct val="100000"/>
              </a:lnSpc>
              <a:defRPr sz="3600" cap="all" baseline="0"/>
            </a:lvl1pPr>
          </a:lstStyle>
          <a:p>
            <a:r>
              <a:rPr lang="en-US" noProof="0" dirty="0"/>
              <a:t>CLICK TO EDIT TITLE</a:t>
            </a:r>
            <a:endParaRPr lang="en-GB" noProof="0" dirty="0"/>
          </a:p>
        </p:txBody>
      </p:sp>
    </p:spTree>
    <p:extLst>
      <p:ext uri="{BB962C8B-B14F-4D97-AF65-F5344CB8AC3E}">
        <p14:creationId xmlns:p14="http://schemas.microsoft.com/office/powerpoint/2010/main" val="3739367906"/>
      </p:ext>
    </p:extLst>
  </p:cSld>
  <p:clrMapOvr>
    <a:masterClrMapping/>
  </p:clrMapOvr>
  <p:extLst>
    <p:ext uri="{DCECCB84-F9BA-43D5-87BE-67443E8EF086}">
      <p15:sldGuideLst xmlns:p15="http://schemas.microsoft.com/office/powerpoint/2012/main">
        <p15:guide id="1" orient="horz" pos="3634">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7.xml"/><Relationship Id="rId18" Type="http://schemas.openxmlformats.org/officeDocument/2006/relationships/slideLayout" Target="../slideLayouts/slideLayout62.xml"/><Relationship Id="rId26" Type="http://schemas.openxmlformats.org/officeDocument/2006/relationships/slideLayout" Target="../slideLayouts/slideLayout70.xml"/><Relationship Id="rId21" Type="http://schemas.openxmlformats.org/officeDocument/2006/relationships/slideLayout" Target="../slideLayouts/slideLayout65.xml"/><Relationship Id="rId34" Type="http://schemas.openxmlformats.org/officeDocument/2006/relationships/slideLayout" Target="../slideLayouts/slideLayout78.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slideLayout" Target="../slideLayouts/slideLayout69.xml"/><Relationship Id="rId33" Type="http://schemas.openxmlformats.org/officeDocument/2006/relationships/slideLayout" Target="../slideLayouts/slideLayout77.xml"/><Relationship Id="rId38" Type="http://schemas.openxmlformats.org/officeDocument/2006/relationships/image" Target="../media/image1.png"/><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slideLayout" Target="../slideLayouts/slideLayout64.xml"/><Relationship Id="rId29" Type="http://schemas.openxmlformats.org/officeDocument/2006/relationships/slideLayout" Target="../slideLayouts/slideLayout73.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32" Type="http://schemas.openxmlformats.org/officeDocument/2006/relationships/slideLayout" Target="../slideLayouts/slideLayout76.xml"/><Relationship Id="rId37" Type="http://schemas.openxmlformats.org/officeDocument/2006/relationships/theme" Target="../theme/theme2.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slideLayout" Target="../slideLayouts/slideLayout72.xml"/><Relationship Id="rId36" Type="http://schemas.openxmlformats.org/officeDocument/2006/relationships/slideLayout" Target="../slideLayouts/slideLayout80.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31" Type="http://schemas.openxmlformats.org/officeDocument/2006/relationships/slideLayout" Target="../slideLayouts/slideLayout75.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slideLayout" Target="../slideLayouts/slideLayout71.xml"/><Relationship Id="rId30" Type="http://schemas.openxmlformats.org/officeDocument/2006/relationships/slideLayout" Target="../slideLayouts/slideLayout74.xml"/><Relationship Id="rId35" Type="http://schemas.openxmlformats.org/officeDocument/2006/relationships/slideLayout" Target="../slideLayouts/slideLayout79.xml"/><Relationship Id="rId8" Type="http://schemas.openxmlformats.org/officeDocument/2006/relationships/slideLayout" Target="../slideLayouts/slideLayout52.xml"/><Relationship Id="rId3" Type="http://schemas.openxmlformats.org/officeDocument/2006/relationships/slideLayout" Target="../slideLayouts/slideLayout4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3.xml"/><Relationship Id="rId18" Type="http://schemas.openxmlformats.org/officeDocument/2006/relationships/slideLayout" Target="../slideLayouts/slideLayout98.xml"/><Relationship Id="rId26" Type="http://schemas.openxmlformats.org/officeDocument/2006/relationships/slideLayout" Target="../slideLayouts/slideLayout106.xml"/><Relationship Id="rId39" Type="http://schemas.openxmlformats.org/officeDocument/2006/relationships/image" Target="../media/image1.png"/><Relationship Id="rId21" Type="http://schemas.openxmlformats.org/officeDocument/2006/relationships/slideLayout" Target="../slideLayouts/slideLayout101.xml"/><Relationship Id="rId34" Type="http://schemas.openxmlformats.org/officeDocument/2006/relationships/slideLayout" Target="../slideLayouts/slideLayout114.xml"/><Relationship Id="rId7" Type="http://schemas.openxmlformats.org/officeDocument/2006/relationships/slideLayout" Target="../slideLayouts/slideLayout87.xml"/><Relationship Id="rId12" Type="http://schemas.openxmlformats.org/officeDocument/2006/relationships/slideLayout" Target="../slideLayouts/slideLayout92.xml"/><Relationship Id="rId17" Type="http://schemas.openxmlformats.org/officeDocument/2006/relationships/slideLayout" Target="../slideLayouts/slideLayout97.xml"/><Relationship Id="rId25" Type="http://schemas.openxmlformats.org/officeDocument/2006/relationships/slideLayout" Target="../slideLayouts/slideLayout105.xml"/><Relationship Id="rId33" Type="http://schemas.openxmlformats.org/officeDocument/2006/relationships/slideLayout" Target="../slideLayouts/slideLayout113.xml"/><Relationship Id="rId38" Type="http://schemas.openxmlformats.org/officeDocument/2006/relationships/theme" Target="../theme/theme3.xml"/><Relationship Id="rId2" Type="http://schemas.openxmlformats.org/officeDocument/2006/relationships/slideLayout" Target="../slideLayouts/slideLayout82.xml"/><Relationship Id="rId16" Type="http://schemas.openxmlformats.org/officeDocument/2006/relationships/slideLayout" Target="../slideLayouts/slideLayout96.xml"/><Relationship Id="rId20" Type="http://schemas.openxmlformats.org/officeDocument/2006/relationships/slideLayout" Target="../slideLayouts/slideLayout100.xml"/><Relationship Id="rId29" Type="http://schemas.openxmlformats.org/officeDocument/2006/relationships/slideLayout" Target="../slideLayouts/slideLayout109.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24" Type="http://schemas.openxmlformats.org/officeDocument/2006/relationships/slideLayout" Target="../slideLayouts/slideLayout104.xml"/><Relationship Id="rId32" Type="http://schemas.openxmlformats.org/officeDocument/2006/relationships/slideLayout" Target="../slideLayouts/slideLayout112.xml"/><Relationship Id="rId37" Type="http://schemas.openxmlformats.org/officeDocument/2006/relationships/slideLayout" Target="../slideLayouts/slideLayout117.xml"/><Relationship Id="rId5" Type="http://schemas.openxmlformats.org/officeDocument/2006/relationships/slideLayout" Target="../slideLayouts/slideLayout85.xml"/><Relationship Id="rId15" Type="http://schemas.openxmlformats.org/officeDocument/2006/relationships/slideLayout" Target="../slideLayouts/slideLayout95.xml"/><Relationship Id="rId23" Type="http://schemas.openxmlformats.org/officeDocument/2006/relationships/slideLayout" Target="../slideLayouts/slideLayout103.xml"/><Relationship Id="rId28" Type="http://schemas.openxmlformats.org/officeDocument/2006/relationships/slideLayout" Target="../slideLayouts/slideLayout108.xml"/><Relationship Id="rId36" Type="http://schemas.openxmlformats.org/officeDocument/2006/relationships/slideLayout" Target="../slideLayouts/slideLayout116.xml"/><Relationship Id="rId10" Type="http://schemas.openxmlformats.org/officeDocument/2006/relationships/slideLayout" Target="../slideLayouts/slideLayout90.xml"/><Relationship Id="rId19" Type="http://schemas.openxmlformats.org/officeDocument/2006/relationships/slideLayout" Target="../slideLayouts/slideLayout99.xml"/><Relationship Id="rId31" Type="http://schemas.openxmlformats.org/officeDocument/2006/relationships/slideLayout" Target="../slideLayouts/slideLayout111.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slideLayout" Target="../slideLayouts/slideLayout94.xml"/><Relationship Id="rId22" Type="http://schemas.openxmlformats.org/officeDocument/2006/relationships/slideLayout" Target="../slideLayouts/slideLayout102.xml"/><Relationship Id="rId27" Type="http://schemas.openxmlformats.org/officeDocument/2006/relationships/slideLayout" Target="../slideLayouts/slideLayout107.xml"/><Relationship Id="rId30" Type="http://schemas.openxmlformats.org/officeDocument/2006/relationships/slideLayout" Target="../slideLayouts/slideLayout110.xml"/><Relationship Id="rId35" Type="http://schemas.openxmlformats.org/officeDocument/2006/relationships/slideLayout" Target="../slideLayouts/slideLayout115.xml"/><Relationship Id="rId8" Type="http://schemas.openxmlformats.org/officeDocument/2006/relationships/slideLayout" Target="../slideLayouts/slideLayout88.xml"/><Relationship Id="rId3" Type="http://schemas.openxmlformats.org/officeDocument/2006/relationships/slideLayout" Target="../slideLayouts/slideLayout8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30.xml"/><Relationship Id="rId18" Type="http://schemas.openxmlformats.org/officeDocument/2006/relationships/slideLayout" Target="../slideLayouts/slideLayout135.xml"/><Relationship Id="rId26" Type="http://schemas.openxmlformats.org/officeDocument/2006/relationships/slideLayout" Target="../slideLayouts/slideLayout143.xml"/><Relationship Id="rId3" Type="http://schemas.openxmlformats.org/officeDocument/2006/relationships/slideLayout" Target="../slideLayouts/slideLayout120.xml"/><Relationship Id="rId21" Type="http://schemas.openxmlformats.org/officeDocument/2006/relationships/slideLayout" Target="../slideLayouts/slideLayout138.xml"/><Relationship Id="rId34" Type="http://schemas.openxmlformats.org/officeDocument/2006/relationships/image" Target="../media/image1.png"/><Relationship Id="rId7" Type="http://schemas.openxmlformats.org/officeDocument/2006/relationships/slideLayout" Target="../slideLayouts/slideLayout124.xml"/><Relationship Id="rId12" Type="http://schemas.openxmlformats.org/officeDocument/2006/relationships/slideLayout" Target="../slideLayouts/slideLayout129.xml"/><Relationship Id="rId17" Type="http://schemas.openxmlformats.org/officeDocument/2006/relationships/slideLayout" Target="../slideLayouts/slideLayout134.xml"/><Relationship Id="rId25" Type="http://schemas.openxmlformats.org/officeDocument/2006/relationships/slideLayout" Target="../slideLayouts/slideLayout142.xml"/><Relationship Id="rId33" Type="http://schemas.openxmlformats.org/officeDocument/2006/relationships/theme" Target="../theme/theme4.xml"/><Relationship Id="rId2" Type="http://schemas.openxmlformats.org/officeDocument/2006/relationships/slideLayout" Target="../slideLayouts/slideLayout119.xml"/><Relationship Id="rId16" Type="http://schemas.openxmlformats.org/officeDocument/2006/relationships/slideLayout" Target="../slideLayouts/slideLayout133.xml"/><Relationship Id="rId20" Type="http://schemas.openxmlformats.org/officeDocument/2006/relationships/slideLayout" Target="../slideLayouts/slideLayout137.xml"/><Relationship Id="rId29" Type="http://schemas.openxmlformats.org/officeDocument/2006/relationships/slideLayout" Target="../slideLayouts/slideLayout146.xml"/><Relationship Id="rId1" Type="http://schemas.openxmlformats.org/officeDocument/2006/relationships/slideLayout" Target="../slideLayouts/slideLayout118.xml"/><Relationship Id="rId6" Type="http://schemas.openxmlformats.org/officeDocument/2006/relationships/slideLayout" Target="../slideLayouts/slideLayout123.xml"/><Relationship Id="rId11" Type="http://schemas.openxmlformats.org/officeDocument/2006/relationships/slideLayout" Target="../slideLayouts/slideLayout128.xml"/><Relationship Id="rId24" Type="http://schemas.openxmlformats.org/officeDocument/2006/relationships/slideLayout" Target="../slideLayouts/slideLayout141.xml"/><Relationship Id="rId32" Type="http://schemas.openxmlformats.org/officeDocument/2006/relationships/slideLayout" Target="../slideLayouts/slideLayout149.xml"/><Relationship Id="rId5" Type="http://schemas.openxmlformats.org/officeDocument/2006/relationships/slideLayout" Target="../slideLayouts/slideLayout122.xml"/><Relationship Id="rId15" Type="http://schemas.openxmlformats.org/officeDocument/2006/relationships/slideLayout" Target="../slideLayouts/slideLayout132.xml"/><Relationship Id="rId23" Type="http://schemas.openxmlformats.org/officeDocument/2006/relationships/slideLayout" Target="../slideLayouts/slideLayout140.xml"/><Relationship Id="rId28" Type="http://schemas.openxmlformats.org/officeDocument/2006/relationships/slideLayout" Target="../slideLayouts/slideLayout145.xml"/><Relationship Id="rId10" Type="http://schemas.openxmlformats.org/officeDocument/2006/relationships/slideLayout" Target="../slideLayouts/slideLayout127.xml"/><Relationship Id="rId19" Type="http://schemas.openxmlformats.org/officeDocument/2006/relationships/slideLayout" Target="../slideLayouts/slideLayout136.xml"/><Relationship Id="rId31" Type="http://schemas.openxmlformats.org/officeDocument/2006/relationships/slideLayout" Target="../slideLayouts/slideLayout148.xml"/><Relationship Id="rId4" Type="http://schemas.openxmlformats.org/officeDocument/2006/relationships/slideLayout" Target="../slideLayouts/slideLayout121.xml"/><Relationship Id="rId9" Type="http://schemas.openxmlformats.org/officeDocument/2006/relationships/slideLayout" Target="../slideLayouts/slideLayout126.xml"/><Relationship Id="rId14" Type="http://schemas.openxmlformats.org/officeDocument/2006/relationships/slideLayout" Target="../slideLayouts/slideLayout131.xml"/><Relationship Id="rId22" Type="http://schemas.openxmlformats.org/officeDocument/2006/relationships/slideLayout" Target="../slideLayouts/slideLayout139.xml"/><Relationship Id="rId27" Type="http://schemas.openxmlformats.org/officeDocument/2006/relationships/slideLayout" Target="../slideLayouts/slideLayout144.xml"/><Relationship Id="rId30" Type="http://schemas.openxmlformats.org/officeDocument/2006/relationships/slideLayout" Target="../slideLayouts/slideLayout147.xml"/><Relationship Id="rId8" Type="http://schemas.openxmlformats.org/officeDocument/2006/relationships/slideLayout" Target="../slideLayouts/slideLayout12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57.xml"/><Relationship Id="rId13" Type="http://schemas.openxmlformats.org/officeDocument/2006/relationships/image" Target="../media/image9.png"/><Relationship Id="rId3" Type="http://schemas.openxmlformats.org/officeDocument/2006/relationships/slideLayout" Target="../slideLayouts/slideLayout152.xml"/><Relationship Id="rId7" Type="http://schemas.openxmlformats.org/officeDocument/2006/relationships/slideLayout" Target="../slideLayouts/slideLayout156.xml"/><Relationship Id="rId12" Type="http://schemas.openxmlformats.org/officeDocument/2006/relationships/theme" Target="../theme/theme5.xml"/><Relationship Id="rId2" Type="http://schemas.openxmlformats.org/officeDocument/2006/relationships/slideLayout" Target="../slideLayouts/slideLayout151.xml"/><Relationship Id="rId1" Type="http://schemas.openxmlformats.org/officeDocument/2006/relationships/slideLayout" Target="../slideLayouts/slideLayout150.xml"/><Relationship Id="rId6" Type="http://schemas.openxmlformats.org/officeDocument/2006/relationships/slideLayout" Target="../slideLayouts/slideLayout155.xml"/><Relationship Id="rId11" Type="http://schemas.openxmlformats.org/officeDocument/2006/relationships/slideLayout" Target="../slideLayouts/slideLayout160.xml"/><Relationship Id="rId5" Type="http://schemas.openxmlformats.org/officeDocument/2006/relationships/slideLayout" Target="../slideLayouts/slideLayout154.xml"/><Relationship Id="rId15" Type="http://schemas.openxmlformats.org/officeDocument/2006/relationships/image" Target="../media/image1.png"/><Relationship Id="rId10" Type="http://schemas.openxmlformats.org/officeDocument/2006/relationships/slideLayout" Target="../slideLayouts/slideLayout159.xml"/><Relationship Id="rId4" Type="http://schemas.openxmlformats.org/officeDocument/2006/relationships/slideLayout" Target="../slideLayouts/slideLayout153.xml"/><Relationship Id="rId9" Type="http://schemas.openxmlformats.org/officeDocument/2006/relationships/slideLayout" Target="../slideLayouts/slideLayout158.xml"/><Relationship Id="rId14" Type="http://schemas.openxmlformats.org/officeDocument/2006/relationships/image" Target="../media/image10.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
        <p:nvSpPr>
          <p:cNvPr id="6" name="Title Placeholder 1">
            <a:extLst>
              <a:ext uri="{FF2B5EF4-FFF2-40B4-BE49-F238E27FC236}">
                <a16:creationId xmlns:a16="http://schemas.microsoft.com/office/drawing/2014/main" id="{128B03EC-4FD5-46D7-89AC-774B7B3134E6}"/>
              </a:ext>
            </a:extLst>
          </p:cNvPr>
          <p:cNvSpPr>
            <a:spLocks noGrp="1"/>
          </p:cNvSpPr>
          <p:nvPr>
            <p:ph type="title"/>
          </p:nvPr>
        </p:nvSpPr>
        <p:spPr>
          <a:xfrm>
            <a:off x="1349374" y="450398"/>
            <a:ext cx="9491663" cy="687614"/>
          </a:xfrm>
          <a:prstGeom prst="rect">
            <a:avLst/>
          </a:prstGeom>
        </p:spPr>
        <p:txBody>
          <a:bodyPr vert="horz" lIns="0" tIns="0" rIns="0" bIns="0" rtlCol="0" anchor="t" anchorCtr="0">
            <a:noAutofit/>
          </a:bodyPr>
          <a:lstStyle/>
          <a:p>
            <a:r>
              <a:rPr lang="en-US"/>
              <a:t>Click to edit Master title style</a:t>
            </a:r>
            <a:endParaRPr lang="en-GB" dirty="0"/>
          </a:p>
        </p:txBody>
      </p:sp>
      <p:sp>
        <p:nvSpPr>
          <p:cNvPr id="7" name="Text Placeholder 2">
            <a:extLst>
              <a:ext uri="{FF2B5EF4-FFF2-40B4-BE49-F238E27FC236}">
                <a16:creationId xmlns:a16="http://schemas.microsoft.com/office/drawing/2014/main" id="{2AF41A22-442E-42DB-8847-4E8F9587D91A}"/>
              </a:ext>
            </a:extLst>
          </p:cNvPr>
          <p:cNvSpPr>
            <a:spLocks noGrp="1"/>
          </p:cNvSpPr>
          <p:nvPr>
            <p:ph type="body" idx="1"/>
          </p:nvPr>
        </p:nvSpPr>
        <p:spPr>
          <a:xfrm>
            <a:off x="1350676" y="1596719"/>
            <a:ext cx="9490362" cy="458024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997422682"/>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910"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2" r:id="rId20"/>
    <p:sldLayoutId id="2147483773" r:id="rId21"/>
    <p:sldLayoutId id="2147483774" r:id="rId22"/>
    <p:sldLayoutId id="2147483775" r:id="rId23"/>
    <p:sldLayoutId id="2147483776" r:id="rId24"/>
    <p:sldLayoutId id="2147483777" r:id="rId25"/>
    <p:sldLayoutId id="2147483778" r:id="rId26"/>
    <p:sldLayoutId id="2147483779" r:id="rId27"/>
    <p:sldLayoutId id="2147483780" r:id="rId28"/>
    <p:sldLayoutId id="2147483781" r:id="rId29"/>
    <p:sldLayoutId id="2147483782" r:id="rId30"/>
    <p:sldLayoutId id="2147483783" r:id="rId31"/>
    <p:sldLayoutId id="2147483784" r:id="rId32"/>
    <p:sldLayoutId id="2147483785" r:id="rId33"/>
    <p:sldLayoutId id="2147483786" r:id="rId34"/>
    <p:sldLayoutId id="2147483787" r:id="rId35"/>
    <p:sldLayoutId id="2147483788" r:id="rId36"/>
    <p:sldLayoutId id="2147483650" r:id="rId37"/>
    <p:sldLayoutId id="2147483748" r:id="rId38"/>
    <p:sldLayoutId id="2147483749" r:id="rId39"/>
    <p:sldLayoutId id="2147483744" r:id="rId40"/>
    <p:sldLayoutId id="2147483747" r:id="rId41"/>
    <p:sldLayoutId id="2147483750" r:id="rId42"/>
    <p:sldLayoutId id="2147483660" r:id="rId43"/>
    <p:sldLayoutId id="2147483751" r:id="rId44"/>
  </p:sldLayoutIdLst>
  <p:hf hdr="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46"/>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46"/>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46"/>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46"/>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5" pos="851">
          <p15:clr>
            <a:srgbClr val="F26B43"/>
          </p15:clr>
        </p15:guide>
        <p15:guide id="8" pos="1955">
          <p15:clr>
            <a:srgbClr val="F26B43"/>
          </p15:clr>
        </p15:guide>
        <p15:guide id="11" pos="2683">
          <p15:clr>
            <a:srgbClr val="F26B43"/>
          </p15:clr>
        </p15:guide>
        <p15:guide id="14" pos="3783">
          <p15:clr>
            <a:srgbClr val="F26B43"/>
          </p15:clr>
        </p15:guide>
        <p15:guide id="17" pos="4507">
          <p15:clr>
            <a:srgbClr val="F26B43"/>
          </p15:clr>
        </p15:guide>
        <p15:guide id="20" pos="5611">
          <p15:clr>
            <a:srgbClr val="F26B43"/>
          </p15:clr>
        </p15:guide>
        <p15:guide id="23" pos="6335">
          <p15:clr>
            <a:srgbClr val="F26B43"/>
          </p15:clr>
        </p15:guide>
        <p15:guide id="26" pos="7439">
          <p15:clr>
            <a:srgbClr val="F26B43"/>
          </p15:clr>
        </p15:guide>
        <p15:guide id="29" orient="horz" pos="238" userDrawn="1">
          <p15:clr>
            <a:srgbClr val="F26B43"/>
          </p15:clr>
        </p15:guide>
        <p15:guide id="30" orient="horz" pos="4081" userDrawn="1">
          <p15:clr>
            <a:srgbClr val="F26B43"/>
          </p15:clr>
        </p15:guide>
        <p15:guide id="31" pos="237" userDrawn="1">
          <p15:clr>
            <a:srgbClr val="F26B43"/>
          </p15:clr>
        </p15:guide>
        <p15:guide id="32" pos="732" userDrawn="1">
          <p15:clr>
            <a:srgbClr val="F26B43"/>
          </p15:clr>
        </p15:guide>
        <p15:guide id="33" pos="850" userDrawn="1">
          <p15:clr>
            <a:srgbClr val="F26B43"/>
          </p15:clr>
        </p15:guide>
        <p15:guide id="34" pos="1345" userDrawn="1">
          <p15:clr>
            <a:srgbClr val="F26B43"/>
          </p15:clr>
        </p15:guide>
        <p15:guide id="35" pos="1460" userDrawn="1">
          <p15:clr>
            <a:srgbClr val="F26B43"/>
          </p15:clr>
        </p15:guide>
        <p15:guide id="36" pos="1954" userDrawn="1">
          <p15:clr>
            <a:srgbClr val="F26B43"/>
          </p15:clr>
        </p15:guide>
        <p15:guide id="37" pos="2069" userDrawn="1">
          <p15:clr>
            <a:srgbClr val="F26B43"/>
          </p15:clr>
        </p15:guide>
        <p15:guide id="38" pos="2564" userDrawn="1">
          <p15:clr>
            <a:srgbClr val="F26B43"/>
          </p15:clr>
        </p15:guide>
        <p15:guide id="39" pos="2678" userDrawn="1">
          <p15:clr>
            <a:srgbClr val="F26B43"/>
          </p15:clr>
        </p15:guide>
        <p15:guide id="40" pos="3173" userDrawn="1">
          <p15:clr>
            <a:srgbClr val="F26B43"/>
          </p15:clr>
        </p15:guide>
        <p15:guide id="41" pos="3288" userDrawn="1">
          <p15:clr>
            <a:srgbClr val="F26B43"/>
          </p15:clr>
        </p15:guide>
        <p15:guide id="42" pos="3782" userDrawn="1">
          <p15:clr>
            <a:srgbClr val="F26B43"/>
          </p15:clr>
        </p15:guide>
        <p15:guide id="43" pos="3897" userDrawn="1">
          <p15:clr>
            <a:srgbClr val="F26B43"/>
          </p15:clr>
        </p15:guide>
        <p15:guide id="44" pos="4392" userDrawn="1">
          <p15:clr>
            <a:srgbClr val="F26B43"/>
          </p15:clr>
        </p15:guide>
        <p15:guide id="45" pos="4506" userDrawn="1">
          <p15:clr>
            <a:srgbClr val="F26B43"/>
          </p15:clr>
        </p15:guide>
        <p15:guide id="46" pos="5001" userDrawn="1">
          <p15:clr>
            <a:srgbClr val="F26B43"/>
          </p15:clr>
        </p15:guide>
        <p15:guide id="47" pos="5115" userDrawn="1">
          <p15:clr>
            <a:srgbClr val="F26B43"/>
          </p15:clr>
        </p15:guide>
        <p15:guide id="48" pos="5610" userDrawn="1">
          <p15:clr>
            <a:srgbClr val="F26B43"/>
          </p15:clr>
        </p15:guide>
        <p15:guide id="49" pos="5725" userDrawn="1">
          <p15:clr>
            <a:srgbClr val="F26B43"/>
          </p15:clr>
        </p15:guide>
        <p15:guide id="50" pos="6220" userDrawn="1">
          <p15:clr>
            <a:srgbClr val="F26B43"/>
          </p15:clr>
        </p15:guide>
        <p15:guide id="51" pos="6334" userDrawn="1">
          <p15:clr>
            <a:srgbClr val="F26B43"/>
          </p15:clr>
        </p15:guide>
        <p15:guide id="52" pos="6829" userDrawn="1">
          <p15:clr>
            <a:srgbClr val="F26B43"/>
          </p15:clr>
        </p15:guide>
        <p15:guide id="53" pos="6943" userDrawn="1">
          <p15:clr>
            <a:srgbClr val="F26B43"/>
          </p15:clr>
        </p15:guide>
        <p15:guide id="54" pos="7438" userDrawn="1">
          <p15:clr>
            <a:srgbClr val="F26B43"/>
          </p15:clr>
        </p15:guide>
        <p15:guide id="55" pos="3840" userDrawn="1">
          <p15:clr>
            <a:srgbClr val="9FCC3B"/>
          </p15:clr>
        </p15:guide>
        <p15:guide id="56"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813274518"/>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 id="2147483804" r:id="rId15"/>
    <p:sldLayoutId id="2147483805" r:id="rId16"/>
    <p:sldLayoutId id="2147483806" r:id="rId17"/>
    <p:sldLayoutId id="2147483807" r:id="rId18"/>
    <p:sldLayoutId id="2147483808" r:id="rId19"/>
    <p:sldLayoutId id="2147483809" r:id="rId20"/>
    <p:sldLayoutId id="2147483810" r:id="rId21"/>
    <p:sldLayoutId id="2147483811" r:id="rId22"/>
    <p:sldLayoutId id="2147483812" r:id="rId23"/>
    <p:sldLayoutId id="2147483813" r:id="rId24"/>
    <p:sldLayoutId id="2147483814" r:id="rId25"/>
    <p:sldLayoutId id="2147483815" r:id="rId26"/>
    <p:sldLayoutId id="2147483816" r:id="rId27"/>
    <p:sldLayoutId id="2147483817" r:id="rId28"/>
    <p:sldLayoutId id="2147483818" r:id="rId29"/>
    <p:sldLayoutId id="2147483819" r:id="rId30"/>
    <p:sldLayoutId id="2147483820" r:id="rId31"/>
    <p:sldLayoutId id="2147483821" r:id="rId32"/>
    <p:sldLayoutId id="2147483822" r:id="rId33"/>
    <p:sldLayoutId id="2147483823" r:id="rId34"/>
    <p:sldLayoutId id="2147483905" r:id="rId35"/>
    <p:sldLayoutId id="2147483908" r:id="rId36"/>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8"/>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8"/>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8"/>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8"/>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135002269"/>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 id="2147483838" r:id="rId14"/>
    <p:sldLayoutId id="2147483839" r:id="rId15"/>
    <p:sldLayoutId id="2147483840" r:id="rId16"/>
    <p:sldLayoutId id="2147483841" r:id="rId17"/>
    <p:sldLayoutId id="2147483842" r:id="rId18"/>
    <p:sldLayoutId id="2147483843" r:id="rId19"/>
    <p:sldLayoutId id="2147483844" r:id="rId20"/>
    <p:sldLayoutId id="2147483845" r:id="rId21"/>
    <p:sldLayoutId id="2147483846" r:id="rId22"/>
    <p:sldLayoutId id="2147483847" r:id="rId23"/>
    <p:sldLayoutId id="2147483848" r:id="rId24"/>
    <p:sldLayoutId id="2147483849" r:id="rId25"/>
    <p:sldLayoutId id="2147483850" r:id="rId26"/>
    <p:sldLayoutId id="2147483851" r:id="rId27"/>
    <p:sldLayoutId id="2147483852" r:id="rId28"/>
    <p:sldLayoutId id="2147483853" r:id="rId29"/>
    <p:sldLayoutId id="2147483854" r:id="rId30"/>
    <p:sldLayoutId id="2147483855" r:id="rId31"/>
    <p:sldLayoutId id="2147483856" r:id="rId32"/>
    <p:sldLayoutId id="2147483857" r:id="rId33"/>
    <p:sldLayoutId id="2147483858" r:id="rId34"/>
    <p:sldLayoutId id="2147483859" r:id="rId35"/>
    <p:sldLayoutId id="2147483860" r:id="rId36"/>
    <p:sldLayoutId id="2147483861" r:id="rId37"/>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9"/>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9"/>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493182284"/>
      </p:ext>
    </p:extLst>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 id="2147483884" r:id="rId22"/>
    <p:sldLayoutId id="2147483885" r:id="rId23"/>
    <p:sldLayoutId id="2147483886" r:id="rId24"/>
    <p:sldLayoutId id="2147483887" r:id="rId25"/>
    <p:sldLayoutId id="2147483888" r:id="rId26"/>
    <p:sldLayoutId id="2147483889" r:id="rId27"/>
    <p:sldLayoutId id="2147483890" r:id="rId28"/>
    <p:sldLayoutId id="2147483891" r:id="rId29"/>
    <p:sldLayoutId id="2147483892" r:id="rId30"/>
    <p:sldLayoutId id="2147483893" r:id="rId31"/>
    <p:sldLayoutId id="2147483894" r:id="rId32"/>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4"/>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4"/>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212112" y="369218"/>
            <a:ext cx="10595713"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AF93FCE7-DBB4-9F4D-BD6A-3D02A5FEEA2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64748172"/>
      </p:ext>
    </p:extLst>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0" r:id="rId5"/>
    <p:sldLayoutId id="2147483901" r:id="rId6"/>
    <p:sldLayoutId id="2147483902" r:id="rId7"/>
    <p:sldLayoutId id="2147483903" r:id="rId8"/>
    <p:sldLayoutId id="2147483904" r:id="rId9"/>
    <p:sldLayoutId id="2147483911" r:id="rId10"/>
    <p:sldLayoutId id="2147483912" r:id="rId11"/>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15"/>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15"/>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15"/>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15"/>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0.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5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8.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5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15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15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5.xml"/><Relationship Id="rId1" Type="http://schemas.openxmlformats.org/officeDocument/2006/relationships/slideLayout" Target="../slideLayouts/slideLayout15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51.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7.xml"/><Relationship Id="rId1" Type="http://schemas.openxmlformats.org/officeDocument/2006/relationships/slideLayout" Target="../slideLayouts/slideLayout15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8.xml"/></Relationships>
</file>

<file path=ppt/slides/_rels/slide22.xml.rels><?xml version="1.0" encoding="UTF-8" standalone="yes"?>
<Relationships xmlns="http://schemas.openxmlformats.org/package/2006/relationships"><Relationship Id="rId3" Type="http://schemas.openxmlformats.org/officeDocument/2006/relationships/hyperlink" Target="https://create.kahoot.it/details/a9fe8e83-4019-465f-82d7-1805927840ca" TargetMode="External"/><Relationship Id="rId2" Type="http://schemas.openxmlformats.org/officeDocument/2006/relationships/notesSlide" Target="../notesSlides/notesSlide19.xml"/><Relationship Id="rId1" Type="http://schemas.openxmlformats.org/officeDocument/2006/relationships/slideLayout" Target="../slideLayouts/slideLayout15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FF9645-10D3-4636-8E7B-FE1FF2991808}"/>
              </a:ext>
            </a:extLst>
          </p:cNvPr>
          <p:cNvSpPr>
            <a:spLocks noGrp="1"/>
          </p:cNvSpPr>
          <p:nvPr>
            <p:ph type="ctrTitle"/>
          </p:nvPr>
        </p:nvSpPr>
        <p:spPr>
          <a:xfrm>
            <a:off x="384785" y="2322726"/>
            <a:ext cx="6596062" cy="2431485"/>
          </a:xfrm>
        </p:spPr>
        <p:txBody>
          <a:bodyPr anchor="b">
            <a:normAutofit/>
          </a:bodyPr>
          <a:lstStyle/>
          <a:p>
            <a:r>
              <a:rPr lang="en-GB" sz="2200" dirty="0"/>
              <a:t>Software Developer</a:t>
            </a:r>
            <a:br>
              <a:rPr lang="en-GB" sz="2200" dirty="0"/>
            </a:br>
            <a:br>
              <a:rPr lang="en-GB" sz="2200" dirty="0"/>
            </a:br>
            <a:r>
              <a:rPr lang="en-GB" sz="2200" dirty="0"/>
              <a:t>Agile Software Development</a:t>
            </a:r>
            <a:br>
              <a:rPr lang="en-GB" sz="2200" dirty="0"/>
            </a:br>
            <a:br>
              <a:rPr lang="en-GB" sz="2200" dirty="0"/>
            </a:br>
            <a:r>
              <a:rPr lang="en-GB" sz="2200" dirty="0"/>
              <a:t>Software Development Methodologies</a:t>
            </a:r>
            <a:br>
              <a:rPr lang="en-GB" sz="2200" dirty="0"/>
            </a:br>
            <a:endParaRPr lang="en-GB" sz="2200" dirty="0"/>
          </a:p>
        </p:txBody>
      </p:sp>
    </p:spTree>
    <p:extLst>
      <p:ext uri="{BB962C8B-B14F-4D97-AF65-F5344CB8AC3E}">
        <p14:creationId xmlns:p14="http://schemas.microsoft.com/office/powerpoint/2010/main" val="1177947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B5DF360-4026-4711-A361-4B2B609759C9}"/>
              </a:ext>
            </a:extLst>
          </p:cNvPr>
          <p:cNvSpPr>
            <a:spLocks noGrp="1"/>
          </p:cNvSpPr>
          <p:nvPr>
            <p:ph type="title" idx="4294967295"/>
          </p:nvPr>
        </p:nvSpPr>
        <p:spPr>
          <a:xfrm>
            <a:off x="1369994" y="348312"/>
            <a:ext cx="10458450" cy="687388"/>
          </a:xfrm>
        </p:spPr>
        <p:txBody>
          <a:bodyPr/>
          <a:lstStyle/>
          <a:p>
            <a:r>
              <a:rPr lang="en-GB" sz="3100" dirty="0"/>
              <a:t>What is a software development methodology?</a:t>
            </a:r>
          </a:p>
        </p:txBody>
      </p:sp>
      <p:sp>
        <p:nvSpPr>
          <p:cNvPr id="3" name="TextBox 2">
            <a:extLst>
              <a:ext uri="{FF2B5EF4-FFF2-40B4-BE49-F238E27FC236}">
                <a16:creationId xmlns:a16="http://schemas.microsoft.com/office/drawing/2014/main" id="{472D4849-F7DD-68FC-C618-9ED34C35EF78}"/>
              </a:ext>
            </a:extLst>
          </p:cNvPr>
          <p:cNvSpPr txBox="1"/>
          <p:nvPr/>
        </p:nvSpPr>
        <p:spPr>
          <a:xfrm>
            <a:off x="1338280" y="1219788"/>
            <a:ext cx="9995763" cy="1200329"/>
          </a:xfrm>
          <a:prstGeom prst="rect">
            <a:avLst/>
          </a:prstGeom>
          <a:noFill/>
        </p:spPr>
        <p:txBody>
          <a:bodyPr wrap="square">
            <a:spAutoFit/>
          </a:bodyPr>
          <a:lstStyle/>
          <a:p>
            <a:r>
              <a:rPr lang="en-GB" b="1" dirty="0">
                <a:latin typeface="+mn-lt"/>
              </a:rPr>
              <a:t>Early days of systems development:</a:t>
            </a:r>
          </a:p>
          <a:p>
            <a:pPr lvl="1"/>
            <a:r>
              <a:rPr lang="en-GB" sz="1800" i="1" dirty="0">
                <a:latin typeface="+mn-lt"/>
              </a:rPr>
              <a:t>Relatively unstructured</a:t>
            </a:r>
            <a:r>
              <a:rPr lang="en-GB" sz="1800" dirty="0">
                <a:latin typeface="+mn-lt"/>
              </a:rPr>
              <a:t>: success depended on individuals.</a:t>
            </a:r>
          </a:p>
          <a:p>
            <a:pPr lvl="1"/>
            <a:r>
              <a:rPr lang="en-GB" sz="1800" dirty="0">
                <a:latin typeface="+mn-lt"/>
              </a:rPr>
              <a:t>Needed more structured and manageable approach.</a:t>
            </a:r>
          </a:p>
          <a:p>
            <a:pPr lvl="1"/>
            <a:r>
              <a:rPr lang="en-GB" sz="1800" dirty="0">
                <a:latin typeface="+mn-lt"/>
              </a:rPr>
              <a:t>Reduce random human element: build more complex systems.</a:t>
            </a:r>
          </a:p>
        </p:txBody>
      </p:sp>
      <p:sp>
        <p:nvSpPr>
          <p:cNvPr id="5" name="TextBox 4">
            <a:extLst>
              <a:ext uri="{FF2B5EF4-FFF2-40B4-BE49-F238E27FC236}">
                <a16:creationId xmlns:a16="http://schemas.microsoft.com/office/drawing/2014/main" id="{A4CB0F16-3A67-9330-2D36-4163EE87D673}"/>
              </a:ext>
            </a:extLst>
          </p:cNvPr>
          <p:cNvSpPr txBox="1"/>
          <p:nvPr/>
        </p:nvSpPr>
        <p:spPr>
          <a:xfrm>
            <a:off x="1338280" y="2801244"/>
            <a:ext cx="10323142" cy="2308324"/>
          </a:xfrm>
          <a:prstGeom prst="rect">
            <a:avLst/>
          </a:prstGeom>
          <a:noFill/>
        </p:spPr>
        <p:txBody>
          <a:bodyPr wrap="square">
            <a:spAutoFit/>
          </a:bodyPr>
          <a:lstStyle/>
          <a:p>
            <a:r>
              <a:rPr lang="en-GB" b="1" dirty="0">
                <a:latin typeface="+mn-lt"/>
              </a:rPr>
              <a:t>Is the process of splitting of development work into distinct phases / stages:</a:t>
            </a:r>
            <a:br>
              <a:rPr lang="en-GB" b="1" dirty="0">
                <a:latin typeface="+mn-lt"/>
              </a:rPr>
            </a:br>
            <a:endParaRPr lang="en-GB" b="1" dirty="0">
              <a:latin typeface="+mn-lt"/>
            </a:endParaRPr>
          </a:p>
          <a:p>
            <a:pPr marL="285750" indent="-285750">
              <a:buFont typeface="Wingdings" panose="05000000000000000000" pitchFamily="2" charset="2"/>
              <a:buChar char="Ø"/>
            </a:pPr>
            <a:r>
              <a:rPr lang="en-GB" dirty="0">
                <a:latin typeface="+mn-lt"/>
              </a:rPr>
              <a:t>Each containing activities with the intent of better planning and management.</a:t>
            </a:r>
            <a:br>
              <a:rPr lang="en-GB" dirty="0">
                <a:latin typeface="+mn-lt"/>
              </a:rPr>
            </a:br>
            <a:r>
              <a:rPr lang="en-GB" dirty="0">
                <a:latin typeface="+mn-lt"/>
              </a:rPr>
              <a:t>Considered a subset of the systems development life cycle.</a:t>
            </a:r>
            <a:br>
              <a:rPr lang="en-GB" dirty="0">
                <a:latin typeface="+mn-lt"/>
              </a:rPr>
            </a:br>
            <a:endParaRPr lang="en-GB" dirty="0">
              <a:latin typeface="+mn-lt"/>
            </a:endParaRPr>
          </a:p>
          <a:p>
            <a:pPr marL="285750" indent="-285750">
              <a:buFont typeface="Wingdings" panose="05000000000000000000" pitchFamily="2" charset="2"/>
              <a:buChar char="Ø"/>
            </a:pPr>
            <a:r>
              <a:rPr lang="en-GB" dirty="0">
                <a:latin typeface="+mn-lt"/>
              </a:rPr>
              <a:t>Pre-definition of specific </a:t>
            </a:r>
            <a:r>
              <a:rPr lang="en-GB" b="1" dirty="0">
                <a:latin typeface="+mn-lt"/>
              </a:rPr>
              <a:t>deliverables</a:t>
            </a:r>
            <a:r>
              <a:rPr lang="en-GB" dirty="0">
                <a:latin typeface="+mn-lt"/>
              </a:rPr>
              <a:t> and artefacts.</a:t>
            </a:r>
            <a:br>
              <a:rPr lang="en-GB" dirty="0">
                <a:latin typeface="+mn-lt"/>
              </a:rPr>
            </a:br>
            <a:endParaRPr lang="en-GB" dirty="0">
              <a:latin typeface="+mn-lt"/>
            </a:endParaRPr>
          </a:p>
          <a:p>
            <a:pPr marL="285750" indent="-285750">
              <a:buFont typeface="Wingdings" panose="05000000000000000000" pitchFamily="2" charset="2"/>
              <a:buChar char="Ø"/>
            </a:pPr>
            <a:r>
              <a:rPr lang="en-GB" dirty="0">
                <a:latin typeface="+mn-lt"/>
              </a:rPr>
              <a:t>Created and completed by a project team</a:t>
            </a:r>
            <a:endParaRPr lang="en-GB" dirty="0"/>
          </a:p>
        </p:txBody>
      </p:sp>
    </p:spTree>
    <p:extLst>
      <p:ext uri="{BB962C8B-B14F-4D97-AF65-F5344CB8AC3E}">
        <p14:creationId xmlns:p14="http://schemas.microsoft.com/office/powerpoint/2010/main" val="1548060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3FF4176-C96A-49AD-88F0-DDA0EDDF78C8}"/>
              </a:ext>
            </a:extLst>
          </p:cNvPr>
          <p:cNvSpPr>
            <a:spLocks noGrp="1"/>
          </p:cNvSpPr>
          <p:nvPr>
            <p:ph type="body" sz="quarter" idx="12"/>
          </p:nvPr>
        </p:nvSpPr>
        <p:spPr>
          <a:xfrm>
            <a:off x="1212111" y="378746"/>
            <a:ext cx="10595714" cy="520263"/>
          </a:xfrm>
        </p:spPr>
        <p:txBody>
          <a:bodyPr vert="horz" lIns="0" tIns="0" rIns="0" bIns="0" rtlCol="0" anchor="t" anchorCtr="0">
            <a:normAutofit/>
          </a:bodyPr>
          <a:lstStyle/>
          <a:p>
            <a:pPr>
              <a:lnSpc>
                <a:spcPct val="90000"/>
              </a:lnSpc>
              <a:spcAft>
                <a:spcPts val="600"/>
              </a:spcAft>
            </a:pPr>
            <a:r>
              <a:rPr lang="en-US" b="0" i="0" kern="1200" cap="none" baseline="0" dirty="0">
                <a:latin typeface="Montserrat Black" panose="00000A00000000000000" pitchFamily="2" charset="0"/>
                <a:ea typeface="+mn-ea"/>
                <a:cs typeface="+mn-cs"/>
              </a:rPr>
              <a:t>Types of system </a:t>
            </a:r>
            <a:r>
              <a:rPr lang="en-US" dirty="0"/>
              <a:t>d</a:t>
            </a:r>
            <a:r>
              <a:rPr lang="en-US" b="0" i="0" kern="1200" cap="none" baseline="0" dirty="0">
                <a:latin typeface="Montserrat Black" panose="00000A00000000000000" pitchFamily="2" charset="0"/>
                <a:ea typeface="+mn-ea"/>
                <a:cs typeface="+mn-cs"/>
              </a:rPr>
              <a:t>evelopment </a:t>
            </a:r>
            <a:r>
              <a:rPr lang="en-US" dirty="0"/>
              <a:t>l</a:t>
            </a:r>
            <a:r>
              <a:rPr lang="en-US" b="0" i="0" kern="1200" cap="none" baseline="0" dirty="0">
                <a:latin typeface="Montserrat Black" panose="00000A00000000000000" pitchFamily="2" charset="0"/>
                <a:ea typeface="+mn-ea"/>
                <a:cs typeface="+mn-cs"/>
              </a:rPr>
              <a:t>ifecycle</a:t>
            </a:r>
          </a:p>
        </p:txBody>
      </p:sp>
      <p:sp>
        <p:nvSpPr>
          <p:cNvPr id="8" name="TextBox 7">
            <a:extLst>
              <a:ext uri="{FF2B5EF4-FFF2-40B4-BE49-F238E27FC236}">
                <a16:creationId xmlns:a16="http://schemas.microsoft.com/office/drawing/2014/main" id="{A519076D-78CB-49D0-9D6F-E9B905436F06}"/>
              </a:ext>
            </a:extLst>
          </p:cNvPr>
          <p:cNvSpPr txBox="1"/>
          <p:nvPr/>
        </p:nvSpPr>
        <p:spPr>
          <a:xfrm>
            <a:off x="1268605" y="1240838"/>
            <a:ext cx="10012669" cy="5237751"/>
          </a:xfrm>
          <a:prstGeom prst="rect">
            <a:avLst/>
          </a:prstGeom>
        </p:spPr>
        <p:txBody>
          <a:bodyPr vert="horz" lIns="0" tIns="0" rIns="0" bIns="0" rtlCol="0" anchor="t" anchorCtr="0">
            <a:normAutofit/>
          </a:bodyPr>
          <a:lstStyle/>
          <a:p>
            <a:pPr>
              <a:spcAft>
                <a:spcPts val="651"/>
              </a:spcAft>
              <a:buFont typeface="Arial" panose="020B0604020202020204" pitchFamily="34" charset="0"/>
            </a:pPr>
            <a:r>
              <a:rPr lang="en-US" dirty="0">
                <a:latin typeface="Montserrat" pitchFamily="2" charset="77"/>
              </a:rPr>
              <a:t>Many SDLCs in use today: understand to make appropriate choice.</a:t>
            </a:r>
          </a:p>
          <a:p>
            <a:pPr>
              <a:spcAft>
                <a:spcPts val="651"/>
              </a:spcAft>
              <a:buFont typeface="Arial" panose="020B0604020202020204" pitchFamily="34" charset="0"/>
            </a:pPr>
            <a:endParaRPr lang="en-US" dirty="0">
              <a:latin typeface="Montserrat" pitchFamily="2" charset="77"/>
            </a:endParaRPr>
          </a:p>
          <a:p>
            <a:pPr lvl="1">
              <a:spcAft>
                <a:spcPts val="651"/>
              </a:spcAft>
              <a:buFont typeface="Arial" panose="020B0604020202020204" pitchFamily="34" charset="0"/>
            </a:pPr>
            <a:r>
              <a:rPr lang="en-US" b="1" dirty="0">
                <a:latin typeface="Montserrat" pitchFamily="2" charset="77"/>
              </a:rPr>
              <a:t>Sequential</a:t>
            </a:r>
            <a:r>
              <a:rPr lang="en-US" dirty="0">
                <a:latin typeface="Montserrat" pitchFamily="2" charset="77"/>
              </a:rPr>
              <a:t>: linear stages / tasks</a:t>
            </a:r>
          </a:p>
          <a:p>
            <a:pPr lvl="2">
              <a:spcAft>
                <a:spcPts val="651"/>
              </a:spcAft>
              <a:buFont typeface="Arial" panose="020B0604020202020204" pitchFamily="34" charset="0"/>
            </a:pPr>
            <a:r>
              <a:rPr lang="en-US" dirty="0">
                <a:latin typeface="Montserrat" pitchFamily="2" charset="77"/>
              </a:rPr>
              <a:t>Waterfall</a:t>
            </a:r>
          </a:p>
          <a:p>
            <a:pPr lvl="2">
              <a:spcAft>
                <a:spcPts val="651"/>
              </a:spcAft>
              <a:buFont typeface="Arial" panose="020B0604020202020204" pitchFamily="34" charset="0"/>
            </a:pPr>
            <a:r>
              <a:rPr lang="en-US" dirty="0">
                <a:latin typeface="Montserrat" pitchFamily="2" charset="77"/>
              </a:rPr>
              <a:t>V Model</a:t>
            </a:r>
          </a:p>
          <a:p>
            <a:pPr lvl="2">
              <a:spcAft>
                <a:spcPts val="651"/>
              </a:spcAft>
              <a:buFont typeface="Arial" panose="020B0604020202020204" pitchFamily="34" charset="0"/>
            </a:pPr>
            <a:endParaRPr lang="en-US" dirty="0">
              <a:latin typeface="Montserrat" pitchFamily="2" charset="77"/>
            </a:endParaRPr>
          </a:p>
          <a:p>
            <a:pPr lvl="1">
              <a:spcAft>
                <a:spcPts val="651"/>
              </a:spcAft>
              <a:buFont typeface="Arial" panose="020B0604020202020204" pitchFamily="34" charset="0"/>
            </a:pPr>
            <a:r>
              <a:rPr lang="en-US" b="1" dirty="0">
                <a:latin typeface="Montserrat" pitchFamily="2" charset="77"/>
              </a:rPr>
              <a:t>Evolutionary</a:t>
            </a:r>
            <a:r>
              <a:rPr lang="en-US" dirty="0">
                <a:latin typeface="Montserrat" pitchFamily="2" charset="77"/>
              </a:rPr>
              <a:t>: evolves through progressive versions</a:t>
            </a:r>
          </a:p>
          <a:p>
            <a:pPr lvl="2">
              <a:spcAft>
                <a:spcPts val="651"/>
              </a:spcAft>
              <a:buFont typeface="Arial" panose="020B0604020202020204" pitchFamily="34" charset="0"/>
            </a:pPr>
            <a:r>
              <a:rPr lang="en-US" dirty="0">
                <a:latin typeface="Montserrat" pitchFamily="2" charset="77"/>
              </a:rPr>
              <a:t>Incremental: mini waterfalls</a:t>
            </a:r>
          </a:p>
          <a:p>
            <a:pPr lvl="2">
              <a:spcAft>
                <a:spcPts val="651"/>
              </a:spcAft>
              <a:buFont typeface="Arial" panose="020B0604020202020204" pitchFamily="34" charset="0"/>
            </a:pPr>
            <a:r>
              <a:rPr lang="en-US" dirty="0">
                <a:latin typeface="Montserrat" pitchFamily="2" charset="77"/>
              </a:rPr>
              <a:t>Iterative: DSDM, RAD, RUP, Rapid Prototyping, Spiral</a:t>
            </a:r>
          </a:p>
          <a:p>
            <a:pPr lvl="2">
              <a:spcAft>
                <a:spcPts val="651"/>
              </a:spcAft>
              <a:buFont typeface="Arial" panose="020B0604020202020204" pitchFamily="34" charset="0"/>
            </a:pPr>
            <a:r>
              <a:rPr lang="en-US" b="1" dirty="0">
                <a:latin typeface="Montserrat" pitchFamily="2" charset="77"/>
              </a:rPr>
              <a:t>Agile</a:t>
            </a:r>
            <a:r>
              <a:rPr lang="en-US" dirty="0">
                <a:latin typeface="Montserrat" pitchFamily="2" charset="77"/>
              </a:rPr>
              <a:t>: XP, Scrum</a:t>
            </a:r>
          </a:p>
        </p:txBody>
      </p:sp>
      <p:sp>
        <p:nvSpPr>
          <p:cNvPr id="13" name="Slide Number Placeholder 3">
            <a:extLst>
              <a:ext uri="{FF2B5EF4-FFF2-40B4-BE49-F238E27FC236}">
                <a16:creationId xmlns:a16="http://schemas.microsoft.com/office/drawing/2014/main" id="{E9F7039F-1652-D4BC-8FC1-B5EE9D5B9619}"/>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3</a:t>
            </a:fld>
            <a:endParaRPr lang="en-GB"/>
          </a:p>
        </p:txBody>
      </p:sp>
    </p:spTree>
    <p:extLst>
      <p:ext uri="{BB962C8B-B14F-4D97-AF65-F5344CB8AC3E}">
        <p14:creationId xmlns:p14="http://schemas.microsoft.com/office/powerpoint/2010/main" val="2342803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837E1-8CAB-4D96-AC87-F50290351661}"/>
              </a:ext>
            </a:extLst>
          </p:cNvPr>
          <p:cNvSpPr>
            <a:spLocks noGrp="1"/>
          </p:cNvSpPr>
          <p:nvPr>
            <p:ph type="body" sz="quarter" idx="12"/>
          </p:nvPr>
        </p:nvSpPr>
        <p:spPr>
          <a:xfrm>
            <a:off x="1212111" y="378746"/>
            <a:ext cx="10595714" cy="520263"/>
          </a:xfrm>
        </p:spPr>
        <p:txBody>
          <a:bodyPr anchor="t">
            <a:normAutofit/>
          </a:bodyPr>
          <a:lstStyle/>
          <a:p>
            <a:pPr>
              <a:lnSpc>
                <a:spcPct val="90000"/>
              </a:lnSpc>
              <a:spcAft>
                <a:spcPts val="600"/>
              </a:spcAft>
            </a:pPr>
            <a:r>
              <a:rPr lang="en-GB" dirty="0"/>
              <a:t>Scope of system development</a:t>
            </a:r>
          </a:p>
        </p:txBody>
      </p:sp>
      <p:sp>
        <p:nvSpPr>
          <p:cNvPr id="7" name="Text Placeholder 14">
            <a:extLst>
              <a:ext uri="{FF2B5EF4-FFF2-40B4-BE49-F238E27FC236}">
                <a16:creationId xmlns:a16="http://schemas.microsoft.com/office/drawing/2014/main" id="{B49DC77B-A96B-4035-8CF1-97F7F7028B1A}"/>
              </a:ext>
            </a:extLst>
          </p:cNvPr>
          <p:cNvSpPr>
            <a:spLocks noGrp="1"/>
          </p:cNvSpPr>
          <p:nvPr>
            <p:ph type="body" sz="quarter" idx="11"/>
          </p:nvPr>
        </p:nvSpPr>
        <p:spPr>
          <a:xfrm>
            <a:off x="1224536" y="1240838"/>
            <a:ext cx="10023686" cy="5237751"/>
          </a:xfrm>
        </p:spPr>
        <p:txBody>
          <a:bodyPr anchor="t">
            <a:normAutofit/>
          </a:bodyPr>
          <a:lstStyle/>
          <a:p>
            <a:r>
              <a:rPr lang="en-GB" b="1" dirty="0"/>
              <a:t>Work does not end when system released</a:t>
            </a:r>
          </a:p>
          <a:p>
            <a:pPr lvl="1">
              <a:buFont typeface="Wingdings" panose="05000000000000000000" pitchFamily="2" charset="2"/>
              <a:buChar char="Ø"/>
            </a:pPr>
            <a:r>
              <a:rPr lang="en-GB" dirty="0"/>
              <a:t>New / updated requirements</a:t>
            </a:r>
          </a:p>
          <a:p>
            <a:pPr lvl="1">
              <a:buFont typeface="Wingdings" panose="05000000000000000000" pitchFamily="2" charset="2"/>
              <a:buChar char="Ø"/>
            </a:pPr>
            <a:r>
              <a:rPr lang="en-GB" dirty="0"/>
              <a:t>Faults fixed and improvements made</a:t>
            </a:r>
          </a:p>
          <a:p>
            <a:pPr lvl="1">
              <a:buFont typeface="Wingdings" panose="05000000000000000000" pitchFamily="2" charset="2"/>
              <a:buChar char="Ø"/>
            </a:pPr>
            <a:r>
              <a:rPr lang="en-GB" dirty="0"/>
              <a:t>Maintenance and support</a:t>
            </a:r>
          </a:p>
          <a:p>
            <a:pPr marL="0" lvl="1" indent="0">
              <a:buNone/>
            </a:pPr>
            <a:endParaRPr lang="en-GB" dirty="0"/>
          </a:p>
          <a:p>
            <a:r>
              <a:rPr lang="en-GB" b="1" dirty="0"/>
              <a:t>Most SDLCs just cover development and implementation but must also consider</a:t>
            </a:r>
            <a:endParaRPr lang="en-GB" dirty="0"/>
          </a:p>
          <a:p>
            <a:pPr lvl="1">
              <a:buFont typeface="Wingdings" panose="05000000000000000000" pitchFamily="2" charset="2"/>
              <a:buChar char="Ø"/>
            </a:pPr>
            <a:r>
              <a:rPr lang="en-GB" dirty="0"/>
              <a:t>Ongoing support and maintenance should be considered </a:t>
            </a:r>
          </a:p>
          <a:p>
            <a:pPr lvl="1">
              <a:buFont typeface="Wingdings" panose="05000000000000000000" pitchFamily="2" charset="2"/>
              <a:buChar char="Ø"/>
            </a:pPr>
            <a:r>
              <a:rPr lang="en-GB" dirty="0"/>
              <a:t>Including the end-of-life and decommission</a:t>
            </a:r>
          </a:p>
        </p:txBody>
      </p:sp>
      <p:sp>
        <p:nvSpPr>
          <p:cNvPr id="12" name="Slide Number Placeholder 3">
            <a:extLst>
              <a:ext uri="{FF2B5EF4-FFF2-40B4-BE49-F238E27FC236}">
                <a16:creationId xmlns:a16="http://schemas.microsoft.com/office/drawing/2014/main" id="{1F75DD88-CCEA-3743-0119-442D0DF8D117}"/>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4</a:t>
            </a:fld>
            <a:endParaRPr lang="en-GB"/>
          </a:p>
        </p:txBody>
      </p:sp>
    </p:spTree>
    <p:extLst>
      <p:ext uri="{BB962C8B-B14F-4D97-AF65-F5344CB8AC3E}">
        <p14:creationId xmlns:p14="http://schemas.microsoft.com/office/powerpoint/2010/main" val="1966319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9EDD-73E0-4120-A384-45A6E5B47159}"/>
              </a:ext>
            </a:extLst>
          </p:cNvPr>
          <p:cNvSpPr>
            <a:spLocks noGrp="1"/>
          </p:cNvSpPr>
          <p:nvPr>
            <p:ph type="body" sz="quarter" idx="12"/>
          </p:nvPr>
        </p:nvSpPr>
        <p:spPr>
          <a:xfrm>
            <a:off x="1212111" y="378746"/>
            <a:ext cx="10595714" cy="520263"/>
          </a:xfrm>
        </p:spPr>
        <p:txBody>
          <a:bodyPr anchor="t">
            <a:normAutofit/>
          </a:bodyPr>
          <a:lstStyle/>
          <a:p>
            <a:pPr>
              <a:lnSpc>
                <a:spcPct val="90000"/>
              </a:lnSpc>
              <a:spcAft>
                <a:spcPts val="600"/>
              </a:spcAft>
            </a:pPr>
            <a:r>
              <a:rPr lang="en-GB" dirty="0"/>
              <a:t>Sequential methodologies</a:t>
            </a:r>
          </a:p>
        </p:txBody>
      </p:sp>
      <p:sp>
        <p:nvSpPr>
          <p:cNvPr id="3" name="Text Placeholder 2">
            <a:extLst>
              <a:ext uri="{FF2B5EF4-FFF2-40B4-BE49-F238E27FC236}">
                <a16:creationId xmlns:a16="http://schemas.microsoft.com/office/drawing/2014/main" id="{2643569C-EC6C-42CD-BD8F-5E289A630692}"/>
              </a:ext>
            </a:extLst>
          </p:cNvPr>
          <p:cNvSpPr>
            <a:spLocks noGrp="1"/>
          </p:cNvSpPr>
          <p:nvPr>
            <p:ph type="body" sz="quarter" idx="11"/>
          </p:nvPr>
        </p:nvSpPr>
        <p:spPr>
          <a:xfrm>
            <a:off x="1224535" y="1240838"/>
            <a:ext cx="9439792" cy="5237751"/>
          </a:xfrm>
        </p:spPr>
        <p:txBody>
          <a:bodyPr anchor="t">
            <a:normAutofit/>
          </a:bodyPr>
          <a:lstStyle/>
          <a:p>
            <a:r>
              <a:rPr lang="en-GB" b="1" dirty="0"/>
              <a:t>Stages in a defined order</a:t>
            </a:r>
            <a:endParaRPr lang="en-GB" dirty="0"/>
          </a:p>
          <a:p>
            <a:pPr lvl="1">
              <a:buFont typeface="Wingdings" panose="05000000000000000000" pitchFamily="2" charset="2"/>
              <a:buChar char="Ø"/>
            </a:pPr>
            <a:r>
              <a:rPr lang="en-GB" dirty="0"/>
              <a:t>Each completed and agreed before next started.</a:t>
            </a:r>
          </a:p>
          <a:p>
            <a:pPr lvl="1">
              <a:buFont typeface="Wingdings" panose="05000000000000000000" pitchFamily="2" charset="2"/>
              <a:buChar char="Ø"/>
            </a:pPr>
            <a:r>
              <a:rPr lang="en-GB" dirty="0"/>
              <a:t>Formal review and sign-off.</a:t>
            </a:r>
          </a:p>
          <a:p>
            <a:pPr lvl="1">
              <a:buFont typeface="Wingdings" panose="05000000000000000000" pitchFamily="2" charset="2"/>
              <a:buChar char="Ø"/>
            </a:pPr>
            <a:r>
              <a:rPr lang="en-GB" dirty="0"/>
              <a:t>Project and payment milestones.</a:t>
            </a:r>
          </a:p>
          <a:p>
            <a:pPr marL="0" lvl="1" indent="0">
              <a:buNone/>
            </a:pPr>
            <a:endParaRPr lang="en-GB" dirty="0"/>
          </a:p>
          <a:p>
            <a:r>
              <a:rPr lang="en-GB" b="1" dirty="0"/>
              <a:t>Suitable when</a:t>
            </a:r>
          </a:p>
          <a:p>
            <a:pPr lvl="1">
              <a:buFont typeface="Wingdings" panose="05000000000000000000" pitchFamily="2" charset="2"/>
              <a:buChar char="Ø"/>
            </a:pPr>
            <a:r>
              <a:rPr lang="en-GB" dirty="0"/>
              <a:t>Requirements well understood and stable.</a:t>
            </a:r>
          </a:p>
          <a:p>
            <a:pPr lvl="1">
              <a:buFont typeface="Wingdings" panose="05000000000000000000" pitchFamily="2" charset="2"/>
              <a:buChar char="Ø"/>
            </a:pPr>
            <a:r>
              <a:rPr lang="en-GB" dirty="0"/>
              <a:t>Rigour and documentation needed – quality.</a:t>
            </a:r>
          </a:p>
          <a:p>
            <a:pPr lvl="1">
              <a:buFont typeface="Wingdings" panose="05000000000000000000" pitchFamily="2" charset="2"/>
              <a:buChar char="Ø"/>
            </a:pPr>
            <a:r>
              <a:rPr lang="en-GB" dirty="0"/>
              <a:t>Need to closely control cost and scope.</a:t>
            </a:r>
          </a:p>
          <a:p>
            <a:endParaRPr lang="en-GB" dirty="0"/>
          </a:p>
        </p:txBody>
      </p:sp>
      <p:sp>
        <p:nvSpPr>
          <p:cNvPr id="8" name="Slide Number Placeholder 3">
            <a:extLst>
              <a:ext uri="{FF2B5EF4-FFF2-40B4-BE49-F238E27FC236}">
                <a16:creationId xmlns:a16="http://schemas.microsoft.com/office/drawing/2014/main" id="{8DF63628-4AB2-9B72-70B3-5CD366870C32}"/>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5</a:t>
            </a:fld>
            <a:endParaRPr lang="en-GB"/>
          </a:p>
        </p:txBody>
      </p:sp>
    </p:spTree>
    <p:extLst>
      <p:ext uri="{BB962C8B-B14F-4D97-AF65-F5344CB8AC3E}">
        <p14:creationId xmlns:p14="http://schemas.microsoft.com/office/powerpoint/2010/main" val="2191132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2580128-EA20-4321-AC04-790874A96B9D}"/>
              </a:ext>
            </a:extLst>
          </p:cNvPr>
          <p:cNvSpPr>
            <a:spLocks noGrp="1"/>
          </p:cNvSpPr>
          <p:nvPr>
            <p:ph type="body" sz="quarter" idx="12"/>
          </p:nvPr>
        </p:nvSpPr>
        <p:spPr/>
        <p:txBody>
          <a:bodyPr/>
          <a:lstStyle/>
          <a:p>
            <a:r>
              <a:rPr lang="en-GB" sz="2800" dirty="0"/>
              <a:t>Sequential methodologies: Strengths and weaknesses</a:t>
            </a:r>
          </a:p>
        </p:txBody>
      </p:sp>
      <p:graphicFrame>
        <p:nvGraphicFramePr>
          <p:cNvPr id="9" name="Diagram 8">
            <a:extLst>
              <a:ext uri="{FF2B5EF4-FFF2-40B4-BE49-F238E27FC236}">
                <a16:creationId xmlns:a16="http://schemas.microsoft.com/office/drawing/2014/main" id="{93069F1D-4FFA-498D-B177-5ADA6E472A09}"/>
              </a:ext>
            </a:extLst>
          </p:cNvPr>
          <p:cNvGraphicFramePr/>
          <p:nvPr>
            <p:extLst>
              <p:ext uri="{D42A27DB-BD31-4B8C-83A1-F6EECF244321}">
                <p14:modId xmlns:p14="http://schemas.microsoft.com/office/powerpoint/2010/main" val="3976443490"/>
              </p:ext>
            </p:extLst>
          </p:nvPr>
        </p:nvGraphicFramePr>
        <p:xfrm>
          <a:off x="1244182" y="377612"/>
          <a:ext cx="9703635" cy="64803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95863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AD6AC-B9A0-455D-BBC3-7A0A35B75287}"/>
              </a:ext>
            </a:extLst>
          </p:cNvPr>
          <p:cNvSpPr>
            <a:spLocks noGrp="1"/>
          </p:cNvSpPr>
          <p:nvPr>
            <p:ph type="title" idx="4294967295"/>
          </p:nvPr>
        </p:nvSpPr>
        <p:spPr>
          <a:xfrm>
            <a:off x="1266939" y="369888"/>
            <a:ext cx="3635566" cy="687387"/>
          </a:xfrm>
        </p:spPr>
        <p:txBody>
          <a:bodyPr/>
          <a:lstStyle/>
          <a:p>
            <a:r>
              <a:rPr lang="en-GB" dirty="0"/>
              <a:t>Waterfall</a:t>
            </a:r>
          </a:p>
        </p:txBody>
      </p:sp>
      <p:grpSp>
        <p:nvGrpSpPr>
          <p:cNvPr id="22" name="Group 21">
            <a:extLst>
              <a:ext uri="{FF2B5EF4-FFF2-40B4-BE49-F238E27FC236}">
                <a16:creationId xmlns:a16="http://schemas.microsoft.com/office/drawing/2014/main" id="{DCE4D4E5-0A22-4768-86DD-713B57FF1DDE}"/>
              </a:ext>
            </a:extLst>
          </p:cNvPr>
          <p:cNvGrpSpPr/>
          <p:nvPr/>
        </p:nvGrpSpPr>
        <p:grpSpPr>
          <a:xfrm>
            <a:off x="1462471" y="1262686"/>
            <a:ext cx="9323041" cy="5116080"/>
            <a:chOff x="180000" y="899999"/>
            <a:chExt cx="6840000" cy="4140000"/>
          </a:xfrm>
          <a:solidFill>
            <a:schemeClr val="accent3"/>
          </a:solidFill>
        </p:grpSpPr>
        <p:grpSp>
          <p:nvGrpSpPr>
            <p:cNvPr id="23" name="Group 22">
              <a:extLst>
                <a:ext uri="{FF2B5EF4-FFF2-40B4-BE49-F238E27FC236}">
                  <a16:creationId xmlns:a16="http://schemas.microsoft.com/office/drawing/2014/main" id="{96DB913A-A2C9-4A76-9B54-F1B2BE6C2300}"/>
                </a:ext>
              </a:extLst>
            </p:cNvPr>
            <p:cNvGrpSpPr>
              <a:grpSpLocks/>
            </p:cNvGrpSpPr>
            <p:nvPr/>
          </p:nvGrpSpPr>
          <p:grpSpPr>
            <a:xfrm>
              <a:off x="180000" y="899999"/>
              <a:ext cx="6840000" cy="4140000"/>
              <a:chOff x="250472" y="916331"/>
              <a:chExt cx="3363160" cy="2295051"/>
            </a:xfrm>
            <a:grpFill/>
          </p:grpSpPr>
          <p:sp>
            <p:nvSpPr>
              <p:cNvPr id="34" name="Rounded Rectangle 17">
                <a:extLst>
                  <a:ext uri="{FF2B5EF4-FFF2-40B4-BE49-F238E27FC236}">
                    <a16:creationId xmlns:a16="http://schemas.microsoft.com/office/drawing/2014/main" id="{84111A95-914B-4E9D-83AC-299B0B6710A3}"/>
                  </a:ext>
                </a:extLst>
              </p:cNvPr>
              <p:cNvSpPr/>
              <p:nvPr/>
            </p:nvSpPr>
            <p:spPr>
              <a:xfrm>
                <a:off x="250472" y="916331"/>
                <a:ext cx="708034" cy="299354"/>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b="1" dirty="0">
                    <a:solidFill>
                      <a:schemeClr val="bg1"/>
                    </a:solidFill>
                    <a:latin typeface="Arial" pitchFamily="34" charset="0"/>
                    <a:cs typeface="Arial" pitchFamily="34" charset="0"/>
                  </a:rPr>
                  <a:t>Feasibility study</a:t>
                </a:r>
              </a:p>
            </p:txBody>
          </p:sp>
          <p:sp>
            <p:nvSpPr>
              <p:cNvPr id="35" name="Rounded Rectangle 19">
                <a:extLst>
                  <a:ext uri="{FF2B5EF4-FFF2-40B4-BE49-F238E27FC236}">
                    <a16:creationId xmlns:a16="http://schemas.microsoft.com/office/drawing/2014/main" id="{899325E9-0DDC-427A-A1E1-B666F0DFD1B2}"/>
                  </a:ext>
                </a:extLst>
              </p:cNvPr>
              <p:cNvSpPr/>
              <p:nvPr/>
            </p:nvSpPr>
            <p:spPr>
              <a:xfrm>
                <a:off x="781497" y="1315471"/>
                <a:ext cx="708034" cy="299354"/>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b="1" dirty="0">
                    <a:solidFill>
                      <a:schemeClr val="bg1"/>
                    </a:solidFill>
                    <a:latin typeface="Arial" pitchFamily="34" charset="0"/>
                    <a:cs typeface="Arial" pitchFamily="34" charset="0"/>
                  </a:rPr>
                  <a:t>Requirements engineering</a:t>
                </a:r>
              </a:p>
            </p:txBody>
          </p:sp>
          <p:sp>
            <p:nvSpPr>
              <p:cNvPr id="36" name="Rounded Rectangle 20">
                <a:extLst>
                  <a:ext uri="{FF2B5EF4-FFF2-40B4-BE49-F238E27FC236}">
                    <a16:creationId xmlns:a16="http://schemas.microsoft.com/office/drawing/2014/main" id="{20C23904-31AA-46EC-8B30-E3A10F655159}"/>
                  </a:ext>
                </a:extLst>
              </p:cNvPr>
              <p:cNvSpPr/>
              <p:nvPr/>
            </p:nvSpPr>
            <p:spPr>
              <a:xfrm>
                <a:off x="1312522" y="1714610"/>
                <a:ext cx="708034" cy="299354"/>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b="1" dirty="0">
                    <a:solidFill>
                      <a:schemeClr val="bg1"/>
                    </a:solidFill>
                    <a:latin typeface="Arial" pitchFamily="34" charset="0"/>
                    <a:cs typeface="Arial" pitchFamily="34" charset="0"/>
                  </a:rPr>
                  <a:t>Design</a:t>
                </a:r>
              </a:p>
            </p:txBody>
          </p:sp>
          <p:sp>
            <p:nvSpPr>
              <p:cNvPr id="37" name="Rounded Rectangle 21">
                <a:extLst>
                  <a:ext uri="{FF2B5EF4-FFF2-40B4-BE49-F238E27FC236}">
                    <a16:creationId xmlns:a16="http://schemas.microsoft.com/office/drawing/2014/main" id="{9733242F-4281-4535-A620-13710C694292}"/>
                  </a:ext>
                </a:extLst>
              </p:cNvPr>
              <p:cNvSpPr/>
              <p:nvPr/>
            </p:nvSpPr>
            <p:spPr>
              <a:xfrm>
                <a:off x="2374573" y="2512889"/>
                <a:ext cx="708034" cy="299354"/>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b="1" dirty="0">
                    <a:solidFill>
                      <a:schemeClr val="bg1"/>
                    </a:solidFill>
                    <a:latin typeface="Arial" pitchFamily="34" charset="0"/>
                    <a:cs typeface="Arial" pitchFamily="34" charset="0"/>
                  </a:rPr>
                  <a:t>Testing</a:t>
                </a:r>
              </a:p>
            </p:txBody>
          </p:sp>
          <p:sp>
            <p:nvSpPr>
              <p:cNvPr id="38" name="Rounded Rectangle 22">
                <a:extLst>
                  <a:ext uri="{FF2B5EF4-FFF2-40B4-BE49-F238E27FC236}">
                    <a16:creationId xmlns:a16="http://schemas.microsoft.com/office/drawing/2014/main" id="{DD5FE83F-3132-4D74-9EA2-BD887423B5B3}"/>
                  </a:ext>
                </a:extLst>
              </p:cNvPr>
              <p:cNvSpPr/>
              <p:nvPr/>
            </p:nvSpPr>
            <p:spPr>
              <a:xfrm>
                <a:off x="1843548" y="2113749"/>
                <a:ext cx="708034" cy="299354"/>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b="1" dirty="0">
                    <a:solidFill>
                      <a:schemeClr val="bg1"/>
                    </a:solidFill>
                    <a:latin typeface="Arial" pitchFamily="34" charset="0"/>
                    <a:cs typeface="Arial" pitchFamily="34" charset="0"/>
                  </a:rPr>
                  <a:t>Development  (programming)</a:t>
                </a:r>
              </a:p>
            </p:txBody>
          </p:sp>
          <p:sp>
            <p:nvSpPr>
              <p:cNvPr id="39" name="Rounded Rectangle 23">
                <a:extLst>
                  <a:ext uri="{FF2B5EF4-FFF2-40B4-BE49-F238E27FC236}">
                    <a16:creationId xmlns:a16="http://schemas.microsoft.com/office/drawing/2014/main" id="{DA4069C6-DA1A-46AD-8FBA-EA849BC1D112}"/>
                  </a:ext>
                </a:extLst>
              </p:cNvPr>
              <p:cNvSpPr/>
              <p:nvPr/>
            </p:nvSpPr>
            <p:spPr>
              <a:xfrm>
                <a:off x="2905598" y="2912028"/>
                <a:ext cx="708034" cy="299354"/>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b="1" dirty="0">
                    <a:solidFill>
                      <a:schemeClr val="bg1"/>
                    </a:solidFill>
                    <a:latin typeface="Arial" pitchFamily="34" charset="0"/>
                    <a:cs typeface="Arial" pitchFamily="34" charset="0"/>
                  </a:rPr>
                  <a:t>Implementation</a:t>
                </a:r>
              </a:p>
            </p:txBody>
          </p:sp>
        </p:grpSp>
        <p:cxnSp>
          <p:nvCxnSpPr>
            <p:cNvPr id="24" name="Elbow Connector 28">
              <a:extLst>
                <a:ext uri="{FF2B5EF4-FFF2-40B4-BE49-F238E27FC236}">
                  <a16:creationId xmlns:a16="http://schemas.microsoft.com/office/drawing/2014/main" id="{CFD8C1B5-AF70-4D6D-B5A1-EBBFB636DDAC}"/>
                </a:ext>
              </a:extLst>
            </p:cNvPr>
            <p:cNvCxnSpPr>
              <a:stCxn id="34" idx="3"/>
              <a:endCxn id="35" idx="0"/>
            </p:cNvCxnSpPr>
            <p:nvPr/>
          </p:nvCxnSpPr>
          <p:spPr>
            <a:xfrm>
              <a:off x="1620001" y="1169999"/>
              <a:ext cx="360000" cy="450001"/>
            </a:xfrm>
            <a:prstGeom prst="bentConnector2">
              <a:avLst/>
            </a:prstGeom>
            <a:grpFill/>
            <a:ln w="25400">
              <a:tailEnd type="arrow"/>
            </a:ln>
          </p:spPr>
          <p:style>
            <a:lnRef idx="1">
              <a:schemeClr val="accent1"/>
            </a:lnRef>
            <a:fillRef idx="0">
              <a:schemeClr val="accent1"/>
            </a:fillRef>
            <a:effectRef idx="0">
              <a:schemeClr val="accent1"/>
            </a:effectRef>
            <a:fontRef idx="minor">
              <a:schemeClr val="tx1"/>
            </a:fontRef>
          </p:style>
        </p:cxnSp>
        <p:cxnSp>
          <p:nvCxnSpPr>
            <p:cNvPr id="25" name="Elbow Connector 46">
              <a:extLst>
                <a:ext uri="{FF2B5EF4-FFF2-40B4-BE49-F238E27FC236}">
                  <a16:creationId xmlns:a16="http://schemas.microsoft.com/office/drawing/2014/main" id="{2D5375FA-E596-4189-BD93-ECD58B5AC382}"/>
                </a:ext>
              </a:extLst>
            </p:cNvPr>
            <p:cNvCxnSpPr/>
            <p:nvPr/>
          </p:nvCxnSpPr>
          <p:spPr>
            <a:xfrm rot="16200000" flipH="1">
              <a:off x="854999" y="1485000"/>
              <a:ext cx="450002" cy="359999"/>
            </a:xfrm>
            <a:prstGeom prst="bentConnector2">
              <a:avLst/>
            </a:prstGeom>
            <a:grpFill/>
            <a:ln w="25400">
              <a:prstDash val="dash"/>
              <a:headEnd type="arrow"/>
              <a:tailEnd type="none"/>
            </a:ln>
          </p:spPr>
          <p:style>
            <a:lnRef idx="1">
              <a:schemeClr val="accent1"/>
            </a:lnRef>
            <a:fillRef idx="0">
              <a:schemeClr val="accent1"/>
            </a:fillRef>
            <a:effectRef idx="0">
              <a:schemeClr val="accent1"/>
            </a:effectRef>
            <a:fontRef idx="minor">
              <a:schemeClr val="tx1"/>
            </a:fontRef>
          </p:style>
        </p:cxnSp>
        <p:cxnSp>
          <p:nvCxnSpPr>
            <p:cNvPr id="26" name="Elbow Connector 54">
              <a:extLst>
                <a:ext uri="{FF2B5EF4-FFF2-40B4-BE49-F238E27FC236}">
                  <a16:creationId xmlns:a16="http://schemas.microsoft.com/office/drawing/2014/main" id="{ABE2541A-9AB7-4FD5-ADCC-CFD731D4B77C}"/>
                </a:ext>
              </a:extLst>
            </p:cNvPr>
            <p:cNvCxnSpPr/>
            <p:nvPr/>
          </p:nvCxnSpPr>
          <p:spPr>
            <a:xfrm>
              <a:off x="2700001" y="1890001"/>
              <a:ext cx="360000" cy="450001"/>
            </a:xfrm>
            <a:prstGeom prst="bentConnector2">
              <a:avLst/>
            </a:prstGeom>
            <a:grpFill/>
            <a:ln w="25400">
              <a:tailEnd type="arrow"/>
            </a:ln>
          </p:spPr>
          <p:style>
            <a:lnRef idx="1">
              <a:schemeClr val="accent1"/>
            </a:lnRef>
            <a:fillRef idx="0">
              <a:schemeClr val="accent1"/>
            </a:fillRef>
            <a:effectRef idx="0">
              <a:schemeClr val="accent1"/>
            </a:effectRef>
            <a:fontRef idx="minor">
              <a:schemeClr val="tx1"/>
            </a:fontRef>
          </p:style>
        </p:cxnSp>
        <p:cxnSp>
          <p:nvCxnSpPr>
            <p:cNvPr id="27" name="Elbow Connector 55">
              <a:extLst>
                <a:ext uri="{FF2B5EF4-FFF2-40B4-BE49-F238E27FC236}">
                  <a16:creationId xmlns:a16="http://schemas.microsoft.com/office/drawing/2014/main" id="{9F086297-8A68-422A-AA72-BDABB7E37A82}"/>
                </a:ext>
              </a:extLst>
            </p:cNvPr>
            <p:cNvCxnSpPr/>
            <p:nvPr/>
          </p:nvCxnSpPr>
          <p:spPr>
            <a:xfrm>
              <a:off x="3797852" y="2609999"/>
              <a:ext cx="360000" cy="450001"/>
            </a:xfrm>
            <a:prstGeom prst="bentConnector2">
              <a:avLst/>
            </a:prstGeom>
            <a:grpFill/>
            <a:ln w="25400">
              <a:tailEnd type="arrow"/>
            </a:ln>
          </p:spPr>
          <p:style>
            <a:lnRef idx="1">
              <a:schemeClr val="accent1"/>
            </a:lnRef>
            <a:fillRef idx="0">
              <a:schemeClr val="accent1"/>
            </a:fillRef>
            <a:effectRef idx="0">
              <a:schemeClr val="accent1"/>
            </a:effectRef>
            <a:fontRef idx="minor">
              <a:schemeClr val="tx1"/>
            </a:fontRef>
          </p:style>
        </p:cxnSp>
        <p:cxnSp>
          <p:nvCxnSpPr>
            <p:cNvPr id="28" name="Elbow Connector 56">
              <a:extLst>
                <a:ext uri="{FF2B5EF4-FFF2-40B4-BE49-F238E27FC236}">
                  <a16:creationId xmlns:a16="http://schemas.microsoft.com/office/drawing/2014/main" id="{B24EEAA9-860A-463C-B7DE-54411AF5637B}"/>
                </a:ext>
              </a:extLst>
            </p:cNvPr>
            <p:cNvCxnSpPr/>
            <p:nvPr/>
          </p:nvCxnSpPr>
          <p:spPr>
            <a:xfrm>
              <a:off x="4877853" y="3329816"/>
              <a:ext cx="360000" cy="450001"/>
            </a:xfrm>
            <a:prstGeom prst="bentConnector2">
              <a:avLst/>
            </a:prstGeom>
            <a:grpFill/>
            <a:ln w="25400">
              <a:tailEnd type="arrow"/>
            </a:ln>
          </p:spPr>
          <p:style>
            <a:lnRef idx="1">
              <a:schemeClr val="accent1"/>
            </a:lnRef>
            <a:fillRef idx="0">
              <a:schemeClr val="accent1"/>
            </a:fillRef>
            <a:effectRef idx="0">
              <a:schemeClr val="accent1"/>
            </a:effectRef>
            <a:fontRef idx="minor">
              <a:schemeClr val="tx1"/>
            </a:fontRef>
          </p:style>
        </p:cxnSp>
        <p:cxnSp>
          <p:nvCxnSpPr>
            <p:cNvPr id="29" name="Elbow Connector 57">
              <a:extLst>
                <a:ext uri="{FF2B5EF4-FFF2-40B4-BE49-F238E27FC236}">
                  <a16:creationId xmlns:a16="http://schemas.microsoft.com/office/drawing/2014/main" id="{EC5241AC-E746-4E2B-BCC5-1849DF3C2D9A}"/>
                </a:ext>
              </a:extLst>
            </p:cNvPr>
            <p:cNvCxnSpPr/>
            <p:nvPr/>
          </p:nvCxnSpPr>
          <p:spPr>
            <a:xfrm>
              <a:off x="5940001" y="4050000"/>
              <a:ext cx="360000" cy="450001"/>
            </a:xfrm>
            <a:prstGeom prst="bentConnector2">
              <a:avLst/>
            </a:prstGeom>
            <a:grpFill/>
            <a:ln w="25400">
              <a:tailEnd type="arrow"/>
            </a:ln>
          </p:spPr>
          <p:style>
            <a:lnRef idx="1">
              <a:schemeClr val="accent1"/>
            </a:lnRef>
            <a:fillRef idx="0">
              <a:schemeClr val="accent1"/>
            </a:fillRef>
            <a:effectRef idx="0">
              <a:schemeClr val="accent1"/>
            </a:effectRef>
            <a:fontRef idx="minor">
              <a:schemeClr val="tx1"/>
            </a:fontRef>
          </p:style>
        </p:cxnSp>
        <p:cxnSp>
          <p:nvCxnSpPr>
            <p:cNvPr id="30" name="Elbow Connector 59">
              <a:extLst>
                <a:ext uri="{FF2B5EF4-FFF2-40B4-BE49-F238E27FC236}">
                  <a16:creationId xmlns:a16="http://schemas.microsoft.com/office/drawing/2014/main" id="{C9815366-0EE3-414D-8882-A1C360C7BD31}"/>
                </a:ext>
              </a:extLst>
            </p:cNvPr>
            <p:cNvCxnSpPr/>
            <p:nvPr/>
          </p:nvCxnSpPr>
          <p:spPr>
            <a:xfrm rot="16200000" flipH="1">
              <a:off x="1934999" y="2205001"/>
              <a:ext cx="450002" cy="359999"/>
            </a:xfrm>
            <a:prstGeom prst="bentConnector2">
              <a:avLst/>
            </a:prstGeom>
            <a:grpFill/>
            <a:ln w="25400">
              <a:prstDash val="dash"/>
              <a:headEnd type="arrow"/>
              <a:tailEnd type="none"/>
            </a:ln>
          </p:spPr>
          <p:style>
            <a:lnRef idx="1">
              <a:schemeClr val="accent1"/>
            </a:lnRef>
            <a:fillRef idx="0">
              <a:schemeClr val="accent1"/>
            </a:fillRef>
            <a:effectRef idx="0">
              <a:schemeClr val="accent1"/>
            </a:effectRef>
            <a:fontRef idx="minor">
              <a:schemeClr val="tx1"/>
            </a:fontRef>
          </p:style>
        </p:cxnSp>
        <p:cxnSp>
          <p:nvCxnSpPr>
            <p:cNvPr id="31" name="Elbow Connector 60">
              <a:extLst>
                <a:ext uri="{FF2B5EF4-FFF2-40B4-BE49-F238E27FC236}">
                  <a16:creationId xmlns:a16="http://schemas.microsoft.com/office/drawing/2014/main" id="{A7978B7D-BB02-4C7F-81E7-8079536E8CE5}"/>
                </a:ext>
              </a:extLst>
            </p:cNvPr>
            <p:cNvCxnSpPr/>
            <p:nvPr/>
          </p:nvCxnSpPr>
          <p:spPr>
            <a:xfrm rot="16200000" flipH="1">
              <a:off x="3014998" y="2932676"/>
              <a:ext cx="450002" cy="359999"/>
            </a:xfrm>
            <a:prstGeom prst="bentConnector2">
              <a:avLst/>
            </a:prstGeom>
            <a:grpFill/>
            <a:ln w="25400">
              <a:prstDash val="dash"/>
              <a:headEnd type="arrow"/>
              <a:tailEnd type="none"/>
            </a:ln>
          </p:spPr>
          <p:style>
            <a:lnRef idx="1">
              <a:schemeClr val="accent1"/>
            </a:lnRef>
            <a:fillRef idx="0">
              <a:schemeClr val="accent1"/>
            </a:fillRef>
            <a:effectRef idx="0">
              <a:schemeClr val="accent1"/>
            </a:effectRef>
            <a:fontRef idx="minor">
              <a:schemeClr val="tx1"/>
            </a:fontRef>
          </p:style>
        </p:cxnSp>
        <p:cxnSp>
          <p:nvCxnSpPr>
            <p:cNvPr id="32" name="Elbow Connector 61">
              <a:extLst>
                <a:ext uri="{FF2B5EF4-FFF2-40B4-BE49-F238E27FC236}">
                  <a16:creationId xmlns:a16="http://schemas.microsoft.com/office/drawing/2014/main" id="{66042A6D-D883-4B3A-AD69-5D2FFD70648F}"/>
                </a:ext>
              </a:extLst>
            </p:cNvPr>
            <p:cNvCxnSpPr/>
            <p:nvPr/>
          </p:nvCxnSpPr>
          <p:spPr>
            <a:xfrm rot="16200000" flipH="1">
              <a:off x="4112851" y="3645000"/>
              <a:ext cx="450002" cy="359999"/>
            </a:xfrm>
            <a:prstGeom prst="bentConnector2">
              <a:avLst/>
            </a:prstGeom>
            <a:grpFill/>
            <a:ln w="25400">
              <a:prstDash val="dash"/>
              <a:headEnd type="arrow"/>
              <a:tailEnd type="none"/>
            </a:ln>
          </p:spPr>
          <p:style>
            <a:lnRef idx="1">
              <a:schemeClr val="accent1"/>
            </a:lnRef>
            <a:fillRef idx="0">
              <a:schemeClr val="accent1"/>
            </a:fillRef>
            <a:effectRef idx="0">
              <a:schemeClr val="accent1"/>
            </a:effectRef>
            <a:fontRef idx="minor">
              <a:schemeClr val="tx1"/>
            </a:fontRef>
          </p:style>
        </p:cxnSp>
        <p:cxnSp>
          <p:nvCxnSpPr>
            <p:cNvPr id="33" name="Elbow Connector 62">
              <a:extLst>
                <a:ext uri="{FF2B5EF4-FFF2-40B4-BE49-F238E27FC236}">
                  <a16:creationId xmlns:a16="http://schemas.microsoft.com/office/drawing/2014/main" id="{36C95821-3E10-45D4-BA4D-54F8716F796C}"/>
                </a:ext>
              </a:extLst>
            </p:cNvPr>
            <p:cNvCxnSpPr/>
            <p:nvPr/>
          </p:nvCxnSpPr>
          <p:spPr>
            <a:xfrm rot="16200000" flipH="1">
              <a:off x="5174998" y="4372862"/>
              <a:ext cx="450002" cy="359999"/>
            </a:xfrm>
            <a:prstGeom prst="bentConnector2">
              <a:avLst/>
            </a:prstGeom>
            <a:grpFill/>
            <a:ln w="25400">
              <a:prstDash val="dash"/>
              <a:headEnd type="arrow"/>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20203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2580128-EA20-4321-AC04-790874A96B9D}"/>
              </a:ext>
            </a:extLst>
          </p:cNvPr>
          <p:cNvSpPr>
            <a:spLocks noGrp="1"/>
          </p:cNvSpPr>
          <p:nvPr>
            <p:ph type="body" sz="quarter" idx="12"/>
          </p:nvPr>
        </p:nvSpPr>
        <p:spPr>
          <a:xfrm>
            <a:off x="1212111" y="279594"/>
            <a:ext cx="10595714" cy="520263"/>
          </a:xfrm>
        </p:spPr>
        <p:txBody>
          <a:bodyPr/>
          <a:lstStyle/>
          <a:p>
            <a:r>
              <a:rPr lang="en-GB" sz="2800" dirty="0"/>
              <a:t>Waterfall: Strengths and weaknesses</a:t>
            </a:r>
          </a:p>
        </p:txBody>
      </p:sp>
      <p:graphicFrame>
        <p:nvGraphicFramePr>
          <p:cNvPr id="9" name="Diagram 8">
            <a:extLst>
              <a:ext uri="{FF2B5EF4-FFF2-40B4-BE49-F238E27FC236}">
                <a16:creationId xmlns:a16="http://schemas.microsoft.com/office/drawing/2014/main" id="{93069F1D-4FFA-498D-B177-5ADA6E472A09}"/>
              </a:ext>
            </a:extLst>
          </p:cNvPr>
          <p:cNvGraphicFramePr/>
          <p:nvPr>
            <p:extLst>
              <p:ext uri="{D42A27DB-BD31-4B8C-83A1-F6EECF244321}">
                <p14:modId xmlns:p14="http://schemas.microsoft.com/office/powerpoint/2010/main" val="2443147829"/>
              </p:ext>
            </p:extLst>
          </p:nvPr>
        </p:nvGraphicFramePr>
        <p:xfrm>
          <a:off x="1244182" y="377612"/>
          <a:ext cx="9703635" cy="64803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33775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95AB18C-AC30-44DE-809F-DF5CD4F01C67}"/>
              </a:ext>
            </a:extLst>
          </p:cNvPr>
          <p:cNvSpPr>
            <a:spLocks noGrp="1"/>
          </p:cNvSpPr>
          <p:nvPr>
            <p:ph type="body" sz="quarter" idx="12"/>
          </p:nvPr>
        </p:nvSpPr>
        <p:spPr>
          <a:xfrm>
            <a:off x="4734824" y="389763"/>
            <a:ext cx="2345428" cy="520263"/>
          </a:xfrm>
        </p:spPr>
        <p:txBody>
          <a:bodyPr/>
          <a:lstStyle/>
          <a:p>
            <a:r>
              <a:rPr lang="en-GB" dirty="0"/>
              <a:t>V model</a:t>
            </a:r>
          </a:p>
        </p:txBody>
      </p:sp>
      <p:grpSp>
        <p:nvGrpSpPr>
          <p:cNvPr id="5" name="Group 4">
            <a:extLst>
              <a:ext uri="{FF2B5EF4-FFF2-40B4-BE49-F238E27FC236}">
                <a16:creationId xmlns:a16="http://schemas.microsoft.com/office/drawing/2014/main" id="{A213A299-1C74-4A8D-837A-1FD55ED7E9D5}"/>
              </a:ext>
            </a:extLst>
          </p:cNvPr>
          <p:cNvGrpSpPr/>
          <p:nvPr/>
        </p:nvGrpSpPr>
        <p:grpSpPr>
          <a:xfrm>
            <a:off x="1421176" y="1319471"/>
            <a:ext cx="8972725" cy="4950339"/>
            <a:chOff x="2160000" y="1619996"/>
            <a:chExt cx="7559999" cy="4139999"/>
          </a:xfrm>
          <a:solidFill>
            <a:schemeClr val="accent3"/>
          </a:solidFill>
        </p:grpSpPr>
        <p:sp>
          <p:nvSpPr>
            <p:cNvPr id="20" name="Rounded Rectangle 39">
              <a:extLst>
                <a:ext uri="{FF2B5EF4-FFF2-40B4-BE49-F238E27FC236}">
                  <a16:creationId xmlns:a16="http://schemas.microsoft.com/office/drawing/2014/main" id="{66983C3D-A0D0-4C53-907D-00D8D1DA9DBB}"/>
                </a:ext>
              </a:extLst>
            </p:cNvPr>
            <p:cNvSpPr/>
            <p:nvPr/>
          </p:nvSpPr>
          <p:spPr>
            <a:xfrm>
              <a:off x="3779999" y="4319996"/>
              <a:ext cx="180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b="1" dirty="0">
                  <a:solidFill>
                    <a:schemeClr val="bg1"/>
                  </a:solidFill>
                  <a:latin typeface="Arial" pitchFamily="34" charset="0"/>
                  <a:cs typeface="Arial" pitchFamily="34" charset="0"/>
                </a:rPr>
                <a:t>Unit / component </a:t>
              </a:r>
            </a:p>
            <a:p>
              <a:pPr algn="ctr"/>
              <a:r>
                <a:rPr lang="en-GB" sz="1400" b="1" dirty="0">
                  <a:solidFill>
                    <a:schemeClr val="bg1"/>
                  </a:solidFill>
                  <a:latin typeface="Arial" pitchFamily="34" charset="0"/>
                  <a:cs typeface="Arial" pitchFamily="34" charset="0"/>
                </a:rPr>
                <a:t>design </a:t>
              </a:r>
            </a:p>
          </p:txBody>
        </p:sp>
        <p:sp>
          <p:nvSpPr>
            <p:cNvPr id="21" name="Rounded Rectangle 40">
              <a:extLst>
                <a:ext uri="{FF2B5EF4-FFF2-40B4-BE49-F238E27FC236}">
                  <a16:creationId xmlns:a16="http://schemas.microsoft.com/office/drawing/2014/main" id="{193547C0-DFB3-42B5-A860-4A7C48EDD0C5}"/>
                </a:ext>
              </a:extLst>
            </p:cNvPr>
            <p:cNvSpPr/>
            <p:nvPr/>
          </p:nvSpPr>
          <p:spPr>
            <a:xfrm>
              <a:off x="3240000" y="3419996"/>
              <a:ext cx="180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b="1" dirty="0">
                  <a:solidFill>
                    <a:schemeClr val="bg1"/>
                  </a:solidFill>
                  <a:latin typeface="Arial" pitchFamily="34" charset="0"/>
                  <a:cs typeface="Arial" pitchFamily="34" charset="0"/>
                </a:rPr>
                <a:t>High level </a:t>
              </a:r>
            </a:p>
            <a:p>
              <a:pPr algn="ctr"/>
              <a:r>
                <a:rPr lang="en-GB" sz="1400" b="1" dirty="0">
                  <a:solidFill>
                    <a:schemeClr val="bg1"/>
                  </a:solidFill>
                  <a:latin typeface="Arial" pitchFamily="34" charset="0"/>
                  <a:cs typeface="Arial" pitchFamily="34" charset="0"/>
                </a:rPr>
                <a:t>system design </a:t>
              </a:r>
            </a:p>
          </p:txBody>
        </p:sp>
        <p:sp>
          <p:nvSpPr>
            <p:cNvPr id="22" name="Rounded Rectangle 41">
              <a:extLst>
                <a:ext uri="{FF2B5EF4-FFF2-40B4-BE49-F238E27FC236}">
                  <a16:creationId xmlns:a16="http://schemas.microsoft.com/office/drawing/2014/main" id="{55BE1DA6-082E-46DD-A23C-D306379B4ED9}"/>
                </a:ext>
              </a:extLst>
            </p:cNvPr>
            <p:cNvSpPr/>
            <p:nvPr/>
          </p:nvSpPr>
          <p:spPr>
            <a:xfrm>
              <a:off x="2700000" y="2519997"/>
              <a:ext cx="180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b="1" dirty="0">
                  <a:solidFill>
                    <a:schemeClr val="bg1"/>
                  </a:solidFill>
                  <a:latin typeface="Arial" pitchFamily="34" charset="0"/>
                  <a:cs typeface="Arial" pitchFamily="34" charset="0"/>
                </a:rPr>
                <a:t>System requirements</a:t>
              </a:r>
            </a:p>
          </p:txBody>
        </p:sp>
        <p:cxnSp>
          <p:nvCxnSpPr>
            <p:cNvPr id="23" name="Straight Arrow Connector 22">
              <a:extLst>
                <a:ext uri="{FF2B5EF4-FFF2-40B4-BE49-F238E27FC236}">
                  <a16:creationId xmlns:a16="http://schemas.microsoft.com/office/drawing/2014/main" id="{A9C63D40-5B11-442F-B0CC-FDD38031EEC2}"/>
                </a:ext>
              </a:extLst>
            </p:cNvPr>
            <p:cNvCxnSpPr/>
            <p:nvPr/>
          </p:nvCxnSpPr>
          <p:spPr>
            <a:xfrm flipV="1">
              <a:off x="7559999" y="3959995"/>
              <a:ext cx="180000" cy="35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sp>
          <p:nvSpPr>
            <p:cNvPr id="24" name="Rounded Rectangle 47">
              <a:extLst>
                <a:ext uri="{FF2B5EF4-FFF2-40B4-BE49-F238E27FC236}">
                  <a16:creationId xmlns:a16="http://schemas.microsoft.com/office/drawing/2014/main" id="{0A0CC211-7D06-44D0-BE18-1B83A0A7864A}"/>
                </a:ext>
              </a:extLst>
            </p:cNvPr>
            <p:cNvSpPr/>
            <p:nvPr/>
          </p:nvSpPr>
          <p:spPr>
            <a:xfrm>
              <a:off x="5040000" y="5219995"/>
              <a:ext cx="180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b="1" dirty="0">
                  <a:solidFill>
                    <a:schemeClr val="bg1"/>
                  </a:solidFill>
                  <a:latin typeface="Arial" pitchFamily="34" charset="0"/>
                  <a:cs typeface="Arial" pitchFamily="34" charset="0"/>
                </a:rPr>
                <a:t>Development (programming)</a:t>
              </a:r>
            </a:p>
          </p:txBody>
        </p:sp>
        <p:sp>
          <p:nvSpPr>
            <p:cNvPr id="25" name="Rounded Rectangle 48">
              <a:extLst>
                <a:ext uri="{FF2B5EF4-FFF2-40B4-BE49-F238E27FC236}">
                  <a16:creationId xmlns:a16="http://schemas.microsoft.com/office/drawing/2014/main" id="{AC05906D-9665-412C-9DAC-C69D689B16D0}"/>
                </a:ext>
              </a:extLst>
            </p:cNvPr>
            <p:cNvSpPr/>
            <p:nvPr/>
          </p:nvSpPr>
          <p:spPr>
            <a:xfrm>
              <a:off x="6299999" y="4319996"/>
              <a:ext cx="180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b="1" dirty="0">
                  <a:solidFill>
                    <a:schemeClr val="bg1"/>
                  </a:solidFill>
                  <a:latin typeface="Arial" pitchFamily="34" charset="0"/>
                  <a:cs typeface="Arial" pitchFamily="34" charset="0"/>
                </a:rPr>
                <a:t>Unit testing</a:t>
              </a:r>
            </a:p>
          </p:txBody>
        </p:sp>
        <p:sp>
          <p:nvSpPr>
            <p:cNvPr id="26" name="Rounded Rectangle 49">
              <a:extLst>
                <a:ext uri="{FF2B5EF4-FFF2-40B4-BE49-F238E27FC236}">
                  <a16:creationId xmlns:a16="http://schemas.microsoft.com/office/drawing/2014/main" id="{89EF4DDD-C08A-4B0C-82D5-A0414A70F939}"/>
                </a:ext>
              </a:extLst>
            </p:cNvPr>
            <p:cNvSpPr/>
            <p:nvPr/>
          </p:nvSpPr>
          <p:spPr>
            <a:xfrm>
              <a:off x="6840751" y="3419996"/>
              <a:ext cx="180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b="1" dirty="0">
                  <a:solidFill>
                    <a:schemeClr val="bg1"/>
                  </a:solidFill>
                  <a:latin typeface="Arial" pitchFamily="34" charset="0"/>
                  <a:cs typeface="Arial" pitchFamily="34" charset="0"/>
                </a:rPr>
                <a:t>Integration testing</a:t>
              </a:r>
            </a:p>
          </p:txBody>
        </p:sp>
        <p:sp>
          <p:nvSpPr>
            <p:cNvPr id="27" name="Rounded Rectangle 50">
              <a:extLst>
                <a:ext uri="{FF2B5EF4-FFF2-40B4-BE49-F238E27FC236}">
                  <a16:creationId xmlns:a16="http://schemas.microsoft.com/office/drawing/2014/main" id="{AE93E67B-4928-4C56-8D9B-B45C96D552B5}"/>
                </a:ext>
              </a:extLst>
            </p:cNvPr>
            <p:cNvSpPr/>
            <p:nvPr/>
          </p:nvSpPr>
          <p:spPr>
            <a:xfrm>
              <a:off x="7380001" y="2519997"/>
              <a:ext cx="180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b="1" dirty="0">
                  <a:solidFill>
                    <a:schemeClr val="bg1"/>
                  </a:solidFill>
                  <a:latin typeface="Arial" pitchFamily="34" charset="0"/>
                  <a:cs typeface="Arial" pitchFamily="34" charset="0"/>
                </a:rPr>
                <a:t>System testing</a:t>
              </a:r>
            </a:p>
          </p:txBody>
        </p:sp>
        <p:sp>
          <p:nvSpPr>
            <p:cNvPr id="28" name="Rounded Rectangle 51">
              <a:extLst>
                <a:ext uri="{FF2B5EF4-FFF2-40B4-BE49-F238E27FC236}">
                  <a16:creationId xmlns:a16="http://schemas.microsoft.com/office/drawing/2014/main" id="{769369DF-6F04-46B3-B27E-58CACBF4C2DE}"/>
                </a:ext>
              </a:extLst>
            </p:cNvPr>
            <p:cNvSpPr/>
            <p:nvPr/>
          </p:nvSpPr>
          <p:spPr>
            <a:xfrm>
              <a:off x="7919999" y="1619996"/>
              <a:ext cx="180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b="1" dirty="0">
                  <a:solidFill>
                    <a:schemeClr val="bg1"/>
                  </a:solidFill>
                  <a:latin typeface="Arial" pitchFamily="34" charset="0"/>
                  <a:cs typeface="Arial" pitchFamily="34" charset="0"/>
                </a:rPr>
                <a:t>User acceptance testing</a:t>
              </a:r>
            </a:p>
          </p:txBody>
        </p:sp>
        <p:cxnSp>
          <p:nvCxnSpPr>
            <p:cNvPr id="29" name="Straight Arrow Connector 28">
              <a:extLst>
                <a:ext uri="{FF2B5EF4-FFF2-40B4-BE49-F238E27FC236}">
                  <a16:creationId xmlns:a16="http://schemas.microsoft.com/office/drawing/2014/main" id="{247E0AD8-DDC7-4929-AD75-D3BB41608C92}"/>
                </a:ext>
              </a:extLst>
            </p:cNvPr>
            <p:cNvCxnSpPr>
              <a:stCxn id="22" idx="3"/>
              <a:endCxn id="27" idx="1"/>
            </p:cNvCxnSpPr>
            <p:nvPr/>
          </p:nvCxnSpPr>
          <p:spPr>
            <a:xfrm>
              <a:off x="4500000" y="2789996"/>
              <a:ext cx="2880001" cy="0"/>
            </a:xfrm>
            <a:prstGeom prst="straightConnector1">
              <a:avLst/>
            </a:prstGeom>
            <a:grpFill/>
            <a:ln w="3810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86E0A24-6FDC-4229-BED0-22F587B52252}"/>
                </a:ext>
              </a:extLst>
            </p:cNvPr>
            <p:cNvCxnSpPr>
              <a:stCxn id="21" idx="3"/>
              <a:endCxn id="26" idx="1"/>
            </p:cNvCxnSpPr>
            <p:nvPr/>
          </p:nvCxnSpPr>
          <p:spPr>
            <a:xfrm>
              <a:off x="5040000" y="3689996"/>
              <a:ext cx="1800751" cy="0"/>
            </a:xfrm>
            <a:prstGeom prst="straightConnector1">
              <a:avLst/>
            </a:prstGeom>
            <a:grpFill/>
            <a:ln w="38100">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7CC3081-03F3-4705-9CF5-5E37B12C9A7E}"/>
                </a:ext>
              </a:extLst>
            </p:cNvPr>
            <p:cNvSpPr txBox="1"/>
            <p:nvPr/>
          </p:nvSpPr>
          <p:spPr>
            <a:xfrm>
              <a:off x="5220374" y="2879996"/>
              <a:ext cx="1440000" cy="540000"/>
            </a:xfrm>
            <a:prstGeom prst="rect">
              <a:avLst/>
            </a:prstGeom>
            <a:solidFill>
              <a:schemeClr val="tx2"/>
            </a:solidFill>
          </p:spPr>
          <p:txBody>
            <a:bodyPr wrap="square" lIns="36000" tIns="36000" rIns="36000" bIns="36000" rtlCol="0">
              <a:noAutofit/>
            </a:bodyPr>
            <a:lstStyle/>
            <a:p>
              <a:pPr algn="ctr"/>
              <a:r>
                <a:rPr lang="en-GB" sz="1200" b="1" dirty="0">
                  <a:latin typeface="+mn-lt"/>
                  <a:cs typeface="Courier New" pitchFamily="49" charset="0"/>
                </a:rPr>
                <a:t>Acceptance criteria</a:t>
              </a:r>
            </a:p>
          </p:txBody>
        </p:sp>
        <p:sp>
          <p:nvSpPr>
            <p:cNvPr id="32" name="TextBox 31">
              <a:extLst>
                <a:ext uri="{FF2B5EF4-FFF2-40B4-BE49-F238E27FC236}">
                  <a16:creationId xmlns:a16="http://schemas.microsoft.com/office/drawing/2014/main" id="{ABCF2FD8-48E9-4BB2-9802-B2D4C3E74D56}"/>
                </a:ext>
              </a:extLst>
            </p:cNvPr>
            <p:cNvSpPr txBox="1"/>
            <p:nvPr/>
          </p:nvSpPr>
          <p:spPr>
            <a:xfrm>
              <a:off x="5220000" y="3779996"/>
              <a:ext cx="1440000" cy="461664"/>
            </a:xfrm>
            <a:prstGeom prst="rect">
              <a:avLst/>
            </a:prstGeom>
            <a:solidFill>
              <a:schemeClr val="tx2"/>
            </a:solidFill>
          </p:spPr>
          <p:txBody>
            <a:bodyPr wrap="square" lIns="36000" tIns="36000" rIns="36000" bIns="36000" rtlCol="0">
              <a:noAutofit/>
            </a:bodyPr>
            <a:lstStyle>
              <a:defPPr>
                <a:defRPr lang="en-GB"/>
              </a:defPPr>
              <a:lvl1pPr>
                <a:defRPr sz="1200" b="1">
                  <a:latin typeface="+mn-lt"/>
                  <a:cs typeface="Courier New" pitchFamily="49" charset="0"/>
                </a:defRPr>
              </a:lvl1pPr>
            </a:lstStyle>
            <a:p>
              <a:pPr algn="ctr"/>
              <a:r>
                <a:rPr lang="en-GB" dirty="0"/>
                <a:t>Interface specification</a:t>
              </a:r>
            </a:p>
          </p:txBody>
        </p:sp>
        <p:sp>
          <p:nvSpPr>
            <p:cNvPr id="33" name="TextBox 32">
              <a:extLst>
                <a:ext uri="{FF2B5EF4-FFF2-40B4-BE49-F238E27FC236}">
                  <a16:creationId xmlns:a16="http://schemas.microsoft.com/office/drawing/2014/main" id="{769B1664-F215-4EDF-B216-C741EE3210C9}"/>
                </a:ext>
              </a:extLst>
            </p:cNvPr>
            <p:cNvSpPr txBox="1"/>
            <p:nvPr/>
          </p:nvSpPr>
          <p:spPr>
            <a:xfrm>
              <a:off x="5220000" y="4679992"/>
              <a:ext cx="1440000" cy="540000"/>
            </a:xfrm>
            <a:prstGeom prst="rect">
              <a:avLst/>
            </a:prstGeom>
            <a:solidFill>
              <a:schemeClr val="tx2"/>
            </a:solidFill>
          </p:spPr>
          <p:txBody>
            <a:bodyPr wrap="square" lIns="36000" tIns="36000" rIns="36000" bIns="36000" rtlCol="0">
              <a:noAutofit/>
            </a:bodyPr>
            <a:lstStyle/>
            <a:p>
              <a:pPr algn="ctr"/>
              <a:r>
                <a:rPr lang="en-GB" sz="1200" b="1" dirty="0">
                  <a:latin typeface="+mn-lt"/>
                  <a:cs typeface="Courier New" pitchFamily="49" charset="0"/>
                </a:rPr>
                <a:t>Program</a:t>
              </a:r>
            </a:p>
            <a:p>
              <a:pPr algn="ctr"/>
              <a:r>
                <a:rPr lang="en-GB" sz="1200" b="1" dirty="0">
                  <a:cs typeface="Courier New" pitchFamily="49" charset="0"/>
                </a:rPr>
                <a:t>s</a:t>
              </a:r>
              <a:r>
                <a:rPr lang="en-GB" sz="1200" b="1" dirty="0">
                  <a:latin typeface="+mn-lt"/>
                  <a:cs typeface="Courier New" pitchFamily="49" charset="0"/>
                </a:rPr>
                <a:t>pecification</a:t>
              </a:r>
            </a:p>
          </p:txBody>
        </p:sp>
        <p:sp>
          <p:nvSpPr>
            <p:cNvPr id="34" name="Rounded Rectangle 41">
              <a:extLst>
                <a:ext uri="{FF2B5EF4-FFF2-40B4-BE49-F238E27FC236}">
                  <a16:creationId xmlns:a16="http://schemas.microsoft.com/office/drawing/2014/main" id="{12C4474D-E947-4BA3-B8A4-20D87DFDEC49}"/>
                </a:ext>
              </a:extLst>
            </p:cNvPr>
            <p:cNvSpPr/>
            <p:nvPr/>
          </p:nvSpPr>
          <p:spPr>
            <a:xfrm>
              <a:off x="2160000" y="1619996"/>
              <a:ext cx="180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b="1" dirty="0">
                  <a:solidFill>
                    <a:schemeClr val="bg1"/>
                  </a:solidFill>
                  <a:latin typeface="Arial" pitchFamily="34" charset="0"/>
                  <a:cs typeface="Arial" pitchFamily="34" charset="0"/>
                </a:rPr>
                <a:t>Business requirements</a:t>
              </a:r>
            </a:p>
          </p:txBody>
        </p:sp>
        <p:cxnSp>
          <p:nvCxnSpPr>
            <p:cNvPr id="35" name="Straight Arrow Connector 34">
              <a:extLst>
                <a:ext uri="{FF2B5EF4-FFF2-40B4-BE49-F238E27FC236}">
                  <a16:creationId xmlns:a16="http://schemas.microsoft.com/office/drawing/2014/main" id="{3833A2AA-A1A0-4921-840D-BF8ACD30A9E9}"/>
                </a:ext>
              </a:extLst>
            </p:cNvPr>
            <p:cNvCxnSpPr/>
            <p:nvPr/>
          </p:nvCxnSpPr>
          <p:spPr>
            <a:xfrm>
              <a:off x="3060000" y="2159993"/>
              <a:ext cx="180000" cy="360004"/>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E75CA36-3CE2-43EE-B270-D2FA8C5016F0}"/>
                </a:ext>
              </a:extLst>
            </p:cNvPr>
            <p:cNvCxnSpPr/>
            <p:nvPr/>
          </p:nvCxnSpPr>
          <p:spPr>
            <a:xfrm>
              <a:off x="3600000" y="3059996"/>
              <a:ext cx="180000" cy="360004"/>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3D1D8A3-1322-4C5D-BD25-1E995AB6D028}"/>
                </a:ext>
              </a:extLst>
            </p:cNvPr>
            <p:cNvCxnSpPr/>
            <p:nvPr/>
          </p:nvCxnSpPr>
          <p:spPr>
            <a:xfrm>
              <a:off x="4140000" y="3959996"/>
              <a:ext cx="180000" cy="360004"/>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2EA604F-04CF-4149-BD3B-A4ACEDB9DEE0}"/>
                </a:ext>
              </a:extLst>
            </p:cNvPr>
            <p:cNvCxnSpPr/>
            <p:nvPr/>
          </p:nvCxnSpPr>
          <p:spPr>
            <a:xfrm>
              <a:off x="4680000" y="4859996"/>
              <a:ext cx="360000" cy="360004"/>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E52E4578-8FF4-47BB-A3F9-2609285BCF0A}"/>
                </a:ext>
              </a:extLst>
            </p:cNvPr>
            <p:cNvCxnSpPr/>
            <p:nvPr/>
          </p:nvCxnSpPr>
          <p:spPr>
            <a:xfrm flipV="1">
              <a:off x="6840000" y="4859996"/>
              <a:ext cx="360000" cy="360000"/>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583B2A93-2712-40B4-AF7E-1CE64FC0DAF2}"/>
                </a:ext>
              </a:extLst>
            </p:cNvPr>
            <p:cNvCxnSpPr/>
            <p:nvPr/>
          </p:nvCxnSpPr>
          <p:spPr>
            <a:xfrm flipV="1">
              <a:off x="8100000" y="3059996"/>
              <a:ext cx="180000" cy="360000"/>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27FE739-637A-4FAA-94B4-113E31034F46}"/>
                </a:ext>
              </a:extLst>
            </p:cNvPr>
            <p:cNvCxnSpPr/>
            <p:nvPr/>
          </p:nvCxnSpPr>
          <p:spPr>
            <a:xfrm flipV="1">
              <a:off x="8640000" y="2159993"/>
              <a:ext cx="180000" cy="360000"/>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4889189C-C6C8-442A-B468-2F61DCE962FE}"/>
                </a:ext>
              </a:extLst>
            </p:cNvPr>
            <p:cNvCxnSpPr>
              <a:stCxn id="34" idx="3"/>
              <a:endCxn id="28" idx="1"/>
            </p:cNvCxnSpPr>
            <p:nvPr/>
          </p:nvCxnSpPr>
          <p:spPr>
            <a:xfrm>
              <a:off x="3960000" y="1889996"/>
              <a:ext cx="3960000" cy="0"/>
            </a:xfrm>
            <a:prstGeom prst="straightConnector1">
              <a:avLst/>
            </a:prstGeom>
            <a:grpFill/>
            <a:ln w="3810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7451179-5EF1-4D7D-9E80-A11E84E4F2A6}"/>
                </a:ext>
              </a:extLst>
            </p:cNvPr>
            <p:cNvCxnSpPr>
              <a:stCxn id="20" idx="3"/>
              <a:endCxn id="25" idx="1"/>
            </p:cNvCxnSpPr>
            <p:nvPr/>
          </p:nvCxnSpPr>
          <p:spPr>
            <a:xfrm>
              <a:off x="5580000" y="4589996"/>
              <a:ext cx="720000" cy="0"/>
            </a:xfrm>
            <a:prstGeom prst="straightConnector1">
              <a:avLst/>
            </a:prstGeom>
            <a:grpFill/>
            <a:ln w="38100">
              <a:prstDash val="sysDash"/>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3365C1C3-3734-47E9-95DE-76293123A0A0}"/>
                </a:ext>
              </a:extLst>
            </p:cNvPr>
            <p:cNvSpPr txBox="1"/>
            <p:nvPr/>
          </p:nvSpPr>
          <p:spPr>
            <a:xfrm>
              <a:off x="5220000" y="1979997"/>
              <a:ext cx="1440000" cy="540000"/>
            </a:xfrm>
            <a:prstGeom prst="rect">
              <a:avLst/>
            </a:prstGeom>
            <a:solidFill>
              <a:schemeClr val="tx2"/>
            </a:solidFill>
          </p:spPr>
          <p:txBody>
            <a:bodyPr wrap="square" lIns="36000" tIns="36000" rIns="36000" bIns="36000" rtlCol="0">
              <a:noAutofit/>
            </a:bodyPr>
            <a:lstStyle/>
            <a:p>
              <a:pPr algn="ctr"/>
              <a:r>
                <a:rPr lang="en-GB" sz="1200" b="1" dirty="0">
                  <a:latin typeface="+mn-lt"/>
                  <a:cs typeface="Courier New" pitchFamily="49" charset="0"/>
                </a:rPr>
                <a:t>Acceptance criteria</a:t>
              </a:r>
            </a:p>
          </p:txBody>
        </p:sp>
      </p:grpSp>
    </p:spTree>
    <p:extLst>
      <p:ext uri="{BB962C8B-B14F-4D97-AF65-F5344CB8AC3E}">
        <p14:creationId xmlns:p14="http://schemas.microsoft.com/office/powerpoint/2010/main" val="125766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7EAC0B4-1340-4979-9AB5-9BD078CBD543}"/>
              </a:ext>
            </a:extLst>
          </p:cNvPr>
          <p:cNvSpPr>
            <a:spLocks noGrp="1"/>
          </p:cNvSpPr>
          <p:nvPr>
            <p:ph type="body" sz="quarter" idx="15"/>
          </p:nvPr>
        </p:nvSpPr>
        <p:spPr>
          <a:xfrm>
            <a:off x="4515556" y="762962"/>
            <a:ext cx="7597421" cy="5119407"/>
          </a:xfrm>
        </p:spPr>
        <p:txBody>
          <a:bodyPr anchor="t">
            <a:normAutofit/>
          </a:bodyPr>
          <a:lstStyle/>
          <a:p>
            <a:r>
              <a:rPr lang="en-GB" b="1" dirty="0"/>
              <a:t>Solution developed through iterative releases:</a:t>
            </a:r>
          </a:p>
          <a:p>
            <a:pPr lvl="1"/>
            <a:r>
              <a:rPr lang="en-GB" dirty="0"/>
              <a:t>Basis of Agile development.</a:t>
            </a:r>
          </a:p>
          <a:p>
            <a:pPr marL="0" lvl="1" indent="0">
              <a:buNone/>
            </a:pPr>
            <a:endParaRPr lang="en-GB" dirty="0"/>
          </a:p>
          <a:p>
            <a:r>
              <a:rPr lang="en-GB" b="1" dirty="0"/>
              <a:t>Suitable when</a:t>
            </a:r>
          </a:p>
          <a:p>
            <a:pPr lvl="1"/>
            <a:r>
              <a:rPr lang="en-GB" dirty="0"/>
              <a:t>requirements are not well understood.</a:t>
            </a:r>
          </a:p>
          <a:p>
            <a:pPr lvl="2"/>
            <a:r>
              <a:rPr lang="en-GB" dirty="0"/>
              <a:t>new products where it’s difficult to define what needed.</a:t>
            </a:r>
          </a:p>
          <a:p>
            <a:pPr lvl="2"/>
            <a:r>
              <a:rPr lang="en-GB" dirty="0"/>
              <a:t>iterations uncover understanding.</a:t>
            </a:r>
          </a:p>
          <a:p>
            <a:pPr lvl="2"/>
            <a:r>
              <a:rPr lang="en-GB" dirty="0"/>
              <a:t>demo working software to gather feedback.</a:t>
            </a:r>
          </a:p>
          <a:p>
            <a:pPr lvl="1"/>
            <a:r>
              <a:rPr lang="en-GB" dirty="0"/>
              <a:t>early delivery more important than completeness.</a:t>
            </a:r>
          </a:p>
          <a:p>
            <a:pPr lvl="2"/>
            <a:r>
              <a:rPr lang="en-GB" dirty="0"/>
              <a:t>early benefits – justify funding.</a:t>
            </a:r>
          </a:p>
          <a:p>
            <a:pPr lvl="2"/>
            <a:r>
              <a:rPr lang="en-GB" dirty="0"/>
              <a:t>quick to market – high value features first.</a:t>
            </a:r>
          </a:p>
          <a:p>
            <a:pPr lvl="1"/>
            <a:r>
              <a:rPr lang="en-GB" dirty="0"/>
              <a:t>high business / technical risk.</a:t>
            </a:r>
          </a:p>
          <a:p>
            <a:pPr marL="0" lvl="2" indent="0">
              <a:buNone/>
            </a:pPr>
            <a:endParaRPr lang="en-GB" dirty="0"/>
          </a:p>
          <a:p>
            <a:endParaRPr lang="en-GB" dirty="0"/>
          </a:p>
        </p:txBody>
      </p:sp>
      <p:sp>
        <p:nvSpPr>
          <p:cNvPr id="8" name="Slide Number Placeholder 2">
            <a:extLst>
              <a:ext uri="{FF2B5EF4-FFF2-40B4-BE49-F238E27FC236}">
                <a16:creationId xmlns:a16="http://schemas.microsoft.com/office/drawing/2014/main" id="{79EF1040-3AFB-B1F3-CB10-B8B21B1A1EFA}"/>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10</a:t>
            </a:fld>
            <a:endParaRPr lang="en-GB"/>
          </a:p>
        </p:txBody>
      </p:sp>
      <p:sp>
        <p:nvSpPr>
          <p:cNvPr id="2" name="Title 1">
            <a:extLst>
              <a:ext uri="{FF2B5EF4-FFF2-40B4-BE49-F238E27FC236}">
                <a16:creationId xmlns:a16="http://schemas.microsoft.com/office/drawing/2014/main" id="{5815A5C5-3003-404C-B889-F074D7053760}"/>
              </a:ext>
            </a:extLst>
          </p:cNvPr>
          <p:cNvSpPr>
            <a:spLocks noGrp="1"/>
          </p:cNvSpPr>
          <p:nvPr>
            <p:ph type="body" sz="quarter" idx="10"/>
          </p:nvPr>
        </p:nvSpPr>
        <p:spPr>
          <a:xfrm>
            <a:off x="384785" y="1349985"/>
            <a:ext cx="3443732" cy="2751999"/>
          </a:xfrm>
        </p:spPr>
        <p:txBody>
          <a:bodyPr anchor="t">
            <a:normAutofit/>
          </a:bodyPr>
          <a:lstStyle/>
          <a:p>
            <a:pPr>
              <a:spcAft>
                <a:spcPts val="600"/>
              </a:spcAft>
            </a:pPr>
            <a:r>
              <a:rPr lang="en-GB" sz="2800" dirty="0"/>
              <a:t>Evolutionary Methodologies</a:t>
            </a:r>
          </a:p>
        </p:txBody>
      </p:sp>
      <p:sp>
        <p:nvSpPr>
          <p:cNvPr id="5" name="TextBox 4">
            <a:extLst>
              <a:ext uri="{FF2B5EF4-FFF2-40B4-BE49-F238E27FC236}">
                <a16:creationId xmlns:a16="http://schemas.microsoft.com/office/drawing/2014/main" id="{67E769E3-0EA5-936B-3CB2-E67BEE9B7CF6}"/>
              </a:ext>
            </a:extLst>
          </p:cNvPr>
          <p:cNvSpPr txBox="1"/>
          <p:nvPr/>
        </p:nvSpPr>
        <p:spPr>
          <a:xfrm>
            <a:off x="6333068" y="5725706"/>
            <a:ext cx="2709332" cy="369332"/>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marL="0" lvl="2" indent="0" algn="ctr">
              <a:buNone/>
            </a:pPr>
            <a:r>
              <a:rPr lang="en-GB" b="1" dirty="0"/>
              <a:t>If not feasible, stop!</a:t>
            </a:r>
          </a:p>
        </p:txBody>
      </p:sp>
    </p:spTree>
    <p:extLst>
      <p:ext uri="{BB962C8B-B14F-4D97-AF65-F5344CB8AC3E}">
        <p14:creationId xmlns:p14="http://schemas.microsoft.com/office/powerpoint/2010/main" val="214907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2580128-EA20-4321-AC04-790874A96B9D}"/>
              </a:ext>
            </a:extLst>
          </p:cNvPr>
          <p:cNvSpPr>
            <a:spLocks noGrp="1"/>
          </p:cNvSpPr>
          <p:nvPr>
            <p:ph type="body" sz="quarter" idx="12"/>
          </p:nvPr>
        </p:nvSpPr>
        <p:spPr>
          <a:xfrm>
            <a:off x="1212111" y="367730"/>
            <a:ext cx="10595714" cy="520263"/>
          </a:xfrm>
        </p:spPr>
        <p:txBody>
          <a:bodyPr/>
          <a:lstStyle/>
          <a:p>
            <a:r>
              <a:rPr lang="en-GB" sz="2600" dirty="0"/>
              <a:t>Revolutionary methodologies: Strengths and weaknesses</a:t>
            </a:r>
          </a:p>
        </p:txBody>
      </p:sp>
      <p:graphicFrame>
        <p:nvGraphicFramePr>
          <p:cNvPr id="9" name="Diagram 8">
            <a:extLst>
              <a:ext uri="{FF2B5EF4-FFF2-40B4-BE49-F238E27FC236}">
                <a16:creationId xmlns:a16="http://schemas.microsoft.com/office/drawing/2014/main" id="{93069F1D-4FFA-498D-B177-5ADA6E472A09}"/>
              </a:ext>
            </a:extLst>
          </p:cNvPr>
          <p:cNvGraphicFramePr/>
          <p:nvPr>
            <p:extLst>
              <p:ext uri="{D42A27DB-BD31-4B8C-83A1-F6EECF244321}">
                <p14:modId xmlns:p14="http://schemas.microsoft.com/office/powerpoint/2010/main" val="44321901"/>
              </p:ext>
            </p:extLst>
          </p:nvPr>
        </p:nvGraphicFramePr>
        <p:xfrm>
          <a:off x="1244182" y="377612"/>
          <a:ext cx="9703635" cy="64803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56003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246477C-32E2-46D4-8FC5-22C30D14D768}"/>
              </a:ext>
            </a:extLst>
          </p:cNvPr>
          <p:cNvSpPr>
            <a:spLocks noGrp="1"/>
          </p:cNvSpPr>
          <p:nvPr>
            <p:ph type="body" sz="quarter" idx="15"/>
          </p:nvPr>
        </p:nvSpPr>
        <p:spPr>
          <a:xfrm>
            <a:off x="4605866" y="1349986"/>
            <a:ext cx="7436037" cy="5119407"/>
          </a:xfrm>
        </p:spPr>
        <p:txBody>
          <a:bodyPr anchor="t">
            <a:normAutofit/>
          </a:bodyPr>
          <a:lstStyle/>
          <a:p>
            <a:r>
              <a:rPr lang="en-GB" b="1" dirty="0"/>
              <a:t>Of the 5 basic lifecycles 3 follow an evolutionary approach</a:t>
            </a:r>
          </a:p>
          <a:p>
            <a:pPr lvl="3">
              <a:buFont typeface="Wingdings" panose="05000000000000000000" pitchFamily="2" charset="2"/>
              <a:buChar char="Ø"/>
            </a:pPr>
            <a:r>
              <a:rPr lang="en-GB" dirty="0"/>
              <a:t>Incremental</a:t>
            </a:r>
          </a:p>
          <a:p>
            <a:pPr lvl="1">
              <a:buFont typeface="Wingdings" panose="05000000000000000000" pitchFamily="2" charset="2"/>
              <a:buChar char="Ø"/>
            </a:pPr>
            <a:r>
              <a:rPr lang="en-GB" dirty="0"/>
              <a:t>Iterative</a:t>
            </a:r>
          </a:p>
          <a:p>
            <a:pPr lvl="1">
              <a:buFont typeface="Wingdings" panose="05000000000000000000" pitchFamily="2" charset="2"/>
              <a:buChar char="Ø"/>
            </a:pPr>
            <a:r>
              <a:rPr lang="en-GB" dirty="0"/>
              <a:t>Spiral</a:t>
            </a:r>
          </a:p>
          <a:p>
            <a:pPr marL="0" lvl="1" indent="0">
              <a:buNone/>
            </a:pPr>
            <a:endParaRPr lang="en-GB" dirty="0"/>
          </a:p>
          <a:p>
            <a:r>
              <a:rPr lang="en-GB" dirty="0"/>
              <a:t>Evolutionary approaches around since 1980s.</a:t>
            </a:r>
          </a:p>
          <a:p>
            <a:pPr lvl="1"/>
            <a:r>
              <a:rPr lang="en-GB" dirty="0"/>
              <a:t>Underpin more popular Agile approaches today.</a:t>
            </a:r>
          </a:p>
        </p:txBody>
      </p:sp>
      <p:sp>
        <p:nvSpPr>
          <p:cNvPr id="8" name="Slide Number Placeholder 2">
            <a:extLst>
              <a:ext uri="{FF2B5EF4-FFF2-40B4-BE49-F238E27FC236}">
                <a16:creationId xmlns:a16="http://schemas.microsoft.com/office/drawing/2014/main" id="{FC056A66-1F3F-9B68-F8AC-DD9630905057}"/>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12</a:t>
            </a:fld>
            <a:endParaRPr lang="en-GB"/>
          </a:p>
        </p:txBody>
      </p:sp>
      <p:sp>
        <p:nvSpPr>
          <p:cNvPr id="2" name="Title 1">
            <a:extLst>
              <a:ext uri="{FF2B5EF4-FFF2-40B4-BE49-F238E27FC236}">
                <a16:creationId xmlns:a16="http://schemas.microsoft.com/office/drawing/2014/main" id="{DA2D32C7-2A62-4EDC-9645-E575231D1642}"/>
              </a:ext>
            </a:extLst>
          </p:cNvPr>
          <p:cNvSpPr>
            <a:spLocks noGrp="1"/>
          </p:cNvSpPr>
          <p:nvPr>
            <p:ph type="body" sz="quarter" idx="10"/>
          </p:nvPr>
        </p:nvSpPr>
        <p:spPr>
          <a:xfrm>
            <a:off x="384785" y="1349985"/>
            <a:ext cx="3443732" cy="2751999"/>
          </a:xfrm>
        </p:spPr>
        <p:txBody>
          <a:bodyPr anchor="t">
            <a:normAutofit/>
          </a:bodyPr>
          <a:lstStyle/>
          <a:p>
            <a:pPr>
              <a:spcAft>
                <a:spcPts val="600"/>
              </a:spcAft>
            </a:pPr>
            <a:r>
              <a:rPr lang="en-AU" sz="2850" dirty="0"/>
              <a:t>Evolutionary Methodologies</a:t>
            </a:r>
            <a:endParaRPr lang="en-GB" sz="2850" dirty="0"/>
          </a:p>
        </p:txBody>
      </p:sp>
    </p:spTree>
    <p:extLst>
      <p:ext uri="{BB962C8B-B14F-4D97-AF65-F5344CB8AC3E}">
        <p14:creationId xmlns:p14="http://schemas.microsoft.com/office/powerpoint/2010/main" val="823350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D2391F2-0CAD-4A9F-8C21-FD6470E994AC}"/>
              </a:ext>
            </a:extLst>
          </p:cNvPr>
          <p:cNvSpPr>
            <a:spLocks noGrp="1"/>
          </p:cNvSpPr>
          <p:nvPr>
            <p:ph type="body" sz="quarter" idx="12"/>
          </p:nvPr>
        </p:nvSpPr>
        <p:spPr/>
        <p:txBody>
          <a:bodyPr/>
          <a:lstStyle/>
          <a:p>
            <a:r>
              <a:rPr lang="en-GB" dirty="0"/>
              <a:t>Incremental</a:t>
            </a:r>
          </a:p>
        </p:txBody>
      </p:sp>
      <p:grpSp>
        <p:nvGrpSpPr>
          <p:cNvPr id="4" name="Group 3">
            <a:extLst>
              <a:ext uri="{FF2B5EF4-FFF2-40B4-BE49-F238E27FC236}">
                <a16:creationId xmlns:a16="http://schemas.microsoft.com/office/drawing/2014/main" id="{E9C5BB35-7CDF-43BF-AE8E-2F9E1031164A}"/>
              </a:ext>
            </a:extLst>
          </p:cNvPr>
          <p:cNvGrpSpPr/>
          <p:nvPr/>
        </p:nvGrpSpPr>
        <p:grpSpPr>
          <a:xfrm>
            <a:off x="2037063" y="991280"/>
            <a:ext cx="7481509" cy="5721663"/>
            <a:chOff x="2477739" y="1136337"/>
            <a:chExt cx="7020000" cy="5400000"/>
          </a:xfrm>
        </p:grpSpPr>
        <p:cxnSp>
          <p:nvCxnSpPr>
            <p:cNvPr id="39" name="Straight Arrow Connector 38">
              <a:extLst>
                <a:ext uri="{FF2B5EF4-FFF2-40B4-BE49-F238E27FC236}">
                  <a16:creationId xmlns:a16="http://schemas.microsoft.com/office/drawing/2014/main" id="{3425FBF0-27FA-4C6B-AEDC-F5EBEC5A35FE}"/>
                </a:ext>
              </a:extLst>
            </p:cNvPr>
            <p:cNvCxnSpPr/>
            <p:nvPr/>
          </p:nvCxnSpPr>
          <p:spPr>
            <a:xfrm>
              <a:off x="7337738" y="3836337"/>
              <a:ext cx="360000" cy="360000"/>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sp>
          <p:nvSpPr>
            <p:cNvPr id="40" name="Rounded Rectangle 41">
              <a:extLst>
                <a:ext uri="{FF2B5EF4-FFF2-40B4-BE49-F238E27FC236}">
                  <a16:creationId xmlns:a16="http://schemas.microsoft.com/office/drawing/2014/main" id="{5E6769C2-23E5-495A-972F-67FBC75ED82C}"/>
                </a:ext>
              </a:extLst>
            </p:cNvPr>
            <p:cNvSpPr/>
            <p:nvPr/>
          </p:nvSpPr>
          <p:spPr>
            <a:xfrm>
              <a:off x="2477739" y="1136337"/>
              <a:ext cx="180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b="1" dirty="0">
                  <a:solidFill>
                    <a:schemeClr val="bg1"/>
                  </a:solidFill>
                  <a:latin typeface="Arial" pitchFamily="34" charset="0"/>
                  <a:cs typeface="Arial" pitchFamily="34" charset="0"/>
                </a:rPr>
                <a:t>Feasibility study</a:t>
              </a:r>
            </a:p>
          </p:txBody>
        </p:sp>
        <p:cxnSp>
          <p:nvCxnSpPr>
            <p:cNvPr id="41" name="Straight Arrow Connector 40">
              <a:extLst>
                <a:ext uri="{FF2B5EF4-FFF2-40B4-BE49-F238E27FC236}">
                  <a16:creationId xmlns:a16="http://schemas.microsoft.com/office/drawing/2014/main" id="{0FE93C11-B291-4E47-9CFC-1C6D1A3C4AA8}"/>
                </a:ext>
              </a:extLst>
            </p:cNvPr>
            <p:cNvCxnSpPr/>
            <p:nvPr/>
          </p:nvCxnSpPr>
          <p:spPr>
            <a:xfrm>
              <a:off x="3377739" y="1676337"/>
              <a:ext cx="180000" cy="3600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2" name="Rounded Rectangle 40">
              <a:extLst>
                <a:ext uri="{FF2B5EF4-FFF2-40B4-BE49-F238E27FC236}">
                  <a16:creationId xmlns:a16="http://schemas.microsoft.com/office/drawing/2014/main" id="{7BA4B466-4B09-40AB-9A0F-36B3E2DA9AAB}"/>
                </a:ext>
              </a:extLst>
            </p:cNvPr>
            <p:cNvSpPr/>
            <p:nvPr/>
          </p:nvSpPr>
          <p:spPr>
            <a:xfrm>
              <a:off x="3557739" y="2936340"/>
              <a:ext cx="180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b="1" dirty="0">
                  <a:solidFill>
                    <a:schemeClr val="bg1"/>
                  </a:solidFill>
                  <a:latin typeface="Arial" pitchFamily="34" charset="0"/>
                  <a:cs typeface="Arial" pitchFamily="34" charset="0"/>
                </a:rPr>
                <a:t>High level </a:t>
              </a:r>
            </a:p>
            <a:p>
              <a:pPr algn="ctr"/>
              <a:r>
                <a:rPr lang="en-GB" sz="1400" b="1" dirty="0">
                  <a:solidFill>
                    <a:schemeClr val="bg1"/>
                  </a:solidFill>
                  <a:latin typeface="Arial" pitchFamily="34" charset="0"/>
                  <a:cs typeface="Arial" pitchFamily="34" charset="0"/>
                </a:rPr>
                <a:t>system design </a:t>
              </a:r>
            </a:p>
          </p:txBody>
        </p:sp>
        <p:sp>
          <p:nvSpPr>
            <p:cNvPr id="43" name="Rounded Rectangle 41">
              <a:extLst>
                <a:ext uri="{FF2B5EF4-FFF2-40B4-BE49-F238E27FC236}">
                  <a16:creationId xmlns:a16="http://schemas.microsoft.com/office/drawing/2014/main" id="{B946ACDF-FCA8-436E-96F6-18BDF2ECE670}"/>
                </a:ext>
              </a:extLst>
            </p:cNvPr>
            <p:cNvSpPr/>
            <p:nvPr/>
          </p:nvSpPr>
          <p:spPr>
            <a:xfrm>
              <a:off x="3017739" y="2036341"/>
              <a:ext cx="180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b="1" dirty="0">
                  <a:solidFill>
                    <a:schemeClr val="bg1"/>
                  </a:solidFill>
                  <a:latin typeface="Arial" pitchFamily="34" charset="0"/>
                  <a:cs typeface="Arial" pitchFamily="34" charset="0"/>
                </a:rPr>
                <a:t>Requirements engineering</a:t>
              </a:r>
            </a:p>
          </p:txBody>
        </p:sp>
        <p:cxnSp>
          <p:nvCxnSpPr>
            <p:cNvPr id="44" name="Straight Arrow Connector 43">
              <a:extLst>
                <a:ext uri="{FF2B5EF4-FFF2-40B4-BE49-F238E27FC236}">
                  <a16:creationId xmlns:a16="http://schemas.microsoft.com/office/drawing/2014/main" id="{7763F456-6512-48A5-9B5E-366D149028EF}"/>
                </a:ext>
              </a:extLst>
            </p:cNvPr>
            <p:cNvCxnSpPr/>
            <p:nvPr/>
          </p:nvCxnSpPr>
          <p:spPr>
            <a:xfrm>
              <a:off x="3917739" y="2576337"/>
              <a:ext cx="180000" cy="3600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FC4B7C8E-3F97-419D-8779-F3D99A42AE0A}"/>
                </a:ext>
              </a:extLst>
            </p:cNvPr>
            <p:cNvGrpSpPr/>
            <p:nvPr/>
          </p:nvGrpSpPr>
          <p:grpSpPr>
            <a:xfrm>
              <a:off x="5897739" y="1496337"/>
              <a:ext cx="2880000" cy="2340000"/>
              <a:chOff x="3780000" y="900000"/>
              <a:chExt cx="2880000" cy="2340000"/>
            </a:xfrm>
          </p:grpSpPr>
          <p:sp>
            <p:nvSpPr>
              <p:cNvPr id="46" name="Rounded Rectangle 21">
                <a:extLst>
                  <a:ext uri="{FF2B5EF4-FFF2-40B4-BE49-F238E27FC236}">
                    <a16:creationId xmlns:a16="http://schemas.microsoft.com/office/drawing/2014/main" id="{7876192A-CC2F-4B7D-830D-47087D8912A7}"/>
                  </a:ext>
                </a:extLst>
              </p:cNvPr>
              <p:cNvSpPr/>
              <p:nvPr/>
            </p:nvSpPr>
            <p:spPr>
              <a:xfrm>
                <a:off x="3780000" y="900000"/>
                <a:ext cx="2880000" cy="2340000"/>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47" name="TextBox 48">
                <a:extLst>
                  <a:ext uri="{FF2B5EF4-FFF2-40B4-BE49-F238E27FC236}">
                    <a16:creationId xmlns:a16="http://schemas.microsoft.com/office/drawing/2014/main" id="{148B20DF-2C15-4B41-969B-EBE818653AC5}"/>
                  </a:ext>
                </a:extLst>
              </p:cNvPr>
              <p:cNvSpPr txBox="1">
                <a:spLocks noChangeArrowheads="1"/>
              </p:cNvSpPr>
              <p:nvPr/>
            </p:nvSpPr>
            <p:spPr bwMode="auto">
              <a:xfrm>
                <a:off x="5580000" y="1080000"/>
                <a:ext cx="1080000" cy="276999"/>
              </a:xfrm>
              <a:prstGeom prst="rect">
                <a:avLst/>
              </a:prstGeom>
              <a:noFill/>
              <a:ln w="9525">
                <a:noFill/>
                <a:miter lim="800000"/>
                <a:headEnd/>
                <a:tailEnd/>
              </a:ln>
            </p:spPr>
            <p:txBody>
              <a:bodyPr wrap="square">
                <a:spAutoFit/>
              </a:bodyPr>
              <a:lstStyle/>
              <a:p>
                <a:pPr algn="ctr"/>
                <a:r>
                  <a:rPr lang="en-GB" sz="1200" b="1" dirty="0"/>
                  <a:t>Increment 1</a:t>
                </a:r>
              </a:p>
            </p:txBody>
          </p:sp>
          <p:sp>
            <p:nvSpPr>
              <p:cNvPr id="48" name="Rounded Rectangle 33">
                <a:extLst>
                  <a:ext uri="{FF2B5EF4-FFF2-40B4-BE49-F238E27FC236}">
                    <a16:creationId xmlns:a16="http://schemas.microsoft.com/office/drawing/2014/main" id="{E2C7AED4-7A76-4A58-A911-920C7E7090AE}"/>
                  </a:ext>
                </a:extLst>
              </p:cNvPr>
              <p:cNvSpPr/>
              <p:nvPr/>
            </p:nvSpPr>
            <p:spPr>
              <a:xfrm>
                <a:off x="3960000" y="1080000"/>
                <a:ext cx="1440000" cy="36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200" b="1" dirty="0">
                    <a:solidFill>
                      <a:schemeClr val="bg1"/>
                    </a:solidFill>
                    <a:latin typeface="Arial" pitchFamily="34" charset="0"/>
                    <a:cs typeface="Arial" pitchFamily="34" charset="0"/>
                  </a:rPr>
                  <a:t>Unit / component </a:t>
                </a:r>
              </a:p>
              <a:p>
                <a:pPr algn="ctr"/>
                <a:r>
                  <a:rPr lang="en-GB" sz="1200" b="1" dirty="0">
                    <a:solidFill>
                      <a:schemeClr val="bg1"/>
                    </a:solidFill>
                    <a:latin typeface="Arial" pitchFamily="34" charset="0"/>
                    <a:cs typeface="Arial" pitchFamily="34" charset="0"/>
                  </a:rPr>
                  <a:t>design</a:t>
                </a:r>
              </a:p>
            </p:txBody>
          </p:sp>
          <p:sp>
            <p:nvSpPr>
              <p:cNvPr id="49" name="Rounded Rectangle 34">
                <a:extLst>
                  <a:ext uri="{FF2B5EF4-FFF2-40B4-BE49-F238E27FC236}">
                    <a16:creationId xmlns:a16="http://schemas.microsoft.com/office/drawing/2014/main" id="{6C5CFBD1-618E-421D-A55F-399F0FCCF1D9}"/>
                  </a:ext>
                </a:extLst>
              </p:cNvPr>
              <p:cNvSpPr/>
              <p:nvPr/>
            </p:nvSpPr>
            <p:spPr>
              <a:xfrm>
                <a:off x="4320000" y="1620000"/>
                <a:ext cx="1440000" cy="36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200" b="1" dirty="0">
                    <a:solidFill>
                      <a:schemeClr val="bg1"/>
                    </a:solidFill>
                    <a:latin typeface="Arial" pitchFamily="34" charset="0"/>
                    <a:cs typeface="Arial" pitchFamily="34" charset="0"/>
                  </a:rPr>
                  <a:t>Development (programming)</a:t>
                </a:r>
              </a:p>
            </p:txBody>
          </p:sp>
          <p:sp>
            <p:nvSpPr>
              <p:cNvPr id="50" name="Rounded Rectangle 35">
                <a:extLst>
                  <a:ext uri="{FF2B5EF4-FFF2-40B4-BE49-F238E27FC236}">
                    <a16:creationId xmlns:a16="http://schemas.microsoft.com/office/drawing/2014/main" id="{F39BC27D-AA69-4203-935D-5F7A9D222DE4}"/>
                  </a:ext>
                </a:extLst>
              </p:cNvPr>
              <p:cNvSpPr/>
              <p:nvPr/>
            </p:nvSpPr>
            <p:spPr>
              <a:xfrm>
                <a:off x="4680000" y="2160000"/>
                <a:ext cx="1440000" cy="36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200" b="1" dirty="0">
                    <a:solidFill>
                      <a:schemeClr val="bg1"/>
                    </a:solidFill>
                    <a:latin typeface="Arial" pitchFamily="34" charset="0"/>
                    <a:cs typeface="Arial" pitchFamily="34" charset="0"/>
                  </a:rPr>
                  <a:t>Testing</a:t>
                </a:r>
              </a:p>
            </p:txBody>
          </p:sp>
          <p:sp>
            <p:nvSpPr>
              <p:cNvPr id="51" name="Rounded Rectangle 36">
                <a:extLst>
                  <a:ext uri="{FF2B5EF4-FFF2-40B4-BE49-F238E27FC236}">
                    <a16:creationId xmlns:a16="http://schemas.microsoft.com/office/drawing/2014/main" id="{0F9CBFB5-14E9-441B-82FF-56FC2E12D66B}"/>
                  </a:ext>
                </a:extLst>
              </p:cNvPr>
              <p:cNvSpPr/>
              <p:nvPr/>
            </p:nvSpPr>
            <p:spPr>
              <a:xfrm>
                <a:off x="5040000" y="2700000"/>
                <a:ext cx="1440000" cy="36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200" b="1" dirty="0">
                    <a:solidFill>
                      <a:schemeClr val="bg1"/>
                    </a:solidFill>
                    <a:latin typeface="Arial" pitchFamily="34" charset="0"/>
                    <a:cs typeface="Arial" pitchFamily="34" charset="0"/>
                  </a:rPr>
                  <a:t>Implementation</a:t>
                </a:r>
              </a:p>
            </p:txBody>
          </p:sp>
          <p:cxnSp>
            <p:nvCxnSpPr>
              <p:cNvPr id="52" name="Straight Arrow Connector 51">
                <a:extLst>
                  <a:ext uri="{FF2B5EF4-FFF2-40B4-BE49-F238E27FC236}">
                    <a16:creationId xmlns:a16="http://schemas.microsoft.com/office/drawing/2014/main" id="{9E66F18F-8A26-40D0-B4E6-CD48A24E7E74}"/>
                  </a:ext>
                </a:extLst>
              </p:cNvPr>
              <p:cNvCxnSpPr/>
              <p:nvPr/>
            </p:nvCxnSpPr>
            <p:spPr>
              <a:xfrm>
                <a:off x="4680000" y="1440000"/>
                <a:ext cx="180000" cy="180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D3D6ACB7-2040-42CE-8DD2-727DB04676C9}"/>
                  </a:ext>
                </a:extLst>
              </p:cNvPr>
              <p:cNvCxnSpPr/>
              <p:nvPr/>
            </p:nvCxnSpPr>
            <p:spPr>
              <a:xfrm>
                <a:off x="5040000" y="1980004"/>
                <a:ext cx="180000" cy="180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49BDCEC1-2B93-464C-8A54-572C456DF298}"/>
                  </a:ext>
                </a:extLst>
              </p:cNvPr>
              <p:cNvCxnSpPr/>
              <p:nvPr/>
            </p:nvCxnSpPr>
            <p:spPr>
              <a:xfrm>
                <a:off x="5400000" y="2520000"/>
                <a:ext cx="180000" cy="180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55" name="Group 54">
              <a:extLst>
                <a:ext uri="{FF2B5EF4-FFF2-40B4-BE49-F238E27FC236}">
                  <a16:creationId xmlns:a16="http://schemas.microsoft.com/office/drawing/2014/main" id="{B8A49ACA-BA5E-491F-80DE-B377D116EE83}"/>
                </a:ext>
              </a:extLst>
            </p:cNvPr>
            <p:cNvGrpSpPr/>
            <p:nvPr/>
          </p:nvGrpSpPr>
          <p:grpSpPr>
            <a:xfrm>
              <a:off x="6617739" y="4196337"/>
              <a:ext cx="2880000" cy="2340000"/>
              <a:chOff x="3780000" y="900000"/>
              <a:chExt cx="2880000" cy="2340000"/>
            </a:xfrm>
          </p:grpSpPr>
          <p:sp>
            <p:nvSpPr>
              <p:cNvPr id="56" name="Rounded Rectangle 47">
                <a:extLst>
                  <a:ext uri="{FF2B5EF4-FFF2-40B4-BE49-F238E27FC236}">
                    <a16:creationId xmlns:a16="http://schemas.microsoft.com/office/drawing/2014/main" id="{5803DBB8-94B8-473A-A0B2-7CEEF37C02CA}"/>
                  </a:ext>
                </a:extLst>
              </p:cNvPr>
              <p:cNvSpPr/>
              <p:nvPr/>
            </p:nvSpPr>
            <p:spPr>
              <a:xfrm>
                <a:off x="3780000" y="900000"/>
                <a:ext cx="2880000" cy="2340000"/>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57" name="TextBox 56">
                <a:extLst>
                  <a:ext uri="{FF2B5EF4-FFF2-40B4-BE49-F238E27FC236}">
                    <a16:creationId xmlns:a16="http://schemas.microsoft.com/office/drawing/2014/main" id="{ED78E482-F456-4D01-8402-5D61A84A9071}"/>
                  </a:ext>
                </a:extLst>
              </p:cNvPr>
              <p:cNvSpPr txBox="1">
                <a:spLocks noChangeArrowheads="1"/>
              </p:cNvSpPr>
              <p:nvPr/>
            </p:nvSpPr>
            <p:spPr bwMode="auto">
              <a:xfrm>
                <a:off x="5580000" y="1080000"/>
                <a:ext cx="1080000" cy="276999"/>
              </a:xfrm>
              <a:prstGeom prst="rect">
                <a:avLst/>
              </a:prstGeom>
              <a:noFill/>
              <a:ln w="9525">
                <a:noFill/>
                <a:miter lim="800000"/>
                <a:headEnd/>
                <a:tailEnd/>
              </a:ln>
            </p:spPr>
            <p:txBody>
              <a:bodyPr wrap="square">
                <a:spAutoFit/>
              </a:bodyPr>
              <a:lstStyle/>
              <a:p>
                <a:pPr algn="ctr"/>
                <a:r>
                  <a:rPr lang="en-GB" sz="1200" b="1" dirty="0"/>
                  <a:t>Increment n</a:t>
                </a:r>
              </a:p>
            </p:txBody>
          </p:sp>
          <p:sp>
            <p:nvSpPr>
              <p:cNvPr id="58" name="Rounded Rectangle 49">
                <a:extLst>
                  <a:ext uri="{FF2B5EF4-FFF2-40B4-BE49-F238E27FC236}">
                    <a16:creationId xmlns:a16="http://schemas.microsoft.com/office/drawing/2014/main" id="{42DF501B-B8B9-418E-A962-C94E720BBBCF}"/>
                  </a:ext>
                </a:extLst>
              </p:cNvPr>
              <p:cNvSpPr/>
              <p:nvPr/>
            </p:nvSpPr>
            <p:spPr>
              <a:xfrm>
                <a:off x="3960000" y="1080000"/>
                <a:ext cx="1440000" cy="36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200" b="1" dirty="0">
                    <a:solidFill>
                      <a:schemeClr val="bg1"/>
                    </a:solidFill>
                    <a:latin typeface="Arial" pitchFamily="34" charset="0"/>
                    <a:cs typeface="Arial" pitchFamily="34" charset="0"/>
                  </a:rPr>
                  <a:t>Unit / component </a:t>
                </a:r>
              </a:p>
              <a:p>
                <a:pPr algn="ctr"/>
                <a:r>
                  <a:rPr lang="en-GB" sz="1200" b="1" dirty="0">
                    <a:solidFill>
                      <a:schemeClr val="bg1"/>
                    </a:solidFill>
                    <a:latin typeface="Arial" pitchFamily="34" charset="0"/>
                    <a:cs typeface="Arial" pitchFamily="34" charset="0"/>
                  </a:rPr>
                  <a:t>design</a:t>
                </a:r>
              </a:p>
            </p:txBody>
          </p:sp>
          <p:sp>
            <p:nvSpPr>
              <p:cNvPr id="59" name="Rounded Rectangle 50">
                <a:extLst>
                  <a:ext uri="{FF2B5EF4-FFF2-40B4-BE49-F238E27FC236}">
                    <a16:creationId xmlns:a16="http://schemas.microsoft.com/office/drawing/2014/main" id="{22388D83-21EA-49D5-9DA2-9F8F7CF74CD4}"/>
                  </a:ext>
                </a:extLst>
              </p:cNvPr>
              <p:cNvSpPr/>
              <p:nvPr/>
            </p:nvSpPr>
            <p:spPr>
              <a:xfrm>
                <a:off x="4320000" y="1620000"/>
                <a:ext cx="1440000" cy="36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200" b="1" dirty="0">
                    <a:solidFill>
                      <a:schemeClr val="bg1"/>
                    </a:solidFill>
                    <a:latin typeface="Arial" pitchFamily="34" charset="0"/>
                    <a:cs typeface="Arial" pitchFamily="34" charset="0"/>
                  </a:rPr>
                  <a:t>Development (programming)</a:t>
                </a:r>
              </a:p>
            </p:txBody>
          </p:sp>
          <p:sp>
            <p:nvSpPr>
              <p:cNvPr id="60" name="Rounded Rectangle 51">
                <a:extLst>
                  <a:ext uri="{FF2B5EF4-FFF2-40B4-BE49-F238E27FC236}">
                    <a16:creationId xmlns:a16="http://schemas.microsoft.com/office/drawing/2014/main" id="{479AF34C-FCEF-4243-BE76-F37D0387AFD3}"/>
                  </a:ext>
                </a:extLst>
              </p:cNvPr>
              <p:cNvSpPr/>
              <p:nvPr/>
            </p:nvSpPr>
            <p:spPr>
              <a:xfrm>
                <a:off x="4680000" y="2160000"/>
                <a:ext cx="1440000" cy="36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200" b="1" dirty="0">
                    <a:solidFill>
                      <a:schemeClr val="bg1"/>
                    </a:solidFill>
                    <a:latin typeface="Arial" pitchFamily="34" charset="0"/>
                    <a:cs typeface="Arial" pitchFamily="34" charset="0"/>
                  </a:rPr>
                  <a:t>Testing</a:t>
                </a:r>
              </a:p>
            </p:txBody>
          </p:sp>
          <p:sp>
            <p:nvSpPr>
              <p:cNvPr id="61" name="Rounded Rectangle 52">
                <a:extLst>
                  <a:ext uri="{FF2B5EF4-FFF2-40B4-BE49-F238E27FC236}">
                    <a16:creationId xmlns:a16="http://schemas.microsoft.com/office/drawing/2014/main" id="{7BDA82D5-0294-4B66-AE89-9818E3B17F44}"/>
                  </a:ext>
                </a:extLst>
              </p:cNvPr>
              <p:cNvSpPr/>
              <p:nvPr/>
            </p:nvSpPr>
            <p:spPr>
              <a:xfrm>
                <a:off x="5040000" y="2700000"/>
                <a:ext cx="1440000" cy="36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200" b="1" dirty="0">
                    <a:solidFill>
                      <a:schemeClr val="bg1"/>
                    </a:solidFill>
                    <a:latin typeface="Arial" pitchFamily="34" charset="0"/>
                    <a:cs typeface="Arial" pitchFamily="34" charset="0"/>
                  </a:rPr>
                  <a:t>Implementation</a:t>
                </a:r>
              </a:p>
            </p:txBody>
          </p:sp>
          <p:cxnSp>
            <p:nvCxnSpPr>
              <p:cNvPr id="62" name="Straight Arrow Connector 61">
                <a:extLst>
                  <a:ext uri="{FF2B5EF4-FFF2-40B4-BE49-F238E27FC236}">
                    <a16:creationId xmlns:a16="http://schemas.microsoft.com/office/drawing/2014/main" id="{0D055981-6D20-4409-B327-9AD64ACD14BA}"/>
                  </a:ext>
                </a:extLst>
              </p:cNvPr>
              <p:cNvCxnSpPr/>
              <p:nvPr/>
            </p:nvCxnSpPr>
            <p:spPr>
              <a:xfrm>
                <a:off x="4680000" y="1440000"/>
                <a:ext cx="180000" cy="180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4C19831E-8477-4C84-AD96-D2CECC1B98C2}"/>
                  </a:ext>
                </a:extLst>
              </p:cNvPr>
              <p:cNvCxnSpPr/>
              <p:nvPr/>
            </p:nvCxnSpPr>
            <p:spPr>
              <a:xfrm>
                <a:off x="5040000" y="1980004"/>
                <a:ext cx="180000" cy="180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6DAE9A4C-4D05-4F45-BACF-911D1DA21A02}"/>
                  </a:ext>
                </a:extLst>
              </p:cNvPr>
              <p:cNvCxnSpPr/>
              <p:nvPr/>
            </p:nvCxnSpPr>
            <p:spPr>
              <a:xfrm>
                <a:off x="5400000" y="2520000"/>
                <a:ext cx="180000" cy="180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cxnSp>
          <p:nvCxnSpPr>
            <p:cNvPr id="65" name="Straight Arrow Connector 64">
              <a:extLst>
                <a:ext uri="{FF2B5EF4-FFF2-40B4-BE49-F238E27FC236}">
                  <a16:creationId xmlns:a16="http://schemas.microsoft.com/office/drawing/2014/main" id="{D844122A-7A87-4CEA-B755-3C2374FE3C20}"/>
                </a:ext>
              </a:extLst>
            </p:cNvPr>
            <p:cNvCxnSpPr>
              <a:stCxn id="42" idx="3"/>
            </p:cNvCxnSpPr>
            <p:nvPr/>
          </p:nvCxnSpPr>
          <p:spPr>
            <a:xfrm>
              <a:off x="5357739" y="3206340"/>
              <a:ext cx="5400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32702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2C54C1-76B9-2375-4801-CC3B36BF5661}"/>
              </a:ext>
            </a:extLst>
          </p:cNvPr>
          <p:cNvSpPr>
            <a:spLocks noGrp="1"/>
          </p:cNvSpPr>
          <p:nvPr>
            <p:ph type="sldNum" sz="quarter" idx="4"/>
          </p:nvPr>
        </p:nvSpPr>
        <p:spPr/>
        <p:txBody>
          <a:bodyPr/>
          <a:lstStyle/>
          <a:p>
            <a:fld id="{EF892D59-8F09-EF4B-AD6D-DA609442F868}" type="slidenum">
              <a:rPr lang="en-GB" smtClean="0"/>
              <a:pPr/>
              <a:t>14</a:t>
            </a:fld>
            <a:endParaRPr lang="en-GB"/>
          </a:p>
        </p:txBody>
      </p:sp>
      <p:sp>
        <p:nvSpPr>
          <p:cNvPr id="3" name="Text Placeholder 2">
            <a:extLst>
              <a:ext uri="{FF2B5EF4-FFF2-40B4-BE49-F238E27FC236}">
                <a16:creationId xmlns:a16="http://schemas.microsoft.com/office/drawing/2014/main" id="{B8A7BE82-FE13-EE49-4D7D-1336A831EC96}"/>
              </a:ext>
            </a:extLst>
          </p:cNvPr>
          <p:cNvSpPr>
            <a:spLocks noGrp="1"/>
          </p:cNvSpPr>
          <p:nvPr>
            <p:ph type="body" sz="quarter" idx="12"/>
          </p:nvPr>
        </p:nvSpPr>
        <p:spPr/>
        <p:txBody>
          <a:bodyPr/>
          <a:lstStyle/>
          <a:p>
            <a:r>
              <a:rPr lang="en-GB" dirty="0"/>
              <a:t>Incremental real-life example</a:t>
            </a:r>
          </a:p>
        </p:txBody>
      </p:sp>
      <p:sp>
        <p:nvSpPr>
          <p:cNvPr id="5" name="TextBox 4">
            <a:extLst>
              <a:ext uri="{FF2B5EF4-FFF2-40B4-BE49-F238E27FC236}">
                <a16:creationId xmlns:a16="http://schemas.microsoft.com/office/drawing/2014/main" id="{BF42067C-D625-E582-9E3A-A5D291CB2A05}"/>
              </a:ext>
            </a:extLst>
          </p:cNvPr>
          <p:cNvSpPr txBox="1"/>
          <p:nvPr/>
        </p:nvSpPr>
        <p:spPr>
          <a:xfrm>
            <a:off x="778933" y="1723662"/>
            <a:ext cx="10137421" cy="923330"/>
          </a:xfrm>
          <a:prstGeom prst="rect">
            <a:avLst/>
          </a:prstGeom>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b="1" i="0" dirty="0">
                <a:solidFill>
                  <a:srgbClr val="0F0F0F"/>
                </a:solidFill>
                <a:effectLst/>
                <a:latin typeface="Söhne"/>
              </a:rPr>
              <a:t>Involves gradually building up features. </a:t>
            </a:r>
            <a:br>
              <a:rPr lang="en-GB" b="1" i="0" dirty="0">
                <a:solidFill>
                  <a:srgbClr val="0F0F0F"/>
                </a:solidFill>
                <a:effectLst/>
                <a:latin typeface="Söhne"/>
              </a:rPr>
            </a:br>
            <a:r>
              <a:rPr lang="en-GB" b="0" i="0" dirty="0">
                <a:solidFill>
                  <a:srgbClr val="1C2B39"/>
                </a:solidFill>
                <a:effectLst/>
                <a:latin typeface="gilroy"/>
              </a:rPr>
              <a:t>Incremental development slices the features into </a:t>
            </a:r>
            <a:r>
              <a:rPr lang="en-GB" b="0" i="0" u="sng" dirty="0">
                <a:solidFill>
                  <a:srgbClr val="1C2B39"/>
                </a:solidFill>
                <a:effectLst/>
                <a:latin typeface="gilroy"/>
              </a:rPr>
              <a:t>fully working</a:t>
            </a:r>
            <a:r>
              <a:rPr lang="en-GB" b="0" i="0" dirty="0">
                <a:solidFill>
                  <a:srgbClr val="1C2B39"/>
                </a:solidFill>
                <a:effectLst/>
                <a:latin typeface="gilroy"/>
              </a:rPr>
              <a:t> slices/increments. </a:t>
            </a:r>
            <a:br>
              <a:rPr lang="en-GB" b="0" i="0" dirty="0">
                <a:solidFill>
                  <a:srgbClr val="1C2B39"/>
                </a:solidFill>
                <a:effectLst/>
                <a:latin typeface="gilroy"/>
              </a:rPr>
            </a:br>
            <a:r>
              <a:rPr lang="en-GB" b="0" i="0" dirty="0">
                <a:solidFill>
                  <a:srgbClr val="1C2B39"/>
                </a:solidFill>
                <a:effectLst/>
                <a:latin typeface="gilroy"/>
              </a:rPr>
              <a:t>Each new increment builds on top of the existing released.</a:t>
            </a:r>
            <a:endParaRPr lang="en-GB" dirty="0"/>
          </a:p>
        </p:txBody>
      </p:sp>
      <p:sp>
        <p:nvSpPr>
          <p:cNvPr id="6" name="TextBox 5">
            <a:extLst>
              <a:ext uri="{FF2B5EF4-FFF2-40B4-BE49-F238E27FC236}">
                <a16:creationId xmlns:a16="http://schemas.microsoft.com/office/drawing/2014/main" id="{90093DB9-C247-C6D7-1A20-345E6096D1B1}"/>
              </a:ext>
            </a:extLst>
          </p:cNvPr>
          <p:cNvSpPr txBox="1"/>
          <p:nvPr/>
        </p:nvSpPr>
        <p:spPr>
          <a:xfrm>
            <a:off x="778932" y="3038818"/>
            <a:ext cx="10137423" cy="2308324"/>
          </a:xfrm>
          <a:prstGeom prst="rect">
            <a:avLst/>
          </a:prstGeom>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defPPr>
              <a:defRPr lang="en-US"/>
            </a:defPPr>
            <a:lvl1pPr>
              <a:defRPr b="0" i="0">
                <a:solidFill>
                  <a:srgbClr val="0F0F0F"/>
                </a:solidFill>
                <a:effectLst/>
                <a:latin typeface="Söhne"/>
              </a:defRPr>
            </a:lvl1pPr>
          </a:lstStyle>
          <a:p>
            <a:pPr algn="l"/>
            <a:r>
              <a:rPr lang="en-GB" b="1" dirty="0"/>
              <a:t>For example, in building an e-commerce website</a:t>
            </a:r>
            <a:r>
              <a:rPr lang="en-GB" dirty="0"/>
              <a:t> </a:t>
            </a:r>
            <a:br>
              <a:rPr lang="en-GB" dirty="0"/>
            </a:br>
            <a:r>
              <a:rPr lang="en-GB" b="0" i="0" dirty="0">
                <a:effectLst/>
                <a:latin typeface="Söhne"/>
              </a:rPr>
              <a:t>In the initial release increment, the team establishes fundamental purchasing functionality, encompassing search, product details, adding items to the shopping basket, and the checkout process. </a:t>
            </a:r>
            <a:br>
              <a:rPr lang="en-GB" b="0" i="0" dirty="0">
                <a:effectLst/>
                <a:latin typeface="Söhne"/>
              </a:rPr>
            </a:br>
            <a:br>
              <a:rPr lang="en-GB" b="0" i="0" dirty="0">
                <a:effectLst/>
                <a:latin typeface="Söhne"/>
              </a:rPr>
            </a:br>
            <a:r>
              <a:rPr lang="en-GB" b="1" i="0" dirty="0">
                <a:effectLst/>
                <a:latin typeface="Söhne"/>
              </a:rPr>
              <a:t>This initial segment is only released upon its full completion.</a:t>
            </a:r>
          </a:p>
          <a:p>
            <a:pPr algn="l"/>
            <a:r>
              <a:rPr lang="en-GB" b="0" i="0" dirty="0">
                <a:effectLst/>
                <a:latin typeface="Söhne"/>
              </a:rPr>
              <a:t>Subsequently, the second release increment expands upon the foundational functionality, introducing an additional capability like favourites. This increment is released upon the completion of the </a:t>
            </a:r>
            <a:r>
              <a:rPr lang="en-GB" b="0" i="0" dirty="0" err="1">
                <a:effectLst/>
                <a:latin typeface="Söhne"/>
              </a:rPr>
              <a:t>favorites</a:t>
            </a:r>
            <a:r>
              <a:rPr lang="en-GB" b="0" i="0" dirty="0">
                <a:effectLst/>
                <a:latin typeface="Söhne"/>
              </a:rPr>
              <a:t>. functionality.</a:t>
            </a:r>
          </a:p>
        </p:txBody>
      </p:sp>
    </p:spTree>
    <p:extLst>
      <p:ext uri="{BB962C8B-B14F-4D97-AF65-F5344CB8AC3E}">
        <p14:creationId xmlns:p14="http://schemas.microsoft.com/office/powerpoint/2010/main" val="3451361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2580128-EA20-4321-AC04-790874A96B9D}"/>
              </a:ext>
            </a:extLst>
          </p:cNvPr>
          <p:cNvSpPr>
            <a:spLocks noGrp="1"/>
          </p:cNvSpPr>
          <p:nvPr>
            <p:ph type="body" sz="quarter" idx="12"/>
          </p:nvPr>
        </p:nvSpPr>
        <p:spPr>
          <a:xfrm>
            <a:off x="1212111" y="275422"/>
            <a:ext cx="10595714" cy="612571"/>
          </a:xfrm>
        </p:spPr>
        <p:txBody>
          <a:bodyPr/>
          <a:lstStyle/>
          <a:p>
            <a:r>
              <a:rPr lang="en-GB" sz="2600" dirty="0"/>
              <a:t>Incremental: Strengths and weaknesses</a:t>
            </a:r>
          </a:p>
        </p:txBody>
      </p:sp>
      <p:graphicFrame>
        <p:nvGraphicFramePr>
          <p:cNvPr id="9" name="Diagram 8">
            <a:extLst>
              <a:ext uri="{FF2B5EF4-FFF2-40B4-BE49-F238E27FC236}">
                <a16:creationId xmlns:a16="http://schemas.microsoft.com/office/drawing/2014/main" id="{93069F1D-4FFA-498D-B177-5ADA6E472A09}"/>
              </a:ext>
            </a:extLst>
          </p:cNvPr>
          <p:cNvGraphicFramePr/>
          <p:nvPr>
            <p:extLst>
              <p:ext uri="{D42A27DB-BD31-4B8C-83A1-F6EECF244321}">
                <p14:modId xmlns:p14="http://schemas.microsoft.com/office/powerpoint/2010/main" val="1594463036"/>
              </p:ext>
            </p:extLst>
          </p:nvPr>
        </p:nvGraphicFramePr>
        <p:xfrm>
          <a:off x="1244182" y="377612"/>
          <a:ext cx="9703635" cy="64803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36701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4EAB0-AF37-485C-A92D-DC9BE8F97D34}"/>
              </a:ext>
            </a:extLst>
          </p:cNvPr>
          <p:cNvSpPr>
            <a:spLocks noGrp="1"/>
          </p:cNvSpPr>
          <p:nvPr>
            <p:ph type="title" idx="4294967295"/>
          </p:nvPr>
        </p:nvSpPr>
        <p:spPr>
          <a:xfrm>
            <a:off x="1277825" y="316190"/>
            <a:ext cx="10620392" cy="687387"/>
          </a:xfrm>
        </p:spPr>
        <p:txBody>
          <a:bodyPr/>
          <a:lstStyle/>
          <a:p>
            <a:r>
              <a:rPr lang="en-GB" sz="3600" dirty="0"/>
              <a:t>Iterative</a:t>
            </a:r>
            <a:endParaRPr lang="en-GB" dirty="0"/>
          </a:p>
        </p:txBody>
      </p:sp>
      <p:grpSp>
        <p:nvGrpSpPr>
          <p:cNvPr id="3" name="Group 2">
            <a:extLst>
              <a:ext uri="{FF2B5EF4-FFF2-40B4-BE49-F238E27FC236}">
                <a16:creationId xmlns:a16="http://schemas.microsoft.com/office/drawing/2014/main" id="{8A0878AC-4DE5-45FA-AF48-0452224E4532}"/>
              </a:ext>
            </a:extLst>
          </p:cNvPr>
          <p:cNvGrpSpPr/>
          <p:nvPr/>
        </p:nvGrpSpPr>
        <p:grpSpPr>
          <a:xfrm>
            <a:off x="1408918" y="1325270"/>
            <a:ext cx="9916421" cy="4557737"/>
            <a:chOff x="1776000" y="1138012"/>
            <a:chExt cx="8820000" cy="4093301"/>
          </a:xfrm>
        </p:grpSpPr>
        <p:sp>
          <p:nvSpPr>
            <p:cNvPr id="24" name="TextBox 23">
              <a:extLst>
                <a:ext uri="{FF2B5EF4-FFF2-40B4-BE49-F238E27FC236}">
                  <a16:creationId xmlns:a16="http://schemas.microsoft.com/office/drawing/2014/main" id="{9D6CAEA5-8EB9-48AB-9343-1E714A4614A5}"/>
                </a:ext>
              </a:extLst>
            </p:cNvPr>
            <p:cNvSpPr txBox="1"/>
            <p:nvPr/>
          </p:nvSpPr>
          <p:spPr>
            <a:xfrm>
              <a:off x="1776000" y="1471223"/>
              <a:ext cx="1080000" cy="413577"/>
            </a:xfrm>
            <a:prstGeom prst="rect">
              <a:avLst/>
            </a:prstGeom>
            <a:noFill/>
          </p:spPr>
          <p:txBody>
            <a:bodyPr wrap="square" lIns="36000" tIns="36000" rIns="36000" bIns="36000" rtlCol="0" anchor="ctr">
              <a:spAutoFit/>
            </a:bodyPr>
            <a:lstStyle/>
            <a:p>
              <a:pPr algn="ctr" fontAlgn="auto">
                <a:lnSpc>
                  <a:spcPct val="90000"/>
                </a:lnSpc>
                <a:spcBef>
                  <a:spcPts val="600"/>
                </a:spcBef>
                <a:spcAft>
                  <a:spcPts val="0"/>
                </a:spcAft>
                <a:buClr>
                  <a:schemeClr val="accent1"/>
                </a:buClr>
              </a:pPr>
              <a:r>
                <a:rPr lang="en-GB" sz="1400" b="1" dirty="0">
                  <a:latin typeface="Arial" pitchFamily="34" charset="0"/>
                  <a:cs typeface="Arial" pitchFamily="34" charset="0"/>
                </a:rPr>
                <a:t>Initial planning</a:t>
              </a:r>
            </a:p>
          </p:txBody>
        </p:sp>
        <p:grpSp>
          <p:nvGrpSpPr>
            <p:cNvPr id="25" name="Group 24">
              <a:extLst>
                <a:ext uri="{FF2B5EF4-FFF2-40B4-BE49-F238E27FC236}">
                  <a16:creationId xmlns:a16="http://schemas.microsoft.com/office/drawing/2014/main" id="{F7FDEDAA-F1CF-421C-B07C-0A5DAA0DDF4C}"/>
                </a:ext>
              </a:extLst>
            </p:cNvPr>
            <p:cNvGrpSpPr/>
            <p:nvPr/>
          </p:nvGrpSpPr>
          <p:grpSpPr>
            <a:xfrm>
              <a:off x="2856000" y="1138012"/>
              <a:ext cx="1440000" cy="4093300"/>
              <a:chOff x="1440000" y="1126700"/>
              <a:chExt cx="1440000" cy="4093300"/>
            </a:xfrm>
          </p:grpSpPr>
          <p:sp>
            <p:nvSpPr>
              <p:cNvPr id="26" name="Text Placeholder 4">
                <a:extLst>
                  <a:ext uri="{FF2B5EF4-FFF2-40B4-BE49-F238E27FC236}">
                    <a16:creationId xmlns:a16="http://schemas.microsoft.com/office/drawing/2014/main" id="{E4C2A7C8-C75C-4691-ABA0-3E196CCA0D73}"/>
                  </a:ext>
                </a:extLst>
              </p:cNvPr>
              <p:cNvSpPr txBox="1">
                <a:spLocks/>
              </p:cNvSpPr>
              <p:nvPr/>
            </p:nvSpPr>
            <p:spPr>
              <a:xfrm>
                <a:off x="1440000" y="1980000"/>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wrap="square" lIns="36000" tIns="36000" rIns="36000" bIns="3600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400" dirty="0">
                    <a:solidFill>
                      <a:schemeClr val="bg1"/>
                    </a:solidFill>
                    <a:latin typeface="Arial" pitchFamily="34" charset="0"/>
                    <a:cs typeface="Arial" pitchFamily="34" charset="0"/>
                  </a:rPr>
                  <a:t>Requirements</a:t>
                </a:r>
              </a:p>
            </p:txBody>
          </p:sp>
          <p:sp>
            <p:nvSpPr>
              <p:cNvPr id="27" name="Text Placeholder 4">
                <a:extLst>
                  <a:ext uri="{FF2B5EF4-FFF2-40B4-BE49-F238E27FC236}">
                    <a16:creationId xmlns:a16="http://schemas.microsoft.com/office/drawing/2014/main" id="{08F91E3E-FDA1-4DC6-8197-5F7E170487FB}"/>
                  </a:ext>
                </a:extLst>
              </p:cNvPr>
              <p:cNvSpPr txBox="1">
                <a:spLocks/>
              </p:cNvSpPr>
              <p:nvPr/>
            </p:nvSpPr>
            <p:spPr>
              <a:xfrm>
                <a:off x="1440000" y="2520000"/>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wrap="square" lIns="36000" tIns="36000" rIns="36000" bIns="3600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400" dirty="0">
                    <a:solidFill>
                      <a:schemeClr val="bg1"/>
                    </a:solidFill>
                    <a:latin typeface="Arial" pitchFamily="34" charset="0"/>
                    <a:cs typeface="Arial" pitchFamily="34" charset="0"/>
                  </a:rPr>
                  <a:t>Analysis and design</a:t>
                </a:r>
              </a:p>
            </p:txBody>
          </p:sp>
          <p:sp>
            <p:nvSpPr>
              <p:cNvPr id="28" name="Text Placeholder 4">
                <a:extLst>
                  <a:ext uri="{FF2B5EF4-FFF2-40B4-BE49-F238E27FC236}">
                    <a16:creationId xmlns:a16="http://schemas.microsoft.com/office/drawing/2014/main" id="{A7DB0119-8AE4-4CBB-B1A3-BEF98A95E787}"/>
                  </a:ext>
                </a:extLst>
              </p:cNvPr>
              <p:cNvSpPr txBox="1">
                <a:spLocks/>
              </p:cNvSpPr>
              <p:nvPr/>
            </p:nvSpPr>
            <p:spPr>
              <a:xfrm>
                <a:off x="1440000" y="3060000"/>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wrap="square" lIns="36000" tIns="36000" rIns="36000" bIns="3600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400" dirty="0">
                    <a:solidFill>
                      <a:schemeClr val="bg1"/>
                    </a:solidFill>
                    <a:latin typeface="Arial" pitchFamily="34" charset="0"/>
                    <a:cs typeface="Arial" pitchFamily="34" charset="0"/>
                  </a:rPr>
                  <a:t>Development</a:t>
                </a:r>
              </a:p>
            </p:txBody>
          </p:sp>
          <p:sp>
            <p:nvSpPr>
              <p:cNvPr id="29" name="Text Placeholder 4">
                <a:extLst>
                  <a:ext uri="{FF2B5EF4-FFF2-40B4-BE49-F238E27FC236}">
                    <a16:creationId xmlns:a16="http://schemas.microsoft.com/office/drawing/2014/main" id="{641FE598-5795-4EC3-ACAE-92412B63A8E1}"/>
                  </a:ext>
                </a:extLst>
              </p:cNvPr>
              <p:cNvSpPr txBox="1">
                <a:spLocks/>
              </p:cNvSpPr>
              <p:nvPr/>
            </p:nvSpPr>
            <p:spPr>
              <a:xfrm>
                <a:off x="1440000" y="3600000"/>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wrap="square" lIns="36000" tIns="36000" rIns="36000" bIns="3600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400" dirty="0">
                    <a:solidFill>
                      <a:schemeClr val="bg1"/>
                    </a:solidFill>
                    <a:latin typeface="Arial" pitchFamily="34" charset="0"/>
                    <a:cs typeface="Arial" pitchFamily="34" charset="0"/>
                  </a:rPr>
                  <a:t>Test</a:t>
                </a:r>
              </a:p>
            </p:txBody>
          </p:sp>
          <p:sp>
            <p:nvSpPr>
              <p:cNvPr id="30" name="Circular Arrow 27">
                <a:extLst>
                  <a:ext uri="{FF2B5EF4-FFF2-40B4-BE49-F238E27FC236}">
                    <a16:creationId xmlns:a16="http://schemas.microsoft.com/office/drawing/2014/main" id="{B6F9EF85-660B-4402-A199-CF5B1807E71F}"/>
                  </a:ext>
                </a:extLst>
              </p:cNvPr>
              <p:cNvSpPr>
                <a:spLocks/>
              </p:cNvSpPr>
              <p:nvPr/>
            </p:nvSpPr>
            <p:spPr>
              <a:xfrm>
                <a:off x="1620000" y="1368000"/>
                <a:ext cx="1080000" cy="1080000"/>
              </a:xfrm>
              <a:prstGeom prst="circularArrow">
                <a:avLst/>
              </a:prstGeom>
              <a:solidFill>
                <a:schemeClr val="accent1">
                  <a:lumMod val="20000"/>
                  <a:lumOff val="8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algn="ctr"/>
                <a:endParaRPr lang="en-GB" sz="1600" dirty="0">
                  <a:solidFill>
                    <a:schemeClr val="tx1"/>
                  </a:solidFill>
                  <a:latin typeface="Arial" pitchFamily="34" charset="0"/>
                  <a:cs typeface="Arial" pitchFamily="34" charset="0"/>
                </a:endParaRPr>
              </a:p>
            </p:txBody>
          </p:sp>
          <p:sp>
            <p:nvSpPr>
              <p:cNvPr id="31" name="Circular Arrow 28">
                <a:extLst>
                  <a:ext uri="{FF2B5EF4-FFF2-40B4-BE49-F238E27FC236}">
                    <a16:creationId xmlns:a16="http://schemas.microsoft.com/office/drawing/2014/main" id="{6E3BCE4A-DBAA-4290-93F7-046A093BEC5A}"/>
                  </a:ext>
                </a:extLst>
              </p:cNvPr>
              <p:cNvSpPr>
                <a:spLocks/>
              </p:cNvSpPr>
              <p:nvPr/>
            </p:nvSpPr>
            <p:spPr>
              <a:xfrm>
                <a:off x="1620000" y="4140000"/>
                <a:ext cx="1080000" cy="1080000"/>
              </a:xfrm>
              <a:prstGeom prst="circularArrow">
                <a:avLst/>
              </a:prstGeom>
              <a:solidFill>
                <a:schemeClr val="accent1">
                  <a:lumMod val="20000"/>
                  <a:lumOff val="80000"/>
                </a:schemeClr>
              </a:solidFill>
              <a:scene3d>
                <a:camera prst="orthographicFront">
                  <a:rot lat="0" lon="0" rev="10799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algn="ctr"/>
                <a:endParaRPr lang="en-GB" sz="1600" dirty="0">
                  <a:solidFill>
                    <a:schemeClr val="tx1"/>
                  </a:solidFill>
                  <a:latin typeface="Arial" pitchFamily="34" charset="0"/>
                  <a:cs typeface="Arial" pitchFamily="34" charset="0"/>
                </a:endParaRPr>
              </a:p>
            </p:txBody>
          </p:sp>
          <p:sp>
            <p:nvSpPr>
              <p:cNvPr id="32" name="TextBox 31">
                <a:extLst>
                  <a:ext uri="{FF2B5EF4-FFF2-40B4-BE49-F238E27FC236}">
                    <a16:creationId xmlns:a16="http://schemas.microsoft.com/office/drawing/2014/main" id="{C47D9D8C-CF81-43EA-BC97-501D98CEDFAF}"/>
                  </a:ext>
                </a:extLst>
              </p:cNvPr>
              <p:cNvSpPr txBox="1"/>
              <p:nvPr/>
            </p:nvSpPr>
            <p:spPr>
              <a:xfrm>
                <a:off x="1620000" y="1126700"/>
                <a:ext cx="1080000" cy="360000"/>
              </a:xfrm>
              <a:prstGeom prst="rect">
                <a:avLst/>
              </a:prstGeom>
              <a:noFill/>
            </p:spPr>
            <p:txBody>
              <a:bodyPr wrap="square" lIns="36000" tIns="36000" rIns="36000" bIns="36000" rtlCol="0" anchor="ctr">
                <a:spAutoFit/>
              </a:bodyPr>
              <a:lstStyle/>
              <a:p>
                <a:pPr algn="ctr" fontAlgn="auto">
                  <a:lnSpc>
                    <a:spcPct val="90000"/>
                  </a:lnSpc>
                  <a:spcBef>
                    <a:spcPts val="600"/>
                  </a:spcBef>
                  <a:spcAft>
                    <a:spcPts val="0"/>
                  </a:spcAft>
                  <a:buClr>
                    <a:schemeClr val="accent1"/>
                  </a:buClr>
                </a:pPr>
                <a:r>
                  <a:rPr lang="en-GB" sz="1400" b="1" dirty="0">
                    <a:latin typeface="Arial" pitchFamily="34" charset="0"/>
                    <a:cs typeface="Arial" pitchFamily="34" charset="0"/>
                  </a:rPr>
                  <a:t>Investigate</a:t>
                </a:r>
              </a:p>
            </p:txBody>
          </p:sp>
          <p:sp>
            <p:nvSpPr>
              <p:cNvPr id="33" name="TextBox 32">
                <a:extLst>
                  <a:ext uri="{FF2B5EF4-FFF2-40B4-BE49-F238E27FC236}">
                    <a16:creationId xmlns:a16="http://schemas.microsoft.com/office/drawing/2014/main" id="{4EC4BA7B-F8CD-48D0-8F5C-CB5C4607F39A}"/>
                  </a:ext>
                </a:extLst>
              </p:cNvPr>
              <p:cNvSpPr txBox="1"/>
              <p:nvPr/>
            </p:nvSpPr>
            <p:spPr>
              <a:xfrm>
                <a:off x="1640467" y="4869816"/>
                <a:ext cx="1039066" cy="266602"/>
              </a:xfrm>
              <a:prstGeom prst="rect">
                <a:avLst/>
              </a:prstGeom>
              <a:noFill/>
            </p:spPr>
            <p:txBody>
              <a:bodyPr wrap="square" lIns="36000" tIns="36000" rIns="36000" bIns="36000" rtlCol="0" anchor="ctr">
                <a:spAutoFit/>
              </a:bodyPr>
              <a:lstStyle/>
              <a:p>
                <a:pPr algn="ctr" fontAlgn="auto">
                  <a:lnSpc>
                    <a:spcPct val="90000"/>
                  </a:lnSpc>
                  <a:spcBef>
                    <a:spcPts val="600"/>
                  </a:spcBef>
                  <a:spcAft>
                    <a:spcPts val="0"/>
                  </a:spcAft>
                  <a:buClr>
                    <a:schemeClr val="accent1"/>
                  </a:buClr>
                </a:pPr>
                <a:r>
                  <a:rPr lang="en-GB" sz="1400" b="1" dirty="0">
                    <a:latin typeface="Arial" pitchFamily="34" charset="0"/>
                    <a:cs typeface="Arial" pitchFamily="34" charset="0"/>
                  </a:rPr>
                  <a:t>Iteration 1</a:t>
                </a:r>
              </a:p>
            </p:txBody>
          </p:sp>
          <p:sp>
            <p:nvSpPr>
              <p:cNvPr id="34" name="TextBox 33">
                <a:extLst>
                  <a:ext uri="{FF2B5EF4-FFF2-40B4-BE49-F238E27FC236}">
                    <a16:creationId xmlns:a16="http://schemas.microsoft.com/office/drawing/2014/main" id="{88517495-2935-4B22-8A7A-83550D216FB9}"/>
                  </a:ext>
                </a:extLst>
              </p:cNvPr>
              <p:cNvSpPr txBox="1"/>
              <p:nvPr/>
            </p:nvSpPr>
            <p:spPr>
              <a:xfrm>
                <a:off x="1800000" y="1666700"/>
                <a:ext cx="720000" cy="360000"/>
              </a:xfrm>
              <a:prstGeom prst="rect">
                <a:avLst/>
              </a:prstGeom>
              <a:noFill/>
            </p:spPr>
            <p:txBody>
              <a:bodyPr wrap="square" lIns="36000" tIns="36000" rIns="36000" bIns="36000" rtlCol="0" anchor="ctr">
                <a:spAutoFit/>
              </a:bodyPr>
              <a:lstStyle/>
              <a:p>
                <a:pPr algn="ctr" fontAlgn="auto">
                  <a:lnSpc>
                    <a:spcPct val="90000"/>
                  </a:lnSpc>
                  <a:spcBef>
                    <a:spcPts val="600"/>
                  </a:spcBef>
                  <a:spcAft>
                    <a:spcPts val="0"/>
                  </a:spcAft>
                  <a:buClr>
                    <a:schemeClr val="accent1"/>
                  </a:buClr>
                </a:pPr>
                <a:r>
                  <a:rPr lang="en-GB" sz="1200" b="1" dirty="0">
                    <a:latin typeface="Arial" pitchFamily="34" charset="0"/>
                    <a:cs typeface="Arial" pitchFamily="34" charset="0"/>
                  </a:rPr>
                  <a:t>Plan</a:t>
                </a:r>
              </a:p>
            </p:txBody>
          </p:sp>
          <p:sp>
            <p:nvSpPr>
              <p:cNvPr id="35" name="TextBox 34">
                <a:extLst>
                  <a:ext uri="{FF2B5EF4-FFF2-40B4-BE49-F238E27FC236}">
                    <a16:creationId xmlns:a16="http://schemas.microsoft.com/office/drawing/2014/main" id="{154A5F24-8757-48B1-8BCF-C7F46CBFAE7E}"/>
                  </a:ext>
                </a:extLst>
              </p:cNvPr>
              <p:cNvSpPr txBox="1"/>
              <p:nvPr/>
            </p:nvSpPr>
            <p:spPr>
              <a:xfrm>
                <a:off x="1850350" y="4186700"/>
                <a:ext cx="720000" cy="360000"/>
              </a:xfrm>
              <a:prstGeom prst="rect">
                <a:avLst/>
              </a:prstGeom>
              <a:noFill/>
            </p:spPr>
            <p:txBody>
              <a:bodyPr wrap="square" lIns="36000" tIns="36000" rIns="36000" bIns="36000" rtlCol="0" anchor="ctr">
                <a:spAutoFit/>
              </a:bodyPr>
              <a:lstStyle/>
              <a:p>
                <a:pPr algn="ctr" fontAlgn="auto">
                  <a:lnSpc>
                    <a:spcPct val="90000"/>
                  </a:lnSpc>
                  <a:spcBef>
                    <a:spcPts val="600"/>
                  </a:spcBef>
                  <a:spcAft>
                    <a:spcPts val="0"/>
                  </a:spcAft>
                  <a:buClr>
                    <a:schemeClr val="accent1"/>
                  </a:buClr>
                </a:pPr>
                <a:r>
                  <a:rPr lang="en-GB" sz="1200" b="1" dirty="0">
                    <a:latin typeface="Arial" pitchFamily="34" charset="0"/>
                    <a:cs typeface="Arial" pitchFamily="34" charset="0"/>
                  </a:rPr>
                  <a:t>Evaluate</a:t>
                </a:r>
              </a:p>
            </p:txBody>
          </p:sp>
        </p:grpSp>
        <p:sp>
          <p:nvSpPr>
            <p:cNvPr id="36" name="Right Arrow 36">
              <a:extLst>
                <a:ext uri="{FF2B5EF4-FFF2-40B4-BE49-F238E27FC236}">
                  <a16:creationId xmlns:a16="http://schemas.microsoft.com/office/drawing/2014/main" id="{9DDB19C9-0634-4238-9D66-62DD0E5A724A}"/>
                </a:ext>
              </a:extLst>
            </p:cNvPr>
            <p:cNvSpPr/>
            <p:nvPr/>
          </p:nvSpPr>
          <p:spPr>
            <a:xfrm>
              <a:off x="1955955" y="2038012"/>
              <a:ext cx="720090" cy="540000"/>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algn="ctr"/>
              <a:endParaRPr lang="en-GB" sz="1600" dirty="0">
                <a:solidFill>
                  <a:schemeClr val="tx1"/>
                </a:solidFill>
                <a:latin typeface="Arial" pitchFamily="34" charset="0"/>
                <a:cs typeface="Arial" pitchFamily="34" charset="0"/>
              </a:endParaRPr>
            </a:p>
          </p:txBody>
        </p:sp>
        <p:grpSp>
          <p:nvGrpSpPr>
            <p:cNvPr id="37" name="Group 36">
              <a:extLst>
                <a:ext uri="{FF2B5EF4-FFF2-40B4-BE49-F238E27FC236}">
                  <a16:creationId xmlns:a16="http://schemas.microsoft.com/office/drawing/2014/main" id="{DF20F524-D6D7-4558-80B1-942696268E2A}"/>
                </a:ext>
              </a:extLst>
            </p:cNvPr>
            <p:cNvGrpSpPr/>
            <p:nvPr/>
          </p:nvGrpSpPr>
          <p:grpSpPr>
            <a:xfrm>
              <a:off x="5376000" y="1138012"/>
              <a:ext cx="1440000" cy="4093300"/>
              <a:chOff x="3960000" y="1126700"/>
              <a:chExt cx="1440000" cy="4093300"/>
            </a:xfrm>
          </p:grpSpPr>
          <p:sp>
            <p:nvSpPr>
              <p:cNvPr id="38" name="Text Placeholder 4">
                <a:extLst>
                  <a:ext uri="{FF2B5EF4-FFF2-40B4-BE49-F238E27FC236}">
                    <a16:creationId xmlns:a16="http://schemas.microsoft.com/office/drawing/2014/main" id="{D92F92D8-9DC2-4875-9059-5FE79E93F28D}"/>
                  </a:ext>
                </a:extLst>
              </p:cNvPr>
              <p:cNvSpPr txBox="1">
                <a:spLocks/>
              </p:cNvSpPr>
              <p:nvPr/>
            </p:nvSpPr>
            <p:spPr>
              <a:xfrm>
                <a:off x="3960000" y="1980000"/>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wrap="square" lIns="36000" tIns="36000" rIns="36000" bIns="3600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400" dirty="0">
                    <a:solidFill>
                      <a:schemeClr val="bg1"/>
                    </a:solidFill>
                    <a:latin typeface="Arial" pitchFamily="34" charset="0"/>
                    <a:cs typeface="Arial" pitchFamily="34" charset="0"/>
                  </a:rPr>
                  <a:t>Requirements</a:t>
                </a:r>
              </a:p>
            </p:txBody>
          </p:sp>
          <p:sp>
            <p:nvSpPr>
              <p:cNvPr id="39" name="Text Placeholder 4">
                <a:extLst>
                  <a:ext uri="{FF2B5EF4-FFF2-40B4-BE49-F238E27FC236}">
                    <a16:creationId xmlns:a16="http://schemas.microsoft.com/office/drawing/2014/main" id="{71D73B0B-8AA5-4A85-8923-EE38AFA9D000}"/>
                  </a:ext>
                </a:extLst>
              </p:cNvPr>
              <p:cNvSpPr txBox="1">
                <a:spLocks/>
              </p:cNvSpPr>
              <p:nvPr/>
            </p:nvSpPr>
            <p:spPr>
              <a:xfrm>
                <a:off x="3960000" y="2520000"/>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wrap="square" lIns="36000" tIns="36000" rIns="36000" bIns="3600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400" dirty="0">
                    <a:solidFill>
                      <a:schemeClr val="bg1"/>
                    </a:solidFill>
                    <a:latin typeface="Arial" pitchFamily="34" charset="0"/>
                    <a:cs typeface="Arial" pitchFamily="34" charset="0"/>
                  </a:rPr>
                  <a:t>Analysis and design</a:t>
                </a:r>
              </a:p>
            </p:txBody>
          </p:sp>
          <p:sp>
            <p:nvSpPr>
              <p:cNvPr id="40" name="Text Placeholder 4">
                <a:extLst>
                  <a:ext uri="{FF2B5EF4-FFF2-40B4-BE49-F238E27FC236}">
                    <a16:creationId xmlns:a16="http://schemas.microsoft.com/office/drawing/2014/main" id="{3D077986-B69F-4DAD-9152-37C005606130}"/>
                  </a:ext>
                </a:extLst>
              </p:cNvPr>
              <p:cNvSpPr txBox="1">
                <a:spLocks/>
              </p:cNvSpPr>
              <p:nvPr/>
            </p:nvSpPr>
            <p:spPr>
              <a:xfrm>
                <a:off x="3960000" y="3060000"/>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wrap="square" lIns="36000" tIns="36000" rIns="36000" bIns="3600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400" dirty="0">
                    <a:solidFill>
                      <a:schemeClr val="bg1"/>
                    </a:solidFill>
                    <a:latin typeface="Arial" pitchFamily="34" charset="0"/>
                    <a:cs typeface="Arial" pitchFamily="34" charset="0"/>
                  </a:rPr>
                  <a:t>Development</a:t>
                </a:r>
              </a:p>
            </p:txBody>
          </p:sp>
          <p:sp>
            <p:nvSpPr>
              <p:cNvPr id="41" name="Text Placeholder 4">
                <a:extLst>
                  <a:ext uri="{FF2B5EF4-FFF2-40B4-BE49-F238E27FC236}">
                    <a16:creationId xmlns:a16="http://schemas.microsoft.com/office/drawing/2014/main" id="{C51986D1-CC2F-4C7D-A656-EF844A4E5627}"/>
                  </a:ext>
                </a:extLst>
              </p:cNvPr>
              <p:cNvSpPr txBox="1">
                <a:spLocks/>
              </p:cNvSpPr>
              <p:nvPr/>
            </p:nvSpPr>
            <p:spPr>
              <a:xfrm>
                <a:off x="3960000" y="3600000"/>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wrap="square" lIns="36000" tIns="36000" rIns="36000" bIns="3600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400" dirty="0">
                    <a:solidFill>
                      <a:schemeClr val="bg1"/>
                    </a:solidFill>
                    <a:latin typeface="Arial" pitchFamily="34" charset="0"/>
                    <a:cs typeface="Arial" pitchFamily="34" charset="0"/>
                  </a:rPr>
                  <a:t>Test</a:t>
                </a:r>
              </a:p>
            </p:txBody>
          </p:sp>
          <p:sp>
            <p:nvSpPr>
              <p:cNvPr id="42" name="Circular Arrow 42">
                <a:extLst>
                  <a:ext uri="{FF2B5EF4-FFF2-40B4-BE49-F238E27FC236}">
                    <a16:creationId xmlns:a16="http://schemas.microsoft.com/office/drawing/2014/main" id="{83FF212D-E863-4006-8542-E309E550EB96}"/>
                  </a:ext>
                </a:extLst>
              </p:cNvPr>
              <p:cNvSpPr>
                <a:spLocks/>
              </p:cNvSpPr>
              <p:nvPr/>
            </p:nvSpPr>
            <p:spPr>
              <a:xfrm>
                <a:off x="4140000" y="1368000"/>
                <a:ext cx="1080000" cy="1080000"/>
              </a:xfrm>
              <a:prstGeom prst="circularArrow">
                <a:avLst/>
              </a:prstGeom>
              <a:solidFill>
                <a:schemeClr val="accent1">
                  <a:lumMod val="20000"/>
                  <a:lumOff val="8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algn="ctr"/>
                <a:endParaRPr lang="en-GB" sz="1600" dirty="0">
                  <a:solidFill>
                    <a:schemeClr val="tx1"/>
                  </a:solidFill>
                  <a:latin typeface="Arial" pitchFamily="34" charset="0"/>
                  <a:cs typeface="Arial" pitchFamily="34" charset="0"/>
                </a:endParaRPr>
              </a:p>
            </p:txBody>
          </p:sp>
          <p:sp>
            <p:nvSpPr>
              <p:cNvPr id="43" name="Circular Arrow 43">
                <a:extLst>
                  <a:ext uri="{FF2B5EF4-FFF2-40B4-BE49-F238E27FC236}">
                    <a16:creationId xmlns:a16="http://schemas.microsoft.com/office/drawing/2014/main" id="{6708B21B-00BF-4AB6-8C65-89BCF700168E}"/>
                  </a:ext>
                </a:extLst>
              </p:cNvPr>
              <p:cNvSpPr>
                <a:spLocks/>
              </p:cNvSpPr>
              <p:nvPr/>
            </p:nvSpPr>
            <p:spPr>
              <a:xfrm>
                <a:off x="4140000" y="4140000"/>
                <a:ext cx="1080000" cy="1080000"/>
              </a:xfrm>
              <a:prstGeom prst="circularArrow">
                <a:avLst/>
              </a:prstGeom>
              <a:solidFill>
                <a:schemeClr val="accent1">
                  <a:lumMod val="20000"/>
                  <a:lumOff val="80000"/>
                </a:schemeClr>
              </a:solidFill>
              <a:scene3d>
                <a:camera prst="orthographicFront">
                  <a:rot lat="0" lon="0" rev="10799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algn="ctr"/>
                <a:endParaRPr lang="en-GB" sz="1600" dirty="0">
                  <a:solidFill>
                    <a:schemeClr val="tx1"/>
                  </a:solidFill>
                  <a:latin typeface="Arial" pitchFamily="34" charset="0"/>
                  <a:cs typeface="Arial" pitchFamily="34" charset="0"/>
                </a:endParaRPr>
              </a:p>
            </p:txBody>
          </p:sp>
          <p:sp>
            <p:nvSpPr>
              <p:cNvPr id="44" name="TextBox 43">
                <a:extLst>
                  <a:ext uri="{FF2B5EF4-FFF2-40B4-BE49-F238E27FC236}">
                    <a16:creationId xmlns:a16="http://schemas.microsoft.com/office/drawing/2014/main" id="{F446955D-DAAA-4807-9E5C-2E036D3CDE35}"/>
                  </a:ext>
                </a:extLst>
              </p:cNvPr>
              <p:cNvSpPr txBox="1"/>
              <p:nvPr/>
            </p:nvSpPr>
            <p:spPr>
              <a:xfrm>
                <a:off x="4320000" y="1126700"/>
                <a:ext cx="720000" cy="360000"/>
              </a:xfrm>
              <a:prstGeom prst="rect">
                <a:avLst/>
              </a:prstGeom>
              <a:noFill/>
            </p:spPr>
            <p:txBody>
              <a:bodyPr wrap="square" lIns="36000" tIns="36000" rIns="36000" bIns="36000" rtlCol="0" anchor="ctr">
                <a:spAutoFit/>
              </a:bodyPr>
              <a:lstStyle/>
              <a:p>
                <a:pPr algn="ctr" fontAlgn="auto">
                  <a:lnSpc>
                    <a:spcPct val="90000"/>
                  </a:lnSpc>
                  <a:spcBef>
                    <a:spcPts val="600"/>
                  </a:spcBef>
                  <a:spcAft>
                    <a:spcPts val="0"/>
                  </a:spcAft>
                  <a:buClr>
                    <a:schemeClr val="accent1"/>
                  </a:buClr>
                </a:pPr>
                <a:r>
                  <a:rPr lang="en-GB" sz="1400" b="1" dirty="0">
                    <a:latin typeface="Arial" pitchFamily="34" charset="0"/>
                    <a:cs typeface="Arial" pitchFamily="34" charset="0"/>
                  </a:rPr>
                  <a:t>Refine</a:t>
                </a:r>
              </a:p>
            </p:txBody>
          </p:sp>
          <p:sp>
            <p:nvSpPr>
              <p:cNvPr id="45" name="TextBox 44">
                <a:extLst>
                  <a:ext uri="{FF2B5EF4-FFF2-40B4-BE49-F238E27FC236}">
                    <a16:creationId xmlns:a16="http://schemas.microsoft.com/office/drawing/2014/main" id="{BD998B08-C70C-4A27-BD2B-18FB494122D9}"/>
                  </a:ext>
                </a:extLst>
              </p:cNvPr>
              <p:cNvSpPr txBox="1"/>
              <p:nvPr/>
            </p:nvSpPr>
            <p:spPr>
              <a:xfrm>
                <a:off x="4160467" y="4869816"/>
                <a:ext cx="1039066" cy="266602"/>
              </a:xfrm>
              <a:prstGeom prst="rect">
                <a:avLst/>
              </a:prstGeom>
              <a:noFill/>
            </p:spPr>
            <p:txBody>
              <a:bodyPr wrap="square" lIns="36000" tIns="36000" rIns="36000" bIns="36000" rtlCol="0" anchor="ctr">
                <a:spAutoFit/>
              </a:bodyPr>
              <a:lstStyle/>
              <a:p>
                <a:pPr algn="ctr" fontAlgn="auto">
                  <a:lnSpc>
                    <a:spcPct val="90000"/>
                  </a:lnSpc>
                  <a:spcBef>
                    <a:spcPts val="600"/>
                  </a:spcBef>
                  <a:spcAft>
                    <a:spcPts val="0"/>
                  </a:spcAft>
                  <a:buClr>
                    <a:schemeClr val="accent1"/>
                  </a:buClr>
                </a:pPr>
                <a:r>
                  <a:rPr lang="en-GB" sz="1400" b="1" dirty="0">
                    <a:latin typeface="Arial" pitchFamily="34" charset="0"/>
                    <a:cs typeface="Arial" pitchFamily="34" charset="0"/>
                  </a:rPr>
                  <a:t>Iteration 2</a:t>
                </a:r>
              </a:p>
            </p:txBody>
          </p:sp>
          <p:sp>
            <p:nvSpPr>
              <p:cNvPr id="46" name="TextBox 45">
                <a:extLst>
                  <a:ext uri="{FF2B5EF4-FFF2-40B4-BE49-F238E27FC236}">
                    <a16:creationId xmlns:a16="http://schemas.microsoft.com/office/drawing/2014/main" id="{F7D462D5-A8F0-4066-96CF-E91F604E9856}"/>
                  </a:ext>
                </a:extLst>
              </p:cNvPr>
              <p:cNvSpPr txBox="1"/>
              <p:nvPr/>
            </p:nvSpPr>
            <p:spPr>
              <a:xfrm>
                <a:off x="4320000" y="1666700"/>
                <a:ext cx="720000" cy="360000"/>
              </a:xfrm>
              <a:prstGeom prst="rect">
                <a:avLst/>
              </a:prstGeom>
              <a:noFill/>
            </p:spPr>
            <p:txBody>
              <a:bodyPr wrap="square" lIns="36000" tIns="36000" rIns="36000" bIns="36000" rtlCol="0" anchor="ctr">
                <a:spAutoFit/>
              </a:bodyPr>
              <a:lstStyle/>
              <a:p>
                <a:pPr algn="ctr" fontAlgn="auto">
                  <a:lnSpc>
                    <a:spcPct val="90000"/>
                  </a:lnSpc>
                  <a:spcBef>
                    <a:spcPts val="600"/>
                  </a:spcBef>
                  <a:spcAft>
                    <a:spcPts val="0"/>
                  </a:spcAft>
                  <a:buClr>
                    <a:schemeClr val="accent1"/>
                  </a:buClr>
                </a:pPr>
                <a:r>
                  <a:rPr lang="en-GB" sz="1200" b="1" dirty="0">
                    <a:latin typeface="Arial" pitchFamily="34" charset="0"/>
                    <a:cs typeface="Arial" pitchFamily="34" charset="0"/>
                  </a:rPr>
                  <a:t>Plan</a:t>
                </a:r>
              </a:p>
            </p:txBody>
          </p:sp>
          <p:sp>
            <p:nvSpPr>
              <p:cNvPr id="47" name="TextBox 46">
                <a:extLst>
                  <a:ext uri="{FF2B5EF4-FFF2-40B4-BE49-F238E27FC236}">
                    <a16:creationId xmlns:a16="http://schemas.microsoft.com/office/drawing/2014/main" id="{CEB2B814-FA85-4CB2-87F9-37DA4E5235DF}"/>
                  </a:ext>
                </a:extLst>
              </p:cNvPr>
              <p:cNvSpPr txBox="1"/>
              <p:nvPr/>
            </p:nvSpPr>
            <p:spPr>
              <a:xfrm>
                <a:off x="4398390" y="4186700"/>
                <a:ext cx="720000" cy="360000"/>
              </a:xfrm>
              <a:prstGeom prst="rect">
                <a:avLst/>
              </a:prstGeom>
              <a:noFill/>
            </p:spPr>
            <p:txBody>
              <a:bodyPr wrap="square" lIns="36000" tIns="36000" rIns="36000" bIns="36000" rtlCol="0" anchor="ctr">
                <a:spAutoFit/>
              </a:bodyPr>
              <a:lstStyle/>
              <a:p>
                <a:pPr algn="ctr" fontAlgn="auto">
                  <a:lnSpc>
                    <a:spcPct val="90000"/>
                  </a:lnSpc>
                  <a:spcBef>
                    <a:spcPts val="600"/>
                  </a:spcBef>
                  <a:spcAft>
                    <a:spcPts val="0"/>
                  </a:spcAft>
                  <a:buClr>
                    <a:schemeClr val="accent1"/>
                  </a:buClr>
                </a:pPr>
                <a:r>
                  <a:rPr lang="en-GB" sz="1200" b="1" dirty="0">
                    <a:latin typeface="Arial" pitchFamily="34" charset="0"/>
                    <a:cs typeface="Arial" pitchFamily="34" charset="0"/>
                  </a:rPr>
                  <a:t>Evaluate</a:t>
                </a:r>
              </a:p>
            </p:txBody>
          </p:sp>
        </p:grpSp>
        <p:sp>
          <p:nvSpPr>
            <p:cNvPr id="48" name="Right Arrow 51">
              <a:extLst>
                <a:ext uri="{FF2B5EF4-FFF2-40B4-BE49-F238E27FC236}">
                  <a16:creationId xmlns:a16="http://schemas.microsoft.com/office/drawing/2014/main" id="{10557FD4-7EF6-4294-B4BD-B3489D44208C}"/>
                </a:ext>
              </a:extLst>
            </p:cNvPr>
            <p:cNvSpPr/>
            <p:nvPr/>
          </p:nvSpPr>
          <p:spPr>
            <a:xfrm>
              <a:off x="6996000" y="2038012"/>
              <a:ext cx="720090" cy="540000"/>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algn="ctr"/>
              <a:endParaRPr lang="en-GB" sz="1600" dirty="0">
                <a:solidFill>
                  <a:schemeClr val="tx1"/>
                </a:solidFill>
                <a:latin typeface="Arial" pitchFamily="34" charset="0"/>
                <a:cs typeface="Arial" pitchFamily="34" charset="0"/>
              </a:endParaRPr>
            </a:p>
          </p:txBody>
        </p:sp>
        <p:grpSp>
          <p:nvGrpSpPr>
            <p:cNvPr id="49" name="Group 48">
              <a:extLst>
                <a:ext uri="{FF2B5EF4-FFF2-40B4-BE49-F238E27FC236}">
                  <a16:creationId xmlns:a16="http://schemas.microsoft.com/office/drawing/2014/main" id="{F98C24CF-68C7-417E-913F-689F9C1CA274}"/>
                </a:ext>
              </a:extLst>
            </p:cNvPr>
            <p:cNvGrpSpPr/>
            <p:nvPr/>
          </p:nvGrpSpPr>
          <p:grpSpPr>
            <a:xfrm>
              <a:off x="7896000" y="1138012"/>
              <a:ext cx="1440000" cy="4093301"/>
              <a:chOff x="3960000" y="1126699"/>
              <a:chExt cx="1440000" cy="4093301"/>
            </a:xfrm>
          </p:grpSpPr>
          <p:sp>
            <p:nvSpPr>
              <p:cNvPr id="50" name="Text Placeholder 4">
                <a:extLst>
                  <a:ext uri="{FF2B5EF4-FFF2-40B4-BE49-F238E27FC236}">
                    <a16:creationId xmlns:a16="http://schemas.microsoft.com/office/drawing/2014/main" id="{6512A083-9CA7-48E5-A8B6-A5F7583101D3}"/>
                  </a:ext>
                </a:extLst>
              </p:cNvPr>
              <p:cNvSpPr txBox="1">
                <a:spLocks/>
              </p:cNvSpPr>
              <p:nvPr/>
            </p:nvSpPr>
            <p:spPr>
              <a:xfrm>
                <a:off x="3960000" y="1980000"/>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wrap="square" lIns="36000" tIns="36000" rIns="36000" bIns="3600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400" dirty="0">
                    <a:solidFill>
                      <a:schemeClr val="bg1"/>
                    </a:solidFill>
                    <a:latin typeface="Arial" pitchFamily="34" charset="0"/>
                    <a:cs typeface="Arial" pitchFamily="34" charset="0"/>
                  </a:rPr>
                  <a:t>Requirements</a:t>
                </a:r>
              </a:p>
            </p:txBody>
          </p:sp>
          <p:sp>
            <p:nvSpPr>
              <p:cNvPr id="51" name="Text Placeholder 4">
                <a:extLst>
                  <a:ext uri="{FF2B5EF4-FFF2-40B4-BE49-F238E27FC236}">
                    <a16:creationId xmlns:a16="http://schemas.microsoft.com/office/drawing/2014/main" id="{A44474C5-9590-4B33-9BBF-DE251F70E617}"/>
                  </a:ext>
                </a:extLst>
              </p:cNvPr>
              <p:cNvSpPr txBox="1">
                <a:spLocks/>
              </p:cNvSpPr>
              <p:nvPr/>
            </p:nvSpPr>
            <p:spPr>
              <a:xfrm>
                <a:off x="3960000" y="2520000"/>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wrap="square" lIns="36000" tIns="36000" rIns="36000" bIns="3600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400" dirty="0">
                    <a:solidFill>
                      <a:schemeClr val="bg1"/>
                    </a:solidFill>
                    <a:latin typeface="Arial" pitchFamily="34" charset="0"/>
                    <a:cs typeface="Arial" pitchFamily="34" charset="0"/>
                  </a:rPr>
                  <a:t>Analysis and design</a:t>
                </a:r>
              </a:p>
            </p:txBody>
          </p:sp>
          <p:sp>
            <p:nvSpPr>
              <p:cNvPr id="52" name="Text Placeholder 4">
                <a:extLst>
                  <a:ext uri="{FF2B5EF4-FFF2-40B4-BE49-F238E27FC236}">
                    <a16:creationId xmlns:a16="http://schemas.microsoft.com/office/drawing/2014/main" id="{CCFA3766-DCB3-4A60-AE51-B92D7E658B1E}"/>
                  </a:ext>
                </a:extLst>
              </p:cNvPr>
              <p:cNvSpPr txBox="1">
                <a:spLocks/>
              </p:cNvSpPr>
              <p:nvPr/>
            </p:nvSpPr>
            <p:spPr>
              <a:xfrm>
                <a:off x="3960000" y="3060000"/>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wrap="square" lIns="36000" tIns="36000" rIns="36000" bIns="3600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400" dirty="0">
                    <a:solidFill>
                      <a:schemeClr val="bg1"/>
                    </a:solidFill>
                    <a:latin typeface="Arial" pitchFamily="34" charset="0"/>
                    <a:cs typeface="Arial" pitchFamily="34" charset="0"/>
                  </a:rPr>
                  <a:t>Development</a:t>
                </a:r>
              </a:p>
            </p:txBody>
          </p:sp>
          <p:sp>
            <p:nvSpPr>
              <p:cNvPr id="53" name="Text Placeholder 4">
                <a:extLst>
                  <a:ext uri="{FF2B5EF4-FFF2-40B4-BE49-F238E27FC236}">
                    <a16:creationId xmlns:a16="http://schemas.microsoft.com/office/drawing/2014/main" id="{69B7B120-BA87-4DCE-BD77-FC94F66CDB36}"/>
                  </a:ext>
                </a:extLst>
              </p:cNvPr>
              <p:cNvSpPr txBox="1">
                <a:spLocks/>
              </p:cNvSpPr>
              <p:nvPr/>
            </p:nvSpPr>
            <p:spPr>
              <a:xfrm>
                <a:off x="3960000" y="3600000"/>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wrap="square" lIns="36000" tIns="36000" rIns="36000" bIns="3600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400" dirty="0">
                    <a:solidFill>
                      <a:schemeClr val="bg1"/>
                    </a:solidFill>
                    <a:latin typeface="Arial" pitchFamily="34" charset="0"/>
                    <a:cs typeface="Arial" pitchFamily="34" charset="0"/>
                  </a:rPr>
                  <a:t>Test</a:t>
                </a:r>
              </a:p>
            </p:txBody>
          </p:sp>
          <p:sp>
            <p:nvSpPr>
              <p:cNvPr id="54" name="Circular Arrow 57">
                <a:extLst>
                  <a:ext uri="{FF2B5EF4-FFF2-40B4-BE49-F238E27FC236}">
                    <a16:creationId xmlns:a16="http://schemas.microsoft.com/office/drawing/2014/main" id="{C98F8ED0-0BF1-42D7-A623-687AE613B32C}"/>
                  </a:ext>
                </a:extLst>
              </p:cNvPr>
              <p:cNvSpPr>
                <a:spLocks/>
              </p:cNvSpPr>
              <p:nvPr/>
            </p:nvSpPr>
            <p:spPr>
              <a:xfrm>
                <a:off x="4140000" y="1368000"/>
                <a:ext cx="1080000" cy="1080000"/>
              </a:xfrm>
              <a:prstGeom prst="circularArrow">
                <a:avLst/>
              </a:prstGeom>
              <a:solidFill>
                <a:schemeClr val="accent1">
                  <a:lumMod val="20000"/>
                  <a:lumOff val="8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algn="ctr"/>
                <a:endParaRPr lang="en-GB" sz="1600" dirty="0">
                  <a:solidFill>
                    <a:schemeClr val="tx1"/>
                  </a:solidFill>
                  <a:latin typeface="Arial" pitchFamily="34" charset="0"/>
                  <a:cs typeface="Arial" pitchFamily="34" charset="0"/>
                </a:endParaRPr>
              </a:p>
            </p:txBody>
          </p:sp>
          <p:sp>
            <p:nvSpPr>
              <p:cNvPr id="55" name="Circular Arrow 58">
                <a:extLst>
                  <a:ext uri="{FF2B5EF4-FFF2-40B4-BE49-F238E27FC236}">
                    <a16:creationId xmlns:a16="http://schemas.microsoft.com/office/drawing/2014/main" id="{53E03BD8-641A-4BFF-A311-6B0F0CF9FCD2}"/>
                  </a:ext>
                </a:extLst>
              </p:cNvPr>
              <p:cNvSpPr>
                <a:spLocks/>
              </p:cNvSpPr>
              <p:nvPr/>
            </p:nvSpPr>
            <p:spPr>
              <a:xfrm>
                <a:off x="4140000" y="4140000"/>
                <a:ext cx="1080000" cy="1080000"/>
              </a:xfrm>
              <a:prstGeom prst="circularArrow">
                <a:avLst/>
              </a:prstGeom>
              <a:solidFill>
                <a:schemeClr val="accent1">
                  <a:lumMod val="20000"/>
                  <a:lumOff val="80000"/>
                </a:schemeClr>
              </a:solidFill>
              <a:scene3d>
                <a:camera prst="orthographicFront">
                  <a:rot lat="0" lon="0" rev="10799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algn="ctr"/>
                <a:endParaRPr lang="en-GB" sz="1600" dirty="0">
                  <a:solidFill>
                    <a:schemeClr val="tx1"/>
                  </a:solidFill>
                  <a:latin typeface="Arial" pitchFamily="34" charset="0"/>
                  <a:cs typeface="Arial" pitchFamily="34" charset="0"/>
                </a:endParaRPr>
              </a:p>
            </p:txBody>
          </p:sp>
          <p:sp>
            <p:nvSpPr>
              <p:cNvPr id="56" name="TextBox 55">
                <a:extLst>
                  <a:ext uri="{FF2B5EF4-FFF2-40B4-BE49-F238E27FC236}">
                    <a16:creationId xmlns:a16="http://schemas.microsoft.com/office/drawing/2014/main" id="{F4554344-9FA2-4308-8BEE-FCB1DCEECDD1}"/>
                  </a:ext>
                </a:extLst>
              </p:cNvPr>
              <p:cNvSpPr txBox="1"/>
              <p:nvPr/>
            </p:nvSpPr>
            <p:spPr>
              <a:xfrm>
                <a:off x="3960000" y="1126699"/>
                <a:ext cx="1440000" cy="360000"/>
              </a:xfrm>
              <a:prstGeom prst="rect">
                <a:avLst/>
              </a:prstGeom>
              <a:noFill/>
            </p:spPr>
            <p:txBody>
              <a:bodyPr wrap="square" lIns="36000" tIns="36000" rIns="36000" bIns="36000" rtlCol="0" anchor="ctr">
                <a:spAutoFit/>
              </a:bodyPr>
              <a:lstStyle/>
              <a:p>
                <a:pPr algn="ctr" fontAlgn="auto">
                  <a:lnSpc>
                    <a:spcPct val="90000"/>
                  </a:lnSpc>
                  <a:spcBef>
                    <a:spcPts val="600"/>
                  </a:spcBef>
                  <a:spcAft>
                    <a:spcPts val="0"/>
                  </a:spcAft>
                  <a:buClr>
                    <a:schemeClr val="accent1"/>
                  </a:buClr>
                </a:pPr>
                <a:r>
                  <a:rPr lang="en-GB" sz="1400" b="1" dirty="0">
                    <a:latin typeface="Arial" pitchFamily="34" charset="0"/>
                    <a:cs typeface="Arial" pitchFamily="34" charset="0"/>
                  </a:rPr>
                  <a:t>Consolidate</a:t>
                </a:r>
              </a:p>
            </p:txBody>
          </p:sp>
          <p:sp>
            <p:nvSpPr>
              <p:cNvPr id="57" name="TextBox 56">
                <a:extLst>
                  <a:ext uri="{FF2B5EF4-FFF2-40B4-BE49-F238E27FC236}">
                    <a16:creationId xmlns:a16="http://schemas.microsoft.com/office/drawing/2014/main" id="{A56C092B-FD6D-4C5A-A6EE-463EFF5D8738}"/>
                  </a:ext>
                </a:extLst>
              </p:cNvPr>
              <p:cNvSpPr txBox="1"/>
              <p:nvPr/>
            </p:nvSpPr>
            <p:spPr>
              <a:xfrm>
                <a:off x="4160467" y="4869816"/>
                <a:ext cx="1039066" cy="266602"/>
              </a:xfrm>
              <a:prstGeom prst="rect">
                <a:avLst/>
              </a:prstGeom>
              <a:noFill/>
            </p:spPr>
            <p:txBody>
              <a:bodyPr wrap="square" lIns="36000" tIns="36000" rIns="36000" bIns="36000" rtlCol="0" anchor="ctr">
                <a:spAutoFit/>
              </a:bodyPr>
              <a:lstStyle/>
              <a:p>
                <a:pPr algn="ctr" fontAlgn="auto">
                  <a:lnSpc>
                    <a:spcPct val="90000"/>
                  </a:lnSpc>
                  <a:spcBef>
                    <a:spcPts val="600"/>
                  </a:spcBef>
                  <a:spcAft>
                    <a:spcPts val="0"/>
                  </a:spcAft>
                  <a:buClr>
                    <a:schemeClr val="accent1"/>
                  </a:buClr>
                </a:pPr>
                <a:r>
                  <a:rPr lang="en-GB" sz="1400" b="1" dirty="0">
                    <a:latin typeface="Arial" pitchFamily="34" charset="0"/>
                    <a:cs typeface="Arial" pitchFamily="34" charset="0"/>
                  </a:rPr>
                  <a:t>Iteration 3</a:t>
                </a:r>
              </a:p>
            </p:txBody>
          </p:sp>
          <p:sp>
            <p:nvSpPr>
              <p:cNvPr id="58" name="TextBox 57">
                <a:extLst>
                  <a:ext uri="{FF2B5EF4-FFF2-40B4-BE49-F238E27FC236}">
                    <a16:creationId xmlns:a16="http://schemas.microsoft.com/office/drawing/2014/main" id="{A735A2CF-75CC-4673-908A-78D8CE1D58CE}"/>
                  </a:ext>
                </a:extLst>
              </p:cNvPr>
              <p:cNvSpPr txBox="1"/>
              <p:nvPr/>
            </p:nvSpPr>
            <p:spPr>
              <a:xfrm>
                <a:off x="4319999" y="1666699"/>
                <a:ext cx="720000" cy="360000"/>
              </a:xfrm>
              <a:prstGeom prst="rect">
                <a:avLst/>
              </a:prstGeom>
              <a:noFill/>
            </p:spPr>
            <p:txBody>
              <a:bodyPr wrap="square" lIns="36000" tIns="36000" rIns="36000" bIns="36000" rtlCol="0" anchor="ctr">
                <a:spAutoFit/>
              </a:bodyPr>
              <a:lstStyle/>
              <a:p>
                <a:pPr algn="ctr" fontAlgn="auto">
                  <a:lnSpc>
                    <a:spcPct val="90000"/>
                  </a:lnSpc>
                  <a:spcBef>
                    <a:spcPts val="600"/>
                  </a:spcBef>
                  <a:spcAft>
                    <a:spcPts val="0"/>
                  </a:spcAft>
                  <a:buClr>
                    <a:schemeClr val="accent1"/>
                  </a:buClr>
                </a:pPr>
                <a:r>
                  <a:rPr lang="en-GB" sz="1200" b="1" dirty="0">
                    <a:latin typeface="Arial" pitchFamily="34" charset="0"/>
                    <a:cs typeface="Arial" pitchFamily="34" charset="0"/>
                  </a:rPr>
                  <a:t>Plan</a:t>
                </a:r>
              </a:p>
            </p:txBody>
          </p:sp>
          <p:sp>
            <p:nvSpPr>
              <p:cNvPr id="59" name="TextBox 58">
                <a:extLst>
                  <a:ext uri="{FF2B5EF4-FFF2-40B4-BE49-F238E27FC236}">
                    <a16:creationId xmlns:a16="http://schemas.microsoft.com/office/drawing/2014/main" id="{A35EAEB7-B2B9-4CAA-9ED9-998149B9F8AF}"/>
                  </a:ext>
                </a:extLst>
              </p:cNvPr>
              <p:cNvSpPr txBox="1"/>
              <p:nvPr/>
            </p:nvSpPr>
            <p:spPr>
              <a:xfrm>
                <a:off x="4377698" y="4186699"/>
                <a:ext cx="720000" cy="360000"/>
              </a:xfrm>
              <a:prstGeom prst="rect">
                <a:avLst/>
              </a:prstGeom>
              <a:noFill/>
            </p:spPr>
            <p:txBody>
              <a:bodyPr wrap="square" lIns="36000" tIns="36000" rIns="36000" bIns="36000" rtlCol="0" anchor="ctr">
                <a:spAutoFit/>
              </a:bodyPr>
              <a:lstStyle/>
              <a:p>
                <a:pPr algn="ctr" fontAlgn="auto">
                  <a:lnSpc>
                    <a:spcPct val="90000"/>
                  </a:lnSpc>
                  <a:spcBef>
                    <a:spcPts val="600"/>
                  </a:spcBef>
                  <a:spcAft>
                    <a:spcPts val="0"/>
                  </a:spcAft>
                  <a:buClr>
                    <a:schemeClr val="accent1"/>
                  </a:buClr>
                </a:pPr>
                <a:r>
                  <a:rPr lang="en-GB" sz="1200" b="1" dirty="0">
                    <a:latin typeface="Arial" pitchFamily="34" charset="0"/>
                    <a:cs typeface="Arial" pitchFamily="34" charset="0"/>
                  </a:rPr>
                  <a:t>Evaluate</a:t>
                </a:r>
              </a:p>
            </p:txBody>
          </p:sp>
        </p:grpSp>
        <p:sp>
          <p:nvSpPr>
            <p:cNvPr id="60" name="Right Arrow 63">
              <a:extLst>
                <a:ext uri="{FF2B5EF4-FFF2-40B4-BE49-F238E27FC236}">
                  <a16:creationId xmlns:a16="http://schemas.microsoft.com/office/drawing/2014/main" id="{82ECFC37-031F-4A2B-BD29-20A2518C60C4}"/>
                </a:ext>
              </a:extLst>
            </p:cNvPr>
            <p:cNvSpPr/>
            <p:nvPr/>
          </p:nvSpPr>
          <p:spPr>
            <a:xfrm>
              <a:off x="4476000" y="2038012"/>
              <a:ext cx="720090" cy="540000"/>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algn="ctr"/>
              <a:endParaRPr lang="en-GB" sz="1600" dirty="0">
                <a:solidFill>
                  <a:schemeClr val="tx1"/>
                </a:solidFill>
                <a:latin typeface="Arial" pitchFamily="34" charset="0"/>
                <a:cs typeface="Arial" pitchFamily="34" charset="0"/>
              </a:endParaRPr>
            </a:p>
          </p:txBody>
        </p:sp>
        <p:sp>
          <p:nvSpPr>
            <p:cNvPr id="61" name="Right Arrow 64">
              <a:extLst>
                <a:ext uri="{FF2B5EF4-FFF2-40B4-BE49-F238E27FC236}">
                  <a16:creationId xmlns:a16="http://schemas.microsoft.com/office/drawing/2014/main" id="{8B2F0CF9-3B59-41D3-9B22-0EF34F97A37E}"/>
                </a:ext>
              </a:extLst>
            </p:cNvPr>
            <p:cNvSpPr/>
            <p:nvPr/>
          </p:nvSpPr>
          <p:spPr>
            <a:xfrm>
              <a:off x="9516000" y="2038012"/>
              <a:ext cx="720090" cy="540000"/>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algn="ctr"/>
              <a:endParaRPr lang="en-GB" sz="1600" dirty="0">
                <a:solidFill>
                  <a:schemeClr val="tx1"/>
                </a:solidFill>
                <a:latin typeface="Arial" pitchFamily="34" charset="0"/>
                <a:cs typeface="Arial" pitchFamily="34" charset="0"/>
              </a:endParaRPr>
            </a:p>
          </p:txBody>
        </p:sp>
        <p:sp>
          <p:nvSpPr>
            <p:cNvPr id="62" name="TextBox 61">
              <a:extLst>
                <a:ext uri="{FF2B5EF4-FFF2-40B4-BE49-F238E27FC236}">
                  <a16:creationId xmlns:a16="http://schemas.microsoft.com/office/drawing/2014/main" id="{DAD335CD-C62B-44E3-B475-67D0B25E7525}"/>
                </a:ext>
              </a:extLst>
            </p:cNvPr>
            <p:cNvSpPr txBox="1"/>
            <p:nvPr/>
          </p:nvSpPr>
          <p:spPr>
            <a:xfrm>
              <a:off x="9516000" y="2731224"/>
              <a:ext cx="1080000" cy="413577"/>
            </a:xfrm>
            <a:prstGeom prst="rect">
              <a:avLst/>
            </a:prstGeom>
            <a:noFill/>
          </p:spPr>
          <p:txBody>
            <a:bodyPr wrap="square" lIns="36000" tIns="36000" rIns="36000" bIns="36000" rtlCol="0" anchor="ctr">
              <a:spAutoFit/>
            </a:bodyPr>
            <a:lstStyle/>
            <a:p>
              <a:pPr algn="ctr" fontAlgn="auto">
                <a:lnSpc>
                  <a:spcPct val="90000"/>
                </a:lnSpc>
                <a:spcBef>
                  <a:spcPts val="600"/>
                </a:spcBef>
                <a:spcAft>
                  <a:spcPts val="0"/>
                </a:spcAft>
                <a:buClr>
                  <a:schemeClr val="accent1"/>
                </a:buClr>
              </a:pPr>
              <a:r>
                <a:rPr lang="en-GB" sz="1400" b="1" dirty="0">
                  <a:latin typeface="Arial" pitchFamily="34" charset="0"/>
                  <a:cs typeface="Arial" pitchFamily="34" charset="0"/>
                </a:rPr>
                <a:t>External release</a:t>
              </a:r>
            </a:p>
          </p:txBody>
        </p:sp>
        <p:sp>
          <p:nvSpPr>
            <p:cNvPr id="63" name="Flowchart: Data 62">
              <a:extLst>
                <a:ext uri="{FF2B5EF4-FFF2-40B4-BE49-F238E27FC236}">
                  <a16:creationId xmlns:a16="http://schemas.microsoft.com/office/drawing/2014/main" id="{5FFF9A0B-1FC1-4778-A4E0-4D24D833C3C4}"/>
                </a:ext>
              </a:extLst>
            </p:cNvPr>
            <p:cNvSpPr/>
            <p:nvPr/>
          </p:nvSpPr>
          <p:spPr>
            <a:xfrm>
              <a:off x="4476000" y="2758012"/>
              <a:ext cx="720000" cy="720000"/>
            </a:xfrm>
            <a:prstGeom prst="flowChartInputOutpu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GB" dirty="0">
                <a:solidFill>
                  <a:schemeClr val="tx1"/>
                </a:solidFill>
                <a:latin typeface="Arial" pitchFamily="34" charset="0"/>
                <a:cs typeface="Arial" pitchFamily="34" charset="0"/>
              </a:endParaRPr>
            </a:p>
          </p:txBody>
        </p:sp>
        <p:sp>
          <p:nvSpPr>
            <p:cNvPr id="64" name="TextBox 63">
              <a:extLst>
                <a:ext uri="{FF2B5EF4-FFF2-40B4-BE49-F238E27FC236}">
                  <a16:creationId xmlns:a16="http://schemas.microsoft.com/office/drawing/2014/main" id="{746E996F-E961-4E3B-B87A-A4941FADB4D6}"/>
                </a:ext>
              </a:extLst>
            </p:cNvPr>
            <p:cNvSpPr txBox="1"/>
            <p:nvPr/>
          </p:nvSpPr>
          <p:spPr>
            <a:xfrm>
              <a:off x="4476000" y="3635461"/>
              <a:ext cx="720000" cy="360000"/>
            </a:xfrm>
            <a:prstGeom prst="rect">
              <a:avLst/>
            </a:prstGeom>
            <a:noFill/>
          </p:spPr>
          <p:txBody>
            <a:bodyPr wrap="square" lIns="36000" tIns="36000" rIns="36000" bIns="36000" rtlCol="0" anchor="ctr">
              <a:noAutofit/>
            </a:bodyPr>
            <a:lstStyle/>
            <a:p>
              <a:pPr algn="ctr" fontAlgn="auto">
                <a:lnSpc>
                  <a:spcPct val="90000"/>
                </a:lnSpc>
                <a:spcBef>
                  <a:spcPts val="600"/>
                </a:spcBef>
                <a:spcAft>
                  <a:spcPts val="0"/>
                </a:spcAft>
                <a:buClr>
                  <a:schemeClr val="accent1"/>
                </a:buClr>
              </a:pPr>
              <a:r>
                <a:rPr lang="en-GB" sz="1200" b="1" dirty="0">
                  <a:latin typeface="Arial" pitchFamily="34" charset="0"/>
                  <a:cs typeface="Arial" pitchFamily="34" charset="0"/>
                </a:rPr>
                <a:t>Iteration Release</a:t>
              </a:r>
            </a:p>
          </p:txBody>
        </p:sp>
        <p:sp>
          <p:nvSpPr>
            <p:cNvPr id="65" name="TextBox 64">
              <a:extLst>
                <a:ext uri="{FF2B5EF4-FFF2-40B4-BE49-F238E27FC236}">
                  <a16:creationId xmlns:a16="http://schemas.microsoft.com/office/drawing/2014/main" id="{A1B6F9E3-B4E4-4C4F-8DD0-54E13C5F16DA}"/>
                </a:ext>
              </a:extLst>
            </p:cNvPr>
            <p:cNvSpPr txBox="1"/>
            <p:nvPr/>
          </p:nvSpPr>
          <p:spPr>
            <a:xfrm>
              <a:off x="6996000" y="3658012"/>
              <a:ext cx="720000" cy="360000"/>
            </a:xfrm>
            <a:prstGeom prst="rect">
              <a:avLst/>
            </a:prstGeom>
            <a:noFill/>
          </p:spPr>
          <p:txBody>
            <a:bodyPr wrap="square" lIns="36000" tIns="36000" rIns="36000" bIns="36000" rtlCol="0" anchor="ctr">
              <a:noAutofit/>
            </a:bodyPr>
            <a:lstStyle/>
            <a:p>
              <a:pPr algn="ctr" fontAlgn="auto">
                <a:lnSpc>
                  <a:spcPct val="90000"/>
                </a:lnSpc>
                <a:spcBef>
                  <a:spcPts val="600"/>
                </a:spcBef>
                <a:spcAft>
                  <a:spcPts val="0"/>
                </a:spcAft>
                <a:buClr>
                  <a:schemeClr val="accent1"/>
                </a:buClr>
              </a:pPr>
              <a:r>
                <a:rPr lang="en-GB" sz="1200" b="1" dirty="0">
                  <a:latin typeface="Arial" pitchFamily="34" charset="0"/>
                  <a:cs typeface="Arial" pitchFamily="34" charset="0"/>
                </a:rPr>
                <a:t>Iteration Release</a:t>
              </a:r>
            </a:p>
          </p:txBody>
        </p:sp>
        <p:sp>
          <p:nvSpPr>
            <p:cNvPr id="66" name="Flowchart: Data 65">
              <a:extLst>
                <a:ext uri="{FF2B5EF4-FFF2-40B4-BE49-F238E27FC236}">
                  <a16:creationId xmlns:a16="http://schemas.microsoft.com/office/drawing/2014/main" id="{EF4B6F92-6582-40F4-98D0-A43284C73BC7}"/>
                </a:ext>
              </a:extLst>
            </p:cNvPr>
            <p:cNvSpPr/>
            <p:nvPr/>
          </p:nvSpPr>
          <p:spPr>
            <a:xfrm>
              <a:off x="6996000" y="2758012"/>
              <a:ext cx="720000" cy="720000"/>
            </a:xfrm>
            <a:prstGeom prst="flowChartInputOutpu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GB" dirty="0">
                <a:solidFill>
                  <a:schemeClr val="tx1"/>
                </a:solidFill>
                <a:latin typeface="Arial" pitchFamily="34" charset="0"/>
                <a:cs typeface="Arial" pitchFamily="34" charset="0"/>
              </a:endParaRPr>
            </a:p>
          </p:txBody>
        </p:sp>
      </p:grpSp>
    </p:spTree>
    <p:extLst>
      <p:ext uri="{BB962C8B-B14F-4D97-AF65-F5344CB8AC3E}">
        <p14:creationId xmlns:p14="http://schemas.microsoft.com/office/powerpoint/2010/main" val="3267931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2C54C1-76B9-2375-4801-CC3B36BF5661}"/>
              </a:ext>
            </a:extLst>
          </p:cNvPr>
          <p:cNvSpPr>
            <a:spLocks noGrp="1"/>
          </p:cNvSpPr>
          <p:nvPr>
            <p:ph type="sldNum" sz="quarter" idx="4"/>
          </p:nvPr>
        </p:nvSpPr>
        <p:spPr/>
        <p:txBody>
          <a:bodyPr/>
          <a:lstStyle/>
          <a:p>
            <a:fld id="{EF892D59-8F09-EF4B-AD6D-DA609442F868}" type="slidenum">
              <a:rPr lang="en-GB" smtClean="0"/>
              <a:pPr/>
              <a:t>17</a:t>
            </a:fld>
            <a:endParaRPr lang="en-GB"/>
          </a:p>
        </p:txBody>
      </p:sp>
      <p:sp>
        <p:nvSpPr>
          <p:cNvPr id="3" name="Text Placeholder 2">
            <a:extLst>
              <a:ext uri="{FF2B5EF4-FFF2-40B4-BE49-F238E27FC236}">
                <a16:creationId xmlns:a16="http://schemas.microsoft.com/office/drawing/2014/main" id="{B8A7BE82-FE13-EE49-4D7D-1336A831EC96}"/>
              </a:ext>
            </a:extLst>
          </p:cNvPr>
          <p:cNvSpPr>
            <a:spLocks noGrp="1"/>
          </p:cNvSpPr>
          <p:nvPr>
            <p:ph type="body" sz="quarter" idx="12"/>
          </p:nvPr>
        </p:nvSpPr>
        <p:spPr/>
        <p:txBody>
          <a:bodyPr/>
          <a:lstStyle/>
          <a:p>
            <a:r>
              <a:rPr lang="en-GB" dirty="0"/>
              <a:t>Iterative real-life example</a:t>
            </a:r>
          </a:p>
        </p:txBody>
      </p:sp>
      <p:sp>
        <p:nvSpPr>
          <p:cNvPr id="5" name="TextBox 4">
            <a:extLst>
              <a:ext uri="{FF2B5EF4-FFF2-40B4-BE49-F238E27FC236}">
                <a16:creationId xmlns:a16="http://schemas.microsoft.com/office/drawing/2014/main" id="{BF42067C-D625-E582-9E3A-A5D291CB2A05}"/>
              </a:ext>
            </a:extLst>
          </p:cNvPr>
          <p:cNvSpPr txBox="1"/>
          <p:nvPr/>
        </p:nvSpPr>
        <p:spPr>
          <a:xfrm>
            <a:off x="778934" y="1723662"/>
            <a:ext cx="9674578" cy="923330"/>
          </a:xfrm>
          <a:prstGeom prst="rect">
            <a:avLst/>
          </a:prstGeom>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b="1" i="0" dirty="0">
                <a:solidFill>
                  <a:srgbClr val="0F0F0F"/>
                </a:solidFill>
                <a:effectLst/>
                <a:latin typeface="Söhne"/>
              </a:rPr>
              <a:t>Involves gradually building up features. </a:t>
            </a:r>
            <a:br>
              <a:rPr lang="en-GB" b="1" i="0" dirty="0">
                <a:solidFill>
                  <a:srgbClr val="0F0F0F"/>
                </a:solidFill>
                <a:effectLst/>
                <a:latin typeface="Söhne"/>
              </a:rPr>
            </a:br>
            <a:r>
              <a:rPr lang="en-GB" b="0" i="0" dirty="0">
                <a:solidFill>
                  <a:srgbClr val="0F0F0F"/>
                </a:solidFill>
                <a:effectLst/>
                <a:latin typeface="Söhne"/>
              </a:rPr>
              <a:t>Teams release basic versions of features and enhance them in subsequent iterations, </a:t>
            </a:r>
            <a:br>
              <a:rPr lang="en-GB" b="0" i="0" dirty="0">
                <a:solidFill>
                  <a:srgbClr val="0F0F0F"/>
                </a:solidFill>
                <a:effectLst/>
                <a:latin typeface="Söhne"/>
              </a:rPr>
            </a:br>
            <a:r>
              <a:rPr lang="en-GB" b="0" i="0" dirty="0">
                <a:solidFill>
                  <a:srgbClr val="0F0F0F"/>
                </a:solidFill>
                <a:effectLst/>
                <a:latin typeface="Söhne"/>
              </a:rPr>
              <a:t>incorporating feedback and making improvements based on stakeholders’ input and reviews </a:t>
            </a:r>
            <a:endParaRPr lang="en-GB" dirty="0"/>
          </a:p>
        </p:txBody>
      </p:sp>
      <p:sp>
        <p:nvSpPr>
          <p:cNvPr id="6" name="TextBox 5">
            <a:extLst>
              <a:ext uri="{FF2B5EF4-FFF2-40B4-BE49-F238E27FC236}">
                <a16:creationId xmlns:a16="http://schemas.microsoft.com/office/drawing/2014/main" id="{90093DB9-C247-C6D7-1A20-345E6096D1B1}"/>
              </a:ext>
            </a:extLst>
          </p:cNvPr>
          <p:cNvSpPr txBox="1"/>
          <p:nvPr/>
        </p:nvSpPr>
        <p:spPr>
          <a:xfrm>
            <a:off x="778933" y="3038818"/>
            <a:ext cx="9674578" cy="1754326"/>
          </a:xfrm>
          <a:prstGeom prst="rect">
            <a:avLst/>
          </a:prstGeom>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defPPr>
              <a:defRPr lang="en-US"/>
            </a:defPPr>
            <a:lvl1pPr>
              <a:defRPr b="0" i="0">
                <a:solidFill>
                  <a:srgbClr val="0F0F0F"/>
                </a:solidFill>
                <a:effectLst/>
                <a:latin typeface="Söhne"/>
              </a:defRPr>
            </a:lvl1pPr>
          </a:lstStyle>
          <a:p>
            <a:r>
              <a:rPr lang="en-GB" dirty="0"/>
              <a:t>For example, in building an e-commerce website iteratively, </a:t>
            </a:r>
            <a:br>
              <a:rPr lang="en-GB" dirty="0"/>
            </a:br>
            <a:r>
              <a:rPr lang="en-GB" dirty="0"/>
              <a:t>the initial release includes stripped-down versions of features like </a:t>
            </a:r>
          </a:p>
          <a:p>
            <a:r>
              <a:rPr lang="en-GB" dirty="0"/>
              <a:t>Search, Product information, Cart management, Checkout, favourites, and reviews. </a:t>
            </a:r>
            <a:br>
              <a:rPr lang="en-GB" dirty="0"/>
            </a:br>
            <a:br>
              <a:rPr lang="en-GB" dirty="0"/>
            </a:br>
            <a:r>
              <a:rPr lang="en-GB" dirty="0"/>
              <a:t>Subsequent releases improve existing functionality, add new features, and may eliminate low-value areas based on feedback and evolving requirements.</a:t>
            </a:r>
          </a:p>
        </p:txBody>
      </p:sp>
    </p:spTree>
    <p:extLst>
      <p:ext uri="{BB962C8B-B14F-4D97-AF65-F5344CB8AC3E}">
        <p14:creationId xmlns:p14="http://schemas.microsoft.com/office/powerpoint/2010/main" val="1831363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2580128-EA20-4321-AC04-790874A96B9D}"/>
              </a:ext>
            </a:extLst>
          </p:cNvPr>
          <p:cNvSpPr>
            <a:spLocks noGrp="1"/>
          </p:cNvSpPr>
          <p:nvPr>
            <p:ph type="body" sz="quarter" idx="12"/>
          </p:nvPr>
        </p:nvSpPr>
        <p:spPr>
          <a:xfrm>
            <a:off x="1212111" y="275422"/>
            <a:ext cx="10595714" cy="612571"/>
          </a:xfrm>
        </p:spPr>
        <p:txBody>
          <a:bodyPr/>
          <a:lstStyle/>
          <a:p>
            <a:r>
              <a:rPr lang="en-GB" sz="2600" dirty="0"/>
              <a:t>Iterative: Strengths and weaknesses</a:t>
            </a:r>
          </a:p>
        </p:txBody>
      </p:sp>
      <p:graphicFrame>
        <p:nvGraphicFramePr>
          <p:cNvPr id="9" name="Diagram 8">
            <a:extLst>
              <a:ext uri="{FF2B5EF4-FFF2-40B4-BE49-F238E27FC236}">
                <a16:creationId xmlns:a16="http://schemas.microsoft.com/office/drawing/2014/main" id="{93069F1D-4FFA-498D-B177-5ADA6E472A09}"/>
              </a:ext>
            </a:extLst>
          </p:cNvPr>
          <p:cNvGraphicFramePr/>
          <p:nvPr>
            <p:extLst>
              <p:ext uri="{D42A27DB-BD31-4B8C-83A1-F6EECF244321}">
                <p14:modId xmlns:p14="http://schemas.microsoft.com/office/powerpoint/2010/main" val="3288094420"/>
              </p:ext>
            </p:extLst>
          </p:nvPr>
        </p:nvGraphicFramePr>
        <p:xfrm>
          <a:off x="1244182" y="377612"/>
          <a:ext cx="9703635" cy="64803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479916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D15F0-FF7D-4C21-9CAC-35BEBB4FB1DD}"/>
              </a:ext>
            </a:extLst>
          </p:cNvPr>
          <p:cNvSpPr>
            <a:spLocks noGrp="1"/>
          </p:cNvSpPr>
          <p:nvPr>
            <p:ph type="title" idx="4294967295"/>
          </p:nvPr>
        </p:nvSpPr>
        <p:spPr>
          <a:xfrm>
            <a:off x="1189824" y="303787"/>
            <a:ext cx="4483865" cy="687387"/>
          </a:xfrm>
        </p:spPr>
        <p:txBody>
          <a:bodyPr/>
          <a:lstStyle/>
          <a:p>
            <a:r>
              <a:rPr lang="en-GB" dirty="0"/>
              <a:t>Agile manifesto</a:t>
            </a:r>
          </a:p>
        </p:txBody>
      </p:sp>
      <p:sp>
        <p:nvSpPr>
          <p:cNvPr id="25" name="TextBox 24">
            <a:extLst>
              <a:ext uri="{FF2B5EF4-FFF2-40B4-BE49-F238E27FC236}">
                <a16:creationId xmlns:a16="http://schemas.microsoft.com/office/drawing/2014/main" id="{738289E5-5481-415C-ABD0-99F79D2F2D21}"/>
              </a:ext>
            </a:extLst>
          </p:cNvPr>
          <p:cNvSpPr txBox="1"/>
          <p:nvPr/>
        </p:nvSpPr>
        <p:spPr>
          <a:xfrm>
            <a:off x="709448" y="1247089"/>
            <a:ext cx="10184329" cy="1366528"/>
          </a:xfrm>
          <a:prstGeom prst="rect">
            <a:avLst/>
          </a:prstGeom>
          <a:noFill/>
        </p:spPr>
        <p:txBody>
          <a:bodyPr wrap="square">
            <a:spAutoFit/>
          </a:bodyPr>
          <a:lstStyle/>
          <a:p>
            <a:pPr marL="285750" indent="-285750">
              <a:spcBef>
                <a:spcPct val="20000"/>
              </a:spcBef>
              <a:buClr>
                <a:schemeClr val="accent1"/>
              </a:buClr>
              <a:buFont typeface="Wingdings" pitchFamily="2" charset="2"/>
              <a:buChar char="§"/>
            </a:pPr>
            <a:r>
              <a:rPr lang="en-GB" sz="1800" b="1" dirty="0">
                <a:cs typeface="Arial" pitchFamily="34" charset="0"/>
              </a:rPr>
              <a:t>Agile</a:t>
            </a:r>
            <a:r>
              <a:rPr lang="en-GB" sz="1800" dirty="0">
                <a:cs typeface="Arial" pitchFamily="34" charset="0"/>
              </a:rPr>
              <a:t> is a popular term now given to evolutionary and iterative approaches.</a:t>
            </a:r>
          </a:p>
          <a:p>
            <a:pPr marL="285750" indent="-285750">
              <a:spcBef>
                <a:spcPct val="20000"/>
              </a:spcBef>
              <a:buClr>
                <a:schemeClr val="accent1"/>
              </a:buClr>
              <a:buFont typeface="Wingdings" pitchFamily="2" charset="2"/>
              <a:buChar char="§"/>
            </a:pPr>
            <a:r>
              <a:rPr lang="en-GB" sz="1800" dirty="0">
                <a:cs typeface="Arial" pitchFamily="34" charset="0"/>
              </a:rPr>
              <a:t>Meet many of today’s growing business challenges.</a:t>
            </a:r>
          </a:p>
          <a:p>
            <a:pPr marL="285750" indent="-285750">
              <a:spcBef>
                <a:spcPct val="20000"/>
              </a:spcBef>
              <a:buClr>
                <a:schemeClr val="accent1"/>
              </a:buClr>
              <a:buFont typeface="Wingdings" pitchFamily="2" charset="2"/>
              <a:buChar char="§"/>
            </a:pPr>
            <a:r>
              <a:rPr lang="en-GB" sz="1800" dirty="0">
                <a:cs typeface="Arial" pitchFamily="34" charset="0"/>
              </a:rPr>
              <a:t>Agile </a:t>
            </a:r>
            <a:r>
              <a:rPr lang="en-GB" dirty="0">
                <a:cs typeface="Arial" pitchFamily="34" charset="0"/>
              </a:rPr>
              <a:t>m</a:t>
            </a:r>
            <a:r>
              <a:rPr lang="en-GB" sz="1800" dirty="0">
                <a:cs typeface="Arial" pitchFamily="34" charset="0"/>
              </a:rPr>
              <a:t>anifesto developed in 2001 by 17 leading IT professionals.</a:t>
            </a:r>
          </a:p>
          <a:p>
            <a:pPr marL="285750" indent="-285750">
              <a:spcBef>
                <a:spcPct val="20000"/>
              </a:spcBef>
              <a:buClr>
                <a:schemeClr val="accent1"/>
              </a:buClr>
              <a:buFont typeface="Wingdings" pitchFamily="2" charset="2"/>
              <a:buChar char="§"/>
            </a:pPr>
            <a:r>
              <a:rPr lang="en-GB" b="1" dirty="0">
                <a:cs typeface="Arial" pitchFamily="34" charset="0"/>
              </a:rPr>
              <a:t>We will investigate Agile later</a:t>
            </a:r>
            <a:endParaRPr lang="en-GB" sz="1800" b="1" dirty="0">
              <a:cs typeface="Arial" pitchFamily="34" charset="0"/>
            </a:endParaRPr>
          </a:p>
        </p:txBody>
      </p:sp>
      <p:sp>
        <p:nvSpPr>
          <p:cNvPr id="26" name="Content Placeholder 2">
            <a:extLst>
              <a:ext uri="{FF2B5EF4-FFF2-40B4-BE49-F238E27FC236}">
                <a16:creationId xmlns:a16="http://schemas.microsoft.com/office/drawing/2014/main" id="{5A3D8226-97A2-4151-A8CF-3A2D5F96A8B6}"/>
              </a:ext>
            </a:extLst>
          </p:cNvPr>
          <p:cNvSpPr txBox="1">
            <a:spLocks/>
          </p:cNvSpPr>
          <p:nvPr/>
        </p:nvSpPr>
        <p:spPr>
          <a:xfrm>
            <a:off x="1828086" y="2869532"/>
            <a:ext cx="8820000" cy="3780000"/>
          </a:xfrm>
          <a:prstGeom prst="rect">
            <a:avLst/>
          </a:prstGeom>
        </p:spPr>
        <p:txBody>
          <a:bodyPr>
            <a:normAutofit/>
          </a:bodyPr>
          <a:lstStyle>
            <a:lvl1pPr marL="270000" indent="-270000" algn="l" defTabSz="914400" rtl="0" eaLnBrk="1" latinLnBrk="0" hangingPunct="1">
              <a:lnSpc>
                <a:spcPct val="100000"/>
              </a:lnSpc>
              <a:spcBef>
                <a:spcPts val="0"/>
              </a:spcBef>
              <a:spcAft>
                <a:spcPts val="650"/>
              </a:spcAft>
              <a:buSzPct val="115000"/>
              <a:buFontTx/>
              <a:buBlip>
                <a:blip r:embed="rId3"/>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ct val="100000"/>
              </a:lnSpc>
              <a:spcBef>
                <a:spcPts val="0"/>
              </a:spcBef>
              <a:spcAft>
                <a:spcPts val="650"/>
              </a:spcAft>
              <a:buSzPct val="125000"/>
              <a:buFontTx/>
              <a:buBlip>
                <a:blip r:embed="rId3"/>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ct val="100000"/>
              </a:lnSpc>
              <a:spcBef>
                <a:spcPts val="0"/>
              </a:spcBef>
              <a:spcAft>
                <a:spcPts val="650"/>
              </a:spcAft>
              <a:buSzPct val="120000"/>
              <a:buFontTx/>
              <a:buBlip>
                <a:blip r:embed="rId3"/>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ct val="100000"/>
              </a:lnSpc>
              <a:spcBef>
                <a:spcPts val="0"/>
              </a:spcBef>
              <a:spcAft>
                <a:spcPts val="650"/>
              </a:spcAft>
              <a:buSzPct val="120000"/>
              <a:buFontTx/>
              <a:buBlip>
                <a:blip r:embed="rId3"/>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ct val="100000"/>
              </a:lnSpc>
              <a:spcBef>
                <a:spcPts val="0"/>
              </a:spcBef>
              <a:spcAft>
                <a:spcPts val="650"/>
              </a:spcAft>
              <a:buSzPct val="125000"/>
              <a:buFontTx/>
              <a:buBlip>
                <a:blip r:embed="rId3"/>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Tx/>
              <a:buNone/>
            </a:pPr>
            <a:r>
              <a:rPr lang="en-US" sz="1800" b="1" dirty="0">
                <a:solidFill>
                  <a:srgbClr val="00B050"/>
                </a:solidFill>
                <a:latin typeface="+mn-lt"/>
              </a:rPr>
              <a:t>Individuals and interactions</a:t>
            </a:r>
            <a:r>
              <a:rPr lang="en-US" sz="1800" b="1" dirty="0">
                <a:latin typeface="+mn-lt"/>
              </a:rPr>
              <a:t>	over	</a:t>
            </a:r>
            <a:r>
              <a:rPr lang="en-US" sz="1800" b="1" dirty="0">
                <a:solidFill>
                  <a:srgbClr val="FF0000"/>
                </a:solidFill>
                <a:latin typeface="+mn-lt"/>
              </a:rPr>
              <a:t>processes and tools</a:t>
            </a:r>
          </a:p>
          <a:p>
            <a:pPr lvl="1">
              <a:buFontTx/>
              <a:buNone/>
            </a:pPr>
            <a:r>
              <a:rPr lang="en-US" sz="1800" b="1" dirty="0">
                <a:solidFill>
                  <a:srgbClr val="00B050"/>
                </a:solidFill>
                <a:latin typeface="+mn-lt"/>
              </a:rPr>
              <a:t>Working software </a:t>
            </a:r>
            <a:r>
              <a:rPr lang="en-US" sz="1800" b="1" dirty="0">
                <a:latin typeface="+mn-lt"/>
              </a:rPr>
              <a:t>		over 	</a:t>
            </a:r>
            <a:r>
              <a:rPr lang="en-US" sz="1800" b="1" dirty="0">
                <a:solidFill>
                  <a:srgbClr val="FF0000"/>
                </a:solidFill>
                <a:latin typeface="+mn-lt"/>
              </a:rPr>
              <a:t>comprehensive documentation</a:t>
            </a:r>
          </a:p>
          <a:p>
            <a:pPr lvl="1">
              <a:buFontTx/>
              <a:buNone/>
            </a:pPr>
            <a:r>
              <a:rPr lang="en-US" sz="1800" b="1" dirty="0">
                <a:solidFill>
                  <a:srgbClr val="00B050"/>
                </a:solidFill>
                <a:latin typeface="+mn-lt"/>
              </a:rPr>
              <a:t>Customer collaboration </a:t>
            </a:r>
            <a:r>
              <a:rPr lang="en-US" sz="1800" b="1" dirty="0">
                <a:latin typeface="+mn-lt"/>
              </a:rPr>
              <a:t>	over 	</a:t>
            </a:r>
            <a:r>
              <a:rPr lang="en-US" sz="1800" b="1" dirty="0">
                <a:solidFill>
                  <a:srgbClr val="FF0000"/>
                </a:solidFill>
                <a:latin typeface="+mn-lt"/>
              </a:rPr>
              <a:t>contract negotiation</a:t>
            </a:r>
          </a:p>
          <a:p>
            <a:pPr lvl="1">
              <a:buFontTx/>
              <a:buNone/>
            </a:pPr>
            <a:r>
              <a:rPr lang="en-US" sz="1800" b="1" dirty="0">
                <a:solidFill>
                  <a:srgbClr val="00B050"/>
                </a:solidFill>
                <a:latin typeface="+mn-lt"/>
              </a:rPr>
              <a:t>Responding to change </a:t>
            </a:r>
            <a:r>
              <a:rPr lang="en-US" sz="1800" b="1" dirty="0">
                <a:latin typeface="+mn-lt"/>
              </a:rPr>
              <a:t>	over 	</a:t>
            </a:r>
            <a:r>
              <a:rPr lang="en-US" sz="1800" b="1" dirty="0">
                <a:solidFill>
                  <a:srgbClr val="FF0000"/>
                </a:solidFill>
                <a:latin typeface="+mn-lt"/>
              </a:rPr>
              <a:t>following a plan</a:t>
            </a:r>
          </a:p>
          <a:p>
            <a:pPr lvl="1" algn="ctr">
              <a:buFontTx/>
              <a:buNone/>
            </a:pPr>
            <a:br>
              <a:rPr lang="en-US" sz="1800" dirty="0">
                <a:latin typeface="+mn-lt"/>
              </a:rPr>
            </a:br>
            <a:r>
              <a:rPr lang="en-US" sz="1800" dirty="0">
                <a:latin typeface="+mn-lt"/>
              </a:rPr>
              <a:t>That is, while there is value in the items on the right,</a:t>
            </a:r>
          </a:p>
          <a:p>
            <a:pPr lvl="1" algn="ctr">
              <a:buFontTx/>
              <a:buNone/>
            </a:pPr>
            <a:r>
              <a:rPr lang="en-US" sz="1800" dirty="0">
                <a:latin typeface="+mn-lt"/>
              </a:rPr>
              <a:t>we value the items on the left more.</a:t>
            </a:r>
            <a:endParaRPr lang="en-GB" sz="1800" dirty="0"/>
          </a:p>
        </p:txBody>
      </p:sp>
    </p:spTree>
    <p:extLst>
      <p:ext uri="{BB962C8B-B14F-4D97-AF65-F5344CB8AC3E}">
        <p14:creationId xmlns:p14="http://schemas.microsoft.com/office/powerpoint/2010/main" val="3322944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2580128-EA20-4321-AC04-790874A96B9D}"/>
              </a:ext>
            </a:extLst>
          </p:cNvPr>
          <p:cNvSpPr>
            <a:spLocks noGrp="1"/>
          </p:cNvSpPr>
          <p:nvPr>
            <p:ph type="body" sz="quarter" idx="12"/>
          </p:nvPr>
        </p:nvSpPr>
        <p:spPr>
          <a:xfrm>
            <a:off x="1212111" y="275422"/>
            <a:ext cx="10595714" cy="612571"/>
          </a:xfrm>
        </p:spPr>
        <p:txBody>
          <a:bodyPr/>
          <a:lstStyle/>
          <a:p>
            <a:r>
              <a:rPr lang="en-GB" sz="3200" dirty="0"/>
              <a:t>Agile: Strengths and weaknesses</a:t>
            </a:r>
          </a:p>
        </p:txBody>
      </p:sp>
      <p:graphicFrame>
        <p:nvGraphicFramePr>
          <p:cNvPr id="9" name="Diagram 8">
            <a:extLst>
              <a:ext uri="{FF2B5EF4-FFF2-40B4-BE49-F238E27FC236}">
                <a16:creationId xmlns:a16="http://schemas.microsoft.com/office/drawing/2014/main" id="{93069F1D-4FFA-498D-B177-5ADA6E472A09}"/>
              </a:ext>
            </a:extLst>
          </p:cNvPr>
          <p:cNvGraphicFramePr/>
          <p:nvPr>
            <p:extLst>
              <p:ext uri="{D42A27DB-BD31-4B8C-83A1-F6EECF244321}">
                <p14:modId xmlns:p14="http://schemas.microsoft.com/office/powerpoint/2010/main" val="3276310648"/>
              </p:ext>
            </p:extLst>
          </p:nvPr>
        </p:nvGraphicFramePr>
        <p:xfrm>
          <a:off x="1244182" y="377612"/>
          <a:ext cx="9703635" cy="64803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22451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732EC-A2F1-4F4E-BE8E-DF4DBD1EA0C5}"/>
              </a:ext>
            </a:extLst>
          </p:cNvPr>
          <p:cNvSpPr>
            <a:spLocks noGrp="1"/>
          </p:cNvSpPr>
          <p:nvPr>
            <p:ph type="title" idx="4294967295"/>
          </p:nvPr>
        </p:nvSpPr>
        <p:spPr>
          <a:xfrm>
            <a:off x="1112704" y="369888"/>
            <a:ext cx="7116896" cy="687387"/>
          </a:xfrm>
        </p:spPr>
        <p:txBody>
          <a:bodyPr/>
          <a:lstStyle/>
          <a:p>
            <a:r>
              <a:rPr lang="en-GB" dirty="0"/>
              <a:t>Methodology differences</a:t>
            </a:r>
          </a:p>
        </p:txBody>
      </p:sp>
      <p:graphicFrame>
        <p:nvGraphicFramePr>
          <p:cNvPr id="9" name="Table 8">
            <a:extLst>
              <a:ext uri="{FF2B5EF4-FFF2-40B4-BE49-F238E27FC236}">
                <a16:creationId xmlns:a16="http://schemas.microsoft.com/office/drawing/2014/main" id="{7116C75E-106E-4432-AC6F-CDE40486481D}"/>
              </a:ext>
            </a:extLst>
          </p:cNvPr>
          <p:cNvGraphicFramePr>
            <a:graphicFrameLocks noGrp="1"/>
          </p:cNvGraphicFramePr>
          <p:nvPr>
            <p:extLst>
              <p:ext uri="{D42A27DB-BD31-4B8C-83A1-F6EECF244321}">
                <p14:modId xmlns:p14="http://schemas.microsoft.com/office/powerpoint/2010/main" val="3813180261"/>
              </p:ext>
            </p:extLst>
          </p:nvPr>
        </p:nvGraphicFramePr>
        <p:xfrm>
          <a:off x="424070" y="1136864"/>
          <a:ext cx="11342270" cy="5307780"/>
        </p:xfrm>
        <a:graphic>
          <a:graphicData uri="http://schemas.openxmlformats.org/drawingml/2006/table">
            <a:tbl>
              <a:tblPr firstRow="1" bandRow="1">
                <a:tableStyleId>{F5AB1C69-6EDB-4FF4-983F-18BD219EF322}</a:tableStyleId>
              </a:tblPr>
              <a:tblGrid>
                <a:gridCol w="2083274">
                  <a:extLst>
                    <a:ext uri="{9D8B030D-6E8A-4147-A177-3AD203B41FA5}">
                      <a16:colId xmlns:a16="http://schemas.microsoft.com/office/drawing/2014/main" val="4150715629"/>
                    </a:ext>
                  </a:extLst>
                </a:gridCol>
                <a:gridCol w="4629498">
                  <a:extLst>
                    <a:ext uri="{9D8B030D-6E8A-4147-A177-3AD203B41FA5}">
                      <a16:colId xmlns:a16="http://schemas.microsoft.com/office/drawing/2014/main" val="3478445332"/>
                    </a:ext>
                  </a:extLst>
                </a:gridCol>
                <a:gridCol w="4629498">
                  <a:extLst>
                    <a:ext uri="{9D8B030D-6E8A-4147-A177-3AD203B41FA5}">
                      <a16:colId xmlns:a16="http://schemas.microsoft.com/office/drawing/2014/main" val="3748709372"/>
                    </a:ext>
                  </a:extLst>
                </a:gridCol>
              </a:tblGrid>
              <a:tr h="400500">
                <a:tc>
                  <a:txBody>
                    <a:bodyPr/>
                    <a:lstStyle/>
                    <a:p>
                      <a:r>
                        <a:rPr lang="en-GB" sz="2000" dirty="0">
                          <a:solidFill>
                            <a:schemeClr val="bg1"/>
                          </a:solidFill>
                        </a:rPr>
                        <a:t>Feature</a:t>
                      </a:r>
                    </a:p>
                  </a:txBody>
                  <a:tcPr/>
                </a:tc>
                <a:tc>
                  <a:txBody>
                    <a:bodyPr/>
                    <a:lstStyle/>
                    <a:p>
                      <a:r>
                        <a:rPr lang="en-GB" sz="2000" dirty="0">
                          <a:solidFill>
                            <a:schemeClr val="bg1"/>
                          </a:solidFill>
                        </a:rPr>
                        <a:t>Sequential (waterfall)</a:t>
                      </a:r>
                    </a:p>
                  </a:txBody>
                  <a:tcPr/>
                </a:tc>
                <a:tc>
                  <a:txBody>
                    <a:bodyPr/>
                    <a:lstStyle/>
                    <a:p>
                      <a:r>
                        <a:rPr lang="en-GB" sz="2000" dirty="0">
                          <a:solidFill>
                            <a:schemeClr val="bg1"/>
                          </a:solidFill>
                        </a:rPr>
                        <a:t>Evolutionary</a:t>
                      </a:r>
                      <a:r>
                        <a:rPr lang="en-GB" sz="2000" baseline="0" dirty="0">
                          <a:solidFill>
                            <a:schemeClr val="bg1"/>
                          </a:solidFill>
                        </a:rPr>
                        <a:t> (Agile)</a:t>
                      </a:r>
                      <a:endParaRPr lang="en-GB" sz="2000" dirty="0">
                        <a:solidFill>
                          <a:schemeClr val="bg1"/>
                        </a:solidFill>
                      </a:endParaRPr>
                    </a:p>
                  </a:txBody>
                  <a:tcPr/>
                </a:tc>
                <a:extLst>
                  <a:ext uri="{0D108BD9-81ED-4DB2-BD59-A6C34878D82A}">
                    <a16:rowId xmlns:a16="http://schemas.microsoft.com/office/drawing/2014/main" val="3051930142"/>
                  </a:ext>
                </a:extLst>
              </a:tr>
              <a:tr h="400500">
                <a:tc>
                  <a:txBody>
                    <a:bodyPr/>
                    <a:lstStyle/>
                    <a:p>
                      <a:r>
                        <a:rPr lang="en-GB" sz="2000" dirty="0"/>
                        <a:t>Structure</a:t>
                      </a:r>
                    </a:p>
                  </a:txBody>
                  <a:tcPr/>
                </a:tc>
                <a:tc>
                  <a:txBody>
                    <a:bodyPr/>
                    <a:lstStyle/>
                    <a:p>
                      <a:r>
                        <a:rPr lang="en-GB" sz="2000" dirty="0"/>
                        <a:t>Single</a:t>
                      </a:r>
                      <a:r>
                        <a:rPr lang="en-GB" sz="2000" baseline="0" dirty="0"/>
                        <a:t> pass of linear steps</a:t>
                      </a:r>
                    </a:p>
                    <a:p>
                      <a:r>
                        <a:rPr lang="en-GB" sz="2000" baseline="0" dirty="0"/>
                        <a:t>Backtracking difficult</a:t>
                      </a:r>
                      <a:endParaRPr lang="en-GB" sz="2000" dirty="0"/>
                    </a:p>
                  </a:txBody>
                  <a:tcPr/>
                </a:tc>
                <a:tc>
                  <a:txBody>
                    <a:bodyPr/>
                    <a:lstStyle/>
                    <a:p>
                      <a:r>
                        <a:rPr lang="en-GB" sz="2000" dirty="0"/>
                        <a:t>Repeated passes</a:t>
                      </a:r>
                    </a:p>
                    <a:p>
                      <a:r>
                        <a:rPr lang="en-GB" sz="2000" baseline="0" dirty="0"/>
                        <a:t>Backtracking possible </a:t>
                      </a:r>
                      <a:endParaRPr lang="en-GB" sz="2000" dirty="0"/>
                    </a:p>
                  </a:txBody>
                  <a:tcPr/>
                </a:tc>
                <a:extLst>
                  <a:ext uri="{0D108BD9-81ED-4DB2-BD59-A6C34878D82A}">
                    <a16:rowId xmlns:a16="http://schemas.microsoft.com/office/drawing/2014/main" val="637518566"/>
                  </a:ext>
                </a:extLst>
              </a:tr>
              <a:tr h="400500">
                <a:tc>
                  <a:txBody>
                    <a:bodyPr/>
                    <a:lstStyle/>
                    <a:p>
                      <a:r>
                        <a:rPr lang="en-GB" sz="2000" dirty="0"/>
                        <a:t>Value</a:t>
                      </a:r>
                    </a:p>
                  </a:txBody>
                  <a:tcPr/>
                </a:tc>
                <a:tc>
                  <a:txBody>
                    <a:bodyPr/>
                    <a:lstStyle/>
                    <a:p>
                      <a:r>
                        <a:rPr lang="en-GB" sz="2000" dirty="0"/>
                        <a:t>At end of project</a:t>
                      </a:r>
                    </a:p>
                  </a:txBody>
                  <a:tcPr/>
                </a:tc>
                <a:tc>
                  <a:txBody>
                    <a:bodyPr/>
                    <a:lstStyle/>
                    <a:p>
                      <a:r>
                        <a:rPr lang="en-GB" sz="2000" dirty="0"/>
                        <a:t>At end of each increment</a:t>
                      </a:r>
                      <a:r>
                        <a:rPr lang="en-GB" sz="2000" baseline="0" dirty="0"/>
                        <a:t> / iteration</a:t>
                      </a:r>
                      <a:endParaRPr lang="en-GB" sz="2000" dirty="0"/>
                    </a:p>
                  </a:txBody>
                  <a:tcPr/>
                </a:tc>
                <a:extLst>
                  <a:ext uri="{0D108BD9-81ED-4DB2-BD59-A6C34878D82A}">
                    <a16:rowId xmlns:a16="http://schemas.microsoft.com/office/drawing/2014/main" val="2038812087"/>
                  </a:ext>
                </a:extLst>
              </a:tr>
              <a:tr h="400500">
                <a:tc>
                  <a:txBody>
                    <a:bodyPr/>
                    <a:lstStyle/>
                    <a:p>
                      <a:r>
                        <a:rPr lang="en-GB" sz="2000" dirty="0"/>
                        <a:t>User involvement</a:t>
                      </a:r>
                    </a:p>
                  </a:txBody>
                  <a:tcPr/>
                </a:tc>
                <a:tc>
                  <a:txBody>
                    <a:bodyPr/>
                    <a:lstStyle/>
                    <a:p>
                      <a:r>
                        <a:rPr lang="en-GB" sz="2000" dirty="0"/>
                        <a:t>Generally,</a:t>
                      </a:r>
                      <a:r>
                        <a:rPr lang="en-GB" sz="2000" baseline="0" dirty="0"/>
                        <a:t> only at requirements and testing stages</a:t>
                      </a:r>
                      <a:endParaRPr lang="en-GB" sz="2000" dirty="0"/>
                    </a:p>
                  </a:txBody>
                  <a:tcPr/>
                </a:tc>
                <a:tc>
                  <a:txBody>
                    <a:bodyPr/>
                    <a:lstStyle/>
                    <a:p>
                      <a:r>
                        <a:rPr lang="en-GB" sz="2000" dirty="0"/>
                        <a:t>Each and every stage</a:t>
                      </a:r>
                    </a:p>
                  </a:txBody>
                  <a:tcPr/>
                </a:tc>
                <a:extLst>
                  <a:ext uri="{0D108BD9-81ED-4DB2-BD59-A6C34878D82A}">
                    <a16:rowId xmlns:a16="http://schemas.microsoft.com/office/drawing/2014/main" val="2591254611"/>
                  </a:ext>
                </a:extLst>
              </a:tr>
              <a:tr h="400500">
                <a:tc>
                  <a:txBody>
                    <a:bodyPr/>
                    <a:lstStyle/>
                    <a:p>
                      <a:r>
                        <a:rPr lang="en-GB" sz="2000" dirty="0"/>
                        <a:t>Time</a:t>
                      </a:r>
                    </a:p>
                  </a:txBody>
                  <a:tcPr/>
                </a:tc>
                <a:tc>
                  <a:txBody>
                    <a:bodyPr/>
                    <a:lstStyle/>
                    <a:p>
                      <a:r>
                        <a:rPr lang="en-GB" sz="2000" dirty="0"/>
                        <a:t>Solution only delivered after all stages completed</a:t>
                      </a:r>
                    </a:p>
                  </a:txBody>
                  <a:tcPr/>
                </a:tc>
                <a:tc>
                  <a:txBody>
                    <a:bodyPr/>
                    <a:lstStyle/>
                    <a:p>
                      <a:r>
                        <a:rPr lang="en-GB" sz="2000" dirty="0"/>
                        <a:t>Regular</a:t>
                      </a:r>
                      <a:r>
                        <a:rPr lang="en-GB" sz="2000" baseline="0" dirty="0"/>
                        <a:t> releases delivered for feedback and approval</a:t>
                      </a:r>
                      <a:endParaRPr lang="en-GB" sz="2000" dirty="0"/>
                    </a:p>
                  </a:txBody>
                  <a:tcPr/>
                </a:tc>
                <a:extLst>
                  <a:ext uri="{0D108BD9-81ED-4DB2-BD59-A6C34878D82A}">
                    <a16:rowId xmlns:a16="http://schemas.microsoft.com/office/drawing/2014/main" val="267504846"/>
                  </a:ext>
                </a:extLst>
              </a:tr>
              <a:tr h="400500">
                <a:tc>
                  <a:txBody>
                    <a:bodyPr/>
                    <a:lstStyle/>
                    <a:p>
                      <a:r>
                        <a:rPr lang="en-GB" sz="2000" dirty="0"/>
                        <a:t>Manpower</a:t>
                      </a:r>
                    </a:p>
                  </a:txBody>
                  <a:tcPr/>
                </a:tc>
                <a:tc>
                  <a:txBody>
                    <a:bodyPr/>
                    <a:lstStyle/>
                    <a:p>
                      <a:r>
                        <a:rPr lang="en-GB" sz="2000" dirty="0"/>
                        <a:t>More specialist</a:t>
                      </a:r>
                      <a:r>
                        <a:rPr lang="en-GB" sz="2000" baseline="0" dirty="0"/>
                        <a:t> / silo approach</a:t>
                      </a:r>
                      <a:endParaRPr lang="en-GB" sz="2000" dirty="0"/>
                    </a:p>
                  </a:txBody>
                  <a:tcPr/>
                </a:tc>
                <a:tc>
                  <a:txBody>
                    <a:bodyPr/>
                    <a:lstStyle/>
                    <a:p>
                      <a:r>
                        <a:rPr lang="en-GB" sz="2000" dirty="0"/>
                        <a:t>Cross</a:t>
                      </a:r>
                      <a:r>
                        <a:rPr lang="en-GB" sz="2000" baseline="0" dirty="0"/>
                        <a:t>-functional, collaborative teams</a:t>
                      </a:r>
                      <a:endParaRPr lang="en-GB" sz="2000" dirty="0"/>
                    </a:p>
                  </a:txBody>
                  <a:tcPr/>
                </a:tc>
                <a:extLst>
                  <a:ext uri="{0D108BD9-81ED-4DB2-BD59-A6C34878D82A}">
                    <a16:rowId xmlns:a16="http://schemas.microsoft.com/office/drawing/2014/main" val="1086297823"/>
                  </a:ext>
                </a:extLst>
              </a:tr>
              <a:tr h="400500">
                <a:tc>
                  <a:txBody>
                    <a:bodyPr/>
                    <a:lstStyle/>
                    <a:p>
                      <a:r>
                        <a:rPr lang="en-GB" sz="2000" dirty="0"/>
                        <a:t>Changes</a:t>
                      </a:r>
                    </a:p>
                  </a:txBody>
                  <a:tcPr/>
                </a:tc>
                <a:tc>
                  <a:txBody>
                    <a:bodyPr/>
                    <a:lstStyle/>
                    <a:p>
                      <a:r>
                        <a:rPr lang="en-GB" sz="2000" dirty="0"/>
                        <a:t>More difficult to accommodate / backtrack</a:t>
                      </a:r>
                    </a:p>
                  </a:txBody>
                  <a:tcPr/>
                </a:tc>
                <a:tc>
                  <a:txBody>
                    <a:bodyPr/>
                    <a:lstStyle/>
                    <a:p>
                      <a:r>
                        <a:rPr lang="en-GB" sz="2000" dirty="0"/>
                        <a:t>Include in future increments</a:t>
                      </a:r>
                      <a:r>
                        <a:rPr lang="en-GB" sz="2000" baseline="0" dirty="0"/>
                        <a:t> / iterations</a:t>
                      </a:r>
                      <a:endParaRPr lang="en-GB" sz="2000" dirty="0"/>
                    </a:p>
                  </a:txBody>
                  <a:tcPr/>
                </a:tc>
                <a:extLst>
                  <a:ext uri="{0D108BD9-81ED-4DB2-BD59-A6C34878D82A}">
                    <a16:rowId xmlns:a16="http://schemas.microsoft.com/office/drawing/2014/main" val="3550993094"/>
                  </a:ext>
                </a:extLst>
              </a:tr>
              <a:tr h="400500">
                <a:tc>
                  <a:txBody>
                    <a:bodyPr/>
                    <a:lstStyle/>
                    <a:p>
                      <a:r>
                        <a:rPr lang="en-GB" sz="2000" dirty="0"/>
                        <a:t>Risk</a:t>
                      </a:r>
                    </a:p>
                  </a:txBody>
                  <a:tcPr/>
                </a:tc>
                <a:tc>
                  <a:txBody>
                    <a:bodyPr/>
                    <a:lstStyle/>
                    <a:p>
                      <a:r>
                        <a:rPr lang="en-GB" sz="2000" dirty="0"/>
                        <a:t>Not highlighted until late in the project</a:t>
                      </a:r>
                    </a:p>
                  </a:txBody>
                  <a:tcPr/>
                </a:tc>
                <a:tc>
                  <a:txBody>
                    <a:bodyPr/>
                    <a:lstStyle/>
                    <a:p>
                      <a:r>
                        <a:rPr lang="en-GB" sz="2000" dirty="0"/>
                        <a:t>Identified and</a:t>
                      </a:r>
                      <a:r>
                        <a:rPr lang="en-GB" sz="2000" baseline="0" dirty="0"/>
                        <a:t> resolved earlier</a:t>
                      </a:r>
                      <a:endParaRPr lang="en-GB" sz="2000" dirty="0"/>
                    </a:p>
                  </a:txBody>
                  <a:tcPr/>
                </a:tc>
                <a:extLst>
                  <a:ext uri="{0D108BD9-81ED-4DB2-BD59-A6C34878D82A}">
                    <a16:rowId xmlns:a16="http://schemas.microsoft.com/office/drawing/2014/main" val="3991508315"/>
                  </a:ext>
                </a:extLst>
              </a:tr>
            </a:tbl>
          </a:graphicData>
        </a:graphic>
      </p:graphicFrame>
    </p:spTree>
    <p:extLst>
      <p:ext uri="{BB962C8B-B14F-4D97-AF65-F5344CB8AC3E}">
        <p14:creationId xmlns:p14="http://schemas.microsoft.com/office/powerpoint/2010/main" val="1467009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943D6-D544-4244-9881-38BF9BA82662}"/>
              </a:ext>
            </a:extLst>
          </p:cNvPr>
          <p:cNvSpPr>
            <a:spLocks noGrp="1"/>
          </p:cNvSpPr>
          <p:nvPr>
            <p:ph type="ctrTitle"/>
          </p:nvPr>
        </p:nvSpPr>
        <p:spPr/>
        <p:txBody>
          <a:bodyPr/>
          <a:lstStyle/>
          <a:p>
            <a:r>
              <a:rPr lang="en-GB" dirty="0"/>
              <a:t>review</a:t>
            </a:r>
          </a:p>
        </p:txBody>
      </p:sp>
      <p:sp>
        <p:nvSpPr>
          <p:cNvPr id="3" name="Action Button: Go Forward or Next 2">
            <a:hlinkClick r:id="rId3" highlightClick="1"/>
            <a:extLst>
              <a:ext uri="{FF2B5EF4-FFF2-40B4-BE49-F238E27FC236}">
                <a16:creationId xmlns:a16="http://schemas.microsoft.com/office/drawing/2014/main" id="{6C04A70E-8905-BAA4-69DD-8D8E423C51A0}"/>
              </a:ext>
            </a:extLst>
          </p:cNvPr>
          <p:cNvSpPr/>
          <p:nvPr/>
        </p:nvSpPr>
        <p:spPr>
          <a:xfrm>
            <a:off x="3725479" y="5694582"/>
            <a:ext cx="1087821" cy="819807"/>
          </a:xfrm>
          <a:prstGeom prst="actionButtonForwardNex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n-GB"/>
          </a:p>
        </p:txBody>
      </p:sp>
      <p:sp>
        <p:nvSpPr>
          <p:cNvPr id="4" name="Title 1">
            <a:extLst>
              <a:ext uri="{FF2B5EF4-FFF2-40B4-BE49-F238E27FC236}">
                <a16:creationId xmlns:a16="http://schemas.microsoft.com/office/drawing/2014/main" id="{C7DDAC16-352C-83AA-2F65-A36587B50E0C}"/>
              </a:ext>
            </a:extLst>
          </p:cNvPr>
          <p:cNvSpPr txBox="1">
            <a:spLocks/>
          </p:cNvSpPr>
          <p:nvPr/>
        </p:nvSpPr>
        <p:spPr>
          <a:xfrm>
            <a:off x="1953419" y="5576011"/>
            <a:ext cx="5719761" cy="819808"/>
          </a:xfrm>
          <a:prstGeom prst="rect">
            <a:avLst/>
          </a:prstGeom>
        </p:spPr>
        <p:txBody>
          <a:bodyPr vert="horz" lIns="0" tIns="0" rIns="0" bIns="0" rtlCol="0" anchor="b" anchorCtr="0">
            <a:noAutofit/>
          </a:bodyPr>
          <a:lstStyle>
            <a:defPPr>
              <a:defRPr lang="en-US"/>
            </a:defPPr>
            <a:lvl1pPr marL="0" algn="l" defTabSz="914377" rtl="0" eaLnBrk="1" latinLnBrk="0" hangingPunct="1">
              <a:lnSpc>
                <a:spcPct val="90000"/>
              </a:lnSpc>
              <a:spcBef>
                <a:spcPct val="0"/>
              </a:spcBef>
              <a:buNone/>
              <a:defRPr sz="3600" b="0" i="0" kern="1200" cap="none" spc="60" baseline="0">
                <a:solidFill>
                  <a:srgbClr val="004050"/>
                </a:solidFill>
                <a:latin typeface="Montserrat Black" panose="00000A00000000000000" pitchFamily="2" charset="0"/>
                <a:ea typeface="+mj-ea"/>
                <a:cs typeface="+mj-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GB" dirty="0"/>
              <a:t>Quiz</a:t>
            </a:r>
          </a:p>
        </p:txBody>
      </p:sp>
    </p:spTree>
    <p:extLst>
      <p:ext uri="{BB962C8B-B14F-4D97-AF65-F5344CB8AC3E}">
        <p14:creationId xmlns:p14="http://schemas.microsoft.com/office/powerpoint/2010/main" val="17349738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C489301-45C5-4586-A14D-022F60CBC6E0}"/>
              </a:ext>
            </a:extLst>
          </p:cNvPr>
          <p:cNvSpPr>
            <a:spLocks noGrp="1"/>
          </p:cNvSpPr>
          <p:nvPr>
            <p:ph type="body" sz="quarter" idx="12"/>
          </p:nvPr>
        </p:nvSpPr>
        <p:spPr/>
        <p:txBody>
          <a:bodyPr/>
          <a:lstStyle/>
          <a:p>
            <a:endParaRPr lang="en-GB"/>
          </a:p>
        </p:txBody>
      </p:sp>
      <p:sp>
        <p:nvSpPr>
          <p:cNvPr id="3" name="Title 2"/>
          <p:cNvSpPr>
            <a:spLocks noGrp="1"/>
          </p:cNvSpPr>
          <p:nvPr>
            <p:ph type="ctrTitle"/>
          </p:nvPr>
        </p:nvSpPr>
        <p:spPr/>
        <p:txBody>
          <a:bodyPr/>
          <a:lstStyle/>
          <a:p>
            <a:r>
              <a:rPr lang="en-GB" dirty="0"/>
              <a:t>Questions and feedback</a:t>
            </a:r>
          </a:p>
        </p:txBody>
      </p:sp>
    </p:spTree>
    <p:extLst>
      <p:ext uri="{BB962C8B-B14F-4D97-AF65-F5344CB8AC3E}">
        <p14:creationId xmlns:p14="http://schemas.microsoft.com/office/powerpoint/2010/main" val="3983785826"/>
      </p:ext>
    </p:extLst>
  </p:cSld>
  <p:clrMapOvr>
    <a:masterClrMapping/>
  </p:clrMapOvr>
</p:sld>
</file>

<file path=ppt/theme/theme1.xml><?xml version="1.0" encoding="utf-8"?>
<a:theme xmlns:a="http://schemas.openxmlformats.org/drawingml/2006/main" name="NoKrana">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NoKrana" id="{6445C680-CEE2-46E4-B67B-52F27D5E4F2B}" vid="{340589B6-7E52-41CF-9204-94B2862D1A69}"/>
    </a:ext>
  </a:extLst>
</a:theme>
</file>

<file path=ppt/theme/theme2.xml><?xml version="1.0" encoding="utf-8"?>
<a:theme xmlns:a="http://schemas.openxmlformats.org/drawingml/2006/main" name="Master_Red_and_Purpl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3.xml><?xml version="1.0" encoding="utf-8"?>
<a:theme xmlns:a="http://schemas.openxmlformats.org/drawingml/2006/main" name="Master_Yellow_and_Orang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4.xml><?xml version="1.0" encoding="utf-8"?>
<a:theme xmlns:a="http://schemas.openxmlformats.org/drawingml/2006/main" name="Master_Blu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5.xml><?xml version="1.0" encoding="utf-8"?>
<a:theme xmlns:a="http://schemas.openxmlformats.org/drawingml/2006/main" name="Master_Neutral">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117C33DDE971642A3AD62E1BE8FB4A8" ma:contentTypeVersion="18" ma:contentTypeDescription="Create a new document." ma:contentTypeScope="" ma:versionID="e27b6b193086ccf2492fa4a1c3beb17a">
  <xsd:schema xmlns:xsd="http://www.w3.org/2001/XMLSchema" xmlns:xs="http://www.w3.org/2001/XMLSchema" xmlns:p="http://schemas.microsoft.com/office/2006/metadata/properties" xmlns:ns2="eb7c3fc1-ccd5-477b-94a4-7b6dc96a8d59" xmlns:ns3="9e706368-9a73-4dcc-9221-b8fc62424fbc" targetNamespace="http://schemas.microsoft.com/office/2006/metadata/properties" ma:root="true" ma:fieldsID="1cbe3fd12ddf180cd07389aecbb7c154" ns2:_="" ns3:_="">
    <xsd:import namespace="eb7c3fc1-ccd5-477b-94a4-7b6dc96a8d59"/>
    <xsd:import namespace="9e706368-9a73-4dcc-9221-b8fc62424fb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7c3fc1-ccd5-477b-94a4-7b6dc96a8d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706368-9a73-4dcc-9221-b8fc62424fb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0d56f4e-fc78-4139-b8cb-10eb5f78ae8a}" ma:internalName="TaxCatchAll" ma:showField="CatchAllData" ma:web="9e706368-9a73-4dcc-9221-b8fc62424f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e706368-9a73-4dcc-9221-b8fc62424fbc" xsi:nil="true"/>
    <lcf76f155ced4ddcb4097134ff3c332f xmlns="eb7c3fc1-ccd5-477b-94a4-7b6dc96a8d59">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722BE4A-0F98-488D-BF8B-FAEE216A3A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7c3fc1-ccd5-477b-94a4-7b6dc96a8d59"/>
    <ds:schemaRef ds:uri="9e706368-9a73-4dcc-9221-b8fc62424f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CE287A7-626A-41C1-92DF-BE8EECFCD6C2}">
  <ds:schemaRef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8152707b-ac2c-4ea2-ac9a-b989788b8469"/>
    <ds:schemaRef ds:uri="http://purl.org/dc/elements/1.1/"/>
    <ds:schemaRef ds:uri="http://schemas.microsoft.com/office/2006/metadata/properties"/>
    <ds:schemaRef ds:uri="9a63c464-9648-4824-9ad1-ed767784f626"/>
    <ds:schemaRef ds:uri="http://www.w3.org/XML/1998/namespace"/>
    <ds:schemaRef ds:uri="http://purl.org/dc/terms/"/>
    <ds:schemaRef ds:uri="9e706368-9a73-4dcc-9221-b8fc62424fbc"/>
    <ds:schemaRef ds:uri="eb7c3fc1-ccd5-477b-94a4-7b6dc96a8d59"/>
  </ds:schemaRefs>
</ds:datastoreItem>
</file>

<file path=customXml/itemProps3.xml><?xml version="1.0" encoding="utf-8"?>
<ds:datastoreItem xmlns:ds="http://schemas.openxmlformats.org/officeDocument/2006/customXml" ds:itemID="{DCDB2D89-314C-4D83-B504-BF4072DFB9F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Default Theme</Template>
  <TotalTime>0</TotalTime>
  <Words>3914</Words>
  <Application>Microsoft Office PowerPoint</Application>
  <PresentationFormat>Widescreen</PresentationFormat>
  <Paragraphs>394</Paragraphs>
  <Slides>23</Slides>
  <Notes>20</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23</vt:i4>
      </vt:variant>
    </vt:vector>
  </HeadingPairs>
  <TitlesOfParts>
    <vt:vector size="36" baseType="lpstr">
      <vt:lpstr>Arial</vt:lpstr>
      <vt:lpstr>Courier New</vt:lpstr>
      <vt:lpstr>gilroy</vt:lpstr>
      <vt:lpstr>Krana Fat B</vt:lpstr>
      <vt:lpstr>Montserrat</vt:lpstr>
      <vt:lpstr>Montserrat Black</vt:lpstr>
      <vt:lpstr>Söhne</vt:lpstr>
      <vt:lpstr>Wingdings</vt:lpstr>
      <vt:lpstr>NoKrana</vt:lpstr>
      <vt:lpstr>Master_Red_and_Purple</vt:lpstr>
      <vt:lpstr>Master_Yellow_and_Orange</vt:lpstr>
      <vt:lpstr>Master_Blue</vt:lpstr>
      <vt:lpstr>Master_Neutral</vt:lpstr>
      <vt:lpstr>Software Developer  Agile Software Development  Software Development Methodologies </vt:lpstr>
      <vt:lpstr>What is a software development methodology?</vt:lpstr>
      <vt:lpstr>PowerPoint Presentation</vt:lpstr>
      <vt:lpstr>PowerPoint Presentation</vt:lpstr>
      <vt:lpstr>PowerPoint Presentation</vt:lpstr>
      <vt:lpstr>PowerPoint Presentation</vt:lpstr>
      <vt:lpstr>Waterfall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Iterative</vt:lpstr>
      <vt:lpstr>PowerPoint Presentation</vt:lpstr>
      <vt:lpstr>PowerPoint Presentation</vt:lpstr>
      <vt:lpstr>Agile manifesto</vt:lpstr>
      <vt:lpstr>PowerPoint Presentation</vt:lpstr>
      <vt:lpstr>Methodology differences</vt:lpstr>
      <vt:lpstr>review</vt:lpstr>
      <vt:lpstr>Questions and feedback</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 here and here</dc:title>
  <dc:subject/>
  <dc:creator>Haynes, Amanda</dc:creator>
  <cp:keywords/>
  <dc:description/>
  <cp:lastModifiedBy>Baradaran, Mike</cp:lastModifiedBy>
  <cp:revision>69</cp:revision>
  <cp:lastPrinted>2019-07-03T09:46:41Z</cp:lastPrinted>
  <dcterms:created xsi:type="dcterms:W3CDTF">2021-11-17T15:28:08Z</dcterms:created>
  <dcterms:modified xsi:type="dcterms:W3CDTF">2025-01-24T23:23:05Z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0x010100A117C33DDE971642A3AD62E1BE8FB4A8</vt:lpwstr>
  </property>
</Properties>
</file>