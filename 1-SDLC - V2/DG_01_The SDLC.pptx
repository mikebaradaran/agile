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3.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4.xml" ContentType="application/vnd.openxmlformats-officedocument.theme+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9" r:id="rId4"/>
    <p:sldMasterId id="2147483789" r:id="rId5"/>
    <p:sldMasterId id="2147483824" r:id="rId6"/>
    <p:sldMasterId id="2147483862" r:id="rId7"/>
    <p:sldMasterId id="2147483895" r:id="rId8"/>
  </p:sldMasterIdLst>
  <p:notesMasterIdLst>
    <p:notesMasterId r:id="rId42"/>
  </p:notesMasterIdLst>
  <p:handoutMasterIdLst>
    <p:handoutMasterId r:id="rId43"/>
  </p:handoutMasterIdLst>
  <p:sldIdLst>
    <p:sldId id="278" r:id="rId9"/>
    <p:sldId id="290" r:id="rId10"/>
    <p:sldId id="301" r:id="rId11"/>
    <p:sldId id="275" r:id="rId12"/>
    <p:sldId id="303" r:id="rId13"/>
    <p:sldId id="323" r:id="rId14"/>
    <p:sldId id="443" r:id="rId15"/>
    <p:sldId id="495" r:id="rId16"/>
    <p:sldId id="447" r:id="rId17"/>
    <p:sldId id="446" r:id="rId18"/>
    <p:sldId id="445" r:id="rId19"/>
    <p:sldId id="487" r:id="rId20"/>
    <p:sldId id="488" r:id="rId21"/>
    <p:sldId id="494" r:id="rId22"/>
    <p:sldId id="324" r:id="rId23"/>
    <p:sldId id="325" r:id="rId24"/>
    <p:sldId id="326" r:id="rId25"/>
    <p:sldId id="327" r:id="rId26"/>
    <p:sldId id="328"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477" r:id="rId40"/>
    <p:sldId id="337" r:id="rId41"/>
  </p:sldIdLst>
  <p:sldSz cx="12192000" cy="6858000"/>
  <p:notesSz cx="9775825" cy="6645275"/>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or Divider Slides" id="{DE8BF54A-1323-4403-83F8-D7B5510C9D53}">
          <p14:sldIdLst>
            <p14:sldId id="278"/>
          </p14:sldIdLst>
        </p14:section>
        <p14:section name="Content Slides" id="{1A095CF9-3572-4538-94D7-8ABEC199D1E2}">
          <p14:sldIdLst>
            <p14:sldId id="290"/>
            <p14:sldId id="301"/>
            <p14:sldId id="275"/>
            <p14:sldId id="303"/>
            <p14:sldId id="323"/>
            <p14:sldId id="443"/>
            <p14:sldId id="495"/>
            <p14:sldId id="447"/>
            <p14:sldId id="446"/>
            <p14:sldId id="445"/>
            <p14:sldId id="487"/>
            <p14:sldId id="488"/>
            <p14:sldId id="494"/>
            <p14:sldId id="324"/>
            <p14:sldId id="325"/>
            <p14:sldId id="326"/>
            <p14:sldId id="327"/>
            <p14:sldId id="328"/>
            <p14:sldId id="310"/>
            <p14:sldId id="311"/>
            <p14:sldId id="312"/>
            <p14:sldId id="313"/>
            <p14:sldId id="314"/>
            <p14:sldId id="315"/>
            <p14:sldId id="316"/>
            <p14:sldId id="317"/>
            <p14:sldId id="318"/>
            <p14:sldId id="319"/>
            <p14:sldId id="320"/>
            <p14:sldId id="321"/>
            <p14:sldId id="477"/>
            <p14:sldId id="337"/>
          </p14:sldIdLst>
        </p14:section>
        <p14:section name="Closing slide options" id="{6824D640-AAEC-4A13-80D1-D50C04BFFF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3622C"/>
    <a:srgbClr val="004050"/>
    <a:srgbClr val="20D3FF"/>
    <a:srgbClr val="7F007D"/>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14" autoAdjust="0"/>
    <p:restoredTop sz="73671" autoAdjust="0"/>
  </p:normalViewPr>
  <p:slideViewPr>
    <p:cSldViewPr snapToGrid="0" snapToObjects="1" showGuides="1">
      <p:cViewPr varScale="1">
        <p:scale>
          <a:sx n="49" d="100"/>
          <a:sy n="49" d="100"/>
        </p:scale>
        <p:origin x="1790" y="269"/>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showGuides="1">
      <p:cViewPr varScale="1">
        <p:scale>
          <a:sx n="117" d="100"/>
          <a:sy n="117" d="100"/>
        </p:scale>
        <p:origin x="2052" y="6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handoutMaster" Target="handoutMasters/handoutMaster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s>
</file>

<file path=ppt/diagrams/_rels/data1.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9F7638-B42B-4D87-9EE7-F90E99A06AB1}"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3F5DD6AB-E4B6-46DA-895D-B589E26F2EE6}">
      <dgm:prSet/>
      <dgm:spPr/>
      <dgm:t>
        <a:bodyPr/>
        <a:lstStyle/>
        <a:p>
          <a:pPr>
            <a:defRPr b="1"/>
          </a:pPr>
          <a:r>
            <a:rPr lang="en-GB"/>
            <a:t>Functional</a:t>
          </a:r>
          <a:endParaRPr lang="en-US"/>
        </a:p>
      </dgm:t>
    </dgm:pt>
    <dgm:pt modelId="{93B24B75-4C50-48C0-AF3D-9473788588A8}" type="parTrans" cxnId="{C6CAE79C-E56A-4A65-AE86-4BFC6E3B869F}">
      <dgm:prSet/>
      <dgm:spPr/>
      <dgm:t>
        <a:bodyPr/>
        <a:lstStyle/>
        <a:p>
          <a:endParaRPr lang="en-US"/>
        </a:p>
      </dgm:t>
    </dgm:pt>
    <dgm:pt modelId="{2D48C274-68AE-45A0-9DEA-F20601B779B4}" type="sibTrans" cxnId="{C6CAE79C-E56A-4A65-AE86-4BFC6E3B869F}">
      <dgm:prSet/>
      <dgm:spPr/>
      <dgm:t>
        <a:bodyPr/>
        <a:lstStyle/>
        <a:p>
          <a:endParaRPr lang="en-US"/>
        </a:p>
      </dgm:t>
    </dgm:pt>
    <dgm:pt modelId="{9E993642-A1B7-41E5-83CD-66439BBB69E4}">
      <dgm:prSet/>
      <dgm:spPr/>
      <dgm:t>
        <a:bodyPr/>
        <a:lstStyle/>
        <a:p>
          <a:r>
            <a:rPr lang="en-GB" dirty="0"/>
            <a:t>Define </a:t>
          </a:r>
          <a:r>
            <a:rPr lang="en-GB" b="1" dirty="0"/>
            <a:t>what</a:t>
          </a:r>
          <a:r>
            <a:rPr lang="en-GB" dirty="0"/>
            <a:t> the solution must do</a:t>
          </a:r>
          <a:endParaRPr lang="en-US" dirty="0"/>
        </a:p>
      </dgm:t>
    </dgm:pt>
    <dgm:pt modelId="{940528CA-FC8E-4E34-BB7F-A3E9DFC599A3}" type="parTrans" cxnId="{DA3DF5D0-44EA-4E22-8E2D-A8D9BD1DC27C}">
      <dgm:prSet/>
      <dgm:spPr/>
      <dgm:t>
        <a:bodyPr/>
        <a:lstStyle/>
        <a:p>
          <a:endParaRPr lang="en-US"/>
        </a:p>
      </dgm:t>
    </dgm:pt>
    <dgm:pt modelId="{27D63718-BADA-423D-AAD0-FC5E8CC9307D}" type="sibTrans" cxnId="{DA3DF5D0-44EA-4E22-8E2D-A8D9BD1DC27C}">
      <dgm:prSet/>
      <dgm:spPr/>
      <dgm:t>
        <a:bodyPr/>
        <a:lstStyle/>
        <a:p>
          <a:endParaRPr lang="en-US"/>
        </a:p>
      </dgm:t>
    </dgm:pt>
    <dgm:pt modelId="{9A88528D-9E75-408F-8A7C-653FD4B2FEE9}">
      <dgm:prSet/>
      <dgm:spPr/>
      <dgm:t>
        <a:bodyPr/>
        <a:lstStyle/>
        <a:p>
          <a:endParaRPr lang="en-GB" dirty="0"/>
        </a:p>
        <a:p>
          <a:r>
            <a:rPr lang="en-GB" dirty="0"/>
            <a:t>For example to identify an invoice is overdue and issue alert</a:t>
          </a:r>
          <a:endParaRPr lang="en-US" dirty="0"/>
        </a:p>
      </dgm:t>
    </dgm:pt>
    <dgm:pt modelId="{8FE7AB17-E316-44B3-8200-21AF993FE297}" type="parTrans" cxnId="{1D36D8FF-6ABE-4540-94B4-7CCDC73F675C}">
      <dgm:prSet/>
      <dgm:spPr/>
      <dgm:t>
        <a:bodyPr/>
        <a:lstStyle/>
        <a:p>
          <a:endParaRPr lang="en-US"/>
        </a:p>
      </dgm:t>
    </dgm:pt>
    <dgm:pt modelId="{3907D1EB-122F-4653-9771-11B81BDFA1AD}" type="sibTrans" cxnId="{1D36D8FF-6ABE-4540-94B4-7CCDC73F675C}">
      <dgm:prSet/>
      <dgm:spPr/>
      <dgm:t>
        <a:bodyPr/>
        <a:lstStyle/>
        <a:p>
          <a:endParaRPr lang="en-US"/>
        </a:p>
      </dgm:t>
    </dgm:pt>
    <dgm:pt modelId="{EAC4A365-77DC-4542-A477-48DF2D1E173E}">
      <dgm:prSet/>
      <dgm:spPr/>
      <dgm:t>
        <a:bodyPr/>
        <a:lstStyle/>
        <a:p>
          <a:pPr>
            <a:defRPr b="1"/>
          </a:pPr>
          <a:r>
            <a:rPr lang="en-GB"/>
            <a:t>Non-Functional</a:t>
          </a:r>
          <a:endParaRPr lang="en-US"/>
        </a:p>
      </dgm:t>
    </dgm:pt>
    <dgm:pt modelId="{EF23A6BB-210C-44F4-B471-ABF280F6DC23}" type="parTrans" cxnId="{3A75C345-9654-45C9-9AA1-22BCA9ECA125}">
      <dgm:prSet/>
      <dgm:spPr/>
      <dgm:t>
        <a:bodyPr/>
        <a:lstStyle/>
        <a:p>
          <a:endParaRPr lang="en-US"/>
        </a:p>
      </dgm:t>
    </dgm:pt>
    <dgm:pt modelId="{8A4750EC-A798-44FA-9DA2-7C5907147156}" type="sibTrans" cxnId="{3A75C345-9654-45C9-9AA1-22BCA9ECA125}">
      <dgm:prSet/>
      <dgm:spPr/>
      <dgm:t>
        <a:bodyPr/>
        <a:lstStyle/>
        <a:p>
          <a:endParaRPr lang="en-US"/>
        </a:p>
      </dgm:t>
    </dgm:pt>
    <dgm:pt modelId="{BB24F1C1-B379-4EEC-B81B-8491D29028D6}">
      <dgm:prSet/>
      <dgm:spPr/>
      <dgm:t>
        <a:bodyPr/>
        <a:lstStyle/>
        <a:p>
          <a:r>
            <a:rPr lang="en-GB" sz="1700" dirty="0"/>
            <a:t>Define </a:t>
          </a:r>
          <a:r>
            <a:rPr lang="en-GB" sz="1700" b="1" dirty="0"/>
            <a:t>how</a:t>
          </a:r>
          <a:r>
            <a:rPr lang="en-GB" sz="1700" dirty="0"/>
            <a:t> the solution must operate (product qualities)</a:t>
          </a:r>
          <a:endParaRPr lang="en-US" sz="1700" dirty="0"/>
        </a:p>
      </dgm:t>
    </dgm:pt>
    <dgm:pt modelId="{B426944E-3392-448F-BC5A-831F9FF0DB57}" type="parTrans" cxnId="{52B09A07-7359-478E-9E6D-31753277DF16}">
      <dgm:prSet/>
      <dgm:spPr/>
      <dgm:t>
        <a:bodyPr/>
        <a:lstStyle/>
        <a:p>
          <a:endParaRPr lang="en-US"/>
        </a:p>
      </dgm:t>
    </dgm:pt>
    <dgm:pt modelId="{3BBD16AF-C29C-4AB7-8D2E-82FEB238B6A7}" type="sibTrans" cxnId="{52B09A07-7359-478E-9E6D-31753277DF16}">
      <dgm:prSet/>
      <dgm:spPr/>
      <dgm:t>
        <a:bodyPr/>
        <a:lstStyle/>
        <a:p>
          <a:endParaRPr lang="en-US"/>
        </a:p>
      </dgm:t>
    </dgm:pt>
    <dgm:pt modelId="{ABF7898F-98E1-4DCD-A4CD-618B225C88E6}">
      <dgm:prSet custT="1"/>
      <dgm:spPr/>
      <dgm:t>
        <a:bodyPr/>
        <a:lstStyle/>
        <a:p>
          <a:br>
            <a:rPr lang="en-GB" sz="1050" dirty="0"/>
          </a:br>
          <a:r>
            <a:rPr lang="en-GB" sz="1700" dirty="0"/>
            <a:t>For example the result of a query must be displayed with two seconds of pressing enter</a:t>
          </a:r>
          <a:endParaRPr lang="en-US" sz="1700" dirty="0"/>
        </a:p>
      </dgm:t>
    </dgm:pt>
    <dgm:pt modelId="{5F717906-1E1D-4F4B-85B6-ADF0791704BC}" type="parTrans" cxnId="{FCC78729-A96E-4596-B5FA-AC56D86FA7CD}">
      <dgm:prSet/>
      <dgm:spPr/>
      <dgm:t>
        <a:bodyPr/>
        <a:lstStyle/>
        <a:p>
          <a:endParaRPr lang="en-US"/>
        </a:p>
      </dgm:t>
    </dgm:pt>
    <dgm:pt modelId="{5F2CCE16-4755-4D35-85EC-1A82876ED4D5}" type="sibTrans" cxnId="{FCC78729-A96E-4596-B5FA-AC56D86FA7CD}">
      <dgm:prSet/>
      <dgm:spPr/>
      <dgm:t>
        <a:bodyPr/>
        <a:lstStyle/>
        <a:p>
          <a:endParaRPr lang="en-US"/>
        </a:p>
      </dgm:t>
    </dgm:pt>
    <dgm:pt modelId="{8E13EFC0-5538-4F57-B861-F694D5132B92}">
      <dgm:prSet/>
      <dgm:spPr/>
      <dgm:t>
        <a:bodyPr/>
        <a:lstStyle/>
        <a:p>
          <a:pPr>
            <a:defRPr b="1"/>
          </a:pPr>
          <a:r>
            <a:rPr lang="en-GB"/>
            <a:t>General</a:t>
          </a:r>
          <a:endParaRPr lang="en-US"/>
        </a:p>
      </dgm:t>
    </dgm:pt>
    <dgm:pt modelId="{32C63716-0340-4CF9-8A2B-998AA3AC9A0C}" type="parTrans" cxnId="{B0661A31-CEB5-4861-B49F-E9ED08BF3663}">
      <dgm:prSet/>
      <dgm:spPr/>
      <dgm:t>
        <a:bodyPr/>
        <a:lstStyle/>
        <a:p>
          <a:endParaRPr lang="en-US"/>
        </a:p>
      </dgm:t>
    </dgm:pt>
    <dgm:pt modelId="{060D9957-2154-47C8-BBD6-9DEACF376DDC}" type="sibTrans" cxnId="{B0661A31-CEB5-4861-B49F-E9ED08BF3663}">
      <dgm:prSet/>
      <dgm:spPr/>
      <dgm:t>
        <a:bodyPr/>
        <a:lstStyle/>
        <a:p>
          <a:endParaRPr lang="en-US"/>
        </a:p>
      </dgm:t>
    </dgm:pt>
    <dgm:pt modelId="{3D9A6D08-4ADF-487A-A90E-F92E639C6A44}">
      <dgm:prSet/>
      <dgm:spPr/>
      <dgm:t>
        <a:bodyPr/>
        <a:lstStyle/>
        <a:p>
          <a:r>
            <a:rPr lang="en-GB" dirty="0"/>
            <a:t>High-level overarching requirements of a business policy nature</a:t>
          </a:r>
          <a:endParaRPr lang="en-US" dirty="0"/>
        </a:p>
      </dgm:t>
    </dgm:pt>
    <dgm:pt modelId="{A609AA5A-2A8E-40B2-90E2-B334FB0BFED3}" type="parTrans" cxnId="{32C18FD7-75DF-406C-928B-97C9A2A4B259}">
      <dgm:prSet/>
      <dgm:spPr/>
      <dgm:t>
        <a:bodyPr/>
        <a:lstStyle/>
        <a:p>
          <a:endParaRPr lang="en-US"/>
        </a:p>
      </dgm:t>
    </dgm:pt>
    <dgm:pt modelId="{AC86EE07-4B10-4788-B4FA-390508F5F179}" type="sibTrans" cxnId="{32C18FD7-75DF-406C-928B-97C9A2A4B259}">
      <dgm:prSet/>
      <dgm:spPr/>
      <dgm:t>
        <a:bodyPr/>
        <a:lstStyle/>
        <a:p>
          <a:endParaRPr lang="en-US"/>
        </a:p>
      </dgm:t>
    </dgm:pt>
    <dgm:pt modelId="{8EF3F696-A8E9-4ADC-8D29-2DA515AD8896}">
      <dgm:prSet/>
      <dgm:spPr/>
      <dgm:t>
        <a:bodyPr/>
        <a:lstStyle/>
        <a:p>
          <a:endParaRPr lang="en-GB" dirty="0"/>
        </a:p>
        <a:p>
          <a:r>
            <a:rPr lang="en-GB" dirty="0"/>
            <a:t>For example to comply with data protection</a:t>
          </a:r>
          <a:endParaRPr lang="en-US" dirty="0"/>
        </a:p>
      </dgm:t>
    </dgm:pt>
    <dgm:pt modelId="{C25B5E60-F682-40EF-AFF9-E9F95B60D03C}" type="parTrans" cxnId="{2E2ADDDC-88B6-479A-B29D-19767EBCB65B}">
      <dgm:prSet/>
      <dgm:spPr/>
      <dgm:t>
        <a:bodyPr/>
        <a:lstStyle/>
        <a:p>
          <a:endParaRPr lang="en-US"/>
        </a:p>
      </dgm:t>
    </dgm:pt>
    <dgm:pt modelId="{C00A80A5-1111-4FD3-9DE7-7FAEF20FF4DF}" type="sibTrans" cxnId="{2E2ADDDC-88B6-479A-B29D-19767EBCB65B}">
      <dgm:prSet/>
      <dgm:spPr/>
      <dgm:t>
        <a:bodyPr/>
        <a:lstStyle/>
        <a:p>
          <a:endParaRPr lang="en-US"/>
        </a:p>
      </dgm:t>
    </dgm:pt>
    <dgm:pt modelId="{8BEC4700-835D-4733-B98F-202A82398293}">
      <dgm:prSet/>
      <dgm:spPr/>
      <dgm:t>
        <a:bodyPr/>
        <a:lstStyle/>
        <a:p>
          <a:pPr>
            <a:defRPr b="1"/>
          </a:pPr>
          <a:r>
            <a:rPr lang="en-GB"/>
            <a:t>Technical</a:t>
          </a:r>
          <a:endParaRPr lang="en-US"/>
        </a:p>
      </dgm:t>
    </dgm:pt>
    <dgm:pt modelId="{E4877F9F-B0EF-4F8B-977A-21F844E2F962}" type="parTrans" cxnId="{8D5FA7AA-4050-400C-AC34-AE834D3AEDAB}">
      <dgm:prSet/>
      <dgm:spPr/>
      <dgm:t>
        <a:bodyPr/>
        <a:lstStyle/>
        <a:p>
          <a:endParaRPr lang="en-US"/>
        </a:p>
      </dgm:t>
    </dgm:pt>
    <dgm:pt modelId="{5B1BB451-4E66-4F86-8548-3FA01BBF5524}" type="sibTrans" cxnId="{8D5FA7AA-4050-400C-AC34-AE834D3AEDAB}">
      <dgm:prSet/>
      <dgm:spPr/>
      <dgm:t>
        <a:bodyPr/>
        <a:lstStyle/>
        <a:p>
          <a:endParaRPr lang="en-US"/>
        </a:p>
      </dgm:t>
    </dgm:pt>
    <dgm:pt modelId="{DF202820-B096-4DF3-AD44-5D02E8FDFA88}">
      <dgm:prSet/>
      <dgm:spPr/>
      <dgm:t>
        <a:bodyPr/>
        <a:lstStyle/>
        <a:p>
          <a:r>
            <a:rPr lang="en-GB"/>
            <a:t>High-level overarching requirements of a technical policy nature</a:t>
          </a:r>
          <a:endParaRPr lang="en-US"/>
        </a:p>
      </dgm:t>
    </dgm:pt>
    <dgm:pt modelId="{D7D99300-FC45-4239-8397-898099B016A2}" type="parTrans" cxnId="{0C783337-4716-471E-85D4-5E5A518BF620}">
      <dgm:prSet/>
      <dgm:spPr/>
      <dgm:t>
        <a:bodyPr/>
        <a:lstStyle/>
        <a:p>
          <a:endParaRPr lang="en-US"/>
        </a:p>
      </dgm:t>
    </dgm:pt>
    <dgm:pt modelId="{F2F95469-1C8F-497C-8DEB-91081E7FCF6F}" type="sibTrans" cxnId="{0C783337-4716-471E-85D4-5E5A518BF620}">
      <dgm:prSet/>
      <dgm:spPr/>
      <dgm:t>
        <a:bodyPr/>
        <a:lstStyle/>
        <a:p>
          <a:endParaRPr lang="en-US"/>
        </a:p>
      </dgm:t>
    </dgm:pt>
    <dgm:pt modelId="{5117B018-8DA1-42A9-8002-63F6CE3E38B5}">
      <dgm:prSet/>
      <dgm:spPr/>
      <dgm:t>
        <a:bodyPr/>
        <a:lstStyle/>
        <a:p>
          <a:endParaRPr lang="en-GB" dirty="0"/>
        </a:p>
        <a:p>
          <a:r>
            <a:rPr lang="en-GB" dirty="0"/>
            <a:t>For example to operate on a certain platform and use a particular programming language </a:t>
          </a:r>
          <a:endParaRPr lang="en-US" dirty="0"/>
        </a:p>
      </dgm:t>
    </dgm:pt>
    <dgm:pt modelId="{613B75EF-3E4A-4F05-8665-1BA69508A135}" type="parTrans" cxnId="{E8573678-23D6-4033-9726-0E4294AA9419}">
      <dgm:prSet/>
      <dgm:spPr/>
      <dgm:t>
        <a:bodyPr/>
        <a:lstStyle/>
        <a:p>
          <a:endParaRPr lang="en-US"/>
        </a:p>
      </dgm:t>
    </dgm:pt>
    <dgm:pt modelId="{0CFDC25A-420F-41C9-9191-AF697547C027}" type="sibTrans" cxnId="{E8573678-23D6-4033-9726-0E4294AA9419}">
      <dgm:prSet/>
      <dgm:spPr/>
      <dgm:t>
        <a:bodyPr/>
        <a:lstStyle/>
        <a:p>
          <a:endParaRPr lang="en-US"/>
        </a:p>
      </dgm:t>
    </dgm:pt>
    <dgm:pt modelId="{F82D14D0-D861-4EFE-8E1B-EB3206587751}" type="pres">
      <dgm:prSet presAssocID="{249F7638-B42B-4D87-9EE7-F90E99A06AB1}" presName="root" presStyleCnt="0">
        <dgm:presLayoutVars>
          <dgm:dir/>
          <dgm:resizeHandles val="exact"/>
        </dgm:presLayoutVars>
      </dgm:prSet>
      <dgm:spPr/>
    </dgm:pt>
    <dgm:pt modelId="{4B1386A1-F62E-451D-AB75-6BEA4D360F35}" type="pres">
      <dgm:prSet presAssocID="{3F5DD6AB-E4B6-46DA-895D-B589E26F2EE6}" presName="compNode" presStyleCnt="0"/>
      <dgm:spPr/>
    </dgm:pt>
    <dgm:pt modelId="{1D750C37-EC41-482C-8877-903B7FE47F52}" type="pres">
      <dgm:prSet presAssocID="{3F5DD6AB-E4B6-46DA-895D-B589E26F2EE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3FEF25F0-1E2C-499E-94AC-D74858EE9D9B}" type="pres">
      <dgm:prSet presAssocID="{3F5DD6AB-E4B6-46DA-895D-B589E26F2EE6}" presName="iconSpace" presStyleCnt="0"/>
      <dgm:spPr/>
    </dgm:pt>
    <dgm:pt modelId="{8C9B4DF6-4556-425E-A86D-89A1013BB6C8}" type="pres">
      <dgm:prSet presAssocID="{3F5DD6AB-E4B6-46DA-895D-B589E26F2EE6}" presName="parTx" presStyleLbl="revTx" presStyleIdx="0" presStyleCnt="8">
        <dgm:presLayoutVars>
          <dgm:chMax val="0"/>
          <dgm:chPref val="0"/>
        </dgm:presLayoutVars>
      </dgm:prSet>
      <dgm:spPr/>
    </dgm:pt>
    <dgm:pt modelId="{F7D5EFD3-098E-4BA5-873B-277EFCF61291}" type="pres">
      <dgm:prSet presAssocID="{3F5DD6AB-E4B6-46DA-895D-B589E26F2EE6}" presName="txSpace" presStyleCnt="0"/>
      <dgm:spPr/>
    </dgm:pt>
    <dgm:pt modelId="{283EAF89-6ACD-4CE7-9E82-B9A592C9D4EA}" type="pres">
      <dgm:prSet presAssocID="{3F5DD6AB-E4B6-46DA-895D-B589E26F2EE6}" presName="desTx" presStyleLbl="revTx" presStyleIdx="1" presStyleCnt="8">
        <dgm:presLayoutVars/>
      </dgm:prSet>
      <dgm:spPr/>
    </dgm:pt>
    <dgm:pt modelId="{5BD2661A-F2A0-4F46-9261-7FD2080A1978}" type="pres">
      <dgm:prSet presAssocID="{2D48C274-68AE-45A0-9DEA-F20601B779B4}" presName="sibTrans" presStyleCnt="0"/>
      <dgm:spPr/>
    </dgm:pt>
    <dgm:pt modelId="{8A0A9C60-3C9C-4D96-B1A9-24B0BF591651}" type="pres">
      <dgm:prSet presAssocID="{EAC4A365-77DC-4542-A477-48DF2D1E173E}" presName="compNode" presStyleCnt="0"/>
      <dgm:spPr/>
    </dgm:pt>
    <dgm:pt modelId="{C0A273CF-BD9C-4199-812B-F98323E7EB7E}" type="pres">
      <dgm:prSet presAssocID="{EAC4A365-77DC-4542-A477-48DF2D1E173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57266CE5-F8CB-4C65-8A28-827326B8A439}" type="pres">
      <dgm:prSet presAssocID="{EAC4A365-77DC-4542-A477-48DF2D1E173E}" presName="iconSpace" presStyleCnt="0"/>
      <dgm:spPr/>
    </dgm:pt>
    <dgm:pt modelId="{F9BEC940-1039-487E-8BCD-AC48BB311230}" type="pres">
      <dgm:prSet presAssocID="{EAC4A365-77DC-4542-A477-48DF2D1E173E}" presName="parTx" presStyleLbl="revTx" presStyleIdx="2" presStyleCnt="8">
        <dgm:presLayoutVars>
          <dgm:chMax val="0"/>
          <dgm:chPref val="0"/>
        </dgm:presLayoutVars>
      </dgm:prSet>
      <dgm:spPr/>
    </dgm:pt>
    <dgm:pt modelId="{B8749000-5950-4D72-9BF2-0CB3F2ADD4B5}" type="pres">
      <dgm:prSet presAssocID="{EAC4A365-77DC-4542-A477-48DF2D1E173E}" presName="txSpace" presStyleCnt="0"/>
      <dgm:spPr/>
    </dgm:pt>
    <dgm:pt modelId="{DC93480E-9C49-4B16-BCD3-C995F29C66D6}" type="pres">
      <dgm:prSet presAssocID="{EAC4A365-77DC-4542-A477-48DF2D1E173E}" presName="desTx" presStyleLbl="revTx" presStyleIdx="3" presStyleCnt="8">
        <dgm:presLayoutVars/>
      </dgm:prSet>
      <dgm:spPr/>
    </dgm:pt>
    <dgm:pt modelId="{0C39521A-EE91-4383-980C-D70BC87BADAB}" type="pres">
      <dgm:prSet presAssocID="{8A4750EC-A798-44FA-9DA2-7C5907147156}" presName="sibTrans" presStyleCnt="0"/>
      <dgm:spPr/>
    </dgm:pt>
    <dgm:pt modelId="{77DF677F-E145-4AFA-B28D-8EE06B7BAC9C}" type="pres">
      <dgm:prSet presAssocID="{8E13EFC0-5538-4F57-B861-F694D5132B92}" presName="compNode" presStyleCnt="0"/>
      <dgm:spPr/>
    </dgm:pt>
    <dgm:pt modelId="{32DE02FC-A396-4878-9915-805F0F2F988D}" type="pres">
      <dgm:prSet presAssocID="{8E13EFC0-5538-4F57-B861-F694D5132B9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ck"/>
        </a:ext>
      </dgm:extLst>
    </dgm:pt>
    <dgm:pt modelId="{51C9A931-9E63-4607-B9EC-8257C139AAC4}" type="pres">
      <dgm:prSet presAssocID="{8E13EFC0-5538-4F57-B861-F694D5132B92}" presName="iconSpace" presStyleCnt="0"/>
      <dgm:spPr/>
    </dgm:pt>
    <dgm:pt modelId="{848A7749-04EE-4C92-AD4C-76BFB4E43927}" type="pres">
      <dgm:prSet presAssocID="{8E13EFC0-5538-4F57-B861-F694D5132B92}" presName="parTx" presStyleLbl="revTx" presStyleIdx="4" presStyleCnt="8">
        <dgm:presLayoutVars>
          <dgm:chMax val="0"/>
          <dgm:chPref val="0"/>
        </dgm:presLayoutVars>
      </dgm:prSet>
      <dgm:spPr/>
    </dgm:pt>
    <dgm:pt modelId="{CF40B434-F980-4D08-8E37-42CCFD651E9F}" type="pres">
      <dgm:prSet presAssocID="{8E13EFC0-5538-4F57-B861-F694D5132B92}" presName="txSpace" presStyleCnt="0"/>
      <dgm:spPr/>
    </dgm:pt>
    <dgm:pt modelId="{975E5294-D673-499D-BAA8-8499DE7490E2}" type="pres">
      <dgm:prSet presAssocID="{8E13EFC0-5538-4F57-B861-F694D5132B92}" presName="desTx" presStyleLbl="revTx" presStyleIdx="5" presStyleCnt="8">
        <dgm:presLayoutVars/>
      </dgm:prSet>
      <dgm:spPr/>
    </dgm:pt>
    <dgm:pt modelId="{2D885AD1-5F55-4A96-A3AE-AC196D7126FB}" type="pres">
      <dgm:prSet presAssocID="{060D9957-2154-47C8-BBD6-9DEACF376DDC}" presName="sibTrans" presStyleCnt="0"/>
      <dgm:spPr/>
    </dgm:pt>
    <dgm:pt modelId="{EDDE3B24-A087-4987-BEB5-DF5EBD83ED0D}" type="pres">
      <dgm:prSet presAssocID="{8BEC4700-835D-4733-B98F-202A82398293}" presName="compNode" presStyleCnt="0"/>
      <dgm:spPr/>
    </dgm:pt>
    <dgm:pt modelId="{BFEBB777-3500-4FE7-964F-A5A7B377B547}" type="pres">
      <dgm:prSet presAssocID="{8BEC4700-835D-4733-B98F-202A8239829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D32F15A8-543E-4A6E-8BC1-E55152251841}" type="pres">
      <dgm:prSet presAssocID="{8BEC4700-835D-4733-B98F-202A82398293}" presName="iconSpace" presStyleCnt="0"/>
      <dgm:spPr/>
    </dgm:pt>
    <dgm:pt modelId="{58B4A1C6-F30A-48D2-9466-BBE57CAC8EB1}" type="pres">
      <dgm:prSet presAssocID="{8BEC4700-835D-4733-B98F-202A82398293}" presName="parTx" presStyleLbl="revTx" presStyleIdx="6" presStyleCnt="8">
        <dgm:presLayoutVars>
          <dgm:chMax val="0"/>
          <dgm:chPref val="0"/>
        </dgm:presLayoutVars>
      </dgm:prSet>
      <dgm:spPr/>
    </dgm:pt>
    <dgm:pt modelId="{EB3AB8A5-F720-4617-9A10-E35FA637A3C9}" type="pres">
      <dgm:prSet presAssocID="{8BEC4700-835D-4733-B98F-202A82398293}" presName="txSpace" presStyleCnt="0"/>
      <dgm:spPr/>
    </dgm:pt>
    <dgm:pt modelId="{D1156928-5A19-4691-BEC6-80B88EEF10F5}" type="pres">
      <dgm:prSet presAssocID="{8BEC4700-835D-4733-B98F-202A82398293}" presName="desTx" presStyleLbl="revTx" presStyleIdx="7" presStyleCnt="8">
        <dgm:presLayoutVars/>
      </dgm:prSet>
      <dgm:spPr/>
    </dgm:pt>
  </dgm:ptLst>
  <dgm:cxnLst>
    <dgm:cxn modelId="{DF6B3E03-C36B-4DD5-B761-7A51AD688577}" type="presOf" srcId="{5117B018-8DA1-42A9-8002-63F6CE3E38B5}" destId="{D1156928-5A19-4691-BEC6-80B88EEF10F5}" srcOrd="0" destOrd="1" presId="urn:microsoft.com/office/officeart/2018/2/layout/IconLabelDescriptionList"/>
    <dgm:cxn modelId="{52B09A07-7359-478E-9E6D-31753277DF16}" srcId="{EAC4A365-77DC-4542-A477-48DF2D1E173E}" destId="{BB24F1C1-B379-4EEC-B81B-8491D29028D6}" srcOrd="0" destOrd="0" parTransId="{B426944E-3392-448F-BC5A-831F9FF0DB57}" sibTransId="{3BBD16AF-C29C-4AB7-8D2E-82FEB238B6A7}"/>
    <dgm:cxn modelId="{3E69201E-0A0A-46AF-A242-D8647E054338}" type="presOf" srcId="{DF202820-B096-4DF3-AD44-5D02E8FDFA88}" destId="{D1156928-5A19-4691-BEC6-80B88EEF10F5}" srcOrd="0" destOrd="0" presId="urn:microsoft.com/office/officeart/2018/2/layout/IconLabelDescriptionList"/>
    <dgm:cxn modelId="{FCC78729-A96E-4596-B5FA-AC56D86FA7CD}" srcId="{EAC4A365-77DC-4542-A477-48DF2D1E173E}" destId="{ABF7898F-98E1-4DCD-A4CD-618B225C88E6}" srcOrd="1" destOrd="0" parTransId="{5F717906-1E1D-4F4B-85B6-ADF0791704BC}" sibTransId="{5F2CCE16-4755-4D35-85EC-1A82876ED4D5}"/>
    <dgm:cxn modelId="{B0661A31-CEB5-4861-B49F-E9ED08BF3663}" srcId="{249F7638-B42B-4D87-9EE7-F90E99A06AB1}" destId="{8E13EFC0-5538-4F57-B861-F694D5132B92}" srcOrd="2" destOrd="0" parTransId="{32C63716-0340-4CF9-8A2B-998AA3AC9A0C}" sibTransId="{060D9957-2154-47C8-BBD6-9DEACF376DDC}"/>
    <dgm:cxn modelId="{0C783337-4716-471E-85D4-5E5A518BF620}" srcId="{8BEC4700-835D-4733-B98F-202A82398293}" destId="{DF202820-B096-4DF3-AD44-5D02E8FDFA88}" srcOrd="0" destOrd="0" parTransId="{D7D99300-FC45-4239-8397-898099B016A2}" sibTransId="{F2F95469-1C8F-497C-8DEB-91081E7FCF6F}"/>
    <dgm:cxn modelId="{3A75C345-9654-45C9-9AA1-22BCA9ECA125}" srcId="{249F7638-B42B-4D87-9EE7-F90E99A06AB1}" destId="{EAC4A365-77DC-4542-A477-48DF2D1E173E}" srcOrd="1" destOrd="0" parTransId="{EF23A6BB-210C-44F4-B471-ABF280F6DC23}" sibTransId="{8A4750EC-A798-44FA-9DA2-7C5907147156}"/>
    <dgm:cxn modelId="{74CAC249-0493-410E-A1F3-3B9140CEEB6A}" type="presOf" srcId="{BB24F1C1-B379-4EEC-B81B-8491D29028D6}" destId="{DC93480E-9C49-4B16-BCD3-C995F29C66D6}" srcOrd="0" destOrd="0" presId="urn:microsoft.com/office/officeart/2018/2/layout/IconLabelDescriptionList"/>
    <dgm:cxn modelId="{7B5DAE4B-B142-4BDB-948C-892E35D3F566}" type="presOf" srcId="{8E13EFC0-5538-4F57-B861-F694D5132B92}" destId="{848A7749-04EE-4C92-AD4C-76BFB4E43927}" srcOrd="0" destOrd="0" presId="urn:microsoft.com/office/officeart/2018/2/layout/IconLabelDescriptionList"/>
    <dgm:cxn modelId="{E8573678-23D6-4033-9726-0E4294AA9419}" srcId="{8BEC4700-835D-4733-B98F-202A82398293}" destId="{5117B018-8DA1-42A9-8002-63F6CE3E38B5}" srcOrd="1" destOrd="0" parTransId="{613B75EF-3E4A-4F05-8665-1BA69508A135}" sibTransId="{0CFDC25A-420F-41C9-9191-AF697547C027}"/>
    <dgm:cxn modelId="{CC3D0A94-B0EC-42ED-A79C-2F21399448DE}" type="presOf" srcId="{249F7638-B42B-4D87-9EE7-F90E99A06AB1}" destId="{F82D14D0-D861-4EFE-8E1B-EB3206587751}" srcOrd="0" destOrd="0" presId="urn:microsoft.com/office/officeart/2018/2/layout/IconLabelDescriptionList"/>
    <dgm:cxn modelId="{41A62D94-EDFA-435F-AD17-4743DC35BE0E}" type="presOf" srcId="{9A88528D-9E75-408F-8A7C-653FD4B2FEE9}" destId="{283EAF89-6ACD-4CE7-9E82-B9A592C9D4EA}" srcOrd="0" destOrd="1" presId="urn:microsoft.com/office/officeart/2018/2/layout/IconLabelDescriptionList"/>
    <dgm:cxn modelId="{8ADC4A96-F993-4487-811B-972FDC3860B8}" type="presOf" srcId="{3F5DD6AB-E4B6-46DA-895D-B589E26F2EE6}" destId="{8C9B4DF6-4556-425E-A86D-89A1013BB6C8}" srcOrd="0" destOrd="0" presId="urn:microsoft.com/office/officeart/2018/2/layout/IconLabelDescriptionList"/>
    <dgm:cxn modelId="{0C11F99B-8F33-43E2-AAD8-4DAD0B51497D}" type="presOf" srcId="{8BEC4700-835D-4733-B98F-202A82398293}" destId="{58B4A1C6-F30A-48D2-9466-BBE57CAC8EB1}" srcOrd="0" destOrd="0" presId="urn:microsoft.com/office/officeart/2018/2/layout/IconLabelDescriptionList"/>
    <dgm:cxn modelId="{C6CAE79C-E56A-4A65-AE86-4BFC6E3B869F}" srcId="{249F7638-B42B-4D87-9EE7-F90E99A06AB1}" destId="{3F5DD6AB-E4B6-46DA-895D-B589E26F2EE6}" srcOrd="0" destOrd="0" parTransId="{93B24B75-4C50-48C0-AF3D-9473788588A8}" sibTransId="{2D48C274-68AE-45A0-9DEA-F20601B779B4}"/>
    <dgm:cxn modelId="{8D5FA7AA-4050-400C-AC34-AE834D3AEDAB}" srcId="{249F7638-B42B-4D87-9EE7-F90E99A06AB1}" destId="{8BEC4700-835D-4733-B98F-202A82398293}" srcOrd="3" destOrd="0" parTransId="{E4877F9F-B0EF-4F8B-977A-21F844E2F962}" sibTransId="{5B1BB451-4E66-4F86-8548-3FA01BBF5524}"/>
    <dgm:cxn modelId="{360E54C0-020F-4329-9082-3B528A0F78EB}" type="presOf" srcId="{ABF7898F-98E1-4DCD-A4CD-618B225C88E6}" destId="{DC93480E-9C49-4B16-BCD3-C995F29C66D6}" srcOrd="0" destOrd="1" presId="urn:microsoft.com/office/officeart/2018/2/layout/IconLabelDescriptionList"/>
    <dgm:cxn modelId="{9127C1C0-D090-4B5D-AC04-24CEE96017CD}" type="presOf" srcId="{9E993642-A1B7-41E5-83CD-66439BBB69E4}" destId="{283EAF89-6ACD-4CE7-9E82-B9A592C9D4EA}" srcOrd="0" destOrd="0" presId="urn:microsoft.com/office/officeart/2018/2/layout/IconLabelDescriptionList"/>
    <dgm:cxn modelId="{DA3DF5D0-44EA-4E22-8E2D-A8D9BD1DC27C}" srcId="{3F5DD6AB-E4B6-46DA-895D-B589E26F2EE6}" destId="{9E993642-A1B7-41E5-83CD-66439BBB69E4}" srcOrd="0" destOrd="0" parTransId="{940528CA-FC8E-4E34-BB7F-A3E9DFC599A3}" sibTransId="{27D63718-BADA-423D-AAD0-FC5E8CC9307D}"/>
    <dgm:cxn modelId="{BA50C3D3-8E7C-41E7-B7E0-C585F7BBB74A}" type="presOf" srcId="{3D9A6D08-4ADF-487A-A90E-F92E639C6A44}" destId="{975E5294-D673-499D-BAA8-8499DE7490E2}" srcOrd="0" destOrd="0" presId="urn:microsoft.com/office/officeart/2018/2/layout/IconLabelDescriptionList"/>
    <dgm:cxn modelId="{32C18FD7-75DF-406C-928B-97C9A2A4B259}" srcId="{8E13EFC0-5538-4F57-B861-F694D5132B92}" destId="{3D9A6D08-4ADF-487A-A90E-F92E639C6A44}" srcOrd="0" destOrd="0" parTransId="{A609AA5A-2A8E-40B2-90E2-B334FB0BFED3}" sibTransId="{AC86EE07-4B10-4788-B4FA-390508F5F179}"/>
    <dgm:cxn modelId="{A03056D8-6EFD-4DBB-A5A5-9D37AE246B5E}" type="presOf" srcId="{EAC4A365-77DC-4542-A477-48DF2D1E173E}" destId="{F9BEC940-1039-487E-8BCD-AC48BB311230}" srcOrd="0" destOrd="0" presId="urn:microsoft.com/office/officeart/2018/2/layout/IconLabelDescriptionList"/>
    <dgm:cxn modelId="{2E2ADDDC-88B6-479A-B29D-19767EBCB65B}" srcId="{8E13EFC0-5538-4F57-B861-F694D5132B92}" destId="{8EF3F696-A8E9-4ADC-8D29-2DA515AD8896}" srcOrd="1" destOrd="0" parTransId="{C25B5E60-F682-40EF-AFF9-E9F95B60D03C}" sibTransId="{C00A80A5-1111-4FD3-9DE7-7FAEF20FF4DF}"/>
    <dgm:cxn modelId="{0F6436EF-87E6-4AEC-BA9F-EF8D5F185EF5}" type="presOf" srcId="{8EF3F696-A8E9-4ADC-8D29-2DA515AD8896}" destId="{975E5294-D673-499D-BAA8-8499DE7490E2}" srcOrd="0" destOrd="1" presId="urn:microsoft.com/office/officeart/2018/2/layout/IconLabelDescriptionList"/>
    <dgm:cxn modelId="{1D36D8FF-6ABE-4540-94B4-7CCDC73F675C}" srcId="{3F5DD6AB-E4B6-46DA-895D-B589E26F2EE6}" destId="{9A88528D-9E75-408F-8A7C-653FD4B2FEE9}" srcOrd="1" destOrd="0" parTransId="{8FE7AB17-E316-44B3-8200-21AF993FE297}" sibTransId="{3907D1EB-122F-4653-9771-11B81BDFA1AD}"/>
    <dgm:cxn modelId="{DC94DE29-FBCC-48D2-8DBC-C05198ECEE94}" type="presParOf" srcId="{F82D14D0-D861-4EFE-8E1B-EB3206587751}" destId="{4B1386A1-F62E-451D-AB75-6BEA4D360F35}" srcOrd="0" destOrd="0" presId="urn:microsoft.com/office/officeart/2018/2/layout/IconLabelDescriptionList"/>
    <dgm:cxn modelId="{21E9A233-9277-4FEA-B62E-2AE0E5B8AE3A}" type="presParOf" srcId="{4B1386A1-F62E-451D-AB75-6BEA4D360F35}" destId="{1D750C37-EC41-482C-8877-903B7FE47F52}" srcOrd="0" destOrd="0" presId="urn:microsoft.com/office/officeart/2018/2/layout/IconLabelDescriptionList"/>
    <dgm:cxn modelId="{853195A9-9F00-4953-BAED-88B1DD3DEF2C}" type="presParOf" srcId="{4B1386A1-F62E-451D-AB75-6BEA4D360F35}" destId="{3FEF25F0-1E2C-499E-94AC-D74858EE9D9B}" srcOrd="1" destOrd="0" presId="urn:microsoft.com/office/officeart/2018/2/layout/IconLabelDescriptionList"/>
    <dgm:cxn modelId="{EC7A1F69-DA95-4DE5-B5F1-A2CC59FFB20F}" type="presParOf" srcId="{4B1386A1-F62E-451D-AB75-6BEA4D360F35}" destId="{8C9B4DF6-4556-425E-A86D-89A1013BB6C8}" srcOrd="2" destOrd="0" presId="urn:microsoft.com/office/officeart/2018/2/layout/IconLabelDescriptionList"/>
    <dgm:cxn modelId="{DBCBA13A-F417-4235-B900-4B876B746C4B}" type="presParOf" srcId="{4B1386A1-F62E-451D-AB75-6BEA4D360F35}" destId="{F7D5EFD3-098E-4BA5-873B-277EFCF61291}" srcOrd="3" destOrd="0" presId="urn:microsoft.com/office/officeart/2018/2/layout/IconLabelDescriptionList"/>
    <dgm:cxn modelId="{EC74D67B-F67E-4F2E-9DC0-910BE2306748}" type="presParOf" srcId="{4B1386A1-F62E-451D-AB75-6BEA4D360F35}" destId="{283EAF89-6ACD-4CE7-9E82-B9A592C9D4EA}" srcOrd="4" destOrd="0" presId="urn:microsoft.com/office/officeart/2018/2/layout/IconLabelDescriptionList"/>
    <dgm:cxn modelId="{187480B2-6E95-4AC8-8CDC-8738C5E90DE3}" type="presParOf" srcId="{F82D14D0-D861-4EFE-8E1B-EB3206587751}" destId="{5BD2661A-F2A0-4F46-9261-7FD2080A1978}" srcOrd="1" destOrd="0" presId="urn:microsoft.com/office/officeart/2018/2/layout/IconLabelDescriptionList"/>
    <dgm:cxn modelId="{C0371C39-A080-4F69-8170-708E46E8D1AA}" type="presParOf" srcId="{F82D14D0-D861-4EFE-8E1B-EB3206587751}" destId="{8A0A9C60-3C9C-4D96-B1A9-24B0BF591651}" srcOrd="2" destOrd="0" presId="urn:microsoft.com/office/officeart/2018/2/layout/IconLabelDescriptionList"/>
    <dgm:cxn modelId="{7E6EA10D-F24C-4534-9A07-6AB33452B30B}" type="presParOf" srcId="{8A0A9C60-3C9C-4D96-B1A9-24B0BF591651}" destId="{C0A273CF-BD9C-4199-812B-F98323E7EB7E}" srcOrd="0" destOrd="0" presId="urn:microsoft.com/office/officeart/2018/2/layout/IconLabelDescriptionList"/>
    <dgm:cxn modelId="{4848E3E1-80F0-4494-8D00-B6DEC284C5E5}" type="presParOf" srcId="{8A0A9C60-3C9C-4D96-B1A9-24B0BF591651}" destId="{57266CE5-F8CB-4C65-8A28-827326B8A439}" srcOrd="1" destOrd="0" presId="urn:microsoft.com/office/officeart/2018/2/layout/IconLabelDescriptionList"/>
    <dgm:cxn modelId="{EF0FE396-45ED-4CF9-A803-E7B29A8F8348}" type="presParOf" srcId="{8A0A9C60-3C9C-4D96-B1A9-24B0BF591651}" destId="{F9BEC940-1039-487E-8BCD-AC48BB311230}" srcOrd="2" destOrd="0" presId="urn:microsoft.com/office/officeart/2018/2/layout/IconLabelDescriptionList"/>
    <dgm:cxn modelId="{0C8F7146-C6F8-4603-AC87-8B15287898DD}" type="presParOf" srcId="{8A0A9C60-3C9C-4D96-B1A9-24B0BF591651}" destId="{B8749000-5950-4D72-9BF2-0CB3F2ADD4B5}" srcOrd="3" destOrd="0" presId="urn:microsoft.com/office/officeart/2018/2/layout/IconLabelDescriptionList"/>
    <dgm:cxn modelId="{83FCB3A5-8D3E-4E03-A57D-183BD62B5219}" type="presParOf" srcId="{8A0A9C60-3C9C-4D96-B1A9-24B0BF591651}" destId="{DC93480E-9C49-4B16-BCD3-C995F29C66D6}" srcOrd="4" destOrd="0" presId="urn:microsoft.com/office/officeart/2018/2/layout/IconLabelDescriptionList"/>
    <dgm:cxn modelId="{6364AEC7-E6FA-45DB-8A44-02939CC9CC94}" type="presParOf" srcId="{F82D14D0-D861-4EFE-8E1B-EB3206587751}" destId="{0C39521A-EE91-4383-980C-D70BC87BADAB}" srcOrd="3" destOrd="0" presId="urn:microsoft.com/office/officeart/2018/2/layout/IconLabelDescriptionList"/>
    <dgm:cxn modelId="{A9F68468-3494-4B53-944A-D1DE14DAE064}" type="presParOf" srcId="{F82D14D0-D861-4EFE-8E1B-EB3206587751}" destId="{77DF677F-E145-4AFA-B28D-8EE06B7BAC9C}" srcOrd="4" destOrd="0" presId="urn:microsoft.com/office/officeart/2018/2/layout/IconLabelDescriptionList"/>
    <dgm:cxn modelId="{844E644D-236C-4DEF-9C51-6AB14847C7F5}" type="presParOf" srcId="{77DF677F-E145-4AFA-B28D-8EE06B7BAC9C}" destId="{32DE02FC-A396-4878-9915-805F0F2F988D}" srcOrd="0" destOrd="0" presId="urn:microsoft.com/office/officeart/2018/2/layout/IconLabelDescriptionList"/>
    <dgm:cxn modelId="{1DC54EC4-A7B5-4E1A-A0D4-88E1999512E3}" type="presParOf" srcId="{77DF677F-E145-4AFA-B28D-8EE06B7BAC9C}" destId="{51C9A931-9E63-4607-B9EC-8257C139AAC4}" srcOrd="1" destOrd="0" presId="urn:microsoft.com/office/officeart/2018/2/layout/IconLabelDescriptionList"/>
    <dgm:cxn modelId="{88B08941-1DA5-4593-B2A8-C67C135155CD}" type="presParOf" srcId="{77DF677F-E145-4AFA-B28D-8EE06B7BAC9C}" destId="{848A7749-04EE-4C92-AD4C-76BFB4E43927}" srcOrd="2" destOrd="0" presId="urn:microsoft.com/office/officeart/2018/2/layout/IconLabelDescriptionList"/>
    <dgm:cxn modelId="{CF8C37DD-5266-43A3-B7B8-60618CC27F97}" type="presParOf" srcId="{77DF677F-E145-4AFA-B28D-8EE06B7BAC9C}" destId="{CF40B434-F980-4D08-8E37-42CCFD651E9F}" srcOrd="3" destOrd="0" presId="urn:microsoft.com/office/officeart/2018/2/layout/IconLabelDescriptionList"/>
    <dgm:cxn modelId="{882DCE6A-DE8E-40A4-99D9-471DFD404796}" type="presParOf" srcId="{77DF677F-E145-4AFA-B28D-8EE06B7BAC9C}" destId="{975E5294-D673-499D-BAA8-8499DE7490E2}" srcOrd="4" destOrd="0" presId="urn:microsoft.com/office/officeart/2018/2/layout/IconLabelDescriptionList"/>
    <dgm:cxn modelId="{0F1A7666-418E-4ABB-8CFA-EF30BC48EBDE}" type="presParOf" srcId="{F82D14D0-D861-4EFE-8E1B-EB3206587751}" destId="{2D885AD1-5F55-4A96-A3AE-AC196D7126FB}" srcOrd="5" destOrd="0" presId="urn:microsoft.com/office/officeart/2018/2/layout/IconLabelDescriptionList"/>
    <dgm:cxn modelId="{1754AC4E-0FFA-4C91-BA33-0CCBAFDDA81B}" type="presParOf" srcId="{F82D14D0-D861-4EFE-8E1B-EB3206587751}" destId="{EDDE3B24-A087-4987-BEB5-DF5EBD83ED0D}" srcOrd="6" destOrd="0" presId="urn:microsoft.com/office/officeart/2018/2/layout/IconLabelDescriptionList"/>
    <dgm:cxn modelId="{7503537C-E97E-40A9-98EF-DD21AE126636}" type="presParOf" srcId="{EDDE3B24-A087-4987-BEB5-DF5EBD83ED0D}" destId="{BFEBB777-3500-4FE7-964F-A5A7B377B547}" srcOrd="0" destOrd="0" presId="urn:microsoft.com/office/officeart/2018/2/layout/IconLabelDescriptionList"/>
    <dgm:cxn modelId="{78391ECB-8996-4688-9F31-BC365D66F9E0}" type="presParOf" srcId="{EDDE3B24-A087-4987-BEB5-DF5EBD83ED0D}" destId="{D32F15A8-543E-4A6E-8BC1-E55152251841}" srcOrd="1" destOrd="0" presId="urn:microsoft.com/office/officeart/2018/2/layout/IconLabelDescriptionList"/>
    <dgm:cxn modelId="{FCB0C423-728B-479A-86B0-FBE690D99154}" type="presParOf" srcId="{EDDE3B24-A087-4987-BEB5-DF5EBD83ED0D}" destId="{58B4A1C6-F30A-48D2-9466-BBE57CAC8EB1}" srcOrd="2" destOrd="0" presId="urn:microsoft.com/office/officeart/2018/2/layout/IconLabelDescriptionList"/>
    <dgm:cxn modelId="{5EEAE358-B7F3-4AA0-8448-3618CF275B17}" type="presParOf" srcId="{EDDE3B24-A087-4987-BEB5-DF5EBD83ED0D}" destId="{EB3AB8A5-F720-4617-9A10-E35FA637A3C9}" srcOrd="3" destOrd="0" presId="urn:microsoft.com/office/officeart/2018/2/layout/IconLabelDescriptionList"/>
    <dgm:cxn modelId="{B37E0571-C9EA-4FE2-BAA4-9B615B83561F}" type="presParOf" srcId="{EDDE3B24-A087-4987-BEB5-DF5EBD83ED0D}" destId="{D1156928-5A19-4691-BEC6-80B88EEF10F5}"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50C37-EC41-482C-8877-903B7FE47F52}">
      <dsp:nvSpPr>
        <dsp:cNvPr id="0" name=""/>
        <dsp:cNvSpPr/>
      </dsp:nvSpPr>
      <dsp:spPr>
        <a:xfrm>
          <a:off x="8828" y="155794"/>
          <a:ext cx="885937" cy="8859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9B4DF6-4556-425E-A86D-89A1013BB6C8}">
      <dsp:nvSpPr>
        <dsp:cNvPr id="0" name=""/>
        <dsp:cNvSpPr/>
      </dsp:nvSpPr>
      <dsp:spPr>
        <a:xfrm>
          <a:off x="8828" y="1217215"/>
          <a:ext cx="2531250" cy="37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GB" sz="2400" kern="1200"/>
            <a:t>Functional</a:t>
          </a:r>
          <a:endParaRPr lang="en-US" sz="2400" kern="1200"/>
        </a:p>
      </dsp:txBody>
      <dsp:txXfrm>
        <a:off x="8828" y="1217215"/>
        <a:ext cx="2531250" cy="379687"/>
      </dsp:txXfrm>
    </dsp:sp>
    <dsp:sp modelId="{283EAF89-6ACD-4CE7-9E82-B9A592C9D4EA}">
      <dsp:nvSpPr>
        <dsp:cNvPr id="0" name=""/>
        <dsp:cNvSpPr/>
      </dsp:nvSpPr>
      <dsp:spPr>
        <a:xfrm>
          <a:off x="8828" y="1678523"/>
          <a:ext cx="2531250" cy="2558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dirty="0"/>
            <a:t>Define </a:t>
          </a:r>
          <a:r>
            <a:rPr lang="en-GB" sz="1700" b="1" kern="1200" dirty="0"/>
            <a:t>what</a:t>
          </a:r>
          <a:r>
            <a:rPr lang="en-GB" sz="1700" kern="1200" dirty="0"/>
            <a:t> the solution must do</a:t>
          </a:r>
          <a:endParaRPr lang="en-US" sz="1700" kern="1200" dirty="0"/>
        </a:p>
        <a:p>
          <a:pPr marL="0" lvl="0" indent="0" algn="l" defTabSz="755650">
            <a:lnSpc>
              <a:spcPct val="90000"/>
            </a:lnSpc>
            <a:spcBef>
              <a:spcPct val="0"/>
            </a:spcBef>
            <a:spcAft>
              <a:spcPct val="35000"/>
            </a:spcAft>
            <a:buNone/>
          </a:pPr>
          <a:endParaRPr lang="en-GB" sz="1700" kern="1200" dirty="0"/>
        </a:p>
        <a:p>
          <a:pPr marL="0" lvl="0" indent="0" algn="l" defTabSz="755650">
            <a:lnSpc>
              <a:spcPct val="90000"/>
            </a:lnSpc>
            <a:spcBef>
              <a:spcPct val="0"/>
            </a:spcBef>
            <a:spcAft>
              <a:spcPct val="35000"/>
            </a:spcAft>
            <a:buNone/>
          </a:pPr>
          <a:r>
            <a:rPr lang="en-GB" sz="1700" kern="1200" dirty="0"/>
            <a:t>For example to identify an invoice is overdue and issue alert</a:t>
          </a:r>
          <a:endParaRPr lang="en-US" sz="1700" kern="1200" dirty="0"/>
        </a:p>
      </dsp:txBody>
      <dsp:txXfrm>
        <a:off x="8828" y="1678523"/>
        <a:ext cx="2531250" cy="2558292"/>
      </dsp:txXfrm>
    </dsp:sp>
    <dsp:sp modelId="{C0A273CF-BD9C-4199-812B-F98323E7EB7E}">
      <dsp:nvSpPr>
        <dsp:cNvPr id="0" name=""/>
        <dsp:cNvSpPr/>
      </dsp:nvSpPr>
      <dsp:spPr>
        <a:xfrm>
          <a:off x="2983047" y="155794"/>
          <a:ext cx="885937" cy="8859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BEC940-1039-487E-8BCD-AC48BB311230}">
      <dsp:nvSpPr>
        <dsp:cNvPr id="0" name=""/>
        <dsp:cNvSpPr/>
      </dsp:nvSpPr>
      <dsp:spPr>
        <a:xfrm>
          <a:off x="2983047" y="1217215"/>
          <a:ext cx="2531250" cy="37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GB" sz="2400" kern="1200"/>
            <a:t>Non-Functional</a:t>
          </a:r>
          <a:endParaRPr lang="en-US" sz="2400" kern="1200"/>
        </a:p>
      </dsp:txBody>
      <dsp:txXfrm>
        <a:off x="2983047" y="1217215"/>
        <a:ext cx="2531250" cy="379687"/>
      </dsp:txXfrm>
    </dsp:sp>
    <dsp:sp modelId="{DC93480E-9C49-4B16-BCD3-C995F29C66D6}">
      <dsp:nvSpPr>
        <dsp:cNvPr id="0" name=""/>
        <dsp:cNvSpPr/>
      </dsp:nvSpPr>
      <dsp:spPr>
        <a:xfrm>
          <a:off x="2983047" y="1678523"/>
          <a:ext cx="2531250" cy="2558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dirty="0"/>
            <a:t>Define </a:t>
          </a:r>
          <a:r>
            <a:rPr lang="en-GB" sz="1700" b="1" kern="1200" dirty="0"/>
            <a:t>how</a:t>
          </a:r>
          <a:r>
            <a:rPr lang="en-GB" sz="1700" kern="1200" dirty="0"/>
            <a:t> the solution must operate (product qualities)</a:t>
          </a:r>
          <a:endParaRPr lang="en-US" sz="1700" kern="1200" dirty="0"/>
        </a:p>
        <a:p>
          <a:pPr marL="0" lvl="0" indent="0" algn="l" defTabSz="466725">
            <a:lnSpc>
              <a:spcPct val="90000"/>
            </a:lnSpc>
            <a:spcBef>
              <a:spcPct val="0"/>
            </a:spcBef>
            <a:spcAft>
              <a:spcPct val="35000"/>
            </a:spcAft>
            <a:buNone/>
          </a:pPr>
          <a:br>
            <a:rPr lang="en-GB" sz="1050" kern="1200" dirty="0"/>
          </a:br>
          <a:r>
            <a:rPr lang="en-GB" sz="1700" kern="1200" dirty="0"/>
            <a:t>For example the result of a query must be displayed with two seconds of pressing enter</a:t>
          </a:r>
          <a:endParaRPr lang="en-US" sz="1700" kern="1200" dirty="0"/>
        </a:p>
      </dsp:txBody>
      <dsp:txXfrm>
        <a:off x="2983047" y="1678523"/>
        <a:ext cx="2531250" cy="2558292"/>
      </dsp:txXfrm>
    </dsp:sp>
    <dsp:sp modelId="{32DE02FC-A396-4878-9915-805F0F2F988D}">
      <dsp:nvSpPr>
        <dsp:cNvPr id="0" name=""/>
        <dsp:cNvSpPr/>
      </dsp:nvSpPr>
      <dsp:spPr>
        <a:xfrm>
          <a:off x="5957266" y="155794"/>
          <a:ext cx="885937" cy="8859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8A7749-04EE-4C92-AD4C-76BFB4E43927}">
      <dsp:nvSpPr>
        <dsp:cNvPr id="0" name=""/>
        <dsp:cNvSpPr/>
      </dsp:nvSpPr>
      <dsp:spPr>
        <a:xfrm>
          <a:off x="5957266" y="1217215"/>
          <a:ext cx="2531250" cy="37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GB" sz="2400" kern="1200"/>
            <a:t>General</a:t>
          </a:r>
          <a:endParaRPr lang="en-US" sz="2400" kern="1200"/>
        </a:p>
      </dsp:txBody>
      <dsp:txXfrm>
        <a:off x="5957266" y="1217215"/>
        <a:ext cx="2531250" cy="379687"/>
      </dsp:txXfrm>
    </dsp:sp>
    <dsp:sp modelId="{975E5294-D673-499D-BAA8-8499DE7490E2}">
      <dsp:nvSpPr>
        <dsp:cNvPr id="0" name=""/>
        <dsp:cNvSpPr/>
      </dsp:nvSpPr>
      <dsp:spPr>
        <a:xfrm>
          <a:off x="5957266" y="1678523"/>
          <a:ext cx="2531250" cy="2558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dirty="0"/>
            <a:t>High-level overarching requirements of a business policy nature</a:t>
          </a:r>
          <a:endParaRPr lang="en-US" sz="1700" kern="1200" dirty="0"/>
        </a:p>
        <a:p>
          <a:pPr marL="0" lvl="0" indent="0" algn="l" defTabSz="755650">
            <a:lnSpc>
              <a:spcPct val="90000"/>
            </a:lnSpc>
            <a:spcBef>
              <a:spcPct val="0"/>
            </a:spcBef>
            <a:spcAft>
              <a:spcPct val="35000"/>
            </a:spcAft>
            <a:buNone/>
          </a:pPr>
          <a:endParaRPr lang="en-GB" sz="1700" kern="1200" dirty="0"/>
        </a:p>
        <a:p>
          <a:pPr marL="0" lvl="0" indent="0" algn="l" defTabSz="755650">
            <a:lnSpc>
              <a:spcPct val="90000"/>
            </a:lnSpc>
            <a:spcBef>
              <a:spcPct val="0"/>
            </a:spcBef>
            <a:spcAft>
              <a:spcPct val="35000"/>
            </a:spcAft>
            <a:buNone/>
          </a:pPr>
          <a:r>
            <a:rPr lang="en-GB" sz="1700" kern="1200" dirty="0"/>
            <a:t>For example to comply with data protection</a:t>
          </a:r>
          <a:endParaRPr lang="en-US" sz="1700" kern="1200" dirty="0"/>
        </a:p>
      </dsp:txBody>
      <dsp:txXfrm>
        <a:off x="5957266" y="1678523"/>
        <a:ext cx="2531250" cy="2558292"/>
      </dsp:txXfrm>
    </dsp:sp>
    <dsp:sp modelId="{BFEBB777-3500-4FE7-964F-A5A7B377B547}">
      <dsp:nvSpPr>
        <dsp:cNvPr id="0" name=""/>
        <dsp:cNvSpPr/>
      </dsp:nvSpPr>
      <dsp:spPr>
        <a:xfrm>
          <a:off x="8931485" y="155794"/>
          <a:ext cx="885937" cy="88593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B4A1C6-F30A-48D2-9466-BBE57CAC8EB1}">
      <dsp:nvSpPr>
        <dsp:cNvPr id="0" name=""/>
        <dsp:cNvSpPr/>
      </dsp:nvSpPr>
      <dsp:spPr>
        <a:xfrm>
          <a:off x="8931485" y="1217215"/>
          <a:ext cx="2531250" cy="379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defRPr b="1"/>
          </a:pPr>
          <a:r>
            <a:rPr lang="en-GB" sz="2400" kern="1200"/>
            <a:t>Technical</a:t>
          </a:r>
          <a:endParaRPr lang="en-US" sz="2400" kern="1200"/>
        </a:p>
      </dsp:txBody>
      <dsp:txXfrm>
        <a:off x="8931485" y="1217215"/>
        <a:ext cx="2531250" cy="379687"/>
      </dsp:txXfrm>
    </dsp:sp>
    <dsp:sp modelId="{D1156928-5A19-4691-BEC6-80B88EEF10F5}">
      <dsp:nvSpPr>
        <dsp:cNvPr id="0" name=""/>
        <dsp:cNvSpPr/>
      </dsp:nvSpPr>
      <dsp:spPr>
        <a:xfrm>
          <a:off x="8931485" y="1678523"/>
          <a:ext cx="2531250" cy="2558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High-level overarching requirements of a technical policy nature</a:t>
          </a:r>
          <a:endParaRPr lang="en-US" sz="1700" kern="1200"/>
        </a:p>
        <a:p>
          <a:pPr marL="0" lvl="0" indent="0" algn="l" defTabSz="755650">
            <a:lnSpc>
              <a:spcPct val="90000"/>
            </a:lnSpc>
            <a:spcBef>
              <a:spcPct val="0"/>
            </a:spcBef>
            <a:spcAft>
              <a:spcPct val="35000"/>
            </a:spcAft>
            <a:buNone/>
          </a:pPr>
          <a:endParaRPr lang="en-GB" sz="1700" kern="1200" dirty="0"/>
        </a:p>
        <a:p>
          <a:pPr marL="0" lvl="0" indent="0" algn="l" defTabSz="755650">
            <a:lnSpc>
              <a:spcPct val="90000"/>
            </a:lnSpc>
            <a:spcBef>
              <a:spcPct val="0"/>
            </a:spcBef>
            <a:spcAft>
              <a:spcPct val="35000"/>
            </a:spcAft>
            <a:buNone/>
          </a:pPr>
          <a:r>
            <a:rPr lang="en-GB" sz="1700" kern="1200" dirty="0"/>
            <a:t>For example to operate on a certain platform and use a particular programming language </a:t>
          </a:r>
          <a:endParaRPr lang="en-US" sz="1700" kern="1200" dirty="0"/>
        </a:p>
      </dsp:txBody>
      <dsp:txXfrm>
        <a:off x="8931485" y="1678523"/>
        <a:ext cx="2531250" cy="255829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sz="1050" dirty="0">
              <a:latin typeface="Montserrat" panose="00000500000000000000" pitchFamily="2" charset="0"/>
            </a:endParaRPr>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z="1050" smtClean="0">
                <a:latin typeface="Montserrat" panose="00000500000000000000" pitchFamily="2" charset="0"/>
              </a:rPr>
              <a:t>24/01/2025</a:t>
            </a:fld>
            <a:endParaRPr lang="en-GB" sz="1050">
              <a:latin typeface="Montserrat" panose="00000500000000000000" pitchFamily="2" charset="0"/>
            </a:endParaRPr>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sz="1050">
              <a:latin typeface="Montserrat" panose="00000500000000000000" pitchFamily="2" charset="0"/>
            </a:endParaRPr>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z="1050" smtClean="0">
                <a:latin typeface="Montserrat" panose="00000500000000000000" pitchFamily="2" charset="0"/>
              </a:rPr>
              <a:t>‹#›</a:t>
            </a:fld>
            <a:endParaRPr lang="en-GB" sz="1050">
              <a:latin typeface="Montserrat" panose="00000500000000000000" pitchFamily="2" charset="0"/>
            </a:endParaRPr>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05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050">
                <a:latin typeface="Montserrat" panose="00000500000000000000" pitchFamily="2" charset="0"/>
              </a:defRPr>
            </a:lvl1pPr>
          </a:lstStyle>
          <a:p>
            <a:fld id="{1D6B66C6-1E92-0F4E-A300-9D4ED1F0C23F}" type="datetimeFigureOut">
              <a:rPr lang="en-GB" smtClean="0"/>
              <a:pPr/>
              <a:t>24/01/2025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05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05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050" kern="1200">
        <a:solidFill>
          <a:schemeClr val="tx1"/>
        </a:solidFill>
        <a:latin typeface="Montserrat" panose="00000500000000000000" pitchFamily="2" charset="0"/>
        <a:ea typeface="+mn-ea"/>
        <a:cs typeface="+mn-cs"/>
      </a:defRPr>
    </a:lvl1pPr>
    <a:lvl2pPr marL="457200" algn="l" defTabSz="914400" rtl="0" eaLnBrk="1" latinLnBrk="0" hangingPunct="1">
      <a:defRPr sz="1050" kern="1200">
        <a:solidFill>
          <a:schemeClr val="tx1"/>
        </a:solidFill>
        <a:latin typeface="Montserrat" panose="00000500000000000000" pitchFamily="2" charset="0"/>
        <a:ea typeface="+mn-ea"/>
        <a:cs typeface="+mn-cs"/>
      </a:defRPr>
    </a:lvl2pPr>
    <a:lvl3pPr marL="914400" algn="l" defTabSz="914400" rtl="0" eaLnBrk="1" latinLnBrk="0" hangingPunct="1">
      <a:defRPr sz="1050" kern="1200">
        <a:solidFill>
          <a:schemeClr val="tx1"/>
        </a:solidFill>
        <a:latin typeface="Montserrat" panose="00000500000000000000" pitchFamily="2" charset="0"/>
        <a:ea typeface="+mn-ea"/>
        <a:cs typeface="+mn-cs"/>
      </a:defRPr>
    </a:lvl3pPr>
    <a:lvl4pPr marL="1371600" algn="l" defTabSz="914400" rtl="0" eaLnBrk="1" latinLnBrk="0" hangingPunct="1">
      <a:defRPr sz="1050" kern="1200">
        <a:solidFill>
          <a:schemeClr val="tx1"/>
        </a:solidFill>
        <a:latin typeface="Montserrat" panose="00000500000000000000" pitchFamily="2" charset="0"/>
        <a:ea typeface="+mn-ea"/>
        <a:cs typeface="+mn-cs"/>
      </a:defRPr>
    </a:lvl4pPr>
    <a:lvl5pPr marL="1828800" algn="l" defTabSz="914400" rtl="0" eaLnBrk="1" latinLnBrk="0" hangingPunct="1">
      <a:defRPr sz="105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Systems Development is</a:t>
            </a:r>
            <a:r>
              <a:rPr lang="en-GB" baseline="0" dirty="0"/>
              <a:t> </a:t>
            </a:r>
            <a:r>
              <a:rPr lang="en-GB" dirty="0"/>
              <a:t>“The process of taking a set of business requirements through a series of structured stages and translating them into an operational IT system.” From</a:t>
            </a:r>
            <a:r>
              <a:rPr lang="en-GB" baseline="0" dirty="0"/>
              <a:t> the </a:t>
            </a:r>
            <a:r>
              <a:rPr lang="en-GB" dirty="0"/>
              <a:t>‘Developing Information Systems’ book.</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962793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any systems</a:t>
            </a:r>
            <a:r>
              <a:rPr lang="en-GB" baseline="0" dirty="0"/>
              <a:t> development there are a number of stages that must be undertaken. These are shown as sequential steps although they do not have to be as we shall see when we consider different lifecycles.</a:t>
            </a:r>
          </a:p>
          <a:p>
            <a:r>
              <a:rPr lang="en-GB" dirty="0"/>
              <a:t>The main stages vary dependent on the systems development approach being used but typically include:</a:t>
            </a:r>
          </a:p>
          <a:p>
            <a:pPr marL="628650" lvl="1" indent="-171450">
              <a:buFont typeface="Arial" panose="020B0604020202020204" pitchFamily="34" charset="0"/>
              <a:buChar char="•"/>
            </a:pPr>
            <a:r>
              <a:rPr lang="en-GB" dirty="0"/>
              <a:t>Feasibility Study – Why do we need the system?</a:t>
            </a:r>
          </a:p>
          <a:p>
            <a:pPr marL="628650" lvl="1" indent="-171450">
              <a:buFont typeface="Arial" panose="020B0604020202020204" pitchFamily="34" charset="0"/>
              <a:buChar char="•"/>
            </a:pPr>
            <a:r>
              <a:rPr lang="en-GB" dirty="0"/>
              <a:t>Requirements Analysis – What does the system need to do?</a:t>
            </a:r>
          </a:p>
          <a:p>
            <a:pPr marL="628650" lvl="1" indent="-171450">
              <a:buFont typeface="Arial" panose="020B0604020202020204" pitchFamily="34" charset="0"/>
              <a:buChar char="•"/>
            </a:pPr>
            <a:r>
              <a:rPr lang="en-GB" dirty="0"/>
              <a:t>Design – How will the system and components be built?</a:t>
            </a:r>
          </a:p>
          <a:p>
            <a:pPr marL="628650" lvl="1" indent="-171450">
              <a:buFont typeface="Arial" panose="020B0604020202020204" pitchFamily="34" charset="0"/>
              <a:buChar char="•"/>
            </a:pPr>
            <a:r>
              <a:rPr lang="en-GB" dirty="0"/>
              <a:t>Code Development – Construct system to meet requirements</a:t>
            </a:r>
          </a:p>
          <a:p>
            <a:pPr marL="628650" lvl="1" indent="-171450">
              <a:buFont typeface="Arial" panose="020B0604020202020204" pitchFamily="34" charset="0"/>
              <a:buChar char="•"/>
            </a:pPr>
            <a:r>
              <a:rPr lang="en-GB" dirty="0"/>
              <a:t>Testing – Checks system does what it should do and how it should do it</a:t>
            </a:r>
          </a:p>
          <a:p>
            <a:pPr marL="628650" lvl="1" indent="-171450">
              <a:buFont typeface="Arial" panose="020B0604020202020204" pitchFamily="34" charset="0"/>
              <a:buChar char="•"/>
            </a:pPr>
            <a:r>
              <a:rPr lang="en-GB" dirty="0"/>
              <a:t>Deployment</a:t>
            </a:r>
            <a:r>
              <a:rPr lang="en-GB" baseline="0" dirty="0"/>
              <a:t> / </a:t>
            </a:r>
            <a:r>
              <a:rPr lang="en-GB" dirty="0"/>
              <a:t>Implementation – Deploys the system in the live or production or operational environment </a:t>
            </a:r>
          </a:p>
          <a:p>
            <a:pPr marL="628650" lvl="1" indent="-171450">
              <a:buFont typeface="Arial" panose="020B0604020202020204" pitchFamily="34" charset="0"/>
              <a:buChar char="•"/>
            </a:pPr>
            <a:r>
              <a:rPr lang="en-GB" dirty="0"/>
              <a:t>Maintenance</a:t>
            </a:r>
            <a:r>
              <a:rPr lang="en-GB" baseline="0" dirty="0"/>
              <a:t> – Support the live system.</a:t>
            </a:r>
            <a:endParaRPr lang="en-GB" dirty="0"/>
          </a:p>
          <a:p>
            <a:pPr lvl="1" algn="l">
              <a:buFont typeface="Arial" panose="020B0604020202020204" pitchFamily="34" charset="0"/>
              <a:buNone/>
            </a:pP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895860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more detailed breakdown is illustrated in the diagram consisting of:</a:t>
            </a:r>
          </a:p>
          <a:p>
            <a:pPr marL="362448" indent="-181224">
              <a:buFont typeface="Arial" panose="020B0604020202020204" pitchFamily="34" charset="0"/>
              <a:buChar char="•"/>
            </a:pPr>
            <a:r>
              <a:rPr lang="en-GB" dirty="0"/>
              <a:t>Initiation – Sponsor</a:t>
            </a:r>
            <a:r>
              <a:rPr lang="en-GB" baseline="0" dirty="0"/>
              <a:t> identifies need or opportunity.</a:t>
            </a:r>
          </a:p>
          <a:p>
            <a:pPr marL="362448" indent="-181224">
              <a:buFont typeface="Arial" panose="020B0604020202020204" pitchFamily="34" charset="0"/>
              <a:buChar char="•"/>
            </a:pPr>
            <a:r>
              <a:rPr lang="en-GB" baseline="0" dirty="0"/>
              <a:t>Systems Concept and Development – Define scope, boundaries and business case for system.</a:t>
            </a:r>
          </a:p>
          <a:p>
            <a:pPr marL="362448" indent="-181224">
              <a:buFont typeface="Arial" panose="020B0604020202020204" pitchFamily="34" charset="0"/>
              <a:buChar char="•"/>
            </a:pPr>
            <a:r>
              <a:rPr lang="en-GB" baseline="0" dirty="0"/>
              <a:t>Planning – Develop plan and calculate resources needed to build system.</a:t>
            </a:r>
          </a:p>
          <a:p>
            <a:pPr marL="362448" indent="-181224">
              <a:buFont typeface="Arial" panose="020B0604020202020204" pitchFamily="34" charset="0"/>
              <a:buChar char="•"/>
            </a:pPr>
            <a:r>
              <a:rPr lang="en-GB" baseline="0" dirty="0"/>
              <a:t>Requirements Analysis – Capture user and business needs for the system.</a:t>
            </a:r>
          </a:p>
          <a:p>
            <a:pPr marL="362448" indent="-181224">
              <a:buFont typeface="Arial" panose="020B0604020202020204" pitchFamily="34" charset="0"/>
              <a:buChar char="•"/>
            </a:pPr>
            <a:r>
              <a:rPr lang="en-GB" baseline="0" dirty="0"/>
              <a:t>Design – How the system will deliver the requirements.</a:t>
            </a:r>
          </a:p>
          <a:p>
            <a:pPr marL="362448" indent="-181224">
              <a:buFont typeface="Arial" panose="020B0604020202020204" pitchFamily="34" charset="0"/>
              <a:buChar char="•"/>
            </a:pPr>
            <a:r>
              <a:rPr lang="en-GB" baseline="0" dirty="0"/>
              <a:t>Development – All activities to convert design into a working system.</a:t>
            </a:r>
          </a:p>
          <a:p>
            <a:pPr marL="362448" indent="-181224">
              <a:buFont typeface="Arial" panose="020B0604020202020204" pitchFamily="34" charset="0"/>
              <a:buChar char="•"/>
            </a:pPr>
            <a:r>
              <a:rPr lang="en-GB" baseline="0" dirty="0"/>
              <a:t>Integration and Test – Confirm system meets requirements.</a:t>
            </a:r>
          </a:p>
          <a:p>
            <a:pPr marL="362448" indent="-181224">
              <a:buFont typeface="Arial" panose="020B0604020202020204" pitchFamily="34" charset="0"/>
              <a:buChar char="•"/>
            </a:pPr>
            <a:r>
              <a:rPr lang="en-GB" baseline="0" dirty="0"/>
              <a:t>Implementation – Preparation and deployment of the system.</a:t>
            </a:r>
          </a:p>
          <a:p>
            <a:pPr marL="362448" indent="-181224">
              <a:buFont typeface="Arial" panose="020B0604020202020204" pitchFamily="34" charset="0"/>
              <a:buChar char="•"/>
            </a:pPr>
            <a:r>
              <a:rPr lang="en-GB" baseline="0" dirty="0"/>
              <a:t>Operations and Maintenance – Tasks to support live operation of the system.</a:t>
            </a:r>
          </a:p>
          <a:p>
            <a:pPr marL="362448" indent="-181224">
              <a:buFont typeface="Arial" panose="020B0604020202020204" pitchFamily="34" charset="0"/>
              <a:buChar char="•"/>
            </a:pPr>
            <a:r>
              <a:rPr lang="en-GB" baseline="0" dirty="0"/>
              <a:t>Disposition – End of system activities.</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1884796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a:t>
            </a:r>
            <a:r>
              <a:rPr lang="en-GB" baseline="0" dirty="0"/>
              <a:t> first stage of any system development should be a Feasibility Study. This calculates the funding required before starting any work by investigating, researching, evaluating benefits and the likelihood of success of the system. An understanding of the resources and costs versus the value of completed system is completed and captured in the Business Case. A key measurement is the Return on Investment (ROI) of the system. The estimated time for the project, dependent on its size and complexity, is also determined.</a:t>
            </a:r>
          </a:p>
          <a:p>
            <a:r>
              <a:rPr lang="en-GB" baseline="0" dirty="0"/>
              <a:t>This stage is also known as Initiation.</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646818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stage is Requirements</a:t>
            </a:r>
            <a:r>
              <a:rPr lang="en-GB" baseline="0" dirty="0"/>
              <a:t> Analysis in which an understanding of what business needs proposed system to do is captured. Business Analysts elicit, analyse, document and validate requirements from the sponsors, business, users and customers as appropriate. A method and process is needed to store, manage, access and update the requirements. This is a key input to design as the requirements are traced through SDLC. The level of detail required is influenced by the SDLC used.</a:t>
            </a:r>
          </a:p>
          <a:p>
            <a:r>
              <a:rPr lang="en-GB" baseline="0" dirty="0"/>
              <a:t>This stage is also known as Requirements Engineering.</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486476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7800" y="450850"/>
            <a:ext cx="7197725" cy="4049713"/>
          </a:xfrm>
        </p:spPr>
      </p:sp>
      <p:sp>
        <p:nvSpPr>
          <p:cNvPr id="3" name="Notes Placeholder 2"/>
          <p:cNvSpPr>
            <a:spLocks noGrp="1"/>
          </p:cNvSpPr>
          <p:nvPr>
            <p:ph type="body" idx="1"/>
          </p:nvPr>
        </p:nvSpPr>
        <p:spPr/>
        <p:txBody>
          <a:bodyPr/>
          <a:lstStyle/>
          <a:p>
            <a:r>
              <a:rPr lang="en-GB" dirty="0"/>
              <a:t>The following are characteristics of a good requirement:</a:t>
            </a:r>
          </a:p>
          <a:p>
            <a:pPr marL="360000" lvl="1" indent="-180000">
              <a:buFont typeface="Arial" panose="020B0604020202020204" pitchFamily="34" charset="0"/>
              <a:buChar char="•"/>
            </a:pPr>
            <a:r>
              <a:rPr lang="en-GB" dirty="0"/>
              <a:t>Categorised – Grouped by type of requirement to make easier</a:t>
            </a:r>
            <a:r>
              <a:rPr lang="en-GB" baseline="0" dirty="0"/>
              <a:t> to review.</a:t>
            </a:r>
            <a:endParaRPr lang="en-GB" dirty="0"/>
          </a:p>
          <a:p>
            <a:pPr marL="360000" lvl="1" indent="-180000">
              <a:buFont typeface="Arial" panose="020B0604020202020204" pitchFamily="34" charset="0"/>
              <a:buChar char="•"/>
            </a:pPr>
            <a:r>
              <a:rPr lang="en-GB" dirty="0"/>
              <a:t>Relevant – </a:t>
            </a:r>
            <a:r>
              <a:rPr lang="en-GB" baseline="0" dirty="0"/>
              <a:t> </a:t>
            </a:r>
            <a:endParaRPr lang="en-GB" dirty="0"/>
          </a:p>
          <a:p>
            <a:pPr marL="360000" lvl="1" indent="-180000">
              <a:buFont typeface="Arial" panose="020B0604020202020204" pitchFamily="34" charset="0"/>
              <a:buChar char="•"/>
            </a:pPr>
            <a:r>
              <a:rPr lang="en-GB" dirty="0"/>
              <a:t>Prioritised – Relative importance</a:t>
            </a:r>
            <a:r>
              <a:rPr lang="en-GB" baseline="0" dirty="0"/>
              <a:t> specified.</a:t>
            </a:r>
            <a:endParaRPr lang="en-GB" dirty="0"/>
          </a:p>
          <a:p>
            <a:pPr marL="360000" lvl="1" indent="-180000">
              <a:buFont typeface="Arial" panose="020B0604020202020204" pitchFamily="34" charset="0"/>
              <a:buChar char="•"/>
            </a:pPr>
            <a:r>
              <a:rPr lang="en-GB" dirty="0"/>
              <a:t>Achievable –</a:t>
            </a:r>
            <a:r>
              <a:rPr lang="en-GB" baseline="0" dirty="0"/>
              <a:t>of the project.</a:t>
            </a:r>
            <a:endParaRPr lang="en-GB" dirty="0"/>
          </a:p>
          <a:p>
            <a:pPr marL="360000" lvl="1" indent="-180000">
              <a:buFont typeface="Arial" panose="020B0604020202020204" pitchFamily="34" charset="0"/>
              <a:buChar char="•"/>
            </a:pPr>
            <a:r>
              <a:rPr lang="en-GB" dirty="0"/>
              <a:t>Understandable and unambiguous – Consistent</a:t>
            </a:r>
            <a:r>
              <a:rPr lang="en-GB" baseline="0" dirty="0"/>
              <a:t> meaning among all stakeholders.</a:t>
            </a:r>
            <a:endParaRPr lang="en-GB" dirty="0"/>
          </a:p>
          <a:p>
            <a:pPr marL="360000" lvl="1" indent="-180000">
              <a:buFont typeface="Arial" panose="020B0604020202020204" pitchFamily="34" charset="0"/>
              <a:buChar char="•"/>
            </a:pPr>
            <a:r>
              <a:rPr lang="en-GB" dirty="0"/>
              <a:t>Testable – Possible</a:t>
            </a:r>
            <a:r>
              <a:rPr lang="en-GB" baseline="0" dirty="0"/>
              <a:t> to define a test with a pass or fail criteria to determine if the requirement has been met or not.</a:t>
            </a:r>
            <a:endParaRPr lang="en-GB" dirty="0"/>
          </a:p>
          <a:p>
            <a:pPr marL="360000" lvl="1" indent="-180000">
              <a:buFont typeface="Arial" panose="020B0604020202020204" pitchFamily="34" charset="0"/>
              <a:buChar char="•"/>
            </a:pPr>
            <a:r>
              <a:rPr lang="en-GB" dirty="0"/>
              <a:t>Requirement not solution – Defines</a:t>
            </a:r>
            <a:r>
              <a:rPr lang="en-GB" baseline="0" dirty="0"/>
              <a:t> the issue or need not how to address it.</a:t>
            </a:r>
            <a:endParaRPr lang="en-GB" dirty="0"/>
          </a:p>
          <a:p>
            <a:pPr marL="360000" lvl="1" indent="-180000">
              <a:buFont typeface="Arial" panose="020B0604020202020204" pitchFamily="34" charset="0"/>
              <a:buChar char="•"/>
            </a:pPr>
            <a:r>
              <a:rPr lang="en-GB" dirty="0"/>
              <a:t>Consistent – Make concise</a:t>
            </a:r>
            <a:r>
              <a:rPr lang="en-GB" baseline="0" dirty="0"/>
              <a:t> and not conflict with other requirements.</a:t>
            </a:r>
            <a:endParaRPr lang="en-GB" dirty="0"/>
          </a:p>
          <a:p>
            <a:pPr marL="360000" lvl="1" indent="-180000">
              <a:buFont typeface="Arial" panose="020B0604020202020204" pitchFamily="34" charset="0"/>
              <a:buChar char="•"/>
            </a:pPr>
            <a:r>
              <a:rPr lang="en-GB" dirty="0"/>
              <a:t>Owned –</a:t>
            </a:r>
            <a:r>
              <a:rPr lang="en-GB" baseline="0" dirty="0"/>
              <a:t>about its relevance and content.</a:t>
            </a:r>
            <a:endParaRPr lang="en-GB" dirty="0"/>
          </a:p>
          <a:p>
            <a:pPr marL="360000" lvl="1" indent="-180000">
              <a:buFont typeface="Arial" panose="020B0604020202020204" pitchFamily="34" charset="0"/>
              <a:buChar char="•"/>
            </a:pPr>
            <a:r>
              <a:rPr lang="en-GB" dirty="0"/>
              <a:t>Unique and atomic – Singular and not multiple requirements.</a:t>
            </a:r>
          </a:p>
          <a:p>
            <a:pPr marL="360000" lvl="1" indent="-180000">
              <a:buFont typeface="Arial" panose="020B0604020202020204" pitchFamily="34" charset="0"/>
              <a:buChar char="•"/>
            </a:pPr>
            <a:r>
              <a:rPr lang="en-GB" dirty="0"/>
              <a:t>Traceable –</a:t>
            </a:r>
            <a:r>
              <a:rPr lang="en-GB" baseline="0" dirty="0"/>
              <a:t>and what happened to it.</a:t>
            </a:r>
          </a:p>
          <a:p>
            <a:pPr marL="360000" lvl="1" indent="-180000">
              <a:buFont typeface="Arial" panose="020B0604020202020204" pitchFamily="34" charset="0"/>
              <a:buChar char="•"/>
            </a:pPr>
            <a:r>
              <a:rPr lang="en-GB" baseline="0" dirty="0"/>
              <a:t>Concise – Make as brief as possible whilst meeting other quality criteria.</a:t>
            </a:r>
            <a:endParaRPr lang="en-GB" dirty="0"/>
          </a:p>
        </p:txBody>
      </p:sp>
    </p:spTree>
    <p:extLst>
      <p:ext uri="{BB962C8B-B14F-4D97-AF65-F5344CB8AC3E}">
        <p14:creationId xmlns:p14="http://schemas.microsoft.com/office/powerpoint/2010/main" val="204429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7800" y="450850"/>
            <a:ext cx="7197725" cy="4049713"/>
          </a:xfrm>
        </p:spPr>
      </p:sp>
      <p:sp>
        <p:nvSpPr>
          <p:cNvPr id="3" name="Notes Placeholder 2"/>
          <p:cNvSpPr>
            <a:spLocks noGrp="1"/>
          </p:cNvSpPr>
          <p:nvPr>
            <p:ph type="body" idx="1"/>
          </p:nvPr>
        </p:nvSpPr>
        <p:spPr/>
        <p:txBody>
          <a:bodyPr/>
          <a:lstStyle/>
          <a:p>
            <a:r>
              <a:rPr lang="en-GB" dirty="0"/>
              <a:t>The following are characteristics of a good requirement:</a:t>
            </a:r>
          </a:p>
          <a:p>
            <a:pPr marL="360000" lvl="1" indent="-180000">
              <a:buFont typeface="Arial" panose="020B0604020202020204" pitchFamily="34" charset="0"/>
              <a:buChar char="•"/>
            </a:pPr>
            <a:r>
              <a:rPr lang="en-GB" dirty="0"/>
              <a:t>Categorised – Grouped by type of requirement to make easier</a:t>
            </a:r>
            <a:r>
              <a:rPr lang="en-GB" baseline="0" dirty="0"/>
              <a:t> to review.</a:t>
            </a:r>
            <a:endParaRPr lang="en-GB" dirty="0"/>
          </a:p>
          <a:p>
            <a:pPr marL="360000" lvl="1" indent="-180000">
              <a:buFont typeface="Arial" panose="020B0604020202020204" pitchFamily="34" charset="0"/>
              <a:buChar char="•"/>
            </a:pPr>
            <a:r>
              <a:rPr lang="en-GB" dirty="0"/>
              <a:t>Relevant – </a:t>
            </a:r>
            <a:r>
              <a:rPr lang="en-GB" baseline="0" dirty="0"/>
              <a:t> </a:t>
            </a:r>
            <a:endParaRPr lang="en-GB" dirty="0"/>
          </a:p>
          <a:p>
            <a:pPr marL="360000" lvl="1" indent="-180000">
              <a:buFont typeface="Arial" panose="020B0604020202020204" pitchFamily="34" charset="0"/>
              <a:buChar char="•"/>
            </a:pPr>
            <a:r>
              <a:rPr lang="en-GB" dirty="0"/>
              <a:t>Prioritised – Relative importance</a:t>
            </a:r>
            <a:r>
              <a:rPr lang="en-GB" baseline="0" dirty="0"/>
              <a:t> specified.</a:t>
            </a:r>
            <a:endParaRPr lang="en-GB" dirty="0"/>
          </a:p>
          <a:p>
            <a:pPr marL="360000" lvl="1" indent="-180000">
              <a:buFont typeface="Arial" panose="020B0604020202020204" pitchFamily="34" charset="0"/>
              <a:buChar char="•"/>
            </a:pPr>
            <a:r>
              <a:rPr lang="en-GB" dirty="0"/>
              <a:t>Achievable –</a:t>
            </a:r>
            <a:r>
              <a:rPr lang="en-GB" baseline="0" dirty="0"/>
              <a:t>of the project.</a:t>
            </a:r>
            <a:endParaRPr lang="en-GB" dirty="0"/>
          </a:p>
          <a:p>
            <a:pPr marL="360000" lvl="1" indent="-180000">
              <a:buFont typeface="Arial" panose="020B0604020202020204" pitchFamily="34" charset="0"/>
              <a:buChar char="•"/>
            </a:pPr>
            <a:r>
              <a:rPr lang="en-GB" dirty="0"/>
              <a:t>Understandable and unambiguous – Consistent</a:t>
            </a:r>
            <a:r>
              <a:rPr lang="en-GB" baseline="0" dirty="0"/>
              <a:t> meaning among all stakeholders.</a:t>
            </a:r>
            <a:endParaRPr lang="en-GB" dirty="0"/>
          </a:p>
          <a:p>
            <a:pPr marL="360000" lvl="1" indent="-180000">
              <a:buFont typeface="Arial" panose="020B0604020202020204" pitchFamily="34" charset="0"/>
              <a:buChar char="•"/>
            </a:pPr>
            <a:r>
              <a:rPr lang="en-GB" dirty="0"/>
              <a:t>Testable – Possible</a:t>
            </a:r>
            <a:r>
              <a:rPr lang="en-GB" baseline="0" dirty="0"/>
              <a:t> to define a test with a pass or fail criteria to determine if the requirement has been met or not.</a:t>
            </a:r>
            <a:endParaRPr lang="en-GB" dirty="0"/>
          </a:p>
          <a:p>
            <a:pPr marL="360000" lvl="1" indent="-180000">
              <a:buFont typeface="Arial" panose="020B0604020202020204" pitchFamily="34" charset="0"/>
              <a:buChar char="•"/>
            </a:pPr>
            <a:r>
              <a:rPr lang="en-GB" dirty="0"/>
              <a:t>Requirement not solution – Defines</a:t>
            </a:r>
            <a:r>
              <a:rPr lang="en-GB" baseline="0" dirty="0"/>
              <a:t> the issue or need not how to address it.</a:t>
            </a:r>
            <a:endParaRPr lang="en-GB" dirty="0"/>
          </a:p>
          <a:p>
            <a:pPr marL="360000" lvl="1" indent="-180000">
              <a:buFont typeface="Arial" panose="020B0604020202020204" pitchFamily="34" charset="0"/>
              <a:buChar char="•"/>
            </a:pPr>
            <a:r>
              <a:rPr lang="en-GB" dirty="0"/>
              <a:t>Consistent – Make concise</a:t>
            </a:r>
            <a:r>
              <a:rPr lang="en-GB" baseline="0" dirty="0"/>
              <a:t> and not conflict with other requirements.</a:t>
            </a:r>
            <a:endParaRPr lang="en-GB" dirty="0"/>
          </a:p>
          <a:p>
            <a:pPr marL="360000" lvl="1" indent="-180000">
              <a:buFont typeface="Arial" panose="020B0604020202020204" pitchFamily="34" charset="0"/>
              <a:buChar char="•"/>
            </a:pPr>
            <a:r>
              <a:rPr lang="en-GB" dirty="0"/>
              <a:t>Owned –</a:t>
            </a:r>
            <a:r>
              <a:rPr lang="en-GB" baseline="0" dirty="0"/>
              <a:t>about its relevance and content.</a:t>
            </a:r>
            <a:endParaRPr lang="en-GB" dirty="0"/>
          </a:p>
          <a:p>
            <a:pPr marL="360000" lvl="1" indent="-180000">
              <a:buFont typeface="Arial" panose="020B0604020202020204" pitchFamily="34" charset="0"/>
              <a:buChar char="•"/>
            </a:pPr>
            <a:r>
              <a:rPr lang="en-GB" dirty="0"/>
              <a:t>Unique and atomic – Singular and not multiple requirements.</a:t>
            </a:r>
          </a:p>
          <a:p>
            <a:pPr marL="360000" lvl="1" indent="-180000">
              <a:buFont typeface="Arial" panose="020B0604020202020204" pitchFamily="34" charset="0"/>
              <a:buChar char="•"/>
            </a:pPr>
            <a:r>
              <a:rPr lang="en-GB" dirty="0"/>
              <a:t>Traceable –</a:t>
            </a:r>
            <a:r>
              <a:rPr lang="en-GB" baseline="0" dirty="0"/>
              <a:t>and what happened to it.</a:t>
            </a:r>
          </a:p>
          <a:p>
            <a:pPr marL="360000" lvl="1" indent="-180000">
              <a:buFont typeface="Arial" panose="020B0604020202020204" pitchFamily="34" charset="0"/>
              <a:buChar char="•"/>
            </a:pPr>
            <a:r>
              <a:rPr lang="en-GB" baseline="0" dirty="0"/>
              <a:t>Concise – Make as brief as possible whilst meeting other quality criteria.</a:t>
            </a:r>
            <a:endParaRPr lang="en-GB" dirty="0"/>
          </a:p>
        </p:txBody>
      </p:sp>
    </p:spTree>
    <p:extLst>
      <p:ext uri="{BB962C8B-B14F-4D97-AF65-F5344CB8AC3E}">
        <p14:creationId xmlns:p14="http://schemas.microsoft.com/office/powerpoint/2010/main" val="1312693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7800" y="450850"/>
            <a:ext cx="7197725" cy="4049713"/>
          </a:xfrm>
        </p:spPr>
      </p:sp>
      <p:sp>
        <p:nvSpPr>
          <p:cNvPr id="3" name="Notes Placeholder 2"/>
          <p:cNvSpPr>
            <a:spLocks noGrp="1"/>
          </p:cNvSpPr>
          <p:nvPr>
            <p:ph type="body" idx="1"/>
          </p:nvPr>
        </p:nvSpPr>
        <p:spPr/>
        <p:txBody>
          <a:bodyPr/>
          <a:lstStyle/>
          <a:p>
            <a:r>
              <a:rPr lang="en-GB" dirty="0"/>
              <a:t>The following are characteristics of a good requirement:</a:t>
            </a:r>
          </a:p>
          <a:p>
            <a:pPr marL="360000" lvl="1" indent="-180000">
              <a:buFont typeface="Arial" panose="020B0604020202020204" pitchFamily="34" charset="0"/>
              <a:buChar char="•"/>
            </a:pPr>
            <a:r>
              <a:rPr lang="en-GB" dirty="0"/>
              <a:t>Categorised – Grouped by type of requirement to make easier</a:t>
            </a:r>
            <a:r>
              <a:rPr lang="en-GB" baseline="0" dirty="0"/>
              <a:t> to review.</a:t>
            </a:r>
            <a:endParaRPr lang="en-GB" dirty="0"/>
          </a:p>
          <a:p>
            <a:pPr marL="360000" lvl="1" indent="-180000">
              <a:buFont typeface="Arial" panose="020B0604020202020204" pitchFamily="34" charset="0"/>
              <a:buChar char="•"/>
            </a:pPr>
            <a:r>
              <a:rPr lang="en-GB" dirty="0"/>
              <a:t>Relevant – </a:t>
            </a:r>
            <a:r>
              <a:rPr lang="en-GB" baseline="0" dirty="0"/>
              <a:t> </a:t>
            </a:r>
            <a:endParaRPr lang="en-GB" dirty="0"/>
          </a:p>
          <a:p>
            <a:pPr marL="360000" lvl="1" indent="-180000">
              <a:buFont typeface="Arial" panose="020B0604020202020204" pitchFamily="34" charset="0"/>
              <a:buChar char="•"/>
            </a:pPr>
            <a:r>
              <a:rPr lang="en-GB" dirty="0"/>
              <a:t>Prioritised – Relative importance</a:t>
            </a:r>
            <a:r>
              <a:rPr lang="en-GB" baseline="0" dirty="0"/>
              <a:t> specified.</a:t>
            </a:r>
            <a:endParaRPr lang="en-GB" dirty="0"/>
          </a:p>
          <a:p>
            <a:pPr marL="360000" lvl="1" indent="-180000">
              <a:buFont typeface="Arial" panose="020B0604020202020204" pitchFamily="34" charset="0"/>
              <a:buChar char="•"/>
            </a:pPr>
            <a:r>
              <a:rPr lang="en-GB" dirty="0"/>
              <a:t>Achievable –</a:t>
            </a:r>
            <a:r>
              <a:rPr lang="en-GB" baseline="0" dirty="0"/>
              <a:t>of the project.</a:t>
            </a:r>
            <a:endParaRPr lang="en-GB" dirty="0"/>
          </a:p>
          <a:p>
            <a:pPr marL="360000" lvl="1" indent="-180000">
              <a:buFont typeface="Arial" panose="020B0604020202020204" pitchFamily="34" charset="0"/>
              <a:buChar char="•"/>
            </a:pPr>
            <a:r>
              <a:rPr lang="en-GB" dirty="0"/>
              <a:t>Understandable and unambiguous – Consistent</a:t>
            </a:r>
            <a:r>
              <a:rPr lang="en-GB" baseline="0" dirty="0"/>
              <a:t> meaning among all stakeholders.</a:t>
            </a:r>
            <a:endParaRPr lang="en-GB" dirty="0"/>
          </a:p>
          <a:p>
            <a:pPr marL="360000" lvl="1" indent="-180000">
              <a:buFont typeface="Arial" panose="020B0604020202020204" pitchFamily="34" charset="0"/>
              <a:buChar char="•"/>
            </a:pPr>
            <a:r>
              <a:rPr lang="en-GB" dirty="0"/>
              <a:t>Testable – Possible</a:t>
            </a:r>
            <a:r>
              <a:rPr lang="en-GB" baseline="0" dirty="0"/>
              <a:t> to define a test with a pass or fail criteria to determine if the requirement has been met or not.</a:t>
            </a:r>
            <a:endParaRPr lang="en-GB" dirty="0"/>
          </a:p>
          <a:p>
            <a:pPr marL="360000" lvl="1" indent="-180000">
              <a:buFont typeface="Arial" panose="020B0604020202020204" pitchFamily="34" charset="0"/>
              <a:buChar char="•"/>
            </a:pPr>
            <a:r>
              <a:rPr lang="en-GB" dirty="0"/>
              <a:t>Requirement not solution – Defines</a:t>
            </a:r>
            <a:r>
              <a:rPr lang="en-GB" baseline="0" dirty="0"/>
              <a:t> the issue or need not how to address it.</a:t>
            </a:r>
            <a:endParaRPr lang="en-GB" dirty="0"/>
          </a:p>
          <a:p>
            <a:pPr marL="360000" lvl="1" indent="-180000">
              <a:buFont typeface="Arial" panose="020B0604020202020204" pitchFamily="34" charset="0"/>
              <a:buChar char="•"/>
            </a:pPr>
            <a:r>
              <a:rPr lang="en-GB" dirty="0"/>
              <a:t>Consistent – Make concise</a:t>
            </a:r>
            <a:r>
              <a:rPr lang="en-GB" baseline="0" dirty="0"/>
              <a:t> and not conflict with other requirements.</a:t>
            </a:r>
            <a:endParaRPr lang="en-GB" dirty="0"/>
          </a:p>
          <a:p>
            <a:pPr marL="360000" lvl="1" indent="-180000">
              <a:buFont typeface="Arial" panose="020B0604020202020204" pitchFamily="34" charset="0"/>
              <a:buChar char="•"/>
            </a:pPr>
            <a:r>
              <a:rPr lang="en-GB" dirty="0"/>
              <a:t>Owned –</a:t>
            </a:r>
            <a:r>
              <a:rPr lang="en-GB" baseline="0" dirty="0"/>
              <a:t>about its relevance and content.</a:t>
            </a:r>
            <a:endParaRPr lang="en-GB" dirty="0"/>
          </a:p>
          <a:p>
            <a:pPr marL="360000" lvl="1" indent="-180000">
              <a:buFont typeface="Arial" panose="020B0604020202020204" pitchFamily="34" charset="0"/>
              <a:buChar char="•"/>
            </a:pPr>
            <a:r>
              <a:rPr lang="en-GB" dirty="0"/>
              <a:t>Unique and atomic – Singular and not multiple requirements.</a:t>
            </a:r>
          </a:p>
          <a:p>
            <a:pPr marL="360000" lvl="1" indent="-180000">
              <a:buFont typeface="Arial" panose="020B0604020202020204" pitchFamily="34" charset="0"/>
              <a:buChar char="•"/>
            </a:pPr>
            <a:r>
              <a:rPr lang="en-GB" dirty="0"/>
              <a:t>Traceable –</a:t>
            </a:r>
            <a:r>
              <a:rPr lang="en-GB" baseline="0" dirty="0"/>
              <a:t>and what happened to it.</a:t>
            </a:r>
          </a:p>
          <a:p>
            <a:pPr marL="360000" lvl="1" indent="-180000">
              <a:buFont typeface="Arial" panose="020B0604020202020204" pitchFamily="34" charset="0"/>
              <a:buChar char="•"/>
            </a:pPr>
            <a:r>
              <a:rPr lang="en-GB" baseline="0" dirty="0"/>
              <a:t>Concise – Make as brief as possible whilst meeting other quality criteria.</a:t>
            </a:r>
            <a:endParaRPr lang="en-GB" dirty="0"/>
          </a:p>
        </p:txBody>
      </p:sp>
    </p:spTree>
    <p:extLst>
      <p:ext uri="{BB962C8B-B14F-4D97-AF65-F5344CB8AC3E}">
        <p14:creationId xmlns:p14="http://schemas.microsoft.com/office/powerpoint/2010/main" val="3969204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7800" y="450850"/>
            <a:ext cx="7197725" cy="4049713"/>
          </a:xfrm>
        </p:spPr>
      </p:sp>
      <p:sp>
        <p:nvSpPr>
          <p:cNvPr id="3" name="Notes Placeholder 2"/>
          <p:cNvSpPr>
            <a:spLocks noGrp="1"/>
          </p:cNvSpPr>
          <p:nvPr>
            <p:ph type="body" idx="1"/>
          </p:nvPr>
        </p:nvSpPr>
        <p:spPr/>
        <p:txBody>
          <a:bodyPr/>
          <a:lstStyle/>
          <a:p>
            <a:r>
              <a:rPr lang="en-GB" dirty="0"/>
              <a:t>Various</a:t>
            </a:r>
            <a:r>
              <a:rPr lang="en-GB" baseline="0" dirty="0"/>
              <a:t> schemes have been used to classify r</a:t>
            </a:r>
            <a:r>
              <a:rPr lang="en-GB" dirty="0"/>
              <a:t>equirements. A</a:t>
            </a:r>
            <a:r>
              <a:rPr lang="en-GB" baseline="0" dirty="0"/>
              <a:t> common approach is: </a:t>
            </a:r>
            <a:endParaRPr lang="en-GB" dirty="0"/>
          </a:p>
          <a:p>
            <a:pPr marL="360000" lvl="1" indent="-180000">
              <a:buFont typeface="Arial" panose="020B0604020202020204" pitchFamily="34" charset="0"/>
              <a:buChar char="•"/>
            </a:pPr>
            <a:r>
              <a:rPr lang="en-GB" dirty="0"/>
              <a:t>Functional – These define what the solution is expected to do; For example to identify an invoice is overdue and issue alert.</a:t>
            </a:r>
          </a:p>
          <a:p>
            <a:pPr marL="360000" lvl="1" indent="-180000">
              <a:buFont typeface="Arial" panose="020B0604020202020204" pitchFamily="34" charset="0"/>
              <a:buChar char="•"/>
            </a:pPr>
            <a:r>
              <a:rPr lang="en-GB" dirty="0"/>
              <a:t>Non-Functional – These define how the solution should operate or the product qualities; For example the result of a query must be displayed with two seconds of pressing enter.</a:t>
            </a:r>
          </a:p>
          <a:p>
            <a:pPr marL="360000" lvl="1" indent="-180000">
              <a:buFont typeface="Arial" panose="020B0604020202020204" pitchFamily="34" charset="0"/>
              <a:buChar char="•"/>
            </a:pPr>
            <a:r>
              <a:rPr lang="en-GB" dirty="0"/>
              <a:t>General – High-level overarching requirements of a business policy nature; For example to comply with data protection legislation.</a:t>
            </a:r>
          </a:p>
          <a:p>
            <a:pPr marL="360000" lvl="1" indent="-180000">
              <a:buFont typeface="Arial" panose="020B0604020202020204" pitchFamily="34" charset="0"/>
              <a:buChar char="•"/>
            </a:pPr>
            <a:r>
              <a:rPr lang="en-GB" dirty="0"/>
              <a:t>Technical – High-level overarching requirements of a technical policy nature; For example to operate on a certain platform and to use a particular programming language.</a:t>
            </a:r>
          </a:p>
          <a:p>
            <a:pPr marL="360000" lvl="1" indent="-180000">
              <a:buFont typeface="Arial" panose="020B0604020202020204" pitchFamily="34" charset="0"/>
              <a:buChar char="•"/>
            </a:pPr>
            <a:endParaRPr lang="en-GB" dirty="0"/>
          </a:p>
        </p:txBody>
      </p:sp>
    </p:spTree>
    <p:extLst>
      <p:ext uri="{BB962C8B-B14F-4D97-AF65-F5344CB8AC3E}">
        <p14:creationId xmlns:p14="http://schemas.microsoft.com/office/powerpoint/2010/main" val="1656290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7800" y="450850"/>
            <a:ext cx="7197725" cy="4049713"/>
          </a:xfrm>
        </p:spPr>
      </p:sp>
      <p:sp>
        <p:nvSpPr>
          <p:cNvPr id="3" name="Notes Placeholder 2"/>
          <p:cNvSpPr>
            <a:spLocks noGrp="1"/>
          </p:cNvSpPr>
          <p:nvPr>
            <p:ph type="body" idx="1"/>
          </p:nvPr>
        </p:nvSpPr>
        <p:spPr/>
        <p:txBody>
          <a:bodyPr/>
          <a:lstStyle/>
          <a:p>
            <a:r>
              <a:rPr lang="en-GB" dirty="0"/>
              <a:t>Functional requirements can also be classified</a:t>
            </a:r>
            <a:r>
              <a:rPr lang="en-GB" baseline="0" dirty="0"/>
              <a:t> as:</a:t>
            </a:r>
            <a:endParaRPr lang="en-GB" dirty="0"/>
          </a:p>
          <a:p>
            <a:pPr marL="360000" lvl="1" indent="-180000">
              <a:buFont typeface="Arial" panose="020B0604020202020204" pitchFamily="34" charset="0"/>
              <a:buChar char="•"/>
            </a:pPr>
            <a:r>
              <a:rPr lang="en-GB" dirty="0"/>
              <a:t>Data entry – Gathering and recording data</a:t>
            </a:r>
          </a:p>
          <a:p>
            <a:pPr marL="360000" lvl="1" indent="-180000">
              <a:buFont typeface="Arial" panose="020B0604020202020204" pitchFamily="34" charset="0"/>
              <a:buChar char="•"/>
            </a:pPr>
            <a:r>
              <a:rPr lang="en-GB" dirty="0"/>
              <a:t>Data maintenance – Changes to data, including data deletion</a:t>
            </a:r>
          </a:p>
          <a:p>
            <a:pPr marL="360000" lvl="1" indent="-180000">
              <a:buFont typeface="Arial" panose="020B0604020202020204" pitchFamily="34" charset="0"/>
              <a:buChar char="•"/>
            </a:pPr>
            <a:r>
              <a:rPr lang="en-GB" dirty="0"/>
              <a:t>Procedural – Implementation of business rules</a:t>
            </a:r>
          </a:p>
          <a:p>
            <a:pPr marL="360000" lvl="1" indent="-180000">
              <a:buFont typeface="Arial" panose="020B0604020202020204" pitchFamily="34" charset="0"/>
              <a:buChar char="•"/>
            </a:pPr>
            <a:r>
              <a:rPr lang="en-GB" dirty="0"/>
              <a:t>Retrieval – Reporting, responding to enquiries</a:t>
            </a:r>
          </a:p>
        </p:txBody>
      </p:sp>
    </p:spTree>
    <p:extLst>
      <p:ext uri="{BB962C8B-B14F-4D97-AF65-F5344CB8AC3E}">
        <p14:creationId xmlns:p14="http://schemas.microsoft.com/office/powerpoint/2010/main" val="2958888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Non-function requirements define constraints on how the functional requirements will be provided. They can be a major factors in the cost of the product and are very important to the success of the product. They should something the product must be or define a characteristic it must have.</a:t>
            </a:r>
          </a:p>
          <a:p>
            <a:endParaRPr lang="en-GB" dirty="0"/>
          </a:p>
          <a:p>
            <a:endParaRPr lang="en-GB" dirty="0"/>
          </a:p>
        </p:txBody>
      </p:sp>
      <p:sp>
        <p:nvSpPr>
          <p:cNvPr id="4" name="Slide Number Placeholder 3"/>
          <p:cNvSpPr>
            <a:spLocks noGrp="1"/>
          </p:cNvSpPr>
          <p:nvPr>
            <p:ph type="sldNum" sz="quarter" idx="5"/>
          </p:nvPr>
        </p:nvSpPr>
        <p:spPr/>
        <p:txBody>
          <a:bodyPr/>
          <a:lstStyle/>
          <a:p>
            <a:fld id="{9C44FC15-3C85-489A-BB43-3349185627FC}" type="slidenum">
              <a:rPr lang="en-GB" smtClean="0"/>
              <a:t>12</a:t>
            </a:fld>
            <a:endParaRPr lang="en-GB"/>
          </a:p>
        </p:txBody>
      </p:sp>
    </p:spTree>
    <p:extLst>
      <p:ext uri="{BB962C8B-B14F-4D97-AF65-F5344CB8AC3E}">
        <p14:creationId xmlns:p14="http://schemas.microsoft.com/office/powerpoint/2010/main" val="3215893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p:txBody>
      </p:sp>
      <p:sp>
        <p:nvSpPr>
          <p:cNvPr id="4" name="Slide Number Placeholder 3"/>
          <p:cNvSpPr>
            <a:spLocks noGrp="1"/>
          </p:cNvSpPr>
          <p:nvPr>
            <p:ph type="sldNum" sz="quarter" idx="5"/>
          </p:nvPr>
        </p:nvSpPr>
        <p:spPr/>
        <p:txBody>
          <a:bodyPr/>
          <a:lstStyle/>
          <a:p>
            <a:fld id="{9C44FC15-3C85-489A-BB43-3349185627FC}" type="slidenum">
              <a:rPr lang="en-GB" smtClean="0"/>
              <a:t>14</a:t>
            </a:fld>
            <a:endParaRPr lang="en-GB"/>
          </a:p>
        </p:txBody>
      </p:sp>
    </p:spTree>
    <p:extLst>
      <p:ext uri="{BB962C8B-B14F-4D97-AF65-F5344CB8AC3E}">
        <p14:creationId xmlns:p14="http://schemas.microsoft.com/office/powerpoint/2010/main" val="427224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Design stage evaluate possible solutions that meet the requirements. The chosen design is elaborated to sufficient detail to enable</a:t>
            </a:r>
            <a:r>
              <a:rPr lang="en-GB" baseline="0" dirty="0"/>
              <a:t> </a:t>
            </a:r>
            <a:r>
              <a:rPr lang="en-GB" dirty="0"/>
              <a:t>development to start.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1771936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Development is when the hardware and software technical components are created, procured or configured. The design is</a:t>
            </a:r>
            <a:r>
              <a:rPr lang="en-GB" baseline="0" dirty="0"/>
              <a:t> followed </a:t>
            </a:r>
            <a:r>
              <a:rPr lang="en-GB" dirty="0"/>
              <a:t>to ensure the system does what is required.</a:t>
            </a:r>
          </a:p>
          <a:p>
            <a:r>
              <a:rPr lang="en-GB" dirty="0"/>
              <a:t>This stage is also known as Programming or Build.</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1337827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next stage</a:t>
            </a:r>
            <a:r>
              <a:rPr lang="en-GB" baseline="0" dirty="0"/>
              <a:t> is Testing when the components produced during Development are tested to ensure they are working properly and do what they are supposed to do. There are several different levels and types of testing including:</a:t>
            </a:r>
          </a:p>
          <a:p>
            <a:pPr marL="362448" lvl="1" indent="-181224"/>
            <a:r>
              <a:rPr lang="en-GB" baseline="0" dirty="0"/>
              <a:t>Unit – Check individual components meet their requirements.</a:t>
            </a:r>
          </a:p>
          <a:p>
            <a:pPr marL="362448" lvl="1" indent="-181224"/>
            <a:r>
              <a:rPr lang="en-GB" baseline="0" dirty="0"/>
              <a:t>Integration – Ensure the checked components communicate and interface correctly.</a:t>
            </a:r>
          </a:p>
          <a:p>
            <a:pPr marL="362448" lvl="1" indent="-181224"/>
            <a:r>
              <a:rPr lang="en-GB" baseline="0" dirty="0"/>
              <a:t>System – Test the completed system performs the required end-to-end functionality.</a:t>
            </a:r>
          </a:p>
          <a:p>
            <a:pPr marL="362448" lvl="1" indent="-181224"/>
            <a:r>
              <a:rPr lang="en-GB" baseline="0" dirty="0"/>
              <a:t>User Acceptance – The user or customer tests the system from a business perspective.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Tree>
    <p:extLst>
      <p:ext uri="{BB962C8B-B14F-4D97-AF65-F5344CB8AC3E}">
        <p14:creationId xmlns:p14="http://schemas.microsoft.com/office/powerpoint/2010/main" val="2232190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a:t>
            </a:r>
            <a:r>
              <a:rPr lang="en-GB" baseline="0" dirty="0"/>
              <a:t> penultimate stage is Implementation. The completed system needs to be commissioned or deployed in the ‘live’ environment; also known as  operation or production environment. The systems is developed in a ‘test’ environment to protect the ‘live’ systems. This needs to be carefully planned, understood and managed to minimise any possible disruption to the business.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Tree>
    <p:extLst>
      <p:ext uri="{BB962C8B-B14F-4D97-AF65-F5344CB8AC3E}">
        <p14:creationId xmlns:p14="http://schemas.microsoft.com/office/powerpoint/2010/main" val="2778896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a:t>
            </a:r>
            <a:r>
              <a:rPr lang="en-GB" baseline="0" dirty="0"/>
              <a:t> final stage is Maintenance. This is much more than just correcting faults or keeping the system in good running order. Evidence suggests only 20% of maintenance work is actually corrective with the remaining 80% being related to system enhancements. This is dependent on the development strategy. Is the system all delivered in one release or does it evolve over several increments? Also the planned lifetime of operation. Is the system only expected to last for short timespan or several years? </a:t>
            </a:r>
          </a:p>
          <a:p>
            <a:r>
              <a:rPr lang="en-GB" baseline="0" dirty="0"/>
              <a:t>Maintenance can be categorised as:</a:t>
            </a:r>
          </a:p>
          <a:p>
            <a:pPr marL="362448" indent="-181224">
              <a:buFont typeface="Arial" panose="020B0604020202020204" pitchFamily="34" charset="0"/>
              <a:buChar char="•"/>
            </a:pPr>
            <a:r>
              <a:rPr lang="en-GB" baseline="0" dirty="0"/>
              <a:t>Corrective – Fixing faults and failures discovered within the system whether technical or interpretation of requirements.</a:t>
            </a:r>
          </a:p>
          <a:p>
            <a:pPr marL="362448" indent="-181224">
              <a:buFont typeface="Arial" panose="020B0604020202020204" pitchFamily="34" charset="0"/>
              <a:buChar char="•"/>
            </a:pPr>
            <a:r>
              <a:rPr lang="en-GB" baseline="0" dirty="0"/>
              <a:t>Adaptive – Making changes or enhancements to the system to meet new or changed requirements.</a:t>
            </a:r>
          </a:p>
          <a:p>
            <a:pPr marL="362448" indent="-181224">
              <a:buFont typeface="Arial" panose="020B0604020202020204" pitchFamily="34" charset="0"/>
              <a:buChar char="•"/>
            </a:pPr>
            <a:r>
              <a:rPr lang="en-GB" baseline="0" dirty="0"/>
              <a:t>Perfective  - ‘Tuning’ the system to make it work better often focused on non-functional requirements like performance or usability.</a:t>
            </a:r>
          </a:p>
          <a:p>
            <a:pPr marL="362448" indent="-181224">
              <a:buFont typeface="Arial" panose="020B0604020202020204" pitchFamily="34" charset="0"/>
              <a:buChar char="•"/>
            </a:pPr>
            <a:r>
              <a:rPr lang="en-GB" baseline="0" dirty="0"/>
              <a:t>Preventative – Action taken on foreseeable or latent errors.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Tree>
    <p:extLst>
      <p:ext uri="{BB962C8B-B14F-4D97-AF65-F5344CB8AC3E}">
        <p14:creationId xmlns:p14="http://schemas.microsoft.com/office/powerpoint/2010/main" val="3144900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Tree>
    <p:extLst>
      <p:ext uri="{BB962C8B-B14F-4D97-AF65-F5344CB8AC3E}">
        <p14:creationId xmlns:p14="http://schemas.microsoft.com/office/powerpoint/2010/main" val="1629982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a:t>
            </a:r>
            <a:r>
              <a:rPr lang="en-GB" baseline="0" dirty="0"/>
              <a:t> the Context needs to be considered before starting. Several key questions must be asked and answered including:</a:t>
            </a:r>
          </a:p>
          <a:p>
            <a:pPr marL="362448" lvl="1" indent="-181224"/>
            <a:r>
              <a:rPr lang="en-GB" baseline="0" dirty="0"/>
              <a:t>Release plan – Is the system to implemented a single or multiple releases?</a:t>
            </a:r>
          </a:p>
          <a:p>
            <a:pPr marL="362448" lvl="1" indent="-181224"/>
            <a:r>
              <a:rPr lang="en-GB" baseline="0" dirty="0"/>
              <a:t>Level of skills and expertise – What is the ability of the team and preferred delivery style of the organisation?</a:t>
            </a:r>
          </a:p>
          <a:p>
            <a:pPr marL="362448" lvl="1" indent="-181224"/>
            <a:r>
              <a:rPr lang="en-GB" baseline="0" dirty="0"/>
              <a:t>Location of teams and stakeholders – Is the team based at a single site or dispersed locally, nationally or globally?</a:t>
            </a:r>
          </a:p>
          <a:p>
            <a:pPr marL="362448" lvl="1" indent="-181224"/>
            <a:r>
              <a:rPr lang="en-GB" baseline="0" dirty="0"/>
              <a:t>Requirements – What are the audit, quality, regulatory requirements that must be met? What is the complexity and stability of the current operating environment?</a:t>
            </a:r>
          </a:p>
          <a:p>
            <a:pPr marL="362448" lvl="1" indent="-181224"/>
            <a:r>
              <a:rPr lang="en-GB" baseline="0" dirty="0"/>
              <a:t>Technology to be used – Is the technology both hardware and software including servers, databases, packages, programming languages tried and tested or new?</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Tree>
    <p:extLst>
      <p:ext uri="{BB962C8B-B14F-4D97-AF65-F5344CB8AC3E}">
        <p14:creationId xmlns:p14="http://schemas.microsoft.com/office/powerpoint/2010/main" val="3463457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Lifecycle</a:t>
            </a:r>
            <a:r>
              <a:rPr lang="en-GB" baseline="0" dirty="0"/>
              <a:t> needs to be chosen that d</a:t>
            </a:r>
            <a:r>
              <a:rPr lang="en-GB" dirty="0"/>
              <a:t>escribes the framework</a:t>
            </a:r>
            <a:r>
              <a:rPr lang="en-GB" baseline="0" dirty="0"/>
              <a:t> to use and </a:t>
            </a:r>
            <a:r>
              <a:rPr lang="en-GB" dirty="0"/>
              <a:t>stages to follow such as: Plan, design, build, test and deliver. Basic approaches are:</a:t>
            </a:r>
          </a:p>
          <a:p>
            <a:pPr marL="362448" lvl="1" indent="-181224"/>
            <a:r>
              <a:rPr lang="en-GB" dirty="0"/>
              <a:t>Linear – Sequential or step by step.</a:t>
            </a:r>
          </a:p>
          <a:p>
            <a:pPr marL="362448" lvl="1" indent="-181224"/>
            <a:r>
              <a:rPr lang="en-GB" dirty="0"/>
              <a:t>Evolutionary – Iterative evolving through prototypes and progressive versions.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Tree>
    <p:extLst>
      <p:ext uri="{BB962C8B-B14F-4D97-AF65-F5344CB8AC3E}">
        <p14:creationId xmlns:p14="http://schemas.microsoft.com/office/powerpoint/2010/main" val="1373021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Within the chosen Lifecycle</a:t>
            </a:r>
            <a:r>
              <a:rPr lang="en-GB" baseline="0" dirty="0"/>
              <a:t> a Process defines the set of steps and actions to follow in order to deliver the outcomes of each stage. Methods and standards support the framework within the SDLC. This includes defined roles, deliverables, techniques and models. These can vary from very prescriptive to more agnostic approaches dependent on context and lifecycle chosen.</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Tree>
    <p:extLst>
      <p:ext uri="{BB962C8B-B14F-4D97-AF65-F5344CB8AC3E}">
        <p14:creationId xmlns:p14="http://schemas.microsoft.com/office/powerpoint/2010/main" val="1187133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Roles define</a:t>
            </a:r>
            <a:r>
              <a:rPr lang="en-GB" baseline="0" dirty="0"/>
              <a:t> the p</a:t>
            </a:r>
            <a:r>
              <a:rPr lang="en-GB" dirty="0"/>
              <a:t>eople that carry out tasks within various SDLCs. They can</a:t>
            </a:r>
            <a:r>
              <a:rPr lang="en-GB" baseline="0" dirty="0"/>
              <a:t> be s</a:t>
            </a:r>
            <a:r>
              <a:rPr lang="en-GB" dirty="0"/>
              <a:t>pecific to a particular SDLC or more generic with various titles</a:t>
            </a:r>
            <a:r>
              <a:rPr lang="en-GB" baseline="0" dirty="0"/>
              <a:t> including:</a:t>
            </a:r>
          </a:p>
          <a:p>
            <a:pPr marL="362448" lvl="1" indent="-181224"/>
            <a:r>
              <a:rPr lang="en-GB" dirty="0"/>
              <a:t>Business:</a:t>
            </a:r>
          </a:p>
          <a:p>
            <a:pPr marL="724896" lvl="2" indent="-181224"/>
            <a:r>
              <a:rPr lang="en-GB" dirty="0"/>
              <a:t>Sponsor or senior business owner</a:t>
            </a:r>
          </a:p>
          <a:p>
            <a:pPr marL="724896" lvl="2" indent="-181224"/>
            <a:r>
              <a:rPr lang="en-GB" dirty="0"/>
              <a:t>Business Analyst</a:t>
            </a:r>
          </a:p>
          <a:p>
            <a:pPr marL="724896" lvl="2" indent="-181224"/>
            <a:r>
              <a:rPr lang="en-GB" dirty="0"/>
              <a:t>Domain</a:t>
            </a:r>
            <a:r>
              <a:rPr lang="en-GB" baseline="0" dirty="0"/>
              <a:t> expert</a:t>
            </a:r>
          </a:p>
          <a:p>
            <a:pPr marL="724896" lvl="2" indent="-181224"/>
            <a:r>
              <a:rPr lang="en-GB" baseline="0" dirty="0"/>
              <a:t>End users</a:t>
            </a:r>
          </a:p>
          <a:p>
            <a:pPr marL="362448" lvl="1" indent="-181224"/>
            <a:r>
              <a:rPr lang="en-GB" baseline="0" dirty="0"/>
              <a:t>Project:</a:t>
            </a:r>
          </a:p>
          <a:p>
            <a:pPr marL="724896" lvl="2" indent="-181224"/>
            <a:r>
              <a:rPr lang="en-GB" baseline="0" dirty="0"/>
              <a:t>Project Manager</a:t>
            </a:r>
          </a:p>
          <a:p>
            <a:pPr marL="724896" lvl="2" indent="-181224"/>
            <a:r>
              <a:rPr lang="en-GB" baseline="0" dirty="0"/>
              <a:t>Team / Work Package Leader</a:t>
            </a:r>
          </a:p>
          <a:p>
            <a:pPr marL="362448" lvl="1" indent="-181224"/>
            <a:r>
              <a:rPr lang="en-GB" baseline="0" dirty="0"/>
              <a:t>Technical:</a:t>
            </a:r>
          </a:p>
          <a:p>
            <a:pPr marL="724896" lvl="2" indent="-181224"/>
            <a:r>
              <a:rPr lang="en-GB" baseline="0" dirty="0"/>
              <a:t>Architect</a:t>
            </a:r>
          </a:p>
          <a:p>
            <a:pPr marL="724896" lvl="2" indent="-181224"/>
            <a:r>
              <a:rPr lang="en-GB" baseline="0" dirty="0"/>
              <a:t>Developer</a:t>
            </a:r>
          </a:p>
          <a:p>
            <a:pPr marL="724896" lvl="2" indent="-181224"/>
            <a:r>
              <a:rPr lang="en-GB" baseline="0" dirty="0"/>
              <a:t>Tester</a:t>
            </a:r>
          </a:p>
          <a:p>
            <a:pPr marL="362448" lvl="1" indent="-181224"/>
            <a:r>
              <a:rPr lang="en-GB" baseline="0" dirty="0"/>
              <a:t>Implementation and Support:</a:t>
            </a:r>
          </a:p>
          <a:p>
            <a:pPr marL="724896" lvl="2" indent="-181224"/>
            <a:r>
              <a:rPr lang="en-GB" baseline="0" dirty="0"/>
              <a:t>Release Manager</a:t>
            </a:r>
          </a:p>
          <a:p>
            <a:pPr marL="724896" lvl="2" indent="-181224"/>
            <a:r>
              <a:rPr lang="en-GB" baseline="0" dirty="0"/>
              <a:t>Database Administrators</a:t>
            </a:r>
          </a:p>
          <a:p>
            <a:pPr marL="724896" lvl="2" indent="-181224"/>
            <a:r>
              <a:rPr lang="en-GB" baseline="0" dirty="0"/>
              <a:t>System Administrators</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a:p>
        </p:txBody>
      </p:sp>
    </p:spTree>
    <p:extLst>
      <p:ext uri="{BB962C8B-B14F-4D97-AF65-F5344CB8AC3E}">
        <p14:creationId xmlns:p14="http://schemas.microsoft.com/office/powerpoint/2010/main" val="18536543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Deliverables are the documents, models, designs, hardware and software required</a:t>
            </a:r>
            <a:r>
              <a:rPr lang="en-GB" baseline="0" dirty="0"/>
              <a:t> a</a:t>
            </a:r>
            <a:r>
              <a:rPr lang="en-GB" dirty="0"/>
              <a:t>s</a:t>
            </a:r>
            <a:r>
              <a:rPr lang="en-GB" baseline="0" dirty="0"/>
              <a:t> outputs for</a:t>
            </a:r>
            <a:r>
              <a:rPr lang="en-GB" dirty="0"/>
              <a:t> </a:t>
            </a:r>
            <a:r>
              <a:rPr lang="en-GB" dirty="0" err="1"/>
              <a:t>for</a:t>
            </a:r>
            <a:r>
              <a:rPr lang="en-GB" dirty="0"/>
              <a:t> different SDLCs and stages. They detail the understanding of requirements and answer the questions</a:t>
            </a:r>
            <a:r>
              <a:rPr lang="en-GB" baseline="0" dirty="0"/>
              <a:t> of w</a:t>
            </a:r>
            <a:r>
              <a:rPr lang="en-GB" dirty="0"/>
              <a:t>hat, how, quality, when?</a:t>
            </a:r>
          </a:p>
          <a:p>
            <a:r>
              <a:rPr lang="en-GB" dirty="0"/>
              <a:t>Examples include:</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Requirement documents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Models:</a:t>
            </a:r>
          </a:p>
          <a:p>
            <a:pPr marL="724896" lvl="2"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Class models</a:t>
            </a:r>
          </a:p>
          <a:p>
            <a:pPr marL="724896" lvl="2"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Entity Relationship diagrams or Data models or Logical Data structures</a:t>
            </a:r>
          </a:p>
          <a:p>
            <a:pPr marL="724896" lvl="2"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Use cases</a:t>
            </a:r>
          </a:p>
          <a:p>
            <a:pPr marL="724896" lvl="2"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Process models</a:t>
            </a:r>
          </a:p>
          <a:p>
            <a:pPr marL="724896" lvl="2"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State transition diagrams</a:t>
            </a:r>
          </a:p>
          <a:p>
            <a:pPr marL="724896" lvl="2"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Sequence diagrams</a:t>
            </a:r>
          </a:p>
          <a:p>
            <a:pPr marL="724896" lvl="2"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Component diagrams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System / software components</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Test / implementation plans and scripts </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Examples of models include:</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a:p>
        </p:txBody>
      </p:sp>
    </p:spTree>
    <p:extLst>
      <p:ext uri="{BB962C8B-B14F-4D97-AF65-F5344CB8AC3E}">
        <p14:creationId xmlns:p14="http://schemas.microsoft.com/office/powerpoint/2010/main" val="177474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Techniques are dependent on SDLC chosen</a:t>
            </a:r>
            <a:r>
              <a:rPr lang="en-GB" baseline="0" dirty="0"/>
              <a:t>. </a:t>
            </a:r>
            <a:r>
              <a:rPr lang="en-GB" dirty="0"/>
              <a:t>Numerous</a:t>
            </a:r>
            <a:r>
              <a:rPr lang="en-GB" baseline="0" dirty="0"/>
              <a:t> have been developed that each have their particular strengths and weaknesses making them suitable for different types of systems and projects. Dependent on the SDLC they should not be treated as a recipe but tailored for specific projects.     </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a:p>
        </p:txBody>
      </p:sp>
    </p:spTree>
    <p:extLst>
      <p:ext uri="{BB962C8B-B14F-4D97-AF65-F5344CB8AC3E}">
        <p14:creationId xmlns:p14="http://schemas.microsoft.com/office/powerpoint/2010/main" val="287679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Deliverables</a:t>
            </a:r>
            <a:r>
              <a:rPr lang="en-GB" baseline="0" dirty="0"/>
              <a:t> are the out</a:t>
            </a:r>
            <a:r>
              <a:rPr lang="en-GB" dirty="0"/>
              <a:t>puts and documents from each stage SDLC which typically review, signed off and become the inputs for following stage. Their type, format and content are dependent on the methodology adopted be it Linear</a:t>
            </a:r>
            <a:r>
              <a:rPr lang="en-GB" baseline="0" dirty="0"/>
              <a:t> or Evolutional and the variations with.</a:t>
            </a:r>
            <a:endParaRPr lang="en-GB" dirty="0"/>
          </a:p>
          <a:p>
            <a:r>
              <a:rPr lang="en-GB" dirty="0"/>
              <a:t>Deliverables are also known as System documentation</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a:p>
        </p:txBody>
      </p:sp>
    </p:spTree>
    <p:extLst>
      <p:ext uri="{BB962C8B-B14F-4D97-AF65-F5344CB8AC3E}">
        <p14:creationId xmlns:p14="http://schemas.microsoft.com/office/powerpoint/2010/main" val="13553508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activities of each</a:t>
            </a:r>
            <a:r>
              <a:rPr lang="en-GB" baseline="0" dirty="0"/>
              <a:t> stage are the creation of the following deliverables:</a:t>
            </a:r>
          </a:p>
          <a:p>
            <a:pPr marL="362448" lvl="1" indent="-181224"/>
            <a:r>
              <a:rPr lang="en-GB" dirty="0"/>
              <a:t>Feasibility Study (Initiation)</a:t>
            </a:r>
          </a:p>
          <a:p>
            <a:pPr lvl="2"/>
            <a:r>
              <a:rPr lang="en-GB" dirty="0"/>
              <a:t>Project Brief / Charter / Initiation / Scope – Overvie</a:t>
            </a:r>
            <a:r>
              <a:rPr lang="en-GB" baseline="0" dirty="0"/>
              <a:t>w of the system. </a:t>
            </a:r>
            <a:endParaRPr lang="en-GB" dirty="0"/>
          </a:p>
          <a:p>
            <a:pPr lvl="2"/>
            <a:r>
              <a:rPr lang="en-GB" dirty="0"/>
              <a:t>Terms of Reference – The scope and limitations of the system.</a:t>
            </a:r>
          </a:p>
          <a:p>
            <a:pPr lvl="2"/>
            <a:r>
              <a:rPr lang="en-GB" dirty="0"/>
              <a:t>Business Case – A cost / benefit analysis of project.</a:t>
            </a:r>
          </a:p>
          <a:p>
            <a:pPr lvl="2"/>
            <a:r>
              <a:rPr lang="en-GB" dirty="0"/>
              <a:t>System Scope / Requirements – High level list</a:t>
            </a:r>
            <a:r>
              <a:rPr lang="en-GB" baseline="0" dirty="0"/>
              <a:t> of requirements.</a:t>
            </a:r>
            <a:r>
              <a:rPr lang="en-GB" dirty="0"/>
              <a:t> </a:t>
            </a:r>
          </a:p>
          <a:p>
            <a:pPr lvl="2"/>
            <a:r>
              <a:rPr lang="en-GB" dirty="0"/>
              <a:t>High Level Plan (Gantt chart) – Overall plan.</a:t>
            </a:r>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Requirements Engineering (Analysis)</a:t>
            </a:r>
          </a:p>
          <a:p>
            <a:pPr lvl="2"/>
            <a:r>
              <a:rPr lang="en-GB" dirty="0"/>
              <a:t>Requirements Report – Detailed list of requirements.</a:t>
            </a:r>
          </a:p>
          <a:p>
            <a:pPr lvl="2"/>
            <a:r>
              <a:rPr lang="en-GB" dirty="0"/>
              <a:t>Threats and Risks Report – Details list</a:t>
            </a:r>
            <a:r>
              <a:rPr lang="en-GB" baseline="0" dirty="0"/>
              <a:t> of possible threats and risks to the system.</a:t>
            </a:r>
            <a:endParaRPr lang="en-GB" dirty="0"/>
          </a:p>
          <a:p>
            <a:pPr lvl="2"/>
            <a:r>
              <a:rPr lang="en-GB" dirty="0"/>
              <a:t>Recommendations – Where options</a:t>
            </a:r>
            <a:r>
              <a:rPr lang="en-GB" baseline="0" dirty="0"/>
              <a:t> exists reasons for the chosen option.</a:t>
            </a:r>
            <a:endParaRPr lang="en-GB" dirty="0"/>
          </a:p>
          <a:p>
            <a:pPr marL="362448" lvl="1" indent="-181224">
              <a:spcAft>
                <a:spcPts val="604"/>
              </a:spcAft>
              <a:tabLst>
                <a:tab pos="274907" algn="l"/>
                <a:tab pos="548216" algn="l"/>
                <a:tab pos="802344" algn="l"/>
                <a:tab pos="1077251" algn="l"/>
                <a:tab pos="1352158" algn="l"/>
                <a:tab pos="1625467" algn="l"/>
                <a:tab pos="1900373" algn="l"/>
                <a:tab pos="2173681" algn="l"/>
                <a:tab pos="2429408" algn="l"/>
                <a:tab pos="2702717" algn="l"/>
              </a:tabLst>
            </a:pPr>
            <a:r>
              <a:rPr lang="en-GB" dirty="0"/>
              <a:t>Design</a:t>
            </a:r>
          </a:p>
          <a:p>
            <a:pPr lvl="2"/>
            <a:r>
              <a:rPr lang="en-GB" dirty="0"/>
              <a:t>Detailed Technical Specifications – Architecture, Systems,</a:t>
            </a:r>
            <a:r>
              <a:rPr lang="en-GB" baseline="0" dirty="0"/>
              <a:t> Interfaces, </a:t>
            </a:r>
            <a:r>
              <a:rPr lang="en-GB" dirty="0"/>
              <a:t>Components</a:t>
            </a:r>
          </a:p>
          <a:p>
            <a:pPr lvl="2"/>
            <a:r>
              <a:rPr lang="en-GB" dirty="0"/>
              <a:t>Logical and Physical Designs – Data</a:t>
            </a:r>
            <a:r>
              <a:rPr lang="en-GB" baseline="0" dirty="0"/>
              <a:t> models, Process flows, Activity diagrams, Entity Life History</a:t>
            </a:r>
            <a:endParaRPr lang="en-GB" dirty="0"/>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a:p>
        </p:txBody>
      </p:sp>
    </p:spTree>
    <p:extLst>
      <p:ext uri="{BB962C8B-B14F-4D97-AF65-F5344CB8AC3E}">
        <p14:creationId xmlns:p14="http://schemas.microsoft.com/office/powerpoint/2010/main" val="3728883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a:p>
        </p:txBody>
      </p:sp>
    </p:spTree>
    <p:extLst>
      <p:ext uri="{BB962C8B-B14F-4D97-AF65-F5344CB8AC3E}">
        <p14:creationId xmlns:p14="http://schemas.microsoft.com/office/powerpoint/2010/main" val="4230010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a:p>
        </p:txBody>
      </p:sp>
    </p:spTree>
    <p:extLst>
      <p:ext uri="{BB962C8B-B14F-4D97-AF65-F5344CB8AC3E}">
        <p14:creationId xmlns:p14="http://schemas.microsoft.com/office/powerpoint/2010/main" val="402989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Other general</a:t>
            </a:r>
            <a:r>
              <a:rPr lang="en-GB" baseline="0" dirty="0"/>
              <a:t> considerations are to ensure any documentation meets organisational guidelines or standards. This could include required content and diagram, layout and format, using appropriate naming conventions that meet quality control requirements. Often documents will reviewed and need to be approved before they can be used for the next stage of the project.</a:t>
            </a:r>
          </a:p>
          <a:p>
            <a:r>
              <a:rPr lang="en-GB" baseline="0" dirty="0"/>
              <a:t>Organisations may have other processes and requirements for general project management and governance that must be followed. Larger or more structured organisations often have Project Management Office (PMO) and Quality Assurance departments dedicated to these areas who oversee all projects.   </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a:p>
        </p:txBody>
      </p:sp>
    </p:spTree>
    <p:extLst>
      <p:ext uri="{BB962C8B-B14F-4D97-AF65-F5344CB8AC3E}">
        <p14:creationId xmlns:p14="http://schemas.microsoft.com/office/powerpoint/2010/main" val="17648859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just" defTabSz="914400" rtl="0" eaLnBrk="0" fontAlgn="base" latinLnBrk="0" hangingPunct="0">
              <a:lnSpc>
                <a:spcPct val="100000"/>
              </a:lnSpc>
              <a:spcBef>
                <a:spcPts val="0"/>
              </a:spcBef>
              <a:spcAft>
                <a:spcPts val="6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The final section is a review of module, specifically the Learning Outcomes and Assessment Criteria, with a quick quiz and a chance to ask any further questions and provide brief feedback.</a:t>
            </a:r>
          </a:p>
        </p:txBody>
      </p:sp>
      <p:sp>
        <p:nvSpPr>
          <p:cNvPr id="4" name="Slide Number Placeholder 3"/>
          <p:cNvSpPr>
            <a:spLocks noGrp="1"/>
          </p:cNvSpPr>
          <p:nvPr>
            <p:ph type="sldNum" sz="quarter" idx="5"/>
          </p:nvPr>
        </p:nvSpPr>
        <p:spPr/>
        <p:txBody>
          <a:bodyPr/>
          <a:lstStyle/>
          <a:p>
            <a:fld id="{9C44FC15-3C85-489A-BB43-3349185627FC}" type="slidenum">
              <a:rPr lang="en-GB" smtClean="0"/>
              <a:t>32</a:t>
            </a:fld>
            <a:endParaRPr lang="en-GB"/>
          </a:p>
        </p:txBody>
      </p:sp>
    </p:spTree>
    <p:extLst>
      <p:ext uri="{BB962C8B-B14F-4D97-AF65-F5344CB8AC3E}">
        <p14:creationId xmlns:p14="http://schemas.microsoft.com/office/powerpoint/2010/main" val="2586741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C44FC15-3C85-489A-BB43-3349185627FC}" type="slidenum">
              <a:rPr lang="en-GB" smtClean="0"/>
              <a:t>33</a:t>
            </a:fld>
            <a:endParaRPr lang="en-GB"/>
          </a:p>
        </p:txBody>
      </p:sp>
    </p:spTree>
    <p:extLst>
      <p:ext uri="{BB962C8B-B14F-4D97-AF65-F5344CB8AC3E}">
        <p14:creationId xmlns:p14="http://schemas.microsoft.com/office/powerpoint/2010/main" val="42362840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20.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7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4" Type="http://schemas.openxmlformats.org/officeDocument/2006/relationships/image" Target="../media/image28.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27.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Master" Target="../slideMasters/slideMaster3.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7.sv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7.sv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jpe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12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0.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0.png"/><Relationship Id="rId1" Type="http://schemas.openxmlformats.org/officeDocument/2006/relationships/slideMaster" Target="../slideMasters/slideMaster4.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236014405"/>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14915192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93679198"/>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53612110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042005"/>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32395862"/>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82126527"/>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71941383"/>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200522307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172291958"/>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29456493"/>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19465999"/>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170574453"/>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853927152"/>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759479725"/>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509655139"/>
      </p:ext>
    </p:extLst>
  </p:cSld>
  <p:clrMapOvr>
    <a:masterClrMapping/>
  </p:clrMapOvr>
  <p:hf hdr="0"/>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91875374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4728278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772389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67841266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108218566"/>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2901981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923956402"/>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27116953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348128018"/>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9014054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08679479"/>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829326824"/>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27580927"/>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27055103"/>
      </p:ext>
    </p:extLst>
  </p:cSld>
  <p:clrMapOvr>
    <a:masterClrMapping/>
  </p:clrMapOvr>
  <p:hf hdr="0"/>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3796408188"/>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769423138"/>
      </p:ext>
    </p:extLst>
  </p:cSld>
  <p:clrMapOvr>
    <a:masterClrMapping/>
  </p:clrMapOvr>
  <p:hf hdr="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15005366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Contents or agenda">
    <p:spTree>
      <p:nvGrpSpPr>
        <p:cNvPr id="1" name=""/>
        <p:cNvGrpSpPr/>
        <p:nvPr/>
      </p:nvGrpSpPr>
      <p:grpSpPr>
        <a:xfrm>
          <a:off x="0" y="0"/>
          <a:ext cx="0" cy="0"/>
          <a:chOff x="0" y="0"/>
          <a:chExt cx="0" cy="0"/>
        </a:xfrm>
      </p:grpSpPr>
      <p:pic>
        <p:nvPicPr>
          <p:cNvPr id="26" name="Picture 25" descr="Shape&#10;&#10;Description automatically generated with medium confidence">
            <a:extLst>
              <a:ext uri="{FF2B5EF4-FFF2-40B4-BE49-F238E27FC236}">
                <a16:creationId xmlns:a16="http://schemas.microsoft.com/office/drawing/2014/main" id="{3B4E1F50-500D-4F08-9594-04DCAC10E481}"/>
              </a:ext>
            </a:extLst>
          </p:cNvPr>
          <p:cNvPicPr>
            <a:picLocks noChangeAspect="1"/>
          </p:cNvPicPr>
          <p:nvPr userDrawn="1"/>
        </p:nvPicPr>
        <p:blipFill>
          <a:blip r:embed="rId2"/>
          <a:stretch>
            <a:fillRect/>
          </a:stretch>
        </p:blipFill>
        <p:spPr>
          <a:xfrm>
            <a:off x="7877310" y="0"/>
            <a:ext cx="4314690" cy="6858000"/>
          </a:xfrm>
          <a:prstGeom prst="rect">
            <a:avLst/>
          </a:prstGeom>
        </p:spPr>
      </p:pic>
      <p:cxnSp>
        <p:nvCxnSpPr>
          <p:cNvPr id="13" name="Straight Connector 12"/>
          <p:cNvCxnSpPr/>
          <p:nvPr userDrawn="1"/>
        </p:nvCxnSpPr>
        <p:spPr>
          <a:xfrm>
            <a:off x="3101975" y="1484598"/>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14589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2807184"/>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46847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12977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4791062"/>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sp>
        <p:nvSpPr>
          <p:cNvPr id="30" name="Text Placeholder 2"/>
          <p:cNvSpPr>
            <a:spLocks noGrp="1"/>
          </p:cNvSpPr>
          <p:nvPr>
            <p:ph type="body" sz="quarter" idx="10" hasCustomPrompt="1"/>
          </p:nvPr>
        </p:nvSpPr>
        <p:spPr>
          <a:xfrm>
            <a:off x="384784" y="1484598"/>
            <a:ext cx="2521449" cy="1962150"/>
          </a:xfrm>
        </p:spPr>
        <p:txBody>
          <a:bodyPr/>
          <a:lstStyle>
            <a:lvl1pPr marL="0" indent="0">
              <a:lnSpc>
                <a:spcPct val="90000"/>
              </a:lnSpc>
              <a:spcAft>
                <a:spcPts val="0"/>
              </a:spcAft>
              <a:buFont typeface="Arial" panose="020B0604020202020204" pitchFamily="34" charset="0"/>
              <a:buNone/>
              <a:defRPr sz="4000" b="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161944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166661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280736"/>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32790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2939432"/>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2986599"/>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359442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364159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259419"/>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306586"/>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4937056"/>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4984223"/>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715736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6633410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505697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Column A">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umn A Plain">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453058"/>
            <a:ext cx="9483118"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1357921" y="1635854"/>
            <a:ext cx="9483117"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729812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A Plai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679632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s B">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F8457ED5-FFC6-4734-A6E8-9C12AAF7EA0D}"/>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a:xfrm>
            <a:off x="376238" y="450398"/>
            <a:ext cx="10464799" cy="687614"/>
          </a:xfrm>
        </p:spPr>
        <p:txBody>
          <a:bodyPr/>
          <a:lstStyle/>
          <a:p>
            <a:r>
              <a:rPr lang="en-US" dirty="0"/>
              <a:t>Click to edit Master title style</a:t>
            </a:r>
            <a:endParaRPr lang="en-GB" dirty="0"/>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376238" y="1635854"/>
            <a:ext cx="5627688"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5" name="Graphic 31">
            <a:extLst>
              <a:ext uri="{FF2B5EF4-FFF2-40B4-BE49-F238E27FC236}">
                <a16:creationId xmlns:a16="http://schemas.microsoft.com/office/drawing/2014/main" id="{6E7E2E15-3B47-4552-B2F2-43A358272F5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930530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143803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py Slide - QA Left Side">
    <p:bg>
      <p:bgPr>
        <a:solidFill>
          <a:schemeClr val="bg1"/>
        </a:solidFill>
        <a:effectLst/>
      </p:bgPr>
    </p:bg>
    <p:spTree>
      <p:nvGrpSpPr>
        <p:cNvPr id="1" name=""/>
        <p:cNvGrpSpPr/>
        <p:nvPr/>
      </p:nvGrpSpPr>
      <p:grpSpPr>
        <a:xfrm>
          <a:off x="0" y="0"/>
          <a:ext cx="0" cy="0"/>
          <a:chOff x="0" y="0"/>
          <a:chExt cx="0" cy="0"/>
        </a:xfrm>
      </p:grpSpPr>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747991474"/>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lain Background">
    <p:spTree>
      <p:nvGrpSpPr>
        <p:cNvPr id="1" name=""/>
        <p:cNvGrpSpPr/>
        <p:nvPr/>
      </p:nvGrpSpPr>
      <p:grpSpPr>
        <a:xfrm>
          <a:off x="0" y="0"/>
          <a:ext cx="0" cy="0"/>
          <a:chOff x="0" y="0"/>
          <a:chExt cx="0" cy="0"/>
        </a:xfrm>
      </p:grpSpPr>
      <p:sp>
        <p:nvSpPr>
          <p:cNvPr id="2" name="Rectangle 1"/>
          <p:cNvSpPr/>
          <p:nvPr userDrawn="1"/>
        </p:nvSpPr>
        <p:spPr>
          <a:xfrm>
            <a:off x="269737" y="304800"/>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157694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lain side block - A">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71E76E-2742-450B-96BA-3BB549EE2428}"/>
              </a:ext>
            </a:extLst>
          </p:cNvPr>
          <p:cNvSpPr/>
          <p:nvPr userDrawn="1"/>
        </p:nvSpPr>
        <p:spPr>
          <a:xfrm>
            <a:off x="0" y="0"/>
            <a:ext cx="4152550"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2"/>
          <p:cNvSpPr>
            <a:spLocks noGrp="1"/>
          </p:cNvSpPr>
          <p:nvPr>
            <p:ph type="body" sz="quarter" idx="12" hasCustomPrompt="1"/>
          </p:nvPr>
        </p:nvSpPr>
        <p:spPr>
          <a:xfrm>
            <a:off x="376238" y="1233488"/>
            <a:ext cx="3437005" cy="2030142"/>
          </a:xfrm>
        </p:spPr>
        <p:txBody>
          <a:bodyPr/>
          <a:lstStyle>
            <a:lvl1pPr marL="0" indent="0">
              <a:lnSpc>
                <a:spcPct val="90000"/>
              </a:lnSpc>
              <a:spcAft>
                <a:spcPts val="0"/>
              </a:spcAft>
              <a:buFont typeface="Arial" panose="020B0604020202020204" pitchFamily="34" charset="0"/>
              <a:buNone/>
              <a:defRPr sz="4000" b="0" cap="none"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5037138" y="1233488"/>
            <a:ext cx="6770687" cy="4651746"/>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E91400AF-DDE0-4462-9B4B-DC7F95F911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45063" y="5980266"/>
            <a:ext cx="781218" cy="552176"/>
          </a:xfrm>
          <a:prstGeom prst="rect">
            <a:avLst/>
          </a:prstGeom>
        </p:spPr>
      </p:pic>
      <p:pic>
        <p:nvPicPr>
          <p:cNvPr id="8" name="Picture 7">
            <a:extLst>
              <a:ext uri="{FF2B5EF4-FFF2-40B4-BE49-F238E27FC236}">
                <a16:creationId xmlns:a16="http://schemas.microsoft.com/office/drawing/2014/main" id="{AB547ADA-2CB9-46E7-811F-C8E01F6F3CE5}"/>
              </a:ext>
            </a:extLst>
          </p:cNvPr>
          <p:cNvPicPr>
            <a:picLocks noChangeAspect="1"/>
          </p:cNvPicPr>
          <p:nvPr userDrawn="1"/>
        </p:nvPicPr>
        <p:blipFill>
          <a:blip r:embed="rId4"/>
          <a:srcRect/>
          <a:stretch/>
        </p:blipFill>
        <p:spPr>
          <a:xfrm>
            <a:off x="0" y="4283345"/>
            <a:ext cx="5907041" cy="2574654"/>
          </a:xfrm>
          <a:prstGeom prst="rect">
            <a:avLst/>
          </a:prstGeom>
        </p:spPr>
      </p:pic>
    </p:spTree>
    <p:extLst>
      <p:ext uri="{BB962C8B-B14F-4D97-AF65-F5344CB8AC3E}">
        <p14:creationId xmlns:p14="http://schemas.microsoft.com/office/powerpoint/2010/main" val="89513587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51389446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95050386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5213145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81234806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529917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4953641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9897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115957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245655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39324529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2348436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4929160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9800997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2796342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1673034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18228156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8468603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53226823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0834388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435991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7313904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1515367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9616113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47625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15235143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1316124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2307052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8039499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418704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684238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9025167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71808105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402949089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129445053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24069815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36889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177569235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11263849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10311674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37358595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82471071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6413256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0783517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2574650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7084515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106201337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9321847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5506451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8086945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902178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89326144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2566420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333550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9683753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6425873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202204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5074973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514957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913110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1438610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76766737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1827741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4069417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852235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11553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8554100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8236183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60059834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91062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53705612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4284518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userDrawn="1">
  <p:cSld name="Divider or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F5A61FC8-7A75-4791-8E3A-93C63D7CBE3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20682" y="290721"/>
            <a:ext cx="2323508" cy="1416483"/>
          </a:xfrm>
          <a:prstGeom prst="rect">
            <a:avLst/>
          </a:prstGeom>
        </p:spPr>
      </p:pic>
      <p:sp>
        <p:nvSpPr>
          <p:cNvPr id="6" name="Title 1">
            <a:extLst>
              <a:ext uri="{FF2B5EF4-FFF2-40B4-BE49-F238E27FC236}">
                <a16:creationId xmlns:a16="http://schemas.microsoft.com/office/drawing/2014/main" id="{5A1CD1B7-29EB-4FA8-8E8E-E672878F69C9}"/>
              </a:ext>
            </a:extLst>
          </p:cNvPr>
          <p:cNvSpPr>
            <a:spLocks noGrp="1"/>
          </p:cNvSpPr>
          <p:nvPr>
            <p:ph type="ctrTitle"/>
          </p:nvPr>
        </p:nvSpPr>
        <p:spPr>
          <a:xfrm>
            <a:off x="548369" y="3637583"/>
            <a:ext cx="6484729" cy="1247616"/>
          </a:xfrm>
        </p:spPr>
        <p:txBody>
          <a:bodyPr anchor="ctr" anchorCtr="0">
            <a:normAutofit/>
          </a:bodyPr>
          <a:lstStyle>
            <a:lvl1pPr algn="l">
              <a:lnSpc>
                <a:spcPct val="80000"/>
              </a:lnSpc>
              <a:defRPr sz="4800" cap="all" baseline="0">
                <a:solidFill>
                  <a:schemeClr val="bg1"/>
                </a:solidFill>
              </a:defRPr>
            </a:lvl1pPr>
          </a:lstStyle>
          <a:p>
            <a:r>
              <a:rPr lang="en-US" noProof="0" dirty="0"/>
              <a:t>Click to edit Master title</a:t>
            </a:r>
            <a:endParaRPr lang="en-GB" noProof="0" dirty="0"/>
          </a:p>
        </p:txBody>
      </p:sp>
      <p:sp>
        <p:nvSpPr>
          <p:cNvPr id="7" name="Text Placeholder 7">
            <a:extLst>
              <a:ext uri="{FF2B5EF4-FFF2-40B4-BE49-F238E27FC236}">
                <a16:creationId xmlns:a16="http://schemas.microsoft.com/office/drawing/2014/main" id="{207F7D92-0503-4291-B4C6-7F995240BD86}"/>
              </a:ext>
            </a:extLst>
          </p:cNvPr>
          <p:cNvSpPr>
            <a:spLocks noGrp="1"/>
          </p:cNvSpPr>
          <p:nvPr>
            <p:ph type="body" sz="quarter" idx="10" hasCustomPrompt="1"/>
          </p:nvPr>
        </p:nvSpPr>
        <p:spPr>
          <a:xfrm>
            <a:off x="548368" y="4983151"/>
            <a:ext cx="6484729" cy="354384"/>
          </a:xfrm>
        </p:spPr>
        <p:txBody>
          <a:bodyPr/>
          <a:lstStyle>
            <a:lvl1pPr marL="0" indent="0">
              <a:buFont typeface="Arial" panose="020B0604020202020204" pitchFamily="34" charset="0"/>
              <a:buNone/>
              <a:defRPr>
                <a:solidFill>
                  <a:schemeClr val="bg1"/>
                </a:solidFill>
              </a:defRPr>
            </a:lvl1pPr>
            <a:lvl5pPr>
              <a:defRPr/>
            </a:lvl5pPr>
          </a:lstStyle>
          <a:p>
            <a:pPr lvl="0"/>
            <a:r>
              <a:rPr lang="en-GB" dirty="0"/>
              <a:t>Subtitle to sit here</a:t>
            </a:r>
          </a:p>
        </p:txBody>
      </p:sp>
      <p:pic>
        <p:nvPicPr>
          <p:cNvPr id="8" name="Graphic 7">
            <a:extLst>
              <a:ext uri="{FF2B5EF4-FFF2-40B4-BE49-F238E27FC236}">
                <a16:creationId xmlns:a16="http://schemas.microsoft.com/office/drawing/2014/main" id="{83148DA8-E7DA-4E0B-BC5B-50A9C28797A5}"/>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273082" y="443121"/>
            <a:ext cx="2323508" cy="1416483"/>
          </a:xfrm>
          <a:prstGeom prst="rect">
            <a:avLst/>
          </a:prstGeom>
        </p:spPr>
      </p:pic>
    </p:spTree>
    <p:extLst>
      <p:ext uri="{BB962C8B-B14F-4D97-AF65-F5344CB8AC3E}">
        <p14:creationId xmlns:p14="http://schemas.microsoft.com/office/powerpoint/2010/main" val="382655267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Two Columns A">
    <p:spTree>
      <p:nvGrpSpPr>
        <p:cNvPr id="1" name=""/>
        <p:cNvGrpSpPr/>
        <p:nvPr/>
      </p:nvGrpSpPr>
      <p:grpSpPr>
        <a:xfrm>
          <a:off x="0" y="0"/>
          <a:ext cx="0" cy="0"/>
          <a:chOff x="0" y="0"/>
          <a:chExt cx="0" cy="0"/>
        </a:xfrm>
      </p:grpSpPr>
      <p:pic>
        <p:nvPicPr>
          <p:cNvPr id="6" name="Picture 5" descr="Shape&#10;&#10;Description automatically generated with medium confidence">
            <a:extLst>
              <a:ext uri="{FF2B5EF4-FFF2-40B4-BE49-F238E27FC236}">
                <a16:creationId xmlns:a16="http://schemas.microsoft.com/office/drawing/2014/main" id="{0B3D3E76-7890-4FA3-97ED-08A6CF0084EA}"/>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2" name="Title 1">
            <a:extLst>
              <a:ext uri="{FF2B5EF4-FFF2-40B4-BE49-F238E27FC236}">
                <a16:creationId xmlns:a16="http://schemas.microsoft.com/office/drawing/2014/main" id="{F5386DDC-7D50-4F93-9A31-362927E4AAA2}"/>
              </a:ext>
            </a:extLst>
          </p:cNvPr>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1B0DBB49-FE50-4DE8-A65C-31F9CEE195AB}"/>
              </a:ext>
            </a:extLst>
          </p:cNvPr>
          <p:cNvSpPr>
            <a:spLocks noGrp="1"/>
          </p:cNvSpPr>
          <p:nvPr>
            <p:ph type="body" sz="quarter" idx="11"/>
          </p:nvPr>
        </p:nvSpPr>
        <p:spPr>
          <a:xfrm>
            <a:off x="1357922"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a:p>
            <a:pPr lvl="2"/>
            <a:endParaRPr lang="en-US" dirty="0"/>
          </a:p>
        </p:txBody>
      </p:sp>
      <p:sp>
        <p:nvSpPr>
          <p:cNvPr id="4" name="Text Placeholder 7">
            <a:extLst>
              <a:ext uri="{FF2B5EF4-FFF2-40B4-BE49-F238E27FC236}">
                <a16:creationId xmlns:a16="http://schemas.microsoft.com/office/drawing/2014/main" id="{8881AC6B-3501-42AE-A0AC-843B0CEE9D2B}"/>
              </a:ext>
            </a:extLst>
          </p:cNvPr>
          <p:cNvSpPr>
            <a:spLocks noGrp="1"/>
          </p:cNvSpPr>
          <p:nvPr>
            <p:ph type="body" sz="quarter" idx="12"/>
          </p:nvPr>
        </p:nvSpPr>
        <p:spPr>
          <a:xfrm>
            <a:off x="6195034" y="1635854"/>
            <a:ext cx="4646004"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1F3F6775-5D50-4053-AFC2-945D3FAFD2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61272236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1 Column B">
    <p:spTree>
      <p:nvGrpSpPr>
        <p:cNvPr id="1" name=""/>
        <p:cNvGrpSpPr/>
        <p:nvPr/>
      </p:nvGrpSpPr>
      <p:grpSpPr>
        <a:xfrm>
          <a:off x="0" y="0"/>
          <a:ext cx="0" cy="0"/>
          <a:chOff x="0" y="0"/>
          <a:chExt cx="0" cy="0"/>
        </a:xfrm>
      </p:grpSpPr>
      <p:pic>
        <p:nvPicPr>
          <p:cNvPr id="10" name="Picture 9" descr="Shape&#10;&#10;Description automatically generated with medium confidence">
            <a:extLst>
              <a:ext uri="{FF2B5EF4-FFF2-40B4-BE49-F238E27FC236}">
                <a16:creationId xmlns:a16="http://schemas.microsoft.com/office/drawing/2014/main" id="{13D787C6-D70B-4FC4-97F4-CFE3F4731862}"/>
              </a:ext>
            </a:extLst>
          </p:cNvPr>
          <p:cNvPicPr>
            <a:picLocks noChangeAspect="1"/>
          </p:cNvPicPr>
          <p:nvPr userDrawn="1"/>
        </p:nvPicPr>
        <p:blipFill>
          <a:blip r:embed="rId2"/>
          <a:stretch>
            <a:fillRect/>
          </a:stretch>
        </p:blipFill>
        <p:spPr>
          <a:xfrm>
            <a:off x="7877310" y="0"/>
            <a:ext cx="4314690" cy="6858000"/>
          </a:xfrm>
          <a:prstGeom prst="rect">
            <a:avLst/>
          </a:prstGeom>
        </p:spPr>
      </p:pic>
      <p:sp>
        <p:nvSpPr>
          <p:cNvPr id="5" name="Text Placeholder 2"/>
          <p:cNvSpPr>
            <a:spLocks noGrp="1"/>
          </p:cNvSpPr>
          <p:nvPr>
            <p:ph type="body" sz="quarter" idx="12" hasCustomPrompt="1"/>
          </p:nvPr>
        </p:nvSpPr>
        <p:spPr>
          <a:xfrm>
            <a:off x="376238" y="453058"/>
            <a:ext cx="10464801" cy="520262"/>
          </a:xfrm>
        </p:spPr>
        <p:txBody>
          <a:bodyPr/>
          <a:lstStyle>
            <a:lvl1pPr marL="0" indent="0">
              <a:lnSpc>
                <a:spcPct val="90000"/>
              </a:lnSpc>
              <a:spcAft>
                <a:spcPts val="0"/>
              </a:spcAft>
              <a:buFont typeface="Arial" panose="020B0604020202020204" pitchFamily="34" charset="0"/>
              <a:buNone/>
              <a:defRPr sz="4000" b="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to sit here</a:t>
            </a:r>
          </a:p>
        </p:txBody>
      </p:sp>
      <p:sp>
        <p:nvSpPr>
          <p:cNvPr id="6" name="Text Placeholder 7"/>
          <p:cNvSpPr>
            <a:spLocks noGrp="1"/>
          </p:cNvSpPr>
          <p:nvPr>
            <p:ph type="body" sz="quarter" idx="11"/>
          </p:nvPr>
        </p:nvSpPr>
        <p:spPr>
          <a:xfrm>
            <a:off x="376239" y="1635854"/>
            <a:ext cx="10464800" cy="4842734"/>
          </a:xfrm>
        </p:spPr>
        <p:txBody>
          <a:bodyPr/>
          <a:lstStyle>
            <a:lvl1pPr marL="0" indent="0">
              <a:lnSpc>
                <a:spcPct val="100000"/>
              </a:lnSpc>
              <a:buFont typeface="Arial" panose="020B0604020202020204" pitchFamily="34" charset="0"/>
              <a:buNone/>
              <a:defRPr/>
            </a:lvl1pPr>
            <a:lvl2pPr marL="171450" indent="-171450">
              <a:lnSpc>
                <a:spcPct val="100000"/>
              </a:lnSpc>
              <a:buFont typeface="Arial" panose="020B0604020202020204" pitchFamily="34" charset="0"/>
              <a:buChar char="•"/>
              <a:defRPr sz="1400"/>
            </a:lvl2pPr>
            <a:lvl3pPr>
              <a:lnSpc>
                <a:spcPct val="100000"/>
              </a:lnSpc>
              <a:defRPr/>
            </a:lvl3pPr>
            <a:lvl4pPr>
              <a:lnSpc>
                <a:spcPct val="100000"/>
              </a:lnSpc>
              <a:defRPr/>
            </a:lvl4pPr>
            <a:lvl5pPr>
              <a:lnSpc>
                <a:spcPct val="100000"/>
              </a:lnSpc>
              <a:defRPr/>
            </a:lvl5pPr>
          </a:lstStyle>
          <a:p>
            <a:pPr lvl="0"/>
            <a:r>
              <a:rPr lang="en-US" dirty="0"/>
              <a:t>Click to edit Master text styles</a:t>
            </a:r>
          </a:p>
          <a:p>
            <a:pPr lvl="1"/>
            <a:r>
              <a:rPr lang="en-US" dirty="0"/>
              <a:t>Second level</a:t>
            </a:r>
          </a:p>
        </p:txBody>
      </p:sp>
      <p:pic>
        <p:nvPicPr>
          <p:cNvPr id="7" name="Graphic 31">
            <a:extLst>
              <a:ext uri="{FF2B5EF4-FFF2-40B4-BE49-F238E27FC236}">
                <a16:creationId xmlns:a16="http://schemas.microsoft.com/office/drawing/2014/main" id="{8DEF2034-2DE3-492A-96E2-AC3A81511FC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145063" y="5980266"/>
            <a:ext cx="781218" cy="552176"/>
          </a:xfrm>
          <a:prstGeom prst="rect">
            <a:avLst/>
          </a:prstGeom>
        </p:spPr>
      </p:pic>
    </p:spTree>
    <p:extLst>
      <p:ext uri="{BB962C8B-B14F-4D97-AF65-F5344CB8AC3E}">
        <p14:creationId xmlns:p14="http://schemas.microsoft.com/office/powerpoint/2010/main" val="354575823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Slide Number Placeholder 2"/>
          <p:cNvSpPr>
            <a:spLocks noGrp="1"/>
          </p:cNvSpPr>
          <p:nvPr>
            <p:ph type="sldNum" sz="quarter" idx="10"/>
          </p:nvPr>
        </p:nvSpPr>
        <p:spPr/>
        <p:txBody>
          <a:bodyPr/>
          <a:lstStyle/>
          <a:p>
            <a:fld id="{3C9C554F-2335-4EBA-A5CB-7E6DBA707ABC}" type="slidenum">
              <a:rPr lang="en-GB" smtClean="0"/>
              <a:t>‹#›</a:t>
            </a:fld>
            <a:endParaRPr lang="en-GB"/>
          </a:p>
        </p:txBody>
      </p:sp>
      <p:sp>
        <p:nvSpPr>
          <p:cNvPr id="5" name="Content Placeholder 4"/>
          <p:cNvSpPr>
            <a:spLocks noGrp="1"/>
          </p:cNvSpPr>
          <p:nvPr>
            <p:ph sz="quarter" idx="11"/>
          </p:nvPr>
        </p:nvSpPr>
        <p:spPr>
          <a:xfrm>
            <a:off x="360218" y="1808163"/>
            <a:ext cx="11471564" cy="439261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11192190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Teal">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719761" cy="1988032"/>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866709060"/>
      </p:ext>
    </p:extLst>
  </p:cSld>
  <p:clrMapOvr>
    <a:masterClrMapping/>
  </p:clrMapOvr>
  <p:extLst>
    <p:ext uri="{DCECCB84-F9BA-43D5-87BE-67443E8EF086}">
      <p15:sldGuideLst xmlns:p15="http://schemas.microsoft.com/office/powerpoint/2012/main">
        <p15:guide id="1" orient="horz" pos="2251">
          <p15:clr>
            <a:srgbClr val="FBAE40"/>
          </p15:clr>
        </p15:guide>
        <p15:guide id="2" pos="3840">
          <p15:clr>
            <a:srgbClr val="FBAE40"/>
          </p15:clr>
        </p15:guide>
        <p15:guide id="3" orient="horz" pos="981">
          <p15:clr>
            <a:srgbClr val="FBAE40"/>
          </p15:clr>
        </p15:guide>
        <p15:guide id="4" pos="234">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userDrawn="1">
  <p:cSld name="Teal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849686" y="249382"/>
            <a:ext cx="5342313" cy="6608618"/>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169" r="-169"/>
          <a:stretch/>
        </p:blipFill>
        <p:spPr>
          <a:xfrm>
            <a:off x="349135" y="532015"/>
            <a:ext cx="2119745" cy="1230283"/>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normAutofit/>
          </a:bodyPr>
          <a:lstStyle>
            <a:lvl1pPr marL="0" marR="0" indent="0" algn="l" defTabSz="914400" rtl="0" eaLnBrk="1" fontAlgn="auto" latinLnBrk="0" hangingPunct="1">
              <a:lnSpc>
                <a:spcPct val="100000"/>
              </a:lnSpc>
              <a:spcBef>
                <a:spcPts val="0"/>
              </a:spcBef>
              <a:spcAft>
                <a:spcPts val="0"/>
              </a:spcAft>
              <a:buClrTx/>
              <a:buSzPct val="115000"/>
              <a:buFontTx/>
              <a:buNone/>
              <a:tabLst/>
              <a:defRPr sz="2400" b="1"/>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1914129"/>
            <a:ext cx="5710699" cy="2277604"/>
          </a:xfrm>
        </p:spPr>
        <p:txBody>
          <a:bodyPr anchor="ctr" anchorCtr="0">
            <a:noAutofit/>
          </a:bodyPr>
          <a:lstStyle>
            <a:lvl1pPr algn="l">
              <a:lnSpc>
                <a:spcPct val="100000"/>
              </a:lnSpc>
              <a:defRPr sz="3600" cap="all" baseline="0"/>
            </a:lvl1pPr>
          </a:lstStyle>
          <a:p>
            <a:r>
              <a:rPr lang="en-US" noProof="0" dirty="0"/>
              <a:t>CLICK TO EDIT TITLE</a:t>
            </a:r>
            <a:endParaRPr lang="en-GB" noProof="0" dirty="0"/>
          </a:p>
        </p:txBody>
      </p:sp>
    </p:spTree>
    <p:extLst>
      <p:ext uri="{BB962C8B-B14F-4D97-AF65-F5344CB8AC3E}">
        <p14:creationId xmlns:p14="http://schemas.microsoft.com/office/powerpoint/2010/main" val="2282257381"/>
      </p:ext>
    </p:extLst>
  </p:cSld>
  <p:clrMapOvr>
    <a:masterClrMapping/>
  </p:clrMapOvr>
  <p:extLst>
    <p:ext uri="{DCECCB84-F9BA-43D5-87BE-67443E8EF086}">
      <p15:sldGuideLst xmlns:p15="http://schemas.microsoft.com/office/powerpoint/2012/main">
        <p15:guide id="1" orient="horz" pos="3634">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08423654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12607837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92805150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1930673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0488204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79689735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3938887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73434979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45167718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0974617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343783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3562710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2507485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356958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91873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54308831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145015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744026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5150062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5799190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0481761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428961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231647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1434169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1830146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17501028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7637474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998389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5710057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5942535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59224636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35427752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2910303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122269000"/>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80592110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1372489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80512261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1212763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9147399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2046207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5904345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34" Type="http://schemas.openxmlformats.org/officeDocument/2006/relationships/slideLayout" Target="../slideLayouts/slideLayout78.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image" Target="../media/image1.png"/><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slideLayout" Target="../slideLayouts/slideLayout75.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theme" Target="../theme/theme2.xml"/><Relationship Id="rId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9" Type="http://schemas.openxmlformats.org/officeDocument/2006/relationships/slideLayout" Target="../slideLayouts/slideLayout117.xml"/><Relationship Id="rId21" Type="http://schemas.openxmlformats.org/officeDocument/2006/relationships/slideLayout" Target="../slideLayouts/slideLayout99.xml"/><Relationship Id="rId34" Type="http://schemas.openxmlformats.org/officeDocument/2006/relationships/slideLayout" Target="../slideLayouts/slideLayout112.xml"/><Relationship Id="rId42" Type="http://schemas.openxmlformats.org/officeDocument/2006/relationships/slideLayout" Target="../slideLayouts/slideLayout120.xml"/><Relationship Id="rId7" Type="http://schemas.openxmlformats.org/officeDocument/2006/relationships/slideLayout" Target="../slideLayouts/slideLayout85.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37" Type="http://schemas.openxmlformats.org/officeDocument/2006/relationships/slideLayout" Target="../slideLayouts/slideLayout115.xml"/><Relationship Id="rId40" Type="http://schemas.openxmlformats.org/officeDocument/2006/relationships/slideLayout" Target="../slideLayouts/slideLayout118.xml"/><Relationship Id="rId45" Type="http://schemas.openxmlformats.org/officeDocument/2006/relationships/image" Target="../media/image1.png"/><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36" Type="http://schemas.openxmlformats.org/officeDocument/2006/relationships/slideLayout" Target="../slideLayouts/slideLayout114.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4" Type="http://schemas.openxmlformats.org/officeDocument/2006/relationships/theme" Target="../theme/theme3.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slideLayout" Target="../slideLayouts/slideLayout113.xml"/><Relationship Id="rId43" Type="http://schemas.openxmlformats.org/officeDocument/2006/relationships/slideLayout" Target="../slideLayouts/slideLayout121.xml"/><Relationship Id="rId8" Type="http://schemas.openxmlformats.org/officeDocument/2006/relationships/slideLayout" Target="../slideLayouts/slideLayout86.xml"/><Relationship Id="rId3" Type="http://schemas.openxmlformats.org/officeDocument/2006/relationships/slideLayout" Target="../slideLayouts/slideLayout81.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38" Type="http://schemas.openxmlformats.org/officeDocument/2006/relationships/slideLayout" Target="../slideLayouts/slideLayout116.xml"/><Relationship Id="rId20" Type="http://schemas.openxmlformats.org/officeDocument/2006/relationships/slideLayout" Target="../slideLayouts/slideLayout98.xml"/><Relationship Id="rId41" Type="http://schemas.openxmlformats.org/officeDocument/2006/relationships/slideLayout" Target="../slideLayouts/slideLayout11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4.xml"/><Relationship Id="rId18" Type="http://schemas.openxmlformats.org/officeDocument/2006/relationships/slideLayout" Target="../slideLayouts/slideLayout139.xml"/><Relationship Id="rId26" Type="http://schemas.openxmlformats.org/officeDocument/2006/relationships/slideLayout" Target="../slideLayouts/slideLayout147.xml"/><Relationship Id="rId3" Type="http://schemas.openxmlformats.org/officeDocument/2006/relationships/slideLayout" Target="../slideLayouts/slideLayout124.xml"/><Relationship Id="rId21" Type="http://schemas.openxmlformats.org/officeDocument/2006/relationships/slideLayout" Target="../slideLayouts/slideLayout142.xml"/><Relationship Id="rId34" Type="http://schemas.openxmlformats.org/officeDocument/2006/relationships/image" Target="../media/image1.png"/><Relationship Id="rId7" Type="http://schemas.openxmlformats.org/officeDocument/2006/relationships/slideLayout" Target="../slideLayouts/slideLayout128.xml"/><Relationship Id="rId12" Type="http://schemas.openxmlformats.org/officeDocument/2006/relationships/slideLayout" Target="../slideLayouts/slideLayout133.xml"/><Relationship Id="rId17" Type="http://schemas.openxmlformats.org/officeDocument/2006/relationships/slideLayout" Target="../slideLayouts/slideLayout138.xml"/><Relationship Id="rId25" Type="http://schemas.openxmlformats.org/officeDocument/2006/relationships/slideLayout" Target="../slideLayouts/slideLayout146.xml"/><Relationship Id="rId33" Type="http://schemas.openxmlformats.org/officeDocument/2006/relationships/theme" Target="../theme/theme4.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20" Type="http://schemas.openxmlformats.org/officeDocument/2006/relationships/slideLayout" Target="../slideLayouts/slideLayout141.xml"/><Relationship Id="rId29" Type="http://schemas.openxmlformats.org/officeDocument/2006/relationships/slideLayout" Target="../slideLayouts/slideLayout150.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24" Type="http://schemas.openxmlformats.org/officeDocument/2006/relationships/slideLayout" Target="../slideLayouts/slideLayout145.xml"/><Relationship Id="rId32" Type="http://schemas.openxmlformats.org/officeDocument/2006/relationships/slideLayout" Target="../slideLayouts/slideLayout153.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23" Type="http://schemas.openxmlformats.org/officeDocument/2006/relationships/slideLayout" Target="../slideLayouts/slideLayout144.xml"/><Relationship Id="rId28" Type="http://schemas.openxmlformats.org/officeDocument/2006/relationships/slideLayout" Target="../slideLayouts/slideLayout149.xml"/><Relationship Id="rId10" Type="http://schemas.openxmlformats.org/officeDocument/2006/relationships/slideLayout" Target="../slideLayouts/slideLayout131.xml"/><Relationship Id="rId19" Type="http://schemas.openxmlformats.org/officeDocument/2006/relationships/slideLayout" Target="../slideLayouts/slideLayout140.xml"/><Relationship Id="rId31" Type="http://schemas.openxmlformats.org/officeDocument/2006/relationships/slideLayout" Target="../slideLayouts/slideLayout152.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 Id="rId22" Type="http://schemas.openxmlformats.org/officeDocument/2006/relationships/slideLayout" Target="../slideLayouts/slideLayout143.xml"/><Relationship Id="rId27" Type="http://schemas.openxmlformats.org/officeDocument/2006/relationships/slideLayout" Target="../slideLayouts/slideLayout148.xml"/><Relationship Id="rId30" Type="http://schemas.openxmlformats.org/officeDocument/2006/relationships/slideLayout" Target="../slideLayouts/slideLayout151.xml"/><Relationship Id="rId8" Type="http://schemas.openxmlformats.org/officeDocument/2006/relationships/slideLayout" Target="../slideLayouts/slideLayout12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image" Target="../media/image1.png"/><Relationship Id="rId3" Type="http://schemas.openxmlformats.org/officeDocument/2006/relationships/slideLayout" Target="../slideLayouts/slideLayout156.xml"/><Relationship Id="rId7" Type="http://schemas.openxmlformats.org/officeDocument/2006/relationships/slideLayout" Target="../slideLayouts/slideLayout160.xml"/><Relationship Id="rId12" Type="http://schemas.openxmlformats.org/officeDocument/2006/relationships/image" Target="../media/image10.svg"/><Relationship Id="rId2" Type="http://schemas.openxmlformats.org/officeDocument/2006/relationships/slideLayout" Target="../slideLayouts/slideLayout155.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image" Target="../media/image9.png"/><Relationship Id="rId5" Type="http://schemas.openxmlformats.org/officeDocument/2006/relationships/slideLayout" Target="../slideLayouts/slideLayout158.xml"/><Relationship Id="rId10" Type="http://schemas.openxmlformats.org/officeDocument/2006/relationships/theme" Target="../theme/theme5.xml"/><Relationship Id="rId4" Type="http://schemas.openxmlformats.org/officeDocument/2006/relationships/slideLayout" Target="../slideLayouts/slideLayout157.xml"/><Relationship Id="rId9" Type="http://schemas.openxmlformats.org/officeDocument/2006/relationships/slideLayout" Target="../slideLayouts/slideLayout1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
        <p:nvSpPr>
          <p:cNvPr id="6" name="Title Placeholder 1">
            <a:extLst>
              <a:ext uri="{FF2B5EF4-FFF2-40B4-BE49-F238E27FC236}">
                <a16:creationId xmlns:a16="http://schemas.microsoft.com/office/drawing/2014/main" id="{6DADF27F-BC52-4FE3-B63D-54705AF8574F}"/>
              </a:ext>
            </a:extLst>
          </p:cNvPr>
          <p:cNvSpPr>
            <a:spLocks noGrp="1"/>
          </p:cNvSpPr>
          <p:nvPr>
            <p:ph type="title"/>
          </p:nvPr>
        </p:nvSpPr>
        <p:spPr>
          <a:xfrm>
            <a:off x="1349374" y="450398"/>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7" name="Text Placeholder 2">
            <a:extLst>
              <a:ext uri="{FF2B5EF4-FFF2-40B4-BE49-F238E27FC236}">
                <a16:creationId xmlns:a16="http://schemas.microsoft.com/office/drawing/2014/main" id="{4652C0BE-061B-439E-9312-4C1CCC756738}"/>
              </a:ext>
            </a:extLst>
          </p:cNvPr>
          <p:cNvSpPr>
            <a:spLocks noGrp="1"/>
          </p:cNvSpPr>
          <p:nvPr>
            <p:ph type="body" idx="1"/>
          </p:nvPr>
        </p:nvSpPr>
        <p:spPr>
          <a:xfrm>
            <a:off x="1350676" y="1596719"/>
            <a:ext cx="9490362" cy="458024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423209743"/>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910"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 id="2147483772" r:id="rId20"/>
    <p:sldLayoutId id="2147483773" r:id="rId21"/>
    <p:sldLayoutId id="2147483774" r:id="rId22"/>
    <p:sldLayoutId id="2147483775" r:id="rId23"/>
    <p:sldLayoutId id="2147483776" r:id="rId24"/>
    <p:sldLayoutId id="2147483777" r:id="rId25"/>
    <p:sldLayoutId id="2147483778" r:id="rId26"/>
    <p:sldLayoutId id="2147483779" r:id="rId27"/>
    <p:sldLayoutId id="2147483780" r:id="rId28"/>
    <p:sldLayoutId id="2147483781" r:id="rId29"/>
    <p:sldLayoutId id="2147483782" r:id="rId30"/>
    <p:sldLayoutId id="2147483783" r:id="rId31"/>
    <p:sldLayoutId id="2147483784" r:id="rId32"/>
    <p:sldLayoutId id="2147483785" r:id="rId33"/>
    <p:sldLayoutId id="2147483786" r:id="rId34"/>
    <p:sldLayoutId id="2147483787" r:id="rId35"/>
    <p:sldLayoutId id="2147483788" r:id="rId36"/>
    <p:sldLayoutId id="2147483650" r:id="rId37"/>
    <p:sldLayoutId id="2147483748" r:id="rId38"/>
    <p:sldLayoutId id="2147483749" r:id="rId39"/>
    <p:sldLayoutId id="2147483744" r:id="rId40"/>
    <p:sldLayoutId id="2147483747" r:id="rId41"/>
    <p:sldLayoutId id="2147483750" r:id="rId42"/>
    <p:sldLayoutId id="2147483660" r:id="rId43"/>
    <p:sldLayoutId id="2147483751" r:id="rId44"/>
  </p:sldLayoutIdLst>
  <p:hf hdr="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127359119"/>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 id="2147483819" r:id="rId30"/>
    <p:sldLayoutId id="2147483820" r:id="rId31"/>
    <p:sldLayoutId id="2147483821" r:id="rId32"/>
    <p:sldLayoutId id="2147483822" r:id="rId33"/>
    <p:sldLayoutId id="2147483823"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644673745"/>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 id="2147483844" r:id="rId20"/>
    <p:sldLayoutId id="2147483845" r:id="rId21"/>
    <p:sldLayoutId id="2147483846" r:id="rId22"/>
    <p:sldLayoutId id="2147483847" r:id="rId23"/>
    <p:sldLayoutId id="2147483848" r:id="rId24"/>
    <p:sldLayoutId id="2147483849" r:id="rId25"/>
    <p:sldLayoutId id="2147483850" r:id="rId26"/>
    <p:sldLayoutId id="2147483851" r:id="rId27"/>
    <p:sldLayoutId id="2147483852" r:id="rId28"/>
    <p:sldLayoutId id="2147483853" r:id="rId29"/>
    <p:sldLayoutId id="2147483854" r:id="rId30"/>
    <p:sldLayoutId id="2147483855" r:id="rId31"/>
    <p:sldLayoutId id="2147483856" r:id="rId32"/>
    <p:sldLayoutId id="2147483857" r:id="rId33"/>
    <p:sldLayoutId id="2147483858" r:id="rId34"/>
    <p:sldLayoutId id="2147483859" r:id="rId35"/>
    <p:sldLayoutId id="2147483860" r:id="rId36"/>
    <p:sldLayoutId id="2147483861" r:id="rId37"/>
    <p:sldLayoutId id="2147483905" r:id="rId38"/>
    <p:sldLayoutId id="2147483907" r:id="rId39"/>
    <p:sldLayoutId id="2147483908" r:id="rId40"/>
    <p:sldLayoutId id="2147483911" r:id="rId41"/>
    <p:sldLayoutId id="2147483912" r:id="rId42"/>
    <p:sldLayoutId id="2147483913" r:id="rId43"/>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45"/>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45"/>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45"/>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45"/>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800685456"/>
      </p:ext>
    </p:extLst>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 id="2147483888" r:id="rId26"/>
    <p:sldLayoutId id="2147483889" r:id="rId27"/>
    <p:sldLayoutId id="2147483890" r:id="rId28"/>
    <p:sldLayoutId id="2147483891" r:id="rId29"/>
    <p:sldLayoutId id="2147483892" r:id="rId30"/>
    <p:sldLayoutId id="2147483893" r:id="rId31"/>
    <p:sldLayoutId id="2147483894"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26384419"/>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109.xml"/><Relationship Id="rId4" Type="http://schemas.openxmlformats.org/officeDocument/2006/relationships/image" Target="../media/image3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1.xml"/></Relationships>
</file>

<file path=ppt/slides/_rels/slide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6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9.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svg"/><Relationship Id="rId2" Type="http://schemas.openxmlformats.org/officeDocument/2006/relationships/notesSlide" Target="../notesSlides/notesSlide7.xml"/><Relationship Id="rId1" Type="http://schemas.openxmlformats.org/officeDocument/2006/relationships/slideLayout" Target="../slideLayouts/slideLayout119.xml"/><Relationship Id="rId6" Type="http://schemas.openxmlformats.org/officeDocument/2006/relationships/image" Target="../media/image39.png"/><Relationship Id="rId5" Type="http://schemas.openxmlformats.org/officeDocument/2006/relationships/image" Target="../media/image38.jpg"/><Relationship Id="rId4" Type="http://schemas.openxmlformats.org/officeDocument/2006/relationships/image" Target="../media/image37.svg"/></Relationships>
</file>

<file path=ppt/slides/_rels/slide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8.xml"/><Relationship Id="rId1" Type="http://schemas.openxmlformats.org/officeDocument/2006/relationships/slideLayout" Target="../slideLayouts/slideLayout119.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0.xml"/><Relationship Id="rId1" Type="http://schemas.openxmlformats.org/officeDocument/2006/relationships/slideLayout" Target="../slideLayouts/slideLayout10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9.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6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6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6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6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6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6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6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8.xml"/></Relationships>
</file>

<file path=ppt/slides/_rels/slide32.xml.rels><?xml version="1.0" encoding="UTF-8" standalone="yes"?>
<Relationships xmlns="http://schemas.openxmlformats.org/package/2006/relationships"><Relationship Id="rId3" Type="http://schemas.openxmlformats.org/officeDocument/2006/relationships/hyperlink" Target="https://create.kahoot.it/details/dbc0fd30-48be-4e60-b7ba-f4078e8b8a43" TargetMode="External"/><Relationship Id="rId2" Type="http://schemas.openxmlformats.org/officeDocument/2006/relationships/notesSlide" Target="../notesSlides/notesSlide30.xml"/><Relationship Id="rId1" Type="http://schemas.openxmlformats.org/officeDocument/2006/relationships/slideLayout" Target="../slideLayouts/slideLayout1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9645-10D3-4636-8E7B-FE1FF2991808}"/>
              </a:ext>
            </a:extLst>
          </p:cNvPr>
          <p:cNvSpPr>
            <a:spLocks noGrp="1"/>
          </p:cNvSpPr>
          <p:nvPr>
            <p:ph type="ctrTitle"/>
          </p:nvPr>
        </p:nvSpPr>
        <p:spPr>
          <a:xfrm>
            <a:off x="384785" y="2322726"/>
            <a:ext cx="6596062" cy="2431485"/>
          </a:xfrm>
        </p:spPr>
        <p:txBody>
          <a:bodyPr anchor="b">
            <a:normAutofit/>
          </a:bodyPr>
          <a:lstStyle/>
          <a:p>
            <a:r>
              <a:rPr lang="en-GB" sz="2700" dirty="0"/>
              <a:t>Software Developer</a:t>
            </a:r>
            <a:br>
              <a:rPr lang="en-GB" sz="2700" dirty="0"/>
            </a:br>
            <a:br>
              <a:rPr lang="en-GB" sz="2700" dirty="0"/>
            </a:br>
            <a:r>
              <a:rPr lang="en-GB" sz="2700" dirty="0"/>
              <a:t>Agile Software Development</a:t>
            </a:r>
            <a:br>
              <a:rPr lang="en-GB" sz="2700" dirty="0"/>
            </a:br>
            <a:br>
              <a:rPr lang="en-GB" sz="2700" dirty="0"/>
            </a:br>
            <a:r>
              <a:rPr lang="en-GB" sz="2700" dirty="0"/>
              <a:t>The SDLC</a:t>
            </a:r>
            <a:br>
              <a:rPr lang="en-GB" sz="2700" dirty="0"/>
            </a:br>
            <a:endParaRPr lang="en-GB" sz="2700" dirty="0"/>
          </a:p>
        </p:txBody>
      </p:sp>
    </p:spTree>
    <p:extLst>
      <p:ext uri="{BB962C8B-B14F-4D97-AF65-F5344CB8AC3E}">
        <p14:creationId xmlns:p14="http://schemas.microsoft.com/office/powerpoint/2010/main" val="117794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B5DF360-4026-4711-A361-4B2B609759C9}"/>
              </a:ext>
            </a:extLst>
          </p:cNvPr>
          <p:cNvSpPr>
            <a:spLocks noGrp="1"/>
          </p:cNvSpPr>
          <p:nvPr>
            <p:ph type="body" sz="quarter" idx="12"/>
          </p:nvPr>
        </p:nvSpPr>
        <p:spPr>
          <a:xfrm>
            <a:off x="385650" y="1147572"/>
            <a:ext cx="7853377" cy="520262"/>
          </a:xfrm>
        </p:spPr>
        <p:txBody>
          <a:bodyPr anchor="t">
            <a:normAutofit/>
          </a:bodyPr>
          <a:lstStyle/>
          <a:p>
            <a:pPr>
              <a:spcAft>
                <a:spcPts val="600"/>
              </a:spcAft>
            </a:pPr>
            <a:r>
              <a:rPr lang="en-GB" sz="3300" dirty="0"/>
              <a:t>What is systems development?</a:t>
            </a:r>
          </a:p>
        </p:txBody>
      </p:sp>
      <p:sp>
        <p:nvSpPr>
          <p:cNvPr id="18" name="Slide Number Placeholder 3">
            <a:extLst>
              <a:ext uri="{FF2B5EF4-FFF2-40B4-BE49-F238E27FC236}">
                <a16:creationId xmlns:a16="http://schemas.microsoft.com/office/drawing/2014/main" id="{AD0B91D9-C857-2CE5-D1B1-936AA86BBBC6}"/>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2</a:t>
            </a:fld>
            <a:endParaRPr lang="en-GB"/>
          </a:p>
        </p:txBody>
      </p:sp>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1"/>
          </p:nvPr>
        </p:nvSpPr>
        <p:spPr>
          <a:xfrm>
            <a:off x="373062" y="1892636"/>
            <a:ext cx="7043737" cy="2742864"/>
          </a:xfrm>
        </p:spPr>
        <p:txBody>
          <a:bodyPr anchor="t">
            <a:normAutofit/>
          </a:bodyPr>
          <a:lstStyle/>
          <a:p>
            <a:pPr marL="0" indent="0">
              <a:buNone/>
            </a:pPr>
            <a:endParaRPr lang="en-GB" dirty="0"/>
          </a:p>
          <a:p>
            <a:pPr marL="0" indent="0">
              <a:buNone/>
            </a:pPr>
            <a:endParaRPr lang="en-GB" dirty="0"/>
          </a:p>
          <a:p>
            <a:pPr marL="0" indent="0">
              <a:buNone/>
            </a:pPr>
            <a:r>
              <a:rPr lang="en-GB" dirty="0"/>
              <a:t>The process of taking a set of business requirements through a series of structured stages and translating them into an operational IT system.</a:t>
            </a:r>
          </a:p>
          <a:p>
            <a:pPr marL="0" indent="0">
              <a:buNone/>
            </a:pPr>
            <a:endParaRPr lang="en-GB" b="1" dirty="0"/>
          </a:p>
          <a:p>
            <a:pPr marL="0" indent="0">
              <a:buNone/>
            </a:pPr>
            <a:r>
              <a:rPr lang="en-GB" b="1" dirty="0"/>
              <a:t>Let’s see what these structured stages are …</a:t>
            </a:r>
          </a:p>
          <a:p>
            <a:pPr marL="0" indent="0">
              <a:buNone/>
            </a:pPr>
            <a:endParaRPr lang="en-GB" dirty="0"/>
          </a:p>
          <a:p>
            <a:pPr marL="0" indent="0">
              <a:buNone/>
            </a:pPr>
            <a:endParaRPr lang="en-GB" dirty="0"/>
          </a:p>
        </p:txBody>
      </p:sp>
      <p:pic>
        <p:nvPicPr>
          <p:cNvPr id="3" name="Graphic 2" descr="Illustrator outline">
            <a:extLst>
              <a:ext uri="{FF2B5EF4-FFF2-40B4-BE49-F238E27FC236}">
                <a16:creationId xmlns:a16="http://schemas.microsoft.com/office/drawing/2014/main" id="{CE6E2D91-42C6-9DE8-4130-A5B8CECD32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11066" y="2226733"/>
            <a:ext cx="2404534" cy="2404534"/>
          </a:xfrm>
          <a:prstGeom prst="rect">
            <a:avLst/>
          </a:prstGeom>
        </p:spPr>
      </p:pic>
    </p:spTree>
    <p:extLst>
      <p:ext uri="{BB962C8B-B14F-4D97-AF65-F5344CB8AC3E}">
        <p14:creationId xmlns:p14="http://schemas.microsoft.com/office/powerpoint/2010/main" val="154806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76208233-25DE-40BD-8F61-E328CC076758}"/>
              </a:ext>
            </a:extLst>
          </p:cNvPr>
          <p:cNvSpPr>
            <a:spLocks noGrp="1"/>
          </p:cNvSpPr>
          <p:nvPr>
            <p:ph type="body" sz="quarter" idx="10"/>
          </p:nvPr>
        </p:nvSpPr>
        <p:spPr>
          <a:xfrm>
            <a:off x="543674" y="1271576"/>
            <a:ext cx="3945276" cy="2626384"/>
          </a:xfrm>
        </p:spPr>
        <p:txBody>
          <a:bodyPr/>
          <a:lstStyle/>
          <a:p>
            <a:pPr>
              <a:spcBef>
                <a:spcPts val="0"/>
              </a:spcBef>
            </a:pPr>
            <a:r>
              <a:rPr lang="en-GB" sz="1600" dirty="0">
                <a:latin typeface="+mn-lt"/>
              </a:rPr>
              <a:t>A system development life cycle (SDLC) is a framework describing a process to:</a:t>
            </a:r>
          </a:p>
          <a:p>
            <a:pPr>
              <a:spcBef>
                <a:spcPts val="0"/>
              </a:spcBef>
            </a:pPr>
            <a:endParaRPr lang="en-GB" sz="1600" dirty="0">
              <a:latin typeface="+mn-lt"/>
            </a:endParaRPr>
          </a:p>
          <a:p>
            <a:pPr marL="720000" lvl="1" indent="-360000">
              <a:spcBef>
                <a:spcPts val="0"/>
              </a:spcBef>
              <a:buFont typeface="Arial" panose="020B0604020202020204" pitchFamily="34" charset="0"/>
              <a:buChar char="•"/>
            </a:pPr>
            <a:r>
              <a:rPr lang="en-GB" sz="1600" dirty="0">
                <a:latin typeface="+mn-lt"/>
              </a:rPr>
              <a:t>understand</a:t>
            </a:r>
          </a:p>
          <a:p>
            <a:pPr marL="720000" lvl="1" indent="-360000">
              <a:spcBef>
                <a:spcPts val="0"/>
              </a:spcBef>
              <a:buFont typeface="Arial" panose="020B0604020202020204" pitchFamily="34" charset="0"/>
              <a:buChar char="•"/>
            </a:pPr>
            <a:r>
              <a:rPr lang="en-GB" sz="1600" dirty="0">
                <a:latin typeface="+mn-lt"/>
              </a:rPr>
              <a:t>plan</a:t>
            </a:r>
          </a:p>
          <a:p>
            <a:pPr marL="720000" lvl="1" indent="-360000">
              <a:spcBef>
                <a:spcPts val="0"/>
              </a:spcBef>
              <a:buFont typeface="Arial" panose="020B0604020202020204" pitchFamily="34" charset="0"/>
              <a:buChar char="•"/>
            </a:pPr>
            <a:r>
              <a:rPr lang="en-GB" sz="1600" dirty="0">
                <a:latin typeface="+mn-lt"/>
              </a:rPr>
              <a:t>build</a:t>
            </a:r>
          </a:p>
          <a:p>
            <a:pPr marL="720000" lvl="1" indent="-360000">
              <a:spcBef>
                <a:spcPts val="0"/>
              </a:spcBef>
              <a:buFont typeface="Arial" panose="020B0604020202020204" pitchFamily="34" charset="0"/>
              <a:buChar char="•"/>
            </a:pPr>
            <a:r>
              <a:rPr lang="en-GB" sz="1600" dirty="0">
                <a:latin typeface="+mn-lt"/>
              </a:rPr>
              <a:t>test</a:t>
            </a:r>
          </a:p>
          <a:p>
            <a:pPr marL="720000" lvl="1" indent="-360000">
              <a:spcBef>
                <a:spcPts val="0"/>
              </a:spcBef>
              <a:buFont typeface="Arial" panose="020B0604020202020204" pitchFamily="34" charset="0"/>
              <a:buChar char="•"/>
            </a:pPr>
            <a:r>
              <a:rPr lang="en-GB" sz="1600" dirty="0">
                <a:latin typeface="+mn-lt"/>
              </a:rPr>
              <a:t>deploy</a:t>
            </a:r>
          </a:p>
          <a:p>
            <a:pPr>
              <a:spcBef>
                <a:spcPts val="0"/>
              </a:spcBef>
            </a:pPr>
            <a:r>
              <a:rPr lang="en-GB" sz="1600" dirty="0">
                <a:latin typeface="+mn-lt"/>
              </a:rPr>
              <a:t>an information system.</a:t>
            </a:r>
          </a:p>
          <a:p>
            <a:pPr marL="360000" indent="-360000">
              <a:spcBef>
                <a:spcPts val="0"/>
              </a:spcBef>
              <a:buFont typeface="Arial" panose="020B0604020202020204" pitchFamily="34" charset="0"/>
              <a:buChar char="•"/>
            </a:pPr>
            <a:endParaRPr lang="en-GB" sz="1600" dirty="0">
              <a:latin typeface="+mn-lt"/>
            </a:endParaRPr>
          </a:p>
          <a:p>
            <a:pPr marL="285750" lvl="1" indent="-285750">
              <a:buClr>
                <a:srgbClr val="B8CCE4"/>
              </a:buClr>
              <a:buFont typeface="Arial" panose="020B0604020202020204" pitchFamily="34" charset="0"/>
              <a:buChar char="•"/>
            </a:pPr>
            <a:endParaRPr lang="en-GB" sz="1600" dirty="0">
              <a:latin typeface="+mn-lt"/>
            </a:endParaRPr>
          </a:p>
          <a:p>
            <a:pPr marL="285750" indent="-285750">
              <a:buFont typeface="Arial" panose="020B0604020202020204" pitchFamily="34" charset="0"/>
              <a:buChar char="•"/>
            </a:pPr>
            <a:endParaRPr lang="en-GB" sz="1600" b="0" dirty="0">
              <a:latin typeface="+mn-lt"/>
            </a:endParaRPr>
          </a:p>
        </p:txBody>
      </p:sp>
      <p:sp>
        <p:nvSpPr>
          <p:cNvPr id="8" name="Title 7">
            <a:extLst>
              <a:ext uri="{FF2B5EF4-FFF2-40B4-BE49-F238E27FC236}">
                <a16:creationId xmlns:a16="http://schemas.microsoft.com/office/drawing/2014/main" id="{DB5DF360-4026-4711-A361-4B2B609759C9}"/>
              </a:ext>
            </a:extLst>
          </p:cNvPr>
          <p:cNvSpPr>
            <a:spLocks noGrp="1"/>
          </p:cNvSpPr>
          <p:nvPr>
            <p:ph type="title" idx="4294967295"/>
          </p:nvPr>
        </p:nvSpPr>
        <p:spPr>
          <a:xfrm>
            <a:off x="1109609" y="360624"/>
            <a:ext cx="11436350" cy="687387"/>
          </a:xfrm>
        </p:spPr>
        <p:txBody>
          <a:bodyPr/>
          <a:lstStyle/>
          <a:p>
            <a:r>
              <a:rPr lang="en-GB" sz="3600" dirty="0"/>
              <a:t>What is a systems development life cycle?</a:t>
            </a:r>
          </a:p>
        </p:txBody>
      </p:sp>
      <p:grpSp>
        <p:nvGrpSpPr>
          <p:cNvPr id="5" name="Group 4">
            <a:extLst>
              <a:ext uri="{FF2B5EF4-FFF2-40B4-BE49-F238E27FC236}">
                <a16:creationId xmlns:a16="http://schemas.microsoft.com/office/drawing/2014/main" id="{DB65E479-3DB2-4CDE-9108-D3EF0D7FC489}"/>
              </a:ext>
            </a:extLst>
          </p:cNvPr>
          <p:cNvGrpSpPr/>
          <p:nvPr/>
        </p:nvGrpSpPr>
        <p:grpSpPr>
          <a:xfrm>
            <a:off x="8378967" y="1271576"/>
            <a:ext cx="2160000" cy="4860001"/>
            <a:chOff x="5940000" y="900000"/>
            <a:chExt cx="2160000" cy="4860001"/>
          </a:xfrm>
          <a:solidFill>
            <a:schemeClr val="accent6">
              <a:lumMod val="75000"/>
            </a:schemeClr>
          </a:solidFill>
        </p:grpSpPr>
        <p:sp>
          <p:nvSpPr>
            <p:cNvPr id="6" name="Rounded Rectangle 4">
              <a:extLst>
                <a:ext uri="{FF2B5EF4-FFF2-40B4-BE49-F238E27FC236}">
                  <a16:creationId xmlns:a16="http://schemas.microsoft.com/office/drawing/2014/main" id="{0FD502F5-2C70-40DD-91F7-80B81D97FA4C}"/>
                </a:ext>
              </a:extLst>
            </p:cNvPr>
            <p:cNvSpPr/>
            <p:nvPr/>
          </p:nvSpPr>
          <p:spPr>
            <a:xfrm>
              <a:off x="5940000" y="900000"/>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Feasibility study</a:t>
              </a:r>
            </a:p>
          </p:txBody>
        </p:sp>
        <p:sp>
          <p:nvSpPr>
            <p:cNvPr id="7" name="Rounded Rectangle 5">
              <a:extLst>
                <a:ext uri="{FF2B5EF4-FFF2-40B4-BE49-F238E27FC236}">
                  <a16:creationId xmlns:a16="http://schemas.microsoft.com/office/drawing/2014/main" id="{207B8EB1-DC62-4BEE-B1C5-E296B734EE5C}"/>
                </a:ext>
              </a:extLst>
            </p:cNvPr>
            <p:cNvSpPr/>
            <p:nvPr/>
          </p:nvSpPr>
          <p:spPr>
            <a:xfrm>
              <a:off x="5940000" y="1620000"/>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Requirements analysis</a:t>
              </a:r>
            </a:p>
          </p:txBody>
        </p:sp>
        <p:sp>
          <p:nvSpPr>
            <p:cNvPr id="9" name="Rounded Rectangle 6">
              <a:extLst>
                <a:ext uri="{FF2B5EF4-FFF2-40B4-BE49-F238E27FC236}">
                  <a16:creationId xmlns:a16="http://schemas.microsoft.com/office/drawing/2014/main" id="{7671AE00-76E8-4F2F-9AAB-9FB3876FD2ED}"/>
                </a:ext>
              </a:extLst>
            </p:cNvPr>
            <p:cNvSpPr/>
            <p:nvPr/>
          </p:nvSpPr>
          <p:spPr>
            <a:xfrm>
              <a:off x="5940000" y="233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Design</a:t>
              </a:r>
            </a:p>
          </p:txBody>
        </p:sp>
        <p:sp>
          <p:nvSpPr>
            <p:cNvPr id="10" name="Rounded Rectangle 7">
              <a:extLst>
                <a:ext uri="{FF2B5EF4-FFF2-40B4-BE49-F238E27FC236}">
                  <a16:creationId xmlns:a16="http://schemas.microsoft.com/office/drawing/2014/main" id="{F2D25127-C336-407C-8B91-4F6C4E2164FA}"/>
                </a:ext>
              </a:extLst>
            </p:cNvPr>
            <p:cNvSpPr/>
            <p:nvPr/>
          </p:nvSpPr>
          <p:spPr>
            <a:xfrm>
              <a:off x="5940000" y="3779997"/>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Testing</a:t>
              </a:r>
            </a:p>
          </p:txBody>
        </p:sp>
        <p:sp>
          <p:nvSpPr>
            <p:cNvPr id="12" name="Rounded Rectangle 8">
              <a:extLst>
                <a:ext uri="{FF2B5EF4-FFF2-40B4-BE49-F238E27FC236}">
                  <a16:creationId xmlns:a16="http://schemas.microsoft.com/office/drawing/2014/main" id="{77B8ACC4-B5FF-4738-8E99-FFAFE93B3B95}"/>
                </a:ext>
              </a:extLst>
            </p:cNvPr>
            <p:cNvSpPr/>
            <p:nvPr/>
          </p:nvSpPr>
          <p:spPr>
            <a:xfrm>
              <a:off x="5940000" y="305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Code development</a:t>
              </a:r>
            </a:p>
          </p:txBody>
        </p:sp>
        <p:sp>
          <p:nvSpPr>
            <p:cNvPr id="13" name="Rounded Rectangle 9">
              <a:extLst>
                <a:ext uri="{FF2B5EF4-FFF2-40B4-BE49-F238E27FC236}">
                  <a16:creationId xmlns:a16="http://schemas.microsoft.com/office/drawing/2014/main" id="{DE66AAF3-3E66-4990-9960-B547E4A5001B}"/>
                </a:ext>
              </a:extLst>
            </p:cNvPr>
            <p:cNvSpPr/>
            <p:nvPr/>
          </p:nvSpPr>
          <p:spPr>
            <a:xfrm>
              <a:off x="5940000" y="449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Deployment / implementation</a:t>
              </a:r>
            </a:p>
          </p:txBody>
        </p:sp>
        <p:cxnSp>
          <p:nvCxnSpPr>
            <p:cNvPr id="14" name="Straight Arrow Connector 13">
              <a:extLst>
                <a:ext uri="{FF2B5EF4-FFF2-40B4-BE49-F238E27FC236}">
                  <a16:creationId xmlns:a16="http://schemas.microsoft.com/office/drawing/2014/main" id="{C808E36E-62CB-49F1-922A-D6B750872B3A}"/>
                </a:ext>
              </a:extLst>
            </p:cNvPr>
            <p:cNvCxnSpPr>
              <a:stCxn id="6" idx="2"/>
              <a:endCxn id="7"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6D75F53-ADF0-49BB-94FA-5627B74DAEC1}"/>
                </a:ext>
              </a:extLst>
            </p:cNvPr>
            <p:cNvCxnSpPr>
              <a:stCxn id="7" idx="2"/>
              <a:endCxn id="9"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15F8534-593C-4B06-870C-328B0F9C14CD}"/>
                </a:ext>
              </a:extLst>
            </p:cNvPr>
            <p:cNvCxnSpPr>
              <a:stCxn id="12" idx="2"/>
              <a:endCxn id="10"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C6AE134-F2F9-40C0-A2C2-4A1543CDEE26}"/>
                </a:ext>
              </a:extLst>
            </p:cNvPr>
            <p:cNvCxnSpPr>
              <a:stCxn id="10" idx="2"/>
              <a:endCxn id="13"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8">
              <a:extLst>
                <a:ext uri="{FF2B5EF4-FFF2-40B4-BE49-F238E27FC236}">
                  <a16:creationId xmlns:a16="http://schemas.microsoft.com/office/drawing/2014/main" id="{AF96B49D-1609-4892-A5C3-930B6FB52066}"/>
                </a:ext>
              </a:extLst>
            </p:cNvPr>
            <p:cNvSpPr/>
            <p:nvPr/>
          </p:nvSpPr>
          <p:spPr>
            <a:xfrm>
              <a:off x="5940000" y="5220001"/>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Maintenance</a:t>
              </a:r>
            </a:p>
          </p:txBody>
        </p:sp>
        <p:cxnSp>
          <p:nvCxnSpPr>
            <p:cNvPr id="19" name="Straight Arrow Connector 18">
              <a:extLst>
                <a:ext uri="{FF2B5EF4-FFF2-40B4-BE49-F238E27FC236}">
                  <a16:creationId xmlns:a16="http://schemas.microsoft.com/office/drawing/2014/main" id="{3F868EE2-1AAC-4FD2-AA18-ED0A5275B396}"/>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2DD013CB-79EE-46DB-9171-DBE728DC62E5}"/>
              </a:ext>
            </a:extLst>
          </p:cNvPr>
          <p:cNvSpPr txBox="1"/>
          <p:nvPr/>
        </p:nvSpPr>
        <p:spPr>
          <a:xfrm>
            <a:off x="4744661" y="1149856"/>
            <a:ext cx="3295185" cy="1323439"/>
          </a:xfrm>
          <a:prstGeom prst="rect">
            <a:avLst/>
          </a:prstGeom>
          <a:noFill/>
        </p:spPr>
        <p:txBody>
          <a:bodyPr wrap="square">
            <a:spAutoFit/>
          </a:bodyPr>
          <a:lstStyle/>
          <a:p>
            <a:pPr>
              <a:spcBef>
                <a:spcPts val="0"/>
              </a:spcBef>
            </a:pPr>
            <a:r>
              <a:rPr lang="en-GB" sz="1600" dirty="0">
                <a:latin typeface="+mn-lt"/>
              </a:rPr>
              <a:t>Can apply to:</a:t>
            </a:r>
          </a:p>
          <a:p>
            <a:pPr>
              <a:spcBef>
                <a:spcPts val="0"/>
              </a:spcBef>
            </a:pPr>
            <a:endParaRPr lang="en-GB" sz="1600" dirty="0">
              <a:latin typeface="+mn-lt"/>
            </a:endParaRPr>
          </a:p>
          <a:p>
            <a:pPr marL="720000" lvl="1" indent="-360000">
              <a:spcBef>
                <a:spcPts val="0"/>
              </a:spcBef>
              <a:buFont typeface="Arial" panose="020B0604020202020204" pitchFamily="34" charset="0"/>
              <a:buChar char="•"/>
            </a:pPr>
            <a:r>
              <a:rPr lang="en-GB" sz="1600" dirty="0">
                <a:latin typeface="+mn-lt"/>
              </a:rPr>
              <a:t>Hardware</a:t>
            </a:r>
          </a:p>
          <a:p>
            <a:pPr marL="720000" lvl="1" indent="-360000">
              <a:spcBef>
                <a:spcPts val="0"/>
              </a:spcBef>
              <a:buFont typeface="Arial" panose="020B0604020202020204" pitchFamily="34" charset="0"/>
              <a:buChar char="•"/>
            </a:pPr>
            <a:r>
              <a:rPr lang="en-GB" sz="1600" dirty="0">
                <a:latin typeface="+mn-lt"/>
              </a:rPr>
              <a:t>Software</a:t>
            </a:r>
          </a:p>
          <a:p>
            <a:pPr marL="720000" lvl="1" indent="-360000">
              <a:spcBef>
                <a:spcPts val="0"/>
              </a:spcBef>
              <a:buFont typeface="Arial" panose="020B0604020202020204" pitchFamily="34" charset="0"/>
              <a:buChar char="•"/>
            </a:pPr>
            <a:r>
              <a:rPr lang="en-GB" sz="1600" dirty="0">
                <a:latin typeface="+mn-lt"/>
              </a:rPr>
              <a:t>Both</a:t>
            </a:r>
          </a:p>
        </p:txBody>
      </p:sp>
    </p:spTree>
    <p:extLst>
      <p:ext uri="{BB962C8B-B14F-4D97-AF65-F5344CB8AC3E}">
        <p14:creationId xmlns:p14="http://schemas.microsoft.com/office/powerpoint/2010/main" val="376068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FF4176-C96A-49AD-88F0-DDA0EDDF78C8}"/>
              </a:ext>
            </a:extLst>
          </p:cNvPr>
          <p:cNvSpPr>
            <a:spLocks noGrp="1"/>
          </p:cNvSpPr>
          <p:nvPr>
            <p:ph type="body" sz="quarter" idx="4294967295"/>
          </p:nvPr>
        </p:nvSpPr>
        <p:spPr>
          <a:xfrm>
            <a:off x="1119884" y="351307"/>
            <a:ext cx="9089124" cy="520700"/>
          </a:xfrm>
        </p:spPr>
        <p:txBody>
          <a:bodyPr/>
          <a:lstStyle/>
          <a:p>
            <a:r>
              <a:rPr lang="en-GB" sz="3000" dirty="0">
                <a:latin typeface="Montserrat Black" panose="00000A00000000000000" pitchFamily="2" charset="0"/>
              </a:rPr>
              <a:t>Life cycle phases</a:t>
            </a:r>
          </a:p>
        </p:txBody>
      </p:sp>
      <p:pic>
        <p:nvPicPr>
          <p:cNvPr id="4" name="Picture 3">
            <a:extLst>
              <a:ext uri="{FF2B5EF4-FFF2-40B4-BE49-F238E27FC236}">
                <a16:creationId xmlns:a16="http://schemas.microsoft.com/office/drawing/2014/main" id="{3F18A622-8F22-DFA5-6F99-E2A49420852F}"/>
              </a:ext>
            </a:extLst>
          </p:cNvPr>
          <p:cNvPicPr>
            <a:picLocks noChangeAspect="1"/>
          </p:cNvPicPr>
          <p:nvPr/>
        </p:nvPicPr>
        <p:blipFill>
          <a:blip r:embed="rId3"/>
          <a:stretch>
            <a:fillRect/>
          </a:stretch>
        </p:blipFill>
        <p:spPr>
          <a:xfrm>
            <a:off x="0" y="1003934"/>
            <a:ext cx="12192000" cy="5624692"/>
          </a:xfrm>
          <a:prstGeom prst="rect">
            <a:avLst/>
          </a:prstGeom>
        </p:spPr>
      </p:pic>
    </p:spTree>
    <p:extLst>
      <p:ext uri="{BB962C8B-B14F-4D97-AF65-F5344CB8AC3E}">
        <p14:creationId xmlns:p14="http://schemas.microsoft.com/office/powerpoint/2010/main" val="2342803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AFFB7C-9904-470B-AF78-8BB3FB34606F}"/>
              </a:ext>
            </a:extLst>
          </p:cNvPr>
          <p:cNvSpPr>
            <a:spLocks noGrp="1"/>
          </p:cNvSpPr>
          <p:nvPr>
            <p:ph type="body" sz="quarter" idx="12"/>
          </p:nvPr>
        </p:nvSpPr>
        <p:spPr>
          <a:xfrm>
            <a:off x="385650" y="1147572"/>
            <a:ext cx="7234350" cy="520262"/>
          </a:xfrm>
        </p:spPr>
        <p:txBody>
          <a:bodyPr/>
          <a:lstStyle/>
          <a:p>
            <a:r>
              <a:rPr lang="en-GB" dirty="0"/>
              <a:t>Feasibility (</a:t>
            </a:r>
            <a:r>
              <a:rPr lang="en-GB" dirty="0">
                <a:latin typeface="+mn-lt"/>
              </a:rPr>
              <a:t>initiation</a:t>
            </a:r>
            <a:r>
              <a:rPr lang="en-GB" dirty="0"/>
              <a:t>) study</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1"/>
          </p:nvPr>
        </p:nvSpPr>
        <p:spPr>
          <a:xfrm>
            <a:off x="373062" y="1892636"/>
            <a:ext cx="6716225" cy="2742864"/>
          </a:xfrm>
        </p:spPr>
        <p:txBody>
          <a:bodyPr/>
          <a:lstStyle/>
          <a:p>
            <a:pPr marL="360000" indent="-360000">
              <a:spcBef>
                <a:spcPts val="0"/>
              </a:spcBef>
              <a:buFont typeface="Arial" panose="020B0604020202020204" pitchFamily="34" charset="0"/>
              <a:buChar char="•"/>
            </a:pPr>
            <a:r>
              <a:rPr lang="en-GB" b="1" dirty="0">
                <a:latin typeface="+mn-lt"/>
              </a:rPr>
              <a:t>Funding</a:t>
            </a:r>
            <a:r>
              <a:rPr lang="en-GB" dirty="0">
                <a:latin typeface="+mn-lt"/>
              </a:rPr>
              <a:t> required before starting.</a:t>
            </a:r>
          </a:p>
          <a:p>
            <a:pPr marL="360000" indent="-360000">
              <a:spcBef>
                <a:spcPts val="0"/>
              </a:spcBef>
              <a:buFont typeface="Arial" panose="020B0604020202020204" pitchFamily="34" charset="0"/>
              <a:buChar char="•"/>
            </a:pPr>
            <a:r>
              <a:rPr lang="en-GB" dirty="0">
                <a:latin typeface="+mn-lt"/>
              </a:rPr>
              <a:t>Evaluate benefits and likelihood of success.</a:t>
            </a:r>
          </a:p>
          <a:p>
            <a:pPr marL="360000" indent="-360000">
              <a:spcBef>
                <a:spcPts val="0"/>
              </a:spcBef>
              <a:buFont typeface="Arial" panose="020B0604020202020204" pitchFamily="34" charset="0"/>
              <a:buChar char="•"/>
            </a:pPr>
            <a:r>
              <a:rPr lang="en-GB" dirty="0">
                <a:latin typeface="+mn-lt"/>
              </a:rPr>
              <a:t>Resources and costs versus value of completed system:</a:t>
            </a:r>
          </a:p>
          <a:p>
            <a:pPr marL="720000" lvl="1" indent="-360000">
              <a:spcBef>
                <a:spcPts val="0"/>
              </a:spcBef>
            </a:pPr>
            <a:r>
              <a:rPr lang="en-GB" sz="1800" dirty="0">
                <a:latin typeface="+mn-lt"/>
              </a:rPr>
              <a:t>Business case</a:t>
            </a:r>
          </a:p>
          <a:p>
            <a:pPr marL="720000" lvl="1" indent="-360000">
              <a:spcBef>
                <a:spcPts val="0"/>
              </a:spcBef>
            </a:pPr>
            <a:r>
              <a:rPr lang="en-GB" sz="1800" dirty="0">
                <a:latin typeface="+mn-lt"/>
              </a:rPr>
              <a:t>Return on investment (</a:t>
            </a:r>
            <a:r>
              <a:rPr lang="en-GB" sz="1800" b="1" dirty="0">
                <a:latin typeface="+mn-lt"/>
              </a:rPr>
              <a:t>ROI</a:t>
            </a:r>
            <a:r>
              <a:rPr lang="en-GB" sz="1800" dirty="0">
                <a:latin typeface="+mn-lt"/>
              </a:rPr>
              <a:t>)</a:t>
            </a:r>
            <a:br>
              <a:rPr lang="en-GB" sz="1800" dirty="0">
                <a:latin typeface="+mn-lt"/>
              </a:rPr>
            </a:br>
            <a:endParaRPr lang="en-GB" sz="1800" dirty="0">
              <a:latin typeface="+mn-lt"/>
            </a:endParaRPr>
          </a:p>
          <a:p>
            <a:pPr marL="360000" indent="-360000">
              <a:spcBef>
                <a:spcPts val="0"/>
              </a:spcBef>
              <a:buFont typeface="Arial" panose="020B0604020202020204" pitchFamily="34" charset="0"/>
              <a:buChar char="•"/>
            </a:pPr>
            <a:r>
              <a:rPr lang="en-GB" dirty="0">
                <a:latin typeface="+mn-lt"/>
              </a:rPr>
              <a:t>Time dependent on size and complexity of project.</a:t>
            </a:r>
            <a:endParaRPr lang="en-GB" sz="1800" dirty="0">
              <a:latin typeface="+mn-lt"/>
            </a:endParaRPr>
          </a:p>
          <a:p>
            <a:pPr marL="285750" indent="-285750">
              <a:buFont typeface="Arial" panose="020B0604020202020204" pitchFamily="34" charset="0"/>
              <a:buChar char="•"/>
            </a:pPr>
            <a:endParaRPr lang="en-GB" b="0" dirty="0">
              <a:latin typeface="+mn-lt"/>
            </a:endParaRPr>
          </a:p>
        </p:txBody>
      </p:sp>
      <p:grpSp>
        <p:nvGrpSpPr>
          <p:cNvPr id="21" name="Group 20">
            <a:extLst>
              <a:ext uri="{FF2B5EF4-FFF2-40B4-BE49-F238E27FC236}">
                <a16:creationId xmlns:a16="http://schemas.microsoft.com/office/drawing/2014/main" id="{DB490260-243E-435C-BB3D-5C937D82DFBA}"/>
              </a:ext>
            </a:extLst>
          </p:cNvPr>
          <p:cNvGrpSpPr/>
          <p:nvPr/>
        </p:nvGrpSpPr>
        <p:grpSpPr>
          <a:xfrm>
            <a:off x="8378967" y="1271576"/>
            <a:ext cx="2160000" cy="4860001"/>
            <a:chOff x="5940000" y="900000"/>
            <a:chExt cx="2160000" cy="4860001"/>
          </a:xfrm>
          <a:solidFill>
            <a:schemeClr val="accent6">
              <a:lumMod val="75000"/>
            </a:schemeClr>
          </a:solidFill>
        </p:grpSpPr>
        <p:sp>
          <p:nvSpPr>
            <p:cNvPr id="22" name="Rounded Rectangle 4">
              <a:extLst>
                <a:ext uri="{FF2B5EF4-FFF2-40B4-BE49-F238E27FC236}">
                  <a16:creationId xmlns:a16="http://schemas.microsoft.com/office/drawing/2014/main" id="{4DF37BBF-117D-4D20-BF10-A26F77F690F1}"/>
                </a:ext>
              </a:extLst>
            </p:cNvPr>
            <p:cNvSpPr/>
            <p:nvPr/>
          </p:nvSpPr>
          <p:spPr>
            <a:xfrm>
              <a:off x="5940000" y="900000"/>
              <a:ext cx="2160000" cy="540000"/>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Feasibility study</a:t>
              </a:r>
            </a:p>
          </p:txBody>
        </p:sp>
        <p:sp>
          <p:nvSpPr>
            <p:cNvPr id="23" name="Rounded Rectangle 5">
              <a:extLst>
                <a:ext uri="{FF2B5EF4-FFF2-40B4-BE49-F238E27FC236}">
                  <a16:creationId xmlns:a16="http://schemas.microsoft.com/office/drawing/2014/main" id="{6DD2C082-36F8-47D2-B486-CDAF50E25753}"/>
                </a:ext>
              </a:extLst>
            </p:cNvPr>
            <p:cNvSpPr/>
            <p:nvPr/>
          </p:nvSpPr>
          <p:spPr>
            <a:xfrm>
              <a:off x="5940000" y="1620000"/>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Requirements analysis</a:t>
              </a:r>
            </a:p>
          </p:txBody>
        </p:sp>
        <p:sp>
          <p:nvSpPr>
            <p:cNvPr id="24" name="Rounded Rectangle 6">
              <a:extLst>
                <a:ext uri="{FF2B5EF4-FFF2-40B4-BE49-F238E27FC236}">
                  <a16:creationId xmlns:a16="http://schemas.microsoft.com/office/drawing/2014/main" id="{07656366-A4D9-4EE0-A180-0D3DCF5524E9}"/>
                </a:ext>
              </a:extLst>
            </p:cNvPr>
            <p:cNvSpPr/>
            <p:nvPr/>
          </p:nvSpPr>
          <p:spPr>
            <a:xfrm>
              <a:off x="5940000" y="233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Design</a:t>
              </a:r>
            </a:p>
          </p:txBody>
        </p:sp>
        <p:sp>
          <p:nvSpPr>
            <p:cNvPr id="25" name="Rounded Rectangle 7">
              <a:extLst>
                <a:ext uri="{FF2B5EF4-FFF2-40B4-BE49-F238E27FC236}">
                  <a16:creationId xmlns:a16="http://schemas.microsoft.com/office/drawing/2014/main" id="{B3F79C01-59F5-4751-962C-3B19D857D225}"/>
                </a:ext>
              </a:extLst>
            </p:cNvPr>
            <p:cNvSpPr/>
            <p:nvPr/>
          </p:nvSpPr>
          <p:spPr>
            <a:xfrm>
              <a:off x="5940000" y="3779997"/>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Testing</a:t>
              </a:r>
            </a:p>
          </p:txBody>
        </p:sp>
        <p:sp>
          <p:nvSpPr>
            <p:cNvPr id="26" name="Rounded Rectangle 8">
              <a:extLst>
                <a:ext uri="{FF2B5EF4-FFF2-40B4-BE49-F238E27FC236}">
                  <a16:creationId xmlns:a16="http://schemas.microsoft.com/office/drawing/2014/main" id="{98934A84-D3C4-4289-B903-CD6C651FAA13}"/>
                </a:ext>
              </a:extLst>
            </p:cNvPr>
            <p:cNvSpPr/>
            <p:nvPr/>
          </p:nvSpPr>
          <p:spPr>
            <a:xfrm>
              <a:off x="5940000" y="305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Code development</a:t>
              </a:r>
            </a:p>
          </p:txBody>
        </p:sp>
        <p:sp>
          <p:nvSpPr>
            <p:cNvPr id="27" name="Rounded Rectangle 9">
              <a:extLst>
                <a:ext uri="{FF2B5EF4-FFF2-40B4-BE49-F238E27FC236}">
                  <a16:creationId xmlns:a16="http://schemas.microsoft.com/office/drawing/2014/main" id="{1393FFDE-3179-4DA2-A9E0-DE5D99945BCD}"/>
                </a:ext>
              </a:extLst>
            </p:cNvPr>
            <p:cNvSpPr/>
            <p:nvPr/>
          </p:nvSpPr>
          <p:spPr>
            <a:xfrm>
              <a:off x="5940000" y="449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Deployment / implementation</a:t>
              </a:r>
            </a:p>
          </p:txBody>
        </p:sp>
        <p:cxnSp>
          <p:nvCxnSpPr>
            <p:cNvPr id="28" name="Straight Arrow Connector 27">
              <a:extLst>
                <a:ext uri="{FF2B5EF4-FFF2-40B4-BE49-F238E27FC236}">
                  <a16:creationId xmlns:a16="http://schemas.microsoft.com/office/drawing/2014/main" id="{7A168E54-E3E4-4882-A550-C35ED8D8EC21}"/>
                </a:ext>
              </a:extLst>
            </p:cNvPr>
            <p:cNvCxnSpPr>
              <a:stCxn id="22" idx="2"/>
              <a:endCxn id="23"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E8F8976-B9C2-472D-9621-BB500C77D0BA}"/>
                </a:ext>
              </a:extLst>
            </p:cNvPr>
            <p:cNvCxnSpPr>
              <a:stCxn id="23" idx="2"/>
              <a:endCxn id="24"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F4A42F9-FB60-4305-ACF6-8280488B26B6}"/>
                </a:ext>
              </a:extLst>
            </p:cNvPr>
            <p:cNvCxnSpPr>
              <a:stCxn id="26" idx="2"/>
              <a:endCxn id="25"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2FDA569-0E03-48F1-AEC5-065EA6B002CB}"/>
                </a:ext>
              </a:extLst>
            </p:cNvPr>
            <p:cNvCxnSpPr>
              <a:stCxn id="25" idx="2"/>
              <a:endCxn id="27"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18">
              <a:extLst>
                <a:ext uri="{FF2B5EF4-FFF2-40B4-BE49-F238E27FC236}">
                  <a16:creationId xmlns:a16="http://schemas.microsoft.com/office/drawing/2014/main" id="{8C6956E2-A44C-486C-AD66-C1069A9F86D7}"/>
                </a:ext>
              </a:extLst>
            </p:cNvPr>
            <p:cNvSpPr/>
            <p:nvPr/>
          </p:nvSpPr>
          <p:spPr>
            <a:xfrm>
              <a:off x="5940000" y="5220001"/>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Maintenance</a:t>
              </a:r>
            </a:p>
          </p:txBody>
        </p:sp>
        <p:cxnSp>
          <p:nvCxnSpPr>
            <p:cNvPr id="33" name="Straight Arrow Connector 32">
              <a:extLst>
                <a:ext uri="{FF2B5EF4-FFF2-40B4-BE49-F238E27FC236}">
                  <a16:creationId xmlns:a16="http://schemas.microsoft.com/office/drawing/2014/main" id="{07DACA61-6361-461A-AC69-E83958C1E41D}"/>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6631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AFFB7C-9904-470B-AF78-8BB3FB34606F}"/>
              </a:ext>
            </a:extLst>
          </p:cNvPr>
          <p:cNvSpPr>
            <a:spLocks noGrp="1"/>
          </p:cNvSpPr>
          <p:nvPr>
            <p:ph type="body" sz="quarter" idx="12"/>
          </p:nvPr>
        </p:nvSpPr>
        <p:spPr/>
        <p:txBody>
          <a:bodyPr/>
          <a:lstStyle/>
          <a:p>
            <a:r>
              <a:rPr lang="en-GB" dirty="0"/>
              <a:t>Requirement analysis</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1"/>
          </p:nvPr>
        </p:nvSpPr>
        <p:spPr>
          <a:xfrm>
            <a:off x="373062" y="1892636"/>
            <a:ext cx="7751433" cy="2742864"/>
          </a:xfrm>
        </p:spPr>
        <p:txBody>
          <a:bodyPr/>
          <a:lstStyle/>
          <a:p>
            <a:pPr marL="360000" indent="-360000">
              <a:spcBef>
                <a:spcPts val="0"/>
              </a:spcBef>
              <a:buFont typeface="Arial" panose="020B0604020202020204" pitchFamily="34" charset="0"/>
              <a:buChar char="•"/>
            </a:pPr>
            <a:r>
              <a:rPr lang="en-GB" sz="1800" dirty="0"/>
              <a:t>What business needs proposed system to do.</a:t>
            </a:r>
            <a:endParaRPr lang="en-GB" dirty="0"/>
          </a:p>
          <a:p>
            <a:pPr marL="531450" lvl="1" indent="-360000"/>
            <a:r>
              <a:rPr lang="en-GB" dirty="0"/>
              <a:t>Ask if unsure.</a:t>
            </a:r>
          </a:p>
          <a:p>
            <a:pPr marL="360000" indent="-360000">
              <a:spcBef>
                <a:spcPts val="0"/>
              </a:spcBef>
              <a:buFont typeface="Arial" panose="020B0604020202020204" pitchFamily="34" charset="0"/>
              <a:buChar char="•"/>
            </a:pPr>
            <a:r>
              <a:rPr lang="en-GB" sz="1800" dirty="0"/>
              <a:t>Elicit, analyse, document, and validate requirements.</a:t>
            </a:r>
          </a:p>
          <a:p>
            <a:pPr marL="360000" indent="-360000">
              <a:spcBef>
                <a:spcPts val="0"/>
              </a:spcBef>
              <a:buFont typeface="Arial" panose="020B0604020202020204" pitchFamily="34" charset="0"/>
              <a:buChar char="•"/>
            </a:pPr>
            <a:r>
              <a:rPr lang="en-GB" sz="1800" dirty="0"/>
              <a:t>Decide how to store, manage, access, and update requirements.</a:t>
            </a:r>
          </a:p>
          <a:p>
            <a:pPr marL="360000" indent="-360000">
              <a:spcBef>
                <a:spcPts val="0"/>
              </a:spcBef>
              <a:buFont typeface="Arial" panose="020B0604020202020204" pitchFamily="34" charset="0"/>
              <a:buChar char="•"/>
            </a:pPr>
            <a:r>
              <a:rPr lang="en-GB" sz="1800" dirty="0"/>
              <a:t>Key input to design; requirements traced through SDLC.</a:t>
            </a:r>
          </a:p>
          <a:p>
            <a:pPr marL="360000" indent="-360000">
              <a:spcBef>
                <a:spcPts val="0"/>
              </a:spcBef>
              <a:buFont typeface="Arial" panose="020B0604020202020204" pitchFamily="34" charset="0"/>
              <a:buChar char="•"/>
            </a:pPr>
            <a:r>
              <a:rPr lang="en-GB" sz="1800" dirty="0"/>
              <a:t>Level of detail influenced by SDLC.</a:t>
            </a:r>
          </a:p>
          <a:p>
            <a:pPr marL="360000" indent="-360000">
              <a:spcBef>
                <a:spcPts val="0"/>
              </a:spcBef>
              <a:buFont typeface="Arial" panose="020B0604020202020204" pitchFamily="34" charset="0"/>
              <a:buChar char="•"/>
            </a:pPr>
            <a:r>
              <a:rPr lang="en-GB" sz="1800" dirty="0"/>
              <a:t>Also known as </a:t>
            </a:r>
            <a:r>
              <a:rPr lang="en-GB" b="1" dirty="0"/>
              <a:t>r</a:t>
            </a:r>
            <a:r>
              <a:rPr lang="en-GB" sz="1800" b="1" dirty="0"/>
              <a:t>equirements engineering</a:t>
            </a:r>
            <a:r>
              <a:rPr lang="en-GB" sz="1800" dirty="0"/>
              <a:t>.</a:t>
            </a:r>
          </a:p>
          <a:p>
            <a:pPr marL="285750" indent="-285750">
              <a:buFont typeface="Arial" panose="020B0604020202020204" pitchFamily="34" charset="0"/>
              <a:buChar char="•"/>
            </a:pPr>
            <a:endParaRPr lang="en-GB" dirty="0"/>
          </a:p>
        </p:txBody>
      </p:sp>
      <p:grpSp>
        <p:nvGrpSpPr>
          <p:cNvPr id="21" name="Group 20">
            <a:extLst>
              <a:ext uri="{FF2B5EF4-FFF2-40B4-BE49-F238E27FC236}">
                <a16:creationId xmlns:a16="http://schemas.microsoft.com/office/drawing/2014/main" id="{DB490260-243E-435C-BB3D-5C937D82DFBA}"/>
              </a:ext>
            </a:extLst>
          </p:cNvPr>
          <p:cNvGrpSpPr/>
          <p:nvPr/>
        </p:nvGrpSpPr>
        <p:grpSpPr>
          <a:xfrm>
            <a:off x="8378967" y="1271576"/>
            <a:ext cx="2160000" cy="4860001"/>
            <a:chOff x="5940000" y="900000"/>
            <a:chExt cx="2160000" cy="4860001"/>
          </a:xfrm>
          <a:solidFill>
            <a:schemeClr val="accent6">
              <a:lumMod val="75000"/>
            </a:schemeClr>
          </a:solidFill>
        </p:grpSpPr>
        <p:sp>
          <p:nvSpPr>
            <p:cNvPr id="22" name="Rounded Rectangle 4">
              <a:extLst>
                <a:ext uri="{FF2B5EF4-FFF2-40B4-BE49-F238E27FC236}">
                  <a16:creationId xmlns:a16="http://schemas.microsoft.com/office/drawing/2014/main" id="{4DF37BBF-117D-4D20-BF10-A26F77F690F1}"/>
                </a:ext>
              </a:extLst>
            </p:cNvPr>
            <p:cNvSpPr/>
            <p:nvPr/>
          </p:nvSpPr>
          <p:spPr>
            <a:xfrm>
              <a:off x="5940000" y="90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Feasibility study</a:t>
              </a:r>
            </a:p>
          </p:txBody>
        </p:sp>
        <p:sp>
          <p:nvSpPr>
            <p:cNvPr id="23" name="Rounded Rectangle 5">
              <a:extLst>
                <a:ext uri="{FF2B5EF4-FFF2-40B4-BE49-F238E27FC236}">
                  <a16:creationId xmlns:a16="http://schemas.microsoft.com/office/drawing/2014/main" id="{6DD2C082-36F8-47D2-B486-CDAF50E25753}"/>
                </a:ext>
              </a:extLst>
            </p:cNvPr>
            <p:cNvSpPr/>
            <p:nvPr/>
          </p:nvSpPr>
          <p:spPr>
            <a:xfrm>
              <a:off x="5940000" y="1620000"/>
              <a:ext cx="2160000" cy="540000"/>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Requirements analysis</a:t>
              </a:r>
            </a:p>
          </p:txBody>
        </p:sp>
        <p:sp>
          <p:nvSpPr>
            <p:cNvPr id="24" name="Rounded Rectangle 6">
              <a:extLst>
                <a:ext uri="{FF2B5EF4-FFF2-40B4-BE49-F238E27FC236}">
                  <a16:creationId xmlns:a16="http://schemas.microsoft.com/office/drawing/2014/main" id="{07656366-A4D9-4EE0-A180-0D3DCF5524E9}"/>
                </a:ext>
              </a:extLst>
            </p:cNvPr>
            <p:cNvSpPr/>
            <p:nvPr/>
          </p:nvSpPr>
          <p:spPr>
            <a:xfrm>
              <a:off x="5940000" y="233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Design</a:t>
              </a:r>
            </a:p>
          </p:txBody>
        </p:sp>
        <p:sp>
          <p:nvSpPr>
            <p:cNvPr id="25" name="Rounded Rectangle 7">
              <a:extLst>
                <a:ext uri="{FF2B5EF4-FFF2-40B4-BE49-F238E27FC236}">
                  <a16:creationId xmlns:a16="http://schemas.microsoft.com/office/drawing/2014/main" id="{B3F79C01-59F5-4751-962C-3B19D857D225}"/>
                </a:ext>
              </a:extLst>
            </p:cNvPr>
            <p:cNvSpPr/>
            <p:nvPr/>
          </p:nvSpPr>
          <p:spPr>
            <a:xfrm>
              <a:off x="5940000" y="3779997"/>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Testing</a:t>
              </a:r>
            </a:p>
          </p:txBody>
        </p:sp>
        <p:sp>
          <p:nvSpPr>
            <p:cNvPr id="26" name="Rounded Rectangle 8">
              <a:extLst>
                <a:ext uri="{FF2B5EF4-FFF2-40B4-BE49-F238E27FC236}">
                  <a16:creationId xmlns:a16="http://schemas.microsoft.com/office/drawing/2014/main" id="{98934A84-D3C4-4289-B903-CD6C651FAA13}"/>
                </a:ext>
              </a:extLst>
            </p:cNvPr>
            <p:cNvSpPr/>
            <p:nvPr/>
          </p:nvSpPr>
          <p:spPr>
            <a:xfrm>
              <a:off x="5940000" y="305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Code development</a:t>
              </a:r>
            </a:p>
          </p:txBody>
        </p:sp>
        <p:sp>
          <p:nvSpPr>
            <p:cNvPr id="27" name="Rounded Rectangle 9">
              <a:extLst>
                <a:ext uri="{FF2B5EF4-FFF2-40B4-BE49-F238E27FC236}">
                  <a16:creationId xmlns:a16="http://schemas.microsoft.com/office/drawing/2014/main" id="{1393FFDE-3179-4DA2-A9E0-DE5D99945BCD}"/>
                </a:ext>
              </a:extLst>
            </p:cNvPr>
            <p:cNvSpPr/>
            <p:nvPr/>
          </p:nvSpPr>
          <p:spPr>
            <a:xfrm>
              <a:off x="5940000" y="449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Deployment / implementation</a:t>
              </a:r>
            </a:p>
          </p:txBody>
        </p:sp>
        <p:cxnSp>
          <p:nvCxnSpPr>
            <p:cNvPr id="28" name="Straight Arrow Connector 27">
              <a:extLst>
                <a:ext uri="{FF2B5EF4-FFF2-40B4-BE49-F238E27FC236}">
                  <a16:creationId xmlns:a16="http://schemas.microsoft.com/office/drawing/2014/main" id="{7A168E54-E3E4-4882-A550-C35ED8D8EC21}"/>
                </a:ext>
              </a:extLst>
            </p:cNvPr>
            <p:cNvCxnSpPr>
              <a:stCxn id="22" idx="2"/>
              <a:endCxn id="23"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E8F8976-B9C2-472D-9621-BB500C77D0BA}"/>
                </a:ext>
              </a:extLst>
            </p:cNvPr>
            <p:cNvCxnSpPr>
              <a:stCxn id="23" idx="2"/>
              <a:endCxn id="24"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F4A42F9-FB60-4305-ACF6-8280488B26B6}"/>
                </a:ext>
              </a:extLst>
            </p:cNvPr>
            <p:cNvCxnSpPr>
              <a:stCxn id="26" idx="2"/>
              <a:endCxn id="25"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2FDA569-0E03-48F1-AEC5-065EA6B002CB}"/>
                </a:ext>
              </a:extLst>
            </p:cNvPr>
            <p:cNvCxnSpPr>
              <a:stCxn id="25" idx="2"/>
              <a:endCxn id="27"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18">
              <a:extLst>
                <a:ext uri="{FF2B5EF4-FFF2-40B4-BE49-F238E27FC236}">
                  <a16:creationId xmlns:a16="http://schemas.microsoft.com/office/drawing/2014/main" id="{8C6956E2-A44C-486C-AD66-C1069A9F86D7}"/>
                </a:ext>
              </a:extLst>
            </p:cNvPr>
            <p:cNvSpPr/>
            <p:nvPr/>
          </p:nvSpPr>
          <p:spPr>
            <a:xfrm>
              <a:off x="5940000" y="5220001"/>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Maintenance</a:t>
              </a:r>
            </a:p>
          </p:txBody>
        </p:sp>
        <p:cxnSp>
          <p:nvCxnSpPr>
            <p:cNvPr id="33" name="Straight Arrow Connector 32">
              <a:extLst>
                <a:ext uri="{FF2B5EF4-FFF2-40B4-BE49-F238E27FC236}">
                  <a16:creationId xmlns:a16="http://schemas.microsoft.com/office/drawing/2014/main" id="{07DACA61-6361-461A-AC69-E83958C1E41D}"/>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6525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0218" y="365125"/>
            <a:ext cx="11471564" cy="1325563"/>
          </a:xfrm>
        </p:spPr>
        <p:txBody>
          <a:bodyPr anchor="ctr">
            <a:normAutofit/>
          </a:bodyPr>
          <a:lstStyle/>
          <a:p>
            <a:r>
              <a:rPr lang="en-GB" dirty="0"/>
              <a:t>The importance of good requirements</a:t>
            </a:r>
          </a:p>
        </p:txBody>
      </p:sp>
      <p:sp>
        <p:nvSpPr>
          <p:cNvPr id="15" name="TextBox 14">
            <a:extLst>
              <a:ext uri="{FF2B5EF4-FFF2-40B4-BE49-F238E27FC236}">
                <a16:creationId xmlns:a16="http://schemas.microsoft.com/office/drawing/2014/main" id="{958A3CE0-22EA-6F97-6847-D959BB393E71}"/>
              </a:ext>
            </a:extLst>
          </p:cNvPr>
          <p:cNvSpPr txBox="1"/>
          <p:nvPr/>
        </p:nvSpPr>
        <p:spPr>
          <a:xfrm>
            <a:off x="942871" y="2171777"/>
            <a:ext cx="9657396" cy="954107"/>
          </a:xfrm>
          <a:prstGeom prst="rect">
            <a:avLst/>
          </a:prstGeom>
          <a:ln>
            <a:noFill/>
          </a:ln>
          <a:effectLst>
            <a:outerShdw blurRad="50800" dist="38100" dir="2700000" algn="tl"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GB" sz="2800" b="1" dirty="0"/>
              <a:t>What do you think is the consequence of badly/poorly designed system requirements?</a:t>
            </a:r>
          </a:p>
        </p:txBody>
      </p:sp>
    </p:spTree>
    <p:extLst>
      <p:ext uri="{BB962C8B-B14F-4D97-AF65-F5344CB8AC3E}">
        <p14:creationId xmlns:p14="http://schemas.microsoft.com/office/powerpoint/2010/main" val="3372646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0218" y="365125"/>
            <a:ext cx="11471564" cy="1325563"/>
          </a:xfrm>
        </p:spPr>
        <p:txBody>
          <a:bodyPr anchor="ctr">
            <a:normAutofit/>
          </a:bodyPr>
          <a:lstStyle/>
          <a:p>
            <a:r>
              <a:rPr lang="en-GB" dirty="0"/>
              <a:t>Characteristics of good requirements</a:t>
            </a:r>
          </a:p>
        </p:txBody>
      </p:sp>
      <p:graphicFrame>
        <p:nvGraphicFramePr>
          <p:cNvPr id="5" name="Table 4">
            <a:extLst>
              <a:ext uri="{FF2B5EF4-FFF2-40B4-BE49-F238E27FC236}">
                <a16:creationId xmlns:a16="http://schemas.microsoft.com/office/drawing/2014/main" id="{004BE892-E15B-CC95-EC65-C4CF34DE5C2E}"/>
              </a:ext>
            </a:extLst>
          </p:cNvPr>
          <p:cNvGraphicFramePr>
            <a:graphicFrameLocks noGrp="1"/>
          </p:cNvGraphicFramePr>
          <p:nvPr/>
        </p:nvGraphicFramePr>
        <p:xfrm>
          <a:off x="360217" y="1513789"/>
          <a:ext cx="11471565" cy="4482660"/>
        </p:xfrm>
        <a:graphic>
          <a:graphicData uri="http://schemas.openxmlformats.org/drawingml/2006/table">
            <a:tbl>
              <a:tblPr firstRow="1" bandRow="1">
                <a:tableStyleId>{2D5ABB26-0587-4C30-8999-92F81FD0307C}</a:tableStyleId>
              </a:tblPr>
              <a:tblGrid>
                <a:gridCol w="3910466">
                  <a:extLst>
                    <a:ext uri="{9D8B030D-6E8A-4147-A177-3AD203B41FA5}">
                      <a16:colId xmlns:a16="http://schemas.microsoft.com/office/drawing/2014/main" val="3423137836"/>
                    </a:ext>
                  </a:extLst>
                </a:gridCol>
                <a:gridCol w="7561099">
                  <a:extLst>
                    <a:ext uri="{9D8B030D-6E8A-4147-A177-3AD203B41FA5}">
                      <a16:colId xmlns:a16="http://schemas.microsoft.com/office/drawing/2014/main" val="1605792071"/>
                    </a:ext>
                  </a:extLst>
                </a:gridCol>
              </a:tblGrid>
              <a:tr h="4256390">
                <a:tc>
                  <a:txBody>
                    <a:bodyPr/>
                    <a:lstStyle/>
                    <a:p>
                      <a:pPr lvl="1"/>
                      <a:r>
                        <a:rPr lang="en-GB" sz="1800" b="1" dirty="0"/>
                        <a:t>Categorised 	</a:t>
                      </a:r>
                    </a:p>
                    <a:p>
                      <a:pPr lvl="1"/>
                      <a:endParaRPr lang="en-GB" sz="1800" b="1" dirty="0"/>
                    </a:p>
                    <a:p>
                      <a:pPr lvl="1"/>
                      <a:r>
                        <a:rPr lang="en-GB" sz="1800" b="1" dirty="0"/>
                        <a:t>Relevant		</a:t>
                      </a:r>
                    </a:p>
                    <a:p>
                      <a:pPr lvl="1"/>
                      <a:endParaRPr lang="en-GB" sz="1800" b="1" dirty="0"/>
                    </a:p>
                    <a:p>
                      <a:pPr lvl="1"/>
                      <a:r>
                        <a:rPr lang="en-GB" sz="1800" b="1" dirty="0"/>
                        <a:t>Prioritised	</a:t>
                      </a:r>
                    </a:p>
                    <a:p>
                      <a:pPr lvl="1"/>
                      <a:endParaRPr lang="en-GB" sz="1800" b="1" dirty="0"/>
                    </a:p>
                    <a:p>
                      <a:pPr lvl="1"/>
                      <a:r>
                        <a:rPr lang="en-GB" sz="1800" b="1" dirty="0"/>
                        <a:t>Achievable	</a:t>
                      </a:r>
                    </a:p>
                    <a:p>
                      <a:pPr lvl="1"/>
                      <a:endParaRPr lang="en-GB" sz="1800" b="1" dirty="0"/>
                    </a:p>
                    <a:p>
                      <a:pPr lvl="1"/>
                      <a:r>
                        <a:rPr lang="en-GB" sz="1800" b="1" dirty="0"/>
                        <a:t>Unambiguous</a:t>
                      </a:r>
                    </a:p>
                    <a:p>
                      <a:pPr lvl="1"/>
                      <a:endParaRPr lang="en-GB" sz="1800" b="1" dirty="0"/>
                    </a:p>
                    <a:p>
                      <a:pPr lvl="1"/>
                      <a:r>
                        <a:rPr lang="en-GB" sz="1800" b="1" dirty="0"/>
                        <a:t>Testable		</a:t>
                      </a:r>
                    </a:p>
                    <a:p>
                      <a:pPr lvl="1"/>
                      <a:endParaRPr lang="en-GB" sz="1800" b="1" dirty="0"/>
                    </a:p>
                    <a:p>
                      <a:pPr lvl="1"/>
                      <a:r>
                        <a:rPr lang="en-GB" sz="1800" b="1" dirty="0"/>
                        <a:t>Requirement not solution</a:t>
                      </a:r>
                    </a:p>
                    <a:p>
                      <a:pPr lvl="1"/>
                      <a:endParaRPr lang="en-GB" sz="1800" dirty="0"/>
                    </a:p>
                    <a:p>
                      <a:pPr lvl="1"/>
                      <a:endParaRPr lang="en-GB" sz="1800" dirty="0"/>
                    </a:p>
                    <a:p>
                      <a:endParaRPr lang="en-GB" sz="1800" dirty="0"/>
                    </a:p>
                  </a:txBody>
                  <a:tcPr marL="93539" marR="93539" marT="46770" marB="46770"/>
                </a:tc>
                <a:tc>
                  <a:txBody>
                    <a:bodyPr/>
                    <a:lstStyle/>
                    <a:p>
                      <a:pPr marL="457200" lvl="1" indent="0">
                        <a:buNone/>
                      </a:pPr>
                      <a:r>
                        <a:rPr lang="en-GB" sz="1800" dirty="0"/>
                        <a:t>Grouped by type of requirement to make easier to review</a:t>
                      </a:r>
                    </a:p>
                    <a:p>
                      <a:pPr marL="457200" lvl="1" indent="0">
                        <a:buNone/>
                      </a:pPr>
                      <a:endParaRPr lang="en-GB" sz="1800" dirty="0"/>
                    </a:p>
                    <a:p>
                      <a:pPr marL="457200" lvl="1" indent="0">
                        <a:buNone/>
                      </a:pPr>
                      <a:r>
                        <a:rPr lang="en-GB" sz="1800" dirty="0"/>
                        <a:t>Within scope of the project.</a:t>
                      </a:r>
                    </a:p>
                    <a:p>
                      <a:pPr marL="457200" lvl="1" indent="0">
                        <a:buNone/>
                      </a:pPr>
                      <a:endParaRPr lang="en-GB" sz="1800" dirty="0"/>
                    </a:p>
                    <a:p>
                      <a:pPr marL="457200" lvl="1" indent="0">
                        <a:buNone/>
                      </a:pPr>
                      <a:endParaRPr lang="en-GB" sz="1800" dirty="0"/>
                    </a:p>
                    <a:p>
                      <a:pPr marL="457200" lvl="1" indent="0">
                        <a:buNone/>
                      </a:pPr>
                      <a:endParaRPr lang="en-GB" sz="1800" dirty="0"/>
                    </a:p>
                    <a:p>
                      <a:pPr marL="457200" lvl="1" indent="0">
                        <a:buNone/>
                      </a:pPr>
                      <a:r>
                        <a:rPr lang="en-GB" sz="1800" dirty="0"/>
                        <a:t>Within the technical or budget constraints</a:t>
                      </a:r>
                    </a:p>
                    <a:p>
                      <a:pPr marL="457200" lvl="1" indent="0">
                        <a:buNone/>
                      </a:pPr>
                      <a:endParaRPr lang="en-GB" sz="1800" dirty="0"/>
                    </a:p>
                    <a:p>
                      <a:pPr marL="457200" lvl="1" indent="0">
                        <a:buNone/>
                      </a:pPr>
                      <a:r>
                        <a:rPr lang="en-GB" sz="1800" dirty="0"/>
                        <a:t>Unambiguous and clearly expressed</a:t>
                      </a:r>
                    </a:p>
                    <a:p>
                      <a:pPr marL="457200" lvl="1" indent="0">
                        <a:buNone/>
                      </a:pPr>
                      <a:r>
                        <a:rPr lang="en-GB" sz="1800" dirty="0"/>
                        <a:t>		</a:t>
                      </a:r>
                    </a:p>
                    <a:p>
                      <a:pPr marL="457200" lvl="1" indent="0">
                        <a:buNone/>
                      </a:pPr>
                      <a:endParaRPr lang="en-GB" sz="1800" dirty="0"/>
                    </a:p>
                    <a:p>
                      <a:pPr marL="457200" lvl="1" indent="0">
                        <a:buNone/>
                      </a:pPr>
                      <a:endParaRPr lang="en-GB" sz="1800" dirty="0"/>
                    </a:p>
                    <a:p>
                      <a:endParaRPr lang="en-GB" sz="1800" b="1" dirty="0"/>
                    </a:p>
                  </a:txBody>
                  <a:tcPr marL="93539" marR="93539" marT="46770" marB="46770"/>
                </a:tc>
                <a:extLst>
                  <a:ext uri="{0D108BD9-81ED-4DB2-BD59-A6C34878D82A}">
                    <a16:rowId xmlns:a16="http://schemas.microsoft.com/office/drawing/2014/main" val="3857244164"/>
                  </a:ext>
                </a:extLst>
              </a:tr>
            </a:tbl>
          </a:graphicData>
        </a:graphic>
      </p:graphicFrame>
      <p:pic>
        <p:nvPicPr>
          <p:cNvPr id="4" name="Graphic 3" descr="Priorities with solid fill">
            <a:extLst>
              <a:ext uri="{FF2B5EF4-FFF2-40B4-BE49-F238E27FC236}">
                <a16:creationId xmlns:a16="http://schemas.microsoft.com/office/drawing/2014/main" id="{6211DFD0-DFBD-72B5-67B7-262BA0C39B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03389" y="2361982"/>
            <a:ext cx="530764" cy="530764"/>
          </a:xfrm>
          <a:prstGeom prst="rect">
            <a:avLst/>
          </a:prstGeom>
        </p:spPr>
      </p:pic>
      <p:pic>
        <p:nvPicPr>
          <p:cNvPr id="7" name="Picture 6" descr="Draft drawing of a floor plan">
            <a:extLst>
              <a:ext uri="{FF2B5EF4-FFF2-40B4-BE49-F238E27FC236}">
                <a16:creationId xmlns:a16="http://schemas.microsoft.com/office/drawing/2014/main" id="{83B9CDC2-C8A4-D19F-5CDE-47B28BF52EDA}"/>
              </a:ext>
            </a:extLst>
          </p:cNvPr>
          <p:cNvPicPr>
            <a:picLocks noChangeAspect="1"/>
          </p:cNvPicPr>
          <p:nvPr/>
        </p:nvPicPr>
        <p:blipFill>
          <a:blip r:embed="rId5"/>
          <a:stretch>
            <a:fillRect/>
          </a:stretch>
        </p:blipFill>
        <p:spPr>
          <a:xfrm>
            <a:off x="8158502" y="1786760"/>
            <a:ext cx="1332340" cy="919434"/>
          </a:xfrm>
          <a:prstGeom prst="rect">
            <a:avLst/>
          </a:prstGeom>
          <a:ln>
            <a:noFill/>
          </a:ln>
          <a:effectLst>
            <a:softEdge rad="112500"/>
          </a:effectLst>
        </p:spPr>
      </p:pic>
      <p:pic>
        <p:nvPicPr>
          <p:cNvPr id="11" name="Graphic 10" descr="Treasure chest outline">
            <a:extLst>
              <a:ext uri="{FF2B5EF4-FFF2-40B4-BE49-F238E27FC236}">
                <a16:creationId xmlns:a16="http://schemas.microsoft.com/office/drawing/2014/main" id="{799A9CF2-AEA4-53EA-97BC-0CD65DC870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58856" y="2777135"/>
            <a:ext cx="664779" cy="664779"/>
          </a:xfrm>
          <a:prstGeom prst="rect">
            <a:avLst/>
          </a:prstGeom>
        </p:spPr>
      </p:pic>
    </p:spTree>
    <p:extLst>
      <p:ext uri="{BB962C8B-B14F-4D97-AF65-F5344CB8AC3E}">
        <p14:creationId xmlns:p14="http://schemas.microsoft.com/office/powerpoint/2010/main" val="214526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0218" y="365125"/>
            <a:ext cx="11471564" cy="1325563"/>
          </a:xfrm>
        </p:spPr>
        <p:txBody>
          <a:bodyPr anchor="ctr">
            <a:normAutofit/>
          </a:bodyPr>
          <a:lstStyle/>
          <a:p>
            <a:r>
              <a:rPr lang="en-GB" dirty="0"/>
              <a:t>Characteristics of good requirements</a:t>
            </a:r>
          </a:p>
        </p:txBody>
      </p:sp>
      <p:graphicFrame>
        <p:nvGraphicFramePr>
          <p:cNvPr id="5" name="Table 4">
            <a:extLst>
              <a:ext uri="{FF2B5EF4-FFF2-40B4-BE49-F238E27FC236}">
                <a16:creationId xmlns:a16="http://schemas.microsoft.com/office/drawing/2014/main" id="{004BE892-E15B-CC95-EC65-C4CF34DE5C2E}"/>
              </a:ext>
            </a:extLst>
          </p:cNvPr>
          <p:cNvGraphicFramePr>
            <a:graphicFrameLocks noGrp="1"/>
          </p:cNvGraphicFramePr>
          <p:nvPr>
            <p:extLst>
              <p:ext uri="{D42A27DB-BD31-4B8C-83A1-F6EECF244321}">
                <p14:modId xmlns:p14="http://schemas.microsoft.com/office/powerpoint/2010/main" val="788283743"/>
              </p:ext>
            </p:extLst>
          </p:nvPr>
        </p:nvGraphicFramePr>
        <p:xfrm>
          <a:off x="360219" y="1636538"/>
          <a:ext cx="11471563" cy="4025162"/>
        </p:xfrm>
        <a:graphic>
          <a:graphicData uri="http://schemas.openxmlformats.org/drawingml/2006/table">
            <a:tbl>
              <a:tblPr firstRow="1" bandRow="1">
                <a:tableStyleId>{2D5ABB26-0587-4C30-8999-92F81FD0307C}</a:tableStyleId>
              </a:tblPr>
              <a:tblGrid>
                <a:gridCol w="3213299">
                  <a:extLst>
                    <a:ext uri="{9D8B030D-6E8A-4147-A177-3AD203B41FA5}">
                      <a16:colId xmlns:a16="http://schemas.microsoft.com/office/drawing/2014/main" val="3423137836"/>
                    </a:ext>
                  </a:extLst>
                </a:gridCol>
                <a:gridCol w="8258264">
                  <a:extLst>
                    <a:ext uri="{9D8B030D-6E8A-4147-A177-3AD203B41FA5}">
                      <a16:colId xmlns:a16="http://schemas.microsoft.com/office/drawing/2014/main" val="1605792071"/>
                    </a:ext>
                  </a:extLst>
                </a:gridCol>
              </a:tblGrid>
              <a:tr h="4025162">
                <a:tc>
                  <a:txBody>
                    <a:bodyPr/>
                    <a:lstStyle/>
                    <a:p>
                      <a:pPr lvl="1"/>
                      <a:endParaRPr lang="en-GB" sz="1800" dirty="0"/>
                    </a:p>
                    <a:p>
                      <a:pPr lvl="1"/>
                      <a:r>
                        <a:rPr lang="en-GB" sz="1800" b="1" dirty="0"/>
                        <a:t>Consistent	</a:t>
                      </a:r>
                    </a:p>
                    <a:p>
                      <a:pPr lvl="1"/>
                      <a:endParaRPr lang="en-GB" sz="1800" b="1" dirty="0"/>
                    </a:p>
                    <a:p>
                      <a:pPr lvl="1"/>
                      <a:endParaRPr lang="en-GB" sz="1800" b="1" dirty="0"/>
                    </a:p>
                    <a:p>
                      <a:pPr lvl="1"/>
                      <a:r>
                        <a:rPr lang="en-GB" sz="1800" b="1" dirty="0"/>
                        <a:t>Owned	</a:t>
                      </a:r>
                    </a:p>
                    <a:p>
                      <a:pPr lvl="1"/>
                      <a:endParaRPr lang="en-GB" sz="1800" b="1" dirty="0"/>
                    </a:p>
                    <a:p>
                      <a:pPr lvl="1"/>
                      <a:r>
                        <a:rPr lang="en-GB" sz="1800" b="1" dirty="0"/>
                        <a:t>Unique and atomic</a:t>
                      </a:r>
                    </a:p>
                    <a:p>
                      <a:pPr lvl="1"/>
                      <a:endParaRPr lang="en-GB" sz="1800" b="1" dirty="0"/>
                    </a:p>
                    <a:p>
                      <a:pPr lvl="1"/>
                      <a:r>
                        <a:rPr lang="en-GB" sz="1800" b="1" dirty="0"/>
                        <a:t>Traceable	</a:t>
                      </a:r>
                      <a:r>
                        <a:rPr lang="en-GB" sz="1800" b="1" baseline="0" dirty="0"/>
                        <a:t> </a:t>
                      </a:r>
                      <a:r>
                        <a:rPr lang="en-GB" sz="1800" b="1" dirty="0"/>
                        <a:t>	</a:t>
                      </a:r>
                    </a:p>
                    <a:p>
                      <a:pPr lvl="1"/>
                      <a:r>
                        <a:rPr lang="en-GB" sz="1800" b="1" dirty="0"/>
                        <a:t>		</a:t>
                      </a:r>
                    </a:p>
                    <a:p>
                      <a:pPr lvl="1"/>
                      <a:r>
                        <a:rPr lang="en-GB" sz="1800" b="1" dirty="0"/>
                        <a:t>Conformant 	</a:t>
                      </a:r>
                    </a:p>
                    <a:p>
                      <a:pPr lvl="1"/>
                      <a:endParaRPr lang="en-GB" sz="1800" dirty="0"/>
                    </a:p>
                    <a:p>
                      <a:endParaRPr lang="en-GB" sz="1800" dirty="0"/>
                    </a:p>
                  </a:txBody>
                  <a:tcPr marL="93539" marR="93539" marT="46770" marB="46770"/>
                </a:tc>
                <a:tc>
                  <a:txBody>
                    <a:bodyPr/>
                    <a:lstStyle/>
                    <a:p>
                      <a:pPr marL="457200" lvl="1" indent="0">
                        <a:buNone/>
                      </a:pPr>
                      <a:endParaRPr lang="en-GB" sz="1800" dirty="0"/>
                    </a:p>
                    <a:p>
                      <a:pPr marL="457200" lvl="1" indent="0">
                        <a:buNone/>
                      </a:pPr>
                      <a:r>
                        <a:rPr lang="en-GB" sz="1800" dirty="0"/>
                        <a:t>No conflict with other requirements</a:t>
                      </a:r>
                    </a:p>
                    <a:p>
                      <a:pPr marL="457200" lvl="1" indent="0">
                        <a:buNone/>
                      </a:pPr>
                      <a:endParaRPr lang="en-GB" sz="1800" dirty="0"/>
                    </a:p>
                    <a:p>
                      <a:pPr marL="457200" lvl="1" indent="0">
                        <a:buNone/>
                      </a:pPr>
                      <a:endParaRPr lang="en-GB" sz="1800" dirty="0"/>
                    </a:p>
                    <a:p>
                      <a:pPr marL="457200" lvl="1" indent="0">
                        <a:buNone/>
                      </a:pPr>
                      <a:r>
                        <a:rPr lang="en-GB" sz="1800" dirty="0"/>
                        <a:t>By someone who can make decisions</a:t>
                      </a:r>
                    </a:p>
                    <a:p>
                      <a:pPr marL="457200" lvl="1" indent="0">
                        <a:buNone/>
                      </a:pPr>
                      <a:endParaRPr lang="en-GB" sz="1800" dirty="0"/>
                    </a:p>
                    <a:p>
                      <a:pPr marL="457200" lvl="1" indent="0">
                        <a:buNone/>
                      </a:pPr>
                      <a:r>
                        <a:rPr lang="en-GB" sz="1800" dirty="0"/>
                        <a:t>About one thing</a:t>
                      </a:r>
                    </a:p>
                    <a:p>
                      <a:pPr marL="457200" lvl="1" indent="0">
                        <a:buNone/>
                      </a:pPr>
                      <a:endParaRPr lang="en-GB" sz="1800" dirty="0"/>
                    </a:p>
                    <a:p>
                      <a:pPr marL="457200" lvl="1" indent="0">
                        <a:buNone/>
                      </a:pPr>
                      <a:r>
                        <a:rPr lang="en-GB" sz="1800" dirty="0"/>
                        <a:t>Where requirement came, where to go for more info </a:t>
                      </a:r>
                    </a:p>
                    <a:p>
                      <a:pPr marL="457200" lvl="1" indent="0">
                        <a:buNone/>
                      </a:pPr>
                      <a:endParaRPr lang="en-GB" sz="1800" dirty="0"/>
                    </a:p>
                    <a:p>
                      <a:pPr marL="457200" lvl="1" indent="0">
                        <a:buNone/>
                      </a:pPr>
                      <a:r>
                        <a:rPr lang="en-GB" sz="1800" dirty="0"/>
                        <a:t>Meets standards of how requirements should be documented</a:t>
                      </a:r>
                    </a:p>
                    <a:p>
                      <a:endParaRPr lang="en-GB" sz="1800" b="1" dirty="0"/>
                    </a:p>
                  </a:txBody>
                  <a:tcPr marL="93539" marR="93539" marT="46770" marB="46770"/>
                </a:tc>
                <a:extLst>
                  <a:ext uri="{0D108BD9-81ED-4DB2-BD59-A6C34878D82A}">
                    <a16:rowId xmlns:a16="http://schemas.microsoft.com/office/drawing/2014/main" val="3857244164"/>
                  </a:ext>
                </a:extLst>
              </a:tr>
            </a:tbl>
          </a:graphicData>
        </a:graphic>
      </p:graphicFrame>
      <p:pic>
        <p:nvPicPr>
          <p:cNvPr id="13" name="Picture 12" descr="Big yellow arrow opposite small white arrows">
            <a:extLst>
              <a:ext uri="{FF2B5EF4-FFF2-40B4-BE49-F238E27FC236}">
                <a16:creationId xmlns:a16="http://schemas.microsoft.com/office/drawing/2014/main" id="{217C82E3-AF2B-9765-E97A-C2AA4B243569}"/>
              </a:ext>
            </a:extLst>
          </p:cNvPr>
          <p:cNvPicPr>
            <a:picLocks noChangeAspect="1"/>
          </p:cNvPicPr>
          <p:nvPr/>
        </p:nvPicPr>
        <p:blipFill>
          <a:blip r:embed="rId3"/>
          <a:stretch>
            <a:fillRect/>
          </a:stretch>
        </p:blipFill>
        <p:spPr>
          <a:xfrm>
            <a:off x="8356471" y="1605007"/>
            <a:ext cx="1586315" cy="885945"/>
          </a:xfrm>
          <a:prstGeom prst="rect">
            <a:avLst/>
          </a:prstGeom>
          <a:ln>
            <a:noFill/>
          </a:ln>
          <a:effectLst>
            <a:softEdge rad="112500"/>
          </a:effectLst>
        </p:spPr>
      </p:pic>
    </p:spTree>
    <p:extLst>
      <p:ext uri="{BB962C8B-B14F-4D97-AF65-F5344CB8AC3E}">
        <p14:creationId xmlns:p14="http://schemas.microsoft.com/office/powerpoint/2010/main" val="3423257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0908" y="369218"/>
            <a:ext cx="11436917" cy="687615"/>
          </a:xfrm>
        </p:spPr>
        <p:txBody>
          <a:bodyPr anchor="t">
            <a:normAutofit/>
          </a:bodyPr>
          <a:lstStyle/>
          <a:p>
            <a:r>
              <a:rPr lang="en-GB" dirty="0"/>
              <a:t>Requirement Classification</a:t>
            </a:r>
          </a:p>
        </p:txBody>
      </p:sp>
      <p:sp>
        <p:nvSpPr>
          <p:cNvPr id="9" name="Slide Number Placeholder 2">
            <a:extLst>
              <a:ext uri="{FF2B5EF4-FFF2-40B4-BE49-F238E27FC236}">
                <a16:creationId xmlns:a16="http://schemas.microsoft.com/office/drawing/2014/main" id="{A3703652-C497-5ABF-809E-40099E73B605}"/>
              </a:ext>
            </a:extLst>
          </p:cNvPr>
          <p:cNvSpPr>
            <a:spLocks noGrp="1"/>
          </p:cNvSpPr>
          <p:nvPr>
            <p:ph type="sldNum" sz="quarter" idx="10"/>
          </p:nvPr>
        </p:nvSpPr>
        <p:spPr>
          <a:xfrm>
            <a:off x="11298755" y="6584739"/>
            <a:ext cx="785483" cy="180000"/>
          </a:xfrm>
        </p:spPr>
        <p:txBody>
          <a:bodyPr/>
          <a:lstStyle/>
          <a:p>
            <a:pPr>
              <a:spcAft>
                <a:spcPts val="600"/>
              </a:spcAft>
            </a:pPr>
            <a:fld id="{3C9C554F-2335-4EBA-A5CB-7E6DBA707ABC}" type="slidenum">
              <a:rPr lang="en-GB" smtClean="0"/>
              <a:pPr>
                <a:spcAft>
                  <a:spcPts val="600"/>
                </a:spcAft>
              </a:pPr>
              <a:t>10</a:t>
            </a:fld>
            <a:endParaRPr lang="en-GB"/>
          </a:p>
        </p:txBody>
      </p:sp>
      <p:graphicFrame>
        <p:nvGraphicFramePr>
          <p:cNvPr id="5" name="Text Placeholder 1">
            <a:extLst>
              <a:ext uri="{FF2B5EF4-FFF2-40B4-BE49-F238E27FC236}">
                <a16:creationId xmlns:a16="http://schemas.microsoft.com/office/drawing/2014/main" id="{22939723-BB9C-95C0-90C5-72BE62DC6D3E}"/>
              </a:ext>
            </a:extLst>
          </p:cNvPr>
          <p:cNvGraphicFramePr>
            <a:graphicFrameLocks noGrp="1"/>
          </p:cNvGraphicFramePr>
          <p:nvPr>
            <p:ph sz="quarter" idx="11"/>
            <p:extLst>
              <p:ext uri="{D42A27DB-BD31-4B8C-83A1-F6EECF244321}">
                <p14:modId xmlns:p14="http://schemas.microsoft.com/office/powerpoint/2010/main" val="2781098617"/>
              </p:ext>
            </p:extLst>
          </p:nvPr>
        </p:nvGraphicFramePr>
        <p:xfrm>
          <a:off x="360218" y="1808163"/>
          <a:ext cx="11471564" cy="43926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9963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BBD860-6028-DDD0-AFCB-259C67925DD5}"/>
              </a:ext>
            </a:extLst>
          </p:cNvPr>
          <p:cNvPicPr>
            <a:picLocks noChangeAspect="1"/>
          </p:cNvPicPr>
          <p:nvPr/>
        </p:nvPicPr>
        <p:blipFill rotWithShape="1">
          <a:blip r:embed="rId3"/>
          <a:srcRect l="2997" r="54155"/>
          <a:stretch/>
        </p:blipFill>
        <p:spPr>
          <a:xfrm>
            <a:off x="6967959" y="10"/>
            <a:ext cx="5224040" cy="6857989"/>
          </a:xfrm>
          <a:prstGeom prst="rect">
            <a:avLst/>
          </a:prstGeom>
          <a:noFill/>
        </p:spPr>
      </p:pic>
      <p:sp>
        <p:nvSpPr>
          <p:cNvPr id="9" name="Slide Number Placeholder 3">
            <a:extLst>
              <a:ext uri="{FF2B5EF4-FFF2-40B4-BE49-F238E27FC236}">
                <a16:creationId xmlns:a16="http://schemas.microsoft.com/office/drawing/2014/main" id="{5AD6ACCE-F870-D061-8650-F1A10AE3A523}"/>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11</a:t>
            </a:fld>
            <a:endParaRPr lang="en-GB"/>
          </a:p>
        </p:txBody>
      </p:sp>
      <p:sp>
        <p:nvSpPr>
          <p:cNvPr id="2" name="Text Placeholder 1"/>
          <p:cNvSpPr>
            <a:spLocks noGrp="1"/>
          </p:cNvSpPr>
          <p:nvPr>
            <p:ph type="body" sz="quarter" idx="11"/>
          </p:nvPr>
        </p:nvSpPr>
        <p:spPr>
          <a:xfrm>
            <a:off x="373062" y="1892636"/>
            <a:ext cx="6469171" cy="2742864"/>
          </a:xfrm>
        </p:spPr>
        <p:txBody>
          <a:bodyPr anchor="t">
            <a:normAutofit fontScale="92500" lnSpcReduction="10000"/>
          </a:bodyPr>
          <a:lstStyle/>
          <a:p>
            <a:pPr marL="82800" lvl="1" indent="0">
              <a:buNone/>
            </a:pPr>
            <a:r>
              <a:rPr lang="en-GB" dirty="0"/>
              <a:t>Is </a:t>
            </a:r>
            <a:r>
              <a:rPr lang="en-GB" b="1" dirty="0"/>
              <a:t>What </a:t>
            </a:r>
            <a:r>
              <a:rPr lang="en-GB" dirty="0"/>
              <a:t>the system is expected to do</a:t>
            </a:r>
          </a:p>
          <a:p>
            <a:pPr marL="262800" lvl="1" indent="-180000"/>
            <a:r>
              <a:rPr lang="en-GB" dirty="0"/>
              <a:t>Data entry – Gathering and recording data</a:t>
            </a:r>
          </a:p>
          <a:p>
            <a:pPr marL="262800" lvl="1" indent="-180000"/>
            <a:endParaRPr lang="en-GB" dirty="0"/>
          </a:p>
          <a:p>
            <a:pPr marL="262800" lvl="1" indent="-180000"/>
            <a:r>
              <a:rPr lang="en-GB" dirty="0"/>
              <a:t>Data maintenance</a:t>
            </a:r>
            <a:br>
              <a:rPr lang="en-GB" dirty="0"/>
            </a:br>
            <a:r>
              <a:rPr lang="en-GB" dirty="0"/>
              <a:t>Changes to data, including data deletion</a:t>
            </a:r>
          </a:p>
          <a:p>
            <a:pPr marL="262800" lvl="1" indent="-180000"/>
            <a:endParaRPr lang="en-GB" dirty="0"/>
          </a:p>
          <a:p>
            <a:pPr marL="262800" lvl="1" indent="-180000"/>
            <a:r>
              <a:rPr lang="en-GB" dirty="0"/>
              <a:t>Procedural – Implementation of business rules</a:t>
            </a:r>
          </a:p>
          <a:p>
            <a:pPr marL="262800" lvl="1" indent="-180000"/>
            <a:endParaRPr lang="en-GB" dirty="0"/>
          </a:p>
          <a:p>
            <a:pPr marL="262800" lvl="1" indent="-180000"/>
            <a:r>
              <a:rPr lang="en-GB" dirty="0"/>
              <a:t>Retrieval – Reporting, responding to enquiries</a:t>
            </a:r>
          </a:p>
        </p:txBody>
      </p:sp>
      <p:sp>
        <p:nvSpPr>
          <p:cNvPr id="3" name="Title 2"/>
          <p:cNvSpPr>
            <a:spLocks noGrp="1"/>
          </p:cNvSpPr>
          <p:nvPr>
            <p:ph type="body" sz="quarter" idx="12"/>
          </p:nvPr>
        </p:nvSpPr>
        <p:spPr>
          <a:xfrm>
            <a:off x="385650" y="1147572"/>
            <a:ext cx="6363942" cy="520262"/>
          </a:xfrm>
        </p:spPr>
        <p:txBody>
          <a:bodyPr anchor="t">
            <a:normAutofit/>
          </a:bodyPr>
          <a:lstStyle/>
          <a:p>
            <a:pPr>
              <a:lnSpc>
                <a:spcPct val="90000"/>
              </a:lnSpc>
              <a:spcAft>
                <a:spcPts val="600"/>
              </a:spcAft>
            </a:pPr>
            <a:r>
              <a:rPr lang="en-GB" sz="2300"/>
              <a:t>Functional Requirements - categories</a:t>
            </a:r>
          </a:p>
        </p:txBody>
      </p:sp>
    </p:spTree>
    <p:extLst>
      <p:ext uri="{BB962C8B-B14F-4D97-AF65-F5344CB8AC3E}">
        <p14:creationId xmlns:p14="http://schemas.microsoft.com/office/powerpoint/2010/main" val="2418045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6C48-5CB7-49FC-91C1-035620B08782}"/>
              </a:ext>
            </a:extLst>
          </p:cNvPr>
          <p:cNvSpPr>
            <a:spLocks noGrp="1"/>
          </p:cNvSpPr>
          <p:nvPr>
            <p:ph type="title"/>
          </p:nvPr>
        </p:nvSpPr>
        <p:spPr/>
        <p:txBody>
          <a:bodyPr/>
          <a:lstStyle/>
          <a:p>
            <a:r>
              <a:rPr lang="en-GB" dirty="0"/>
              <a:t>Non-functional requirements</a:t>
            </a:r>
          </a:p>
        </p:txBody>
      </p:sp>
      <p:sp>
        <p:nvSpPr>
          <p:cNvPr id="3" name="Content Placeholder 2">
            <a:extLst>
              <a:ext uri="{FF2B5EF4-FFF2-40B4-BE49-F238E27FC236}">
                <a16:creationId xmlns:a16="http://schemas.microsoft.com/office/drawing/2014/main" id="{078E26DC-B049-40BB-BC1A-A92C310E733A}"/>
              </a:ext>
            </a:extLst>
          </p:cNvPr>
          <p:cNvSpPr>
            <a:spLocks noGrp="1"/>
          </p:cNvSpPr>
          <p:nvPr>
            <p:ph sz="quarter" idx="11"/>
          </p:nvPr>
        </p:nvSpPr>
        <p:spPr/>
        <p:txBody>
          <a:bodyPr/>
          <a:lstStyle/>
          <a:p>
            <a:r>
              <a:rPr lang="en-GB" sz="2000" dirty="0"/>
              <a:t>Define constraints on </a:t>
            </a:r>
            <a:r>
              <a:rPr lang="en-GB" sz="2000" b="1" dirty="0"/>
              <a:t>how</a:t>
            </a:r>
            <a:r>
              <a:rPr lang="en-GB" sz="2000" dirty="0"/>
              <a:t> the functional requirements will be provided</a:t>
            </a:r>
          </a:p>
          <a:p>
            <a:endParaRPr lang="en-GB" sz="2000" dirty="0"/>
          </a:p>
          <a:p>
            <a:pPr lvl="1"/>
            <a:r>
              <a:rPr lang="en-GB" sz="2000" dirty="0"/>
              <a:t>Factors in the cost and are very important to the success of the product</a:t>
            </a:r>
          </a:p>
          <a:p>
            <a:pPr lvl="1"/>
            <a:endParaRPr lang="en-GB" sz="2000" dirty="0"/>
          </a:p>
          <a:p>
            <a:pPr lvl="1"/>
            <a:r>
              <a:rPr lang="en-GB" sz="2000" dirty="0"/>
              <a:t>Define a characteristic we must implement</a:t>
            </a:r>
          </a:p>
        </p:txBody>
      </p:sp>
    </p:spTree>
    <p:extLst>
      <p:ext uri="{BB962C8B-B14F-4D97-AF65-F5344CB8AC3E}">
        <p14:creationId xmlns:p14="http://schemas.microsoft.com/office/powerpoint/2010/main" val="3995390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0C558-6478-46E3-BA18-4FDF98961998}"/>
              </a:ext>
            </a:extLst>
          </p:cNvPr>
          <p:cNvSpPr>
            <a:spLocks noGrp="1"/>
          </p:cNvSpPr>
          <p:nvPr>
            <p:ph type="title"/>
          </p:nvPr>
        </p:nvSpPr>
        <p:spPr/>
        <p:txBody>
          <a:bodyPr/>
          <a:lstStyle/>
          <a:p>
            <a:r>
              <a:rPr lang="en-GB" dirty="0"/>
              <a:t>Non-functional requirements</a:t>
            </a:r>
          </a:p>
        </p:txBody>
      </p:sp>
      <p:sp>
        <p:nvSpPr>
          <p:cNvPr id="3" name="Content Placeholder 2">
            <a:extLst>
              <a:ext uri="{FF2B5EF4-FFF2-40B4-BE49-F238E27FC236}">
                <a16:creationId xmlns:a16="http://schemas.microsoft.com/office/drawing/2014/main" id="{E0198767-5495-4F0F-98CA-C7D4C1E6C1B5}"/>
              </a:ext>
            </a:extLst>
          </p:cNvPr>
          <p:cNvSpPr>
            <a:spLocks noGrp="1"/>
          </p:cNvSpPr>
          <p:nvPr>
            <p:ph sz="quarter" idx="11"/>
          </p:nvPr>
        </p:nvSpPr>
        <p:spPr>
          <a:xfrm>
            <a:off x="360218" y="1261626"/>
            <a:ext cx="11471564" cy="1229327"/>
          </a:xfrm>
        </p:spPr>
        <p:txBody>
          <a:bodyPr/>
          <a:lstStyle/>
          <a:p>
            <a:r>
              <a:rPr lang="en-GB" b="1" dirty="0"/>
              <a:t>Availability </a:t>
            </a:r>
            <a:r>
              <a:rPr lang="en-GB" dirty="0"/>
              <a:t>- System is available when required to fulfil its purpose</a:t>
            </a:r>
          </a:p>
          <a:p>
            <a:pPr lvl="1">
              <a:buFont typeface="Wingdings" panose="05000000000000000000" pitchFamily="2" charset="2"/>
              <a:buChar char="Ø"/>
            </a:pPr>
            <a:r>
              <a:rPr lang="en-GB" dirty="0"/>
              <a:t>E.g. Reprint the report on demand</a:t>
            </a:r>
            <a:br>
              <a:rPr lang="en-GB" dirty="0"/>
            </a:br>
            <a:r>
              <a:rPr lang="en-GB" dirty="0"/>
              <a:t>This is an availability constraint – When this functionality must be available</a:t>
            </a:r>
          </a:p>
        </p:txBody>
      </p:sp>
      <p:sp>
        <p:nvSpPr>
          <p:cNvPr id="4" name="Content Placeholder 2">
            <a:extLst>
              <a:ext uri="{FF2B5EF4-FFF2-40B4-BE49-F238E27FC236}">
                <a16:creationId xmlns:a16="http://schemas.microsoft.com/office/drawing/2014/main" id="{7A92A685-1E11-6161-434E-34DBB411B4C8}"/>
              </a:ext>
            </a:extLst>
          </p:cNvPr>
          <p:cNvSpPr txBox="1">
            <a:spLocks/>
          </p:cNvSpPr>
          <p:nvPr/>
        </p:nvSpPr>
        <p:spPr>
          <a:xfrm>
            <a:off x="370908" y="2501464"/>
            <a:ext cx="11471564" cy="493985"/>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2"/>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2"/>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Capacity</a:t>
            </a:r>
            <a:r>
              <a:rPr lang="en-GB" dirty="0"/>
              <a:t> - Supports transaction and other data volumes as necessary</a:t>
            </a:r>
          </a:p>
        </p:txBody>
      </p:sp>
      <p:sp>
        <p:nvSpPr>
          <p:cNvPr id="5" name="Content Placeholder 2">
            <a:extLst>
              <a:ext uri="{FF2B5EF4-FFF2-40B4-BE49-F238E27FC236}">
                <a16:creationId xmlns:a16="http://schemas.microsoft.com/office/drawing/2014/main" id="{AEC55986-0E7E-E851-4D74-68E45D12874C}"/>
              </a:ext>
            </a:extLst>
          </p:cNvPr>
          <p:cNvSpPr txBox="1">
            <a:spLocks/>
          </p:cNvSpPr>
          <p:nvPr/>
        </p:nvSpPr>
        <p:spPr>
          <a:xfrm>
            <a:off x="360218" y="3006341"/>
            <a:ext cx="11471564" cy="840446"/>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2"/>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2"/>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Throughput</a:t>
            </a:r>
            <a:r>
              <a:rPr lang="en-GB" dirty="0"/>
              <a:t> – Relates to data/transactional volumes within a specific timeframe</a:t>
            </a:r>
          </a:p>
          <a:p>
            <a:pPr marL="285750" indent="-285750">
              <a:buFont typeface="Wingdings" panose="05000000000000000000" pitchFamily="2" charset="2"/>
              <a:buChar char="Ø"/>
            </a:pPr>
            <a:r>
              <a:rPr lang="en-GB" dirty="0"/>
              <a:t>E.g. Respond to a credit enquiry within 5 seconds. This is a performance constraint</a:t>
            </a:r>
          </a:p>
        </p:txBody>
      </p:sp>
      <p:sp>
        <p:nvSpPr>
          <p:cNvPr id="6" name="Content Placeholder 2">
            <a:extLst>
              <a:ext uri="{FF2B5EF4-FFF2-40B4-BE49-F238E27FC236}">
                <a16:creationId xmlns:a16="http://schemas.microsoft.com/office/drawing/2014/main" id="{248DB261-D175-F8F0-D5F4-6363062FA5A9}"/>
              </a:ext>
            </a:extLst>
          </p:cNvPr>
          <p:cNvSpPr txBox="1">
            <a:spLocks/>
          </p:cNvSpPr>
          <p:nvPr/>
        </p:nvSpPr>
        <p:spPr>
          <a:xfrm>
            <a:off x="360218" y="3983798"/>
            <a:ext cx="11471564" cy="462079"/>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2"/>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2"/>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Scalability</a:t>
            </a:r>
            <a:r>
              <a:rPr lang="en-GB" dirty="0"/>
              <a:t> - Scale up/down the number of transactions or users </a:t>
            </a:r>
          </a:p>
        </p:txBody>
      </p:sp>
      <p:sp>
        <p:nvSpPr>
          <p:cNvPr id="7" name="Content Placeholder 2">
            <a:extLst>
              <a:ext uri="{FF2B5EF4-FFF2-40B4-BE49-F238E27FC236}">
                <a16:creationId xmlns:a16="http://schemas.microsoft.com/office/drawing/2014/main" id="{E7B0F6F2-FE7C-1986-5499-8D8695BCD37A}"/>
              </a:ext>
            </a:extLst>
          </p:cNvPr>
          <p:cNvSpPr txBox="1">
            <a:spLocks/>
          </p:cNvSpPr>
          <p:nvPr/>
        </p:nvSpPr>
        <p:spPr>
          <a:xfrm>
            <a:off x="370908" y="4688000"/>
            <a:ext cx="11471564" cy="409520"/>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2"/>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2"/>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Reliable</a:t>
            </a:r>
            <a:r>
              <a:rPr lang="en-GB" dirty="0"/>
              <a:t> – System is robust and available as defined by SLA.</a:t>
            </a:r>
          </a:p>
        </p:txBody>
      </p:sp>
      <p:sp>
        <p:nvSpPr>
          <p:cNvPr id="8" name="Content Placeholder 2">
            <a:extLst>
              <a:ext uri="{FF2B5EF4-FFF2-40B4-BE49-F238E27FC236}">
                <a16:creationId xmlns:a16="http://schemas.microsoft.com/office/drawing/2014/main" id="{EB786224-4483-89A1-6092-4FE3FA7BCD4F}"/>
              </a:ext>
            </a:extLst>
          </p:cNvPr>
          <p:cNvSpPr txBox="1">
            <a:spLocks/>
          </p:cNvSpPr>
          <p:nvPr/>
        </p:nvSpPr>
        <p:spPr>
          <a:xfrm>
            <a:off x="370908" y="5287090"/>
            <a:ext cx="11471564" cy="409520"/>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2"/>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2"/>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2"/>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Maintainability </a:t>
            </a:r>
            <a:r>
              <a:rPr lang="en-GB" dirty="0"/>
              <a:t>- How easy to fix/change – Designed well, flexible, well-documented</a:t>
            </a:r>
          </a:p>
        </p:txBody>
      </p:sp>
    </p:spTree>
    <p:extLst>
      <p:ext uri="{BB962C8B-B14F-4D97-AF65-F5344CB8AC3E}">
        <p14:creationId xmlns:p14="http://schemas.microsoft.com/office/powerpoint/2010/main" val="218819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3503A-5E9C-457E-BC6B-4ADAE681275B}"/>
              </a:ext>
            </a:extLst>
          </p:cNvPr>
          <p:cNvSpPr>
            <a:spLocks noGrp="1"/>
          </p:cNvSpPr>
          <p:nvPr>
            <p:ph type="title"/>
          </p:nvPr>
        </p:nvSpPr>
        <p:spPr/>
        <p:txBody>
          <a:bodyPr/>
          <a:lstStyle/>
          <a:p>
            <a:r>
              <a:rPr lang="en-GB" dirty="0"/>
              <a:t>Non-functional requirements types</a:t>
            </a:r>
          </a:p>
        </p:txBody>
      </p:sp>
      <p:sp>
        <p:nvSpPr>
          <p:cNvPr id="3" name="Content Placeholder 2">
            <a:extLst>
              <a:ext uri="{FF2B5EF4-FFF2-40B4-BE49-F238E27FC236}">
                <a16:creationId xmlns:a16="http://schemas.microsoft.com/office/drawing/2014/main" id="{CBC25A19-6E6A-4E67-A33C-62F01CBB0DC8}"/>
              </a:ext>
            </a:extLst>
          </p:cNvPr>
          <p:cNvSpPr>
            <a:spLocks noGrp="1"/>
          </p:cNvSpPr>
          <p:nvPr>
            <p:ph sz="quarter" idx="11"/>
          </p:nvPr>
        </p:nvSpPr>
        <p:spPr>
          <a:xfrm>
            <a:off x="360218" y="1473201"/>
            <a:ext cx="11471564" cy="4727574"/>
          </a:xfrm>
        </p:spPr>
        <p:txBody>
          <a:bodyPr/>
          <a:lstStyle/>
          <a:p>
            <a:pPr marL="360000" lvl="1" indent="-180000">
              <a:buFont typeface="Arial" panose="020B0604020202020204" pitchFamily="34" charset="0"/>
              <a:buChar char="•"/>
            </a:pPr>
            <a:r>
              <a:rPr lang="en-GB" sz="2000" b="1" dirty="0"/>
              <a:t>User-friendly</a:t>
            </a:r>
            <a:r>
              <a:rPr lang="en-GB" sz="2000" dirty="0"/>
              <a:t>  	Functionality</a:t>
            </a:r>
            <a:r>
              <a:rPr lang="en-GB" sz="2000" baseline="0" dirty="0"/>
              <a:t> delivered in a consistent, intuitive way.</a:t>
            </a:r>
            <a:r>
              <a:rPr lang="en-GB" sz="2000" dirty="0"/>
              <a:t> </a:t>
            </a:r>
          </a:p>
          <a:p>
            <a:pPr marL="360000" lvl="1" indent="-180000">
              <a:buFont typeface="Arial" panose="020B0604020202020204" pitchFamily="34" charset="0"/>
              <a:buChar char="•"/>
            </a:pPr>
            <a:endParaRPr lang="en-GB" sz="2000" b="1" dirty="0"/>
          </a:p>
          <a:p>
            <a:pPr marL="360000" lvl="1" indent="-180000">
              <a:buFont typeface="Arial" panose="020B0604020202020204" pitchFamily="34" charset="0"/>
              <a:buChar char="•"/>
            </a:pPr>
            <a:r>
              <a:rPr lang="en-GB" sz="2000" b="1" dirty="0"/>
              <a:t>Secure</a:t>
            </a:r>
            <a:r>
              <a:rPr lang="en-GB" sz="2000" dirty="0"/>
              <a:t> 		Adequate controls to restrict access t</a:t>
            </a:r>
            <a:r>
              <a:rPr lang="en-GB" sz="2000" baseline="0" dirty="0"/>
              <a:t>o the system and its data.</a:t>
            </a:r>
            <a:endParaRPr lang="en-GB" sz="2000" dirty="0"/>
          </a:p>
          <a:p>
            <a:pPr marL="360000" lvl="1" indent="-180000">
              <a:buFont typeface="Arial" panose="020B0604020202020204" pitchFamily="34" charset="0"/>
              <a:buChar char="•"/>
            </a:pPr>
            <a:endParaRPr lang="en-GB" sz="2000" b="1" dirty="0"/>
          </a:p>
          <a:p>
            <a:pPr marL="360000" lvl="1" indent="-180000">
              <a:buFont typeface="Arial" panose="020B0604020202020204" pitchFamily="34" charset="0"/>
              <a:buChar char="•"/>
            </a:pPr>
            <a:r>
              <a:rPr lang="en-GB" sz="2000" b="1" dirty="0"/>
              <a:t>Accessible</a:t>
            </a:r>
            <a:r>
              <a:rPr lang="en-GB" sz="2000" dirty="0"/>
              <a:t> 	I</a:t>
            </a:r>
            <a:r>
              <a:rPr lang="en-GB" sz="2000" baseline="0" dirty="0"/>
              <a:t>s accessible to all users regardless of disability, language…</a:t>
            </a:r>
            <a:endParaRPr lang="en-GB" sz="2000" dirty="0"/>
          </a:p>
          <a:p>
            <a:pPr marL="360000" lvl="1" indent="-180000">
              <a:buFont typeface="Arial" panose="020B0604020202020204" pitchFamily="34" charset="0"/>
              <a:buChar char="•"/>
            </a:pPr>
            <a:endParaRPr lang="en-GB" sz="2000" b="1" dirty="0"/>
          </a:p>
          <a:p>
            <a:pPr marL="360000" lvl="1" indent="-180000">
              <a:buFont typeface="Arial" panose="020B0604020202020204" pitchFamily="34" charset="0"/>
              <a:buChar char="•"/>
            </a:pPr>
            <a:r>
              <a:rPr lang="en-GB" sz="2000" b="1" dirty="0"/>
              <a:t>Responsive</a:t>
            </a:r>
            <a:r>
              <a:rPr lang="en-GB" sz="2000" dirty="0"/>
              <a:t>  	Provides</a:t>
            </a:r>
            <a:r>
              <a:rPr lang="en-GB" sz="2000" baseline="0" dirty="0"/>
              <a:t> a response to a particular request within a timeframe.</a:t>
            </a:r>
            <a:endParaRPr lang="en-GB" sz="2000" dirty="0"/>
          </a:p>
          <a:p>
            <a:pPr marL="360000" lvl="1" indent="-180000">
              <a:buFont typeface="Arial" panose="020B0604020202020204" pitchFamily="34" charset="0"/>
              <a:buChar char="•"/>
            </a:pPr>
            <a:endParaRPr lang="en-GB" sz="2000" b="1" dirty="0"/>
          </a:p>
          <a:p>
            <a:pPr marL="360000" lvl="1" indent="-180000">
              <a:buFont typeface="Arial" panose="020B0604020202020204" pitchFamily="34" charset="0"/>
              <a:buChar char="•"/>
            </a:pPr>
            <a:r>
              <a:rPr lang="en-GB" sz="2000" b="1" dirty="0"/>
              <a:t>Flexible</a:t>
            </a:r>
            <a:r>
              <a:rPr lang="en-GB" sz="2000" dirty="0"/>
              <a:t> 		A</a:t>
            </a:r>
            <a:r>
              <a:rPr lang="en-GB" sz="2000" baseline="0" dirty="0"/>
              <a:t>dapt to changing business situations.</a:t>
            </a:r>
            <a:endParaRPr lang="en-GB" sz="2000" dirty="0"/>
          </a:p>
          <a:p>
            <a:pPr marL="360000" lvl="1" indent="-180000">
              <a:buFont typeface="Arial" panose="020B0604020202020204" pitchFamily="34" charset="0"/>
              <a:buChar char="•"/>
            </a:pPr>
            <a:endParaRPr lang="en-GB" sz="2000" b="1" dirty="0"/>
          </a:p>
          <a:p>
            <a:pPr marL="360000" lvl="1" indent="-180000">
              <a:buFont typeface="Arial" panose="020B0604020202020204" pitchFamily="34" charset="0"/>
              <a:buChar char="•"/>
            </a:pPr>
            <a:r>
              <a:rPr lang="en-GB" sz="2000" b="1" dirty="0"/>
              <a:t>Portable</a:t>
            </a:r>
            <a:r>
              <a:rPr lang="en-GB" sz="2000" dirty="0"/>
              <a:t> 		Can ‘port’ the design to different technology platforms/devices.</a:t>
            </a:r>
            <a:br>
              <a:rPr lang="en-GB" sz="2000" dirty="0"/>
            </a:br>
            <a:endParaRPr lang="en-GB" sz="2000" dirty="0"/>
          </a:p>
          <a:p>
            <a:pPr marL="360000" lvl="1" indent="-180000">
              <a:buFont typeface="Arial" panose="020B0604020202020204" pitchFamily="34" charset="0"/>
              <a:buChar char="•"/>
            </a:pPr>
            <a:r>
              <a:rPr lang="en-GB" sz="2000" b="1" dirty="0"/>
              <a:t>Configurable</a:t>
            </a:r>
            <a:r>
              <a:rPr lang="en-GB" sz="2000" dirty="0"/>
              <a:t> 	Can change the behaviour</a:t>
            </a:r>
            <a:r>
              <a:rPr lang="en-GB" sz="2000" baseline="0" dirty="0"/>
              <a:t> by setting configuration options</a:t>
            </a:r>
            <a:endParaRPr lang="en-GB" sz="2000" dirty="0"/>
          </a:p>
          <a:p>
            <a:endParaRPr lang="en-GB" dirty="0"/>
          </a:p>
        </p:txBody>
      </p:sp>
    </p:spTree>
    <p:extLst>
      <p:ext uri="{BB962C8B-B14F-4D97-AF65-F5344CB8AC3E}">
        <p14:creationId xmlns:p14="http://schemas.microsoft.com/office/powerpoint/2010/main" val="3050814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AFFB7C-9904-470B-AF78-8BB3FB34606F}"/>
              </a:ext>
            </a:extLst>
          </p:cNvPr>
          <p:cNvSpPr>
            <a:spLocks noGrp="1"/>
          </p:cNvSpPr>
          <p:nvPr>
            <p:ph type="body" sz="quarter" idx="12"/>
          </p:nvPr>
        </p:nvSpPr>
        <p:spPr/>
        <p:txBody>
          <a:bodyPr/>
          <a:lstStyle/>
          <a:p>
            <a:r>
              <a:rPr lang="en-GB" dirty="0"/>
              <a:t>Design</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1"/>
          </p:nvPr>
        </p:nvSpPr>
        <p:spPr>
          <a:xfrm>
            <a:off x="373062" y="1892636"/>
            <a:ext cx="7145337" cy="2742864"/>
          </a:xfrm>
        </p:spPr>
        <p:txBody>
          <a:bodyPr/>
          <a:lstStyle/>
          <a:p>
            <a:pPr marL="360000" indent="-360000">
              <a:spcBef>
                <a:spcPts val="0"/>
              </a:spcBef>
              <a:buFont typeface="Arial" panose="020B0604020202020204" pitchFamily="34" charset="0"/>
              <a:buChar char="•"/>
            </a:pPr>
            <a:r>
              <a:rPr lang="en-GB" sz="1800" dirty="0"/>
              <a:t>Evaluate possible solutions that meet requirements.</a:t>
            </a:r>
          </a:p>
          <a:p>
            <a:pPr marL="360000" indent="-360000">
              <a:spcBef>
                <a:spcPts val="0"/>
              </a:spcBef>
              <a:buFont typeface="Arial" panose="020B0604020202020204" pitchFamily="34" charset="0"/>
              <a:buChar char="•"/>
            </a:pPr>
            <a:endParaRPr lang="en-GB" sz="1800" dirty="0"/>
          </a:p>
          <a:p>
            <a:pPr marL="360000" indent="-360000">
              <a:spcBef>
                <a:spcPts val="0"/>
              </a:spcBef>
              <a:buFont typeface="Arial" panose="020B0604020202020204" pitchFamily="34" charset="0"/>
              <a:buChar char="•"/>
            </a:pPr>
            <a:r>
              <a:rPr lang="en-GB" sz="1800" dirty="0"/>
              <a:t>Chosen design elaborated to sufficient detail to start development.</a:t>
            </a:r>
            <a:endParaRPr lang="en-GB" sz="2000" dirty="0"/>
          </a:p>
          <a:p>
            <a:pPr marL="285750" indent="-285750">
              <a:buFont typeface="Arial" panose="020B0604020202020204" pitchFamily="34" charset="0"/>
              <a:buChar char="•"/>
            </a:pPr>
            <a:endParaRPr lang="en-GB" dirty="0"/>
          </a:p>
        </p:txBody>
      </p:sp>
      <p:grpSp>
        <p:nvGrpSpPr>
          <p:cNvPr id="21" name="Group 20">
            <a:extLst>
              <a:ext uri="{FF2B5EF4-FFF2-40B4-BE49-F238E27FC236}">
                <a16:creationId xmlns:a16="http://schemas.microsoft.com/office/drawing/2014/main" id="{DB490260-243E-435C-BB3D-5C937D82DFBA}"/>
              </a:ext>
            </a:extLst>
          </p:cNvPr>
          <p:cNvGrpSpPr/>
          <p:nvPr/>
        </p:nvGrpSpPr>
        <p:grpSpPr>
          <a:xfrm>
            <a:off x="8378967" y="1271576"/>
            <a:ext cx="2160000" cy="4860001"/>
            <a:chOff x="5940000" y="900000"/>
            <a:chExt cx="2160000" cy="4860001"/>
          </a:xfrm>
          <a:solidFill>
            <a:schemeClr val="accent6">
              <a:lumMod val="75000"/>
            </a:schemeClr>
          </a:solidFill>
        </p:grpSpPr>
        <p:sp>
          <p:nvSpPr>
            <p:cNvPr id="22" name="Rounded Rectangle 4">
              <a:extLst>
                <a:ext uri="{FF2B5EF4-FFF2-40B4-BE49-F238E27FC236}">
                  <a16:creationId xmlns:a16="http://schemas.microsoft.com/office/drawing/2014/main" id="{4DF37BBF-117D-4D20-BF10-A26F77F690F1}"/>
                </a:ext>
              </a:extLst>
            </p:cNvPr>
            <p:cNvSpPr/>
            <p:nvPr/>
          </p:nvSpPr>
          <p:spPr>
            <a:xfrm>
              <a:off x="5940000" y="90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Feasibility study</a:t>
              </a:r>
            </a:p>
          </p:txBody>
        </p:sp>
        <p:sp>
          <p:nvSpPr>
            <p:cNvPr id="23" name="Rounded Rectangle 5">
              <a:extLst>
                <a:ext uri="{FF2B5EF4-FFF2-40B4-BE49-F238E27FC236}">
                  <a16:creationId xmlns:a16="http://schemas.microsoft.com/office/drawing/2014/main" id="{6DD2C082-36F8-47D2-B486-CDAF50E25753}"/>
                </a:ext>
              </a:extLst>
            </p:cNvPr>
            <p:cNvSpPr/>
            <p:nvPr/>
          </p:nvSpPr>
          <p:spPr>
            <a:xfrm>
              <a:off x="5940000" y="162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Requirements analysis</a:t>
              </a:r>
            </a:p>
          </p:txBody>
        </p:sp>
        <p:sp>
          <p:nvSpPr>
            <p:cNvPr id="24" name="Rounded Rectangle 6">
              <a:extLst>
                <a:ext uri="{FF2B5EF4-FFF2-40B4-BE49-F238E27FC236}">
                  <a16:creationId xmlns:a16="http://schemas.microsoft.com/office/drawing/2014/main" id="{07656366-A4D9-4EE0-A180-0D3DCF5524E9}"/>
                </a:ext>
              </a:extLst>
            </p:cNvPr>
            <p:cNvSpPr/>
            <p:nvPr/>
          </p:nvSpPr>
          <p:spPr>
            <a:xfrm>
              <a:off x="5940000" y="2339999"/>
              <a:ext cx="2160000" cy="540000"/>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Design</a:t>
              </a:r>
            </a:p>
          </p:txBody>
        </p:sp>
        <p:sp>
          <p:nvSpPr>
            <p:cNvPr id="25" name="Rounded Rectangle 7">
              <a:extLst>
                <a:ext uri="{FF2B5EF4-FFF2-40B4-BE49-F238E27FC236}">
                  <a16:creationId xmlns:a16="http://schemas.microsoft.com/office/drawing/2014/main" id="{B3F79C01-59F5-4751-962C-3B19D857D225}"/>
                </a:ext>
              </a:extLst>
            </p:cNvPr>
            <p:cNvSpPr/>
            <p:nvPr/>
          </p:nvSpPr>
          <p:spPr>
            <a:xfrm>
              <a:off x="5940000" y="3779997"/>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Testing</a:t>
              </a:r>
            </a:p>
          </p:txBody>
        </p:sp>
        <p:sp>
          <p:nvSpPr>
            <p:cNvPr id="26" name="Rounded Rectangle 8">
              <a:extLst>
                <a:ext uri="{FF2B5EF4-FFF2-40B4-BE49-F238E27FC236}">
                  <a16:creationId xmlns:a16="http://schemas.microsoft.com/office/drawing/2014/main" id="{98934A84-D3C4-4289-B903-CD6C651FAA13}"/>
                </a:ext>
              </a:extLst>
            </p:cNvPr>
            <p:cNvSpPr/>
            <p:nvPr/>
          </p:nvSpPr>
          <p:spPr>
            <a:xfrm>
              <a:off x="5940000" y="305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Code development</a:t>
              </a:r>
            </a:p>
          </p:txBody>
        </p:sp>
        <p:sp>
          <p:nvSpPr>
            <p:cNvPr id="27" name="Rounded Rectangle 9">
              <a:extLst>
                <a:ext uri="{FF2B5EF4-FFF2-40B4-BE49-F238E27FC236}">
                  <a16:creationId xmlns:a16="http://schemas.microsoft.com/office/drawing/2014/main" id="{1393FFDE-3179-4DA2-A9E0-DE5D99945BCD}"/>
                </a:ext>
              </a:extLst>
            </p:cNvPr>
            <p:cNvSpPr/>
            <p:nvPr/>
          </p:nvSpPr>
          <p:spPr>
            <a:xfrm>
              <a:off x="5940000" y="449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Deployment / implementation</a:t>
              </a:r>
            </a:p>
          </p:txBody>
        </p:sp>
        <p:cxnSp>
          <p:nvCxnSpPr>
            <p:cNvPr id="28" name="Straight Arrow Connector 27">
              <a:extLst>
                <a:ext uri="{FF2B5EF4-FFF2-40B4-BE49-F238E27FC236}">
                  <a16:creationId xmlns:a16="http://schemas.microsoft.com/office/drawing/2014/main" id="{7A168E54-E3E4-4882-A550-C35ED8D8EC21}"/>
                </a:ext>
              </a:extLst>
            </p:cNvPr>
            <p:cNvCxnSpPr>
              <a:stCxn id="22" idx="2"/>
              <a:endCxn id="23"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E8F8976-B9C2-472D-9621-BB500C77D0BA}"/>
                </a:ext>
              </a:extLst>
            </p:cNvPr>
            <p:cNvCxnSpPr>
              <a:stCxn id="23" idx="2"/>
              <a:endCxn id="24"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F4A42F9-FB60-4305-ACF6-8280488B26B6}"/>
                </a:ext>
              </a:extLst>
            </p:cNvPr>
            <p:cNvCxnSpPr>
              <a:stCxn id="26" idx="2"/>
              <a:endCxn id="25"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2FDA569-0E03-48F1-AEC5-065EA6B002CB}"/>
                </a:ext>
              </a:extLst>
            </p:cNvPr>
            <p:cNvCxnSpPr>
              <a:stCxn id="25" idx="2"/>
              <a:endCxn id="27"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18">
              <a:extLst>
                <a:ext uri="{FF2B5EF4-FFF2-40B4-BE49-F238E27FC236}">
                  <a16:creationId xmlns:a16="http://schemas.microsoft.com/office/drawing/2014/main" id="{8C6956E2-A44C-486C-AD66-C1069A9F86D7}"/>
                </a:ext>
              </a:extLst>
            </p:cNvPr>
            <p:cNvSpPr/>
            <p:nvPr/>
          </p:nvSpPr>
          <p:spPr>
            <a:xfrm>
              <a:off x="5940000" y="5220001"/>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Maintenance</a:t>
              </a:r>
            </a:p>
          </p:txBody>
        </p:sp>
        <p:cxnSp>
          <p:nvCxnSpPr>
            <p:cNvPr id="33" name="Straight Arrow Connector 32">
              <a:extLst>
                <a:ext uri="{FF2B5EF4-FFF2-40B4-BE49-F238E27FC236}">
                  <a16:creationId xmlns:a16="http://schemas.microsoft.com/office/drawing/2014/main" id="{07DACA61-6361-461A-AC69-E83958C1E41D}"/>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18140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AFFB7C-9904-470B-AF78-8BB3FB34606F}"/>
              </a:ext>
            </a:extLst>
          </p:cNvPr>
          <p:cNvSpPr>
            <a:spLocks noGrp="1"/>
          </p:cNvSpPr>
          <p:nvPr>
            <p:ph type="body" sz="quarter" idx="12"/>
          </p:nvPr>
        </p:nvSpPr>
        <p:spPr/>
        <p:txBody>
          <a:bodyPr/>
          <a:lstStyle/>
          <a:p>
            <a:r>
              <a:rPr lang="en-GB" dirty="0"/>
              <a:t>Code development</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1"/>
          </p:nvPr>
        </p:nvSpPr>
        <p:spPr/>
        <p:txBody>
          <a:bodyPr/>
          <a:lstStyle/>
          <a:p>
            <a:pPr marL="360000" indent="-360000">
              <a:spcBef>
                <a:spcPts val="0"/>
              </a:spcBef>
              <a:buFont typeface="Arial" panose="020B0604020202020204" pitchFamily="34" charset="0"/>
              <a:buChar char="•"/>
            </a:pPr>
            <a:r>
              <a:rPr lang="en-GB" sz="1800" dirty="0"/>
              <a:t>Hardware and software technical components created, procured or configured</a:t>
            </a:r>
          </a:p>
          <a:p>
            <a:pPr marL="360000" indent="-360000">
              <a:spcBef>
                <a:spcPts val="0"/>
              </a:spcBef>
              <a:buFont typeface="Arial" panose="020B0604020202020204" pitchFamily="34" charset="0"/>
              <a:buChar char="•"/>
            </a:pPr>
            <a:r>
              <a:rPr lang="en-GB" sz="1800" dirty="0"/>
              <a:t>Follow design to ensure system does what is required</a:t>
            </a:r>
          </a:p>
          <a:p>
            <a:pPr marL="360000" indent="-360000">
              <a:spcBef>
                <a:spcPts val="0"/>
              </a:spcBef>
              <a:buFont typeface="Arial" panose="020B0604020202020204" pitchFamily="34" charset="0"/>
              <a:buChar char="•"/>
            </a:pPr>
            <a:r>
              <a:rPr lang="en-GB" sz="1800" dirty="0"/>
              <a:t>Also known as </a:t>
            </a:r>
            <a:r>
              <a:rPr lang="en-GB" sz="1800" b="1" dirty="0"/>
              <a:t>programming</a:t>
            </a:r>
            <a:r>
              <a:rPr lang="en-GB" sz="1800" dirty="0"/>
              <a:t> or </a:t>
            </a:r>
            <a:r>
              <a:rPr lang="en-GB" sz="1800" b="1" dirty="0"/>
              <a:t>build</a:t>
            </a:r>
            <a:r>
              <a:rPr lang="en-GB" sz="1800" dirty="0"/>
              <a:t>.</a:t>
            </a:r>
            <a:endParaRPr lang="en-GB" sz="2000" dirty="0"/>
          </a:p>
          <a:p>
            <a:pPr marL="285750" indent="-285750">
              <a:buFont typeface="Arial" panose="020B0604020202020204" pitchFamily="34" charset="0"/>
              <a:buChar char="•"/>
            </a:pPr>
            <a:endParaRPr lang="en-GB" dirty="0"/>
          </a:p>
        </p:txBody>
      </p:sp>
      <p:grpSp>
        <p:nvGrpSpPr>
          <p:cNvPr id="21" name="Group 20">
            <a:extLst>
              <a:ext uri="{FF2B5EF4-FFF2-40B4-BE49-F238E27FC236}">
                <a16:creationId xmlns:a16="http://schemas.microsoft.com/office/drawing/2014/main" id="{DB490260-243E-435C-BB3D-5C937D82DFBA}"/>
              </a:ext>
            </a:extLst>
          </p:cNvPr>
          <p:cNvGrpSpPr/>
          <p:nvPr/>
        </p:nvGrpSpPr>
        <p:grpSpPr>
          <a:xfrm>
            <a:off x="8378967" y="1271576"/>
            <a:ext cx="2160000" cy="4860001"/>
            <a:chOff x="5940000" y="900000"/>
            <a:chExt cx="2160000" cy="4860001"/>
          </a:xfrm>
          <a:solidFill>
            <a:schemeClr val="accent6">
              <a:lumMod val="75000"/>
            </a:schemeClr>
          </a:solidFill>
        </p:grpSpPr>
        <p:sp>
          <p:nvSpPr>
            <p:cNvPr id="22" name="Rounded Rectangle 4">
              <a:extLst>
                <a:ext uri="{FF2B5EF4-FFF2-40B4-BE49-F238E27FC236}">
                  <a16:creationId xmlns:a16="http://schemas.microsoft.com/office/drawing/2014/main" id="{4DF37BBF-117D-4D20-BF10-A26F77F690F1}"/>
                </a:ext>
              </a:extLst>
            </p:cNvPr>
            <p:cNvSpPr/>
            <p:nvPr/>
          </p:nvSpPr>
          <p:spPr>
            <a:xfrm>
              <a:off x="5940000" y="90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Feasibility study</a:t>
              </a:r>
            </a:p>
          </p:txBody>
        </p:sp>
        <p:sp>
          <p:nvSpPr>
            <p:cNvPr id="23" name="Rounded Rectangle 5">
              <a:extLst>
                <a:ext uri="{FF2B5EF4-FFF2-40B4-BE49-F238E27FC236}">
                  <a16:creationId xmlns:a16="http://schemas.microsoft.com/office/drawing/2014/main" id="{6DD2C082-36F8-47D2-B486-CDAF50E25753}"/>
                </a:ext>
              </a:extLst>
            </p:cNvPr>
            <p:cNvSpPr/>
            <p:nvPr/>
          </p:nvSpPr>
          <p:spPr>
            <a:xfrm>
              <a:off x="5940000" y="162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Requirements analysis</a:t>
              </a:r>
            </a:p>
          </p:txBody>
        </p:sp>
        <p:sp>
          <p:nvSpPr>
            <p:cNvPr id="24" name="Rounded Rectangle 6">
              <a:extLst>
                <a:ext uri="{FF2B5EF4-FFF2-40B4-BE49-F238E27FC236}">
                  <a16:creationId xmlns:a16="http://schemas.microsoft.com/office/drawing/2014/main" id="{07656366-A4D9-4EE0-A180-0D3DCF5524E9}"/>
                </a:ext>
              </a:extLst>
            </p:cNvPr>
            <p:cNvSpPr/>
            <p:nvPr/>
          </p:nvSpPr>
          <p:spPr>
            <a:xfrm>
              <a:off x="5940000" y="2339999"/>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Design</a:t>
              </a:r>
            </a:p>
          </p:txBody>
        </p:sp>
        <p:sp>
          <p:nvSpPr>
            <p:cNvPr id="25" name="Rounded Rectangle 7">
              <a:extLst>
                <a:ext uri="{FF2B5EF4-FFF2-40B4-BE49-F238E27FC236}">
                  <a16:creationId xmlns:a16="http://schemas.microsoft.com/office/drawing/2014/main" id="{B3F79C01-59F5-4751-962C-3B19D857D225}"/>
                </a:ext>
              </a:extLst>
            </p:cNvPr>
            <p:cNvSpPr/>
            <p:nvPr/>
          </p:nvSpPr>
          <p:spPr>
            <a:xfrm>
              <a:off x="5940000" y="3779997"/>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Testing</a:t>
              </a:r>
            </a:p>
          </p:txBody>
        </p:sp>
        <p:sp>
          <p:nvSpPr>
            <p:cNvPr id="26" name="Rounded Rectangle 8">
              <a:extLst>
                <a:ext uri="{FF2B5EF4-FFF2-40B4-BE49-F238E27FC236}">
                  <a16:creationId xmlns:a16="http://schemas.microsoft.com/office/drawing/2014/main" id="{98934A84-D3C4-4289-B903-CD6C651FAA13}"/>
                </a:ext>
              </a:extLst>
            </p:cNvPr>
            <p:cNvSpPr/>
            <p:nvPr/>
          </p:nvSpPr>
          <p:spPr>
            <a:xfrm>
              <a:off x="5940000" y="3059999"/>
              <a:ext cx="2160000" cy="540000"/>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Code development</a:t>
              </a:r>
            </a:p>
          </p:txBody>
        </p:sp>
        <p:sp>
          <p:nvSpPr>
            <p:cNvPr id="27" name="Rounded Rectangle 9">
              <a:extLst>
                <a:ext uri="{FF2B5EF4-FFF2-40B4-BE49-F238E27FC236}">
                  <a16:creationId xmlns:a16="http://schemas.microsoft.com/office/drawing/2014/main" id="{1393FFDE-3179-4DA2-A9E0-DE5D99945BCD}"/>
                </a:ext>
              </a:extLst>
            </p:cNvPr>
            <p:cNvSpPr/>
            <p:nvPr/>
          </p:nvSpPr>
          <p:spPr>
            <a:xfrm>
              <a:off x="5940000" y="449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Deployment / implementation</a:t>
              </a:r>
            </a:p>
          </p:txBody>
        </p:sp>
        <p:cxnSp>
          <p:nvCxnSpPr>
            <p:cNvPr id="28" name="Straight Arrow Connector 27">
              <a:extLst>
                <a:ext uri="{FF2B5EF4-FFF2-40B4-BE49-F238E27FC236}">
                  <a16:creationId xmlns:a16="http://schemas.microsoft.com/office/drawing/2014/main" id="{7A168E54-E3E4-4882-A550-C35ED8D8EC21}"/>
                </a:ext>
              </a:extLst>
            </p:cNvPr>
            <p:cNvCxnSpPr>
              <a:stCxn id="22" idx="2"/>
              <a:endCxn id="23"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E8F8976-B9C2-472D-9621-BB500C77D0BA}"/>
                </a:ext>
              </a:extLst>
            </p:cNvPr>
            <p:cNvCxnSpPr>
              <a:stCxn id="23" idx="2"/>
              <a:endCxn id="24"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F4A42F9-FB60-4305-ACF6-8280488B26B6}"/>
                </a:ext>
              </a:extLst>
            </p:cNvPr>
            <p:cNvCxnSpPr>
              <a:stCxn id="26" idx="2"/>
              <a:endCxn id="25"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2FDA569-0E03-48F1-AEC5-065EA6B002CB}"/>
                </a:ext>
              </a:extLst>
            </p:cNvPr>
            <p:cNvCxnSpPr>
              <a:stCxn id="25" idx="2"/>
              <a:endCxn id="27"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18">
              <a:extLst>
                <a:ext uri="{FF2B5EF4-FFF2-40B4-BE49-F238E27FC236}">
                  <a16:creationId xmlns:a16="http://schemas.microsoft.com/office/drawing/2014/main" id="{8C6956E2-A44C-486C-AD66-C1069A9F86D7}"/>
                </a:ext>
              </a:extLst>
            </p:cNvPr>
            <p:cNvSpPr/>
            <p:nvPr/>
          </p:nvSpPr>
          <p:spPr>
            <a:xfrm>
              <a:off x="5940000" y="5220001"/>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Maintenance</a:t>
              </a:r>
            </a:p>
          </p:txBody>
        </p:sp>
        <p:cxnSp>
          <p:nvCxnSpPr>
            <p:cNvPr id="33" name="Straight Arrow Connector 32">
              <a:extLst>
                <a:ext uri="{FF2B5EF4-FFF2-40B4-BE49-F238E27FC236}">
                  <a16:creationId xmlns:a16="http://schemas.microsoft.com/office/drawing/2014/main" id="{07DACA61-6361-461A-AC69-E83958C1E41D}"/>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16606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AFFB7C-9904-470B-AF78-8BB3FB34606F}"/>
              </a:ext>
            </a:extLst>
          </p:cNvPr>
          <p:cNvSpPr>
            <a:spLocks noGrp="1"/>
          </p:cNvSpPr>
          <p:nvPr>
            <p:ph type="body" sz="quarter" idx="12"/>
          </p:nvPr>
        </p:nvSpPr>
        <p:spPr/>
        <p:txBody>
          <a:bodyPr/>
          <a:lstStyle/>
          <a:p>
            <a:r>
              <a:rPr lang="en-GB" dirty="0"/>
              <a:t>Testing</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1"/>
          </p:nvPr>
        </p:nvSpPr>
        <p:spPr/>
        <p:txBody>
          <a:bodyPr/>
          <a:lstStyle/>
          <a:p>
            <a:pPr marL="360000" indent="-360000">
              <a:spcBef>
                <a:spcPts val="0"/>
              </a:spcBef>
              <a:buFont typeface="Arial" panose="020B0604020202020204" pitchFamily="34" charset="0"/>
              <a:buChar char="•"/>
            </a:pPr>
            <a:r>
              <a:rPr lang="en-GB" dirty="0"/>
              <a:t>Components produced tested to ensure working properly and does what supposed to do.</a:t>
            </a:r>
            <a:br>
              <a:rPr lang="en-GB" dirty="0"/>
            </a:br>
            <a:endParaRPr lang="en-GB" dirty="0"/>
          </a:p>
          <a:p>
            <a:pPr marL="360000" indent="-360000">
              <a:spcBef>
                <a:spcPts val="0"/>
              </a:spcBef>
              <a:buFont typeface="Arial" panose="020B0604020202020204" pitchFamily="34" charset="0"/>
              <a:buChar char="•"/>
            </a:pPr>
            <a:r>
              <a:rPr lang="en-GB" b="1" dirty="0"/>
              <a:t>Different levels of testing:</a:t>
            </a:r>
          </a:p>
          <a:p>
            <a:pPr marL="720000" lvl="1" indent="-360000">
              <a:spcBef>
                <a:spcPts val="0"/>
              </a:spcBef>
            </a:pPr>
            <a:r>
              <a:rPr lang="en-GB" sz="1800" dirty="0"/>
              <a:t>Unit</a:t>
            </a:r>
          </a:p>
          <a:p>
            <a:pPr marL="720000" lvl="1" indent="-360000">
              <a:spcBef>
                <a:spcPts val="0"/>
              </a:spcBef>
            </a:pPr>
            <a:r>
              <a:rPr lang="en-GB" sz="1800" dirty="0"/>
              <a:t>Integration</a:t>
            </a:r>
          </a:p>
          <a:p>
            <a:pPr marL="720000" lvl="1" indent="-360000">
              <a:spcBef>
                <a:spcPts val="0"/>
              </a:spcBef>
            </a:pPr>
            <a:r>
              <a:rPr lang="en-GB" sz="1800" dirty="0"/>
              <a:t>System</a:t>
            </a:r>
          </a:p>
          <a:p>
            <a:pPr marL="720000" lvl="1" indent="-360000">
              <a:spcBef>
                <a:spcPts val="0"/>
              </a:spcBef>
            </a:pPr>
            <a:r>
              <a:rPr lang="en-GB" sz="1800" dirty="0"/>
              <a:t>User acceptance</a:t>
            </a:r>
          </a:p>
          <a:p>
            <a:pPr marL="285750" indent="-285750">
              <a:buFont typeface="Arial" panose="020B0604020202020204" pitchFamily="34" charset="0"/>
              <a:buChar char="•"/>
            </a:pPr>
            <a:endParaRPr lang="en-GB" dirty="0"/>
          </a:p>
        </p:txBody>
      </p:sp>
      <p:grpSp>
        <p:nvGrpSpPr>
          <p:cNvPr id="21" name="Group 20">
            <a:extLst>
              <a:ext uri="{FF2B5EF4-FFF2-40B4-BE49-F238E27FC236}">
                <a16:creationId xmlns:a16="http://schemas.microsoft.com/office/drawing/2014/main" id="{DB490260-243E-435C-BB3D-5C937D82DFBA}"/>
              </a:ext>
            </a:extLst>
          </p:cNvPr>
          <p:cNvGrpSpPr/>
          <p:nvPr/>
        </p:nvGrpSpPr>
        <p:grpSpPr>
          <a:xfrm>
            <a:off x="8378967" y="1271576"/>
            <a:ext cx="2160000" cy="4860001"/>
            <a:chOff x="5940000" y="900000"/>
            <a:chExt cx="2160000" cy="4860001"/>
          </a:xfrm>
          <a:solidFill>
            <a:schemeClr val="accent6">
              <a:lumMod val="75000"/>
            </a:schemeClr>
          </a:solidFill>
        </p:grpSpPr>
        <p:sp>
          <p:nvSpPr>
            <p:cNvPr id="22" name="Rounded Rectangle 4">
              <a:extLst>
                <a:ext uri="{FF2B5EF4-FFF2-40B4-BE49-F238E27FC236}">
                  <a16:creationId xmlns:a16="http://schemas.microsoft.com/office/drawing/2014/main" id="{4DF37BBF-117D-4D20-BF10-A26F77F690F1}"/>
                </a:ext>
              </a:extLst>
            </p:cNvPr>
            <p:cNvSpPr/>
            <p:nvPr/>
          </p:nvSpPr>
          <p:spPr>
            <a:xfrm>
              <a:off x="5940000" y="90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Feasibility study</a:t>
              </a:r>
            </a:p>
          </p:txBody>
        </p:sp>
        <p:sp>
          <p:nvSpPr>
            <p:cNvPr id="23" name="Rounded Rectangle 5">
              <a:extLst>
                <a:ext uri="{FF2B5EF4-FFF2-40B4-BE49-F238E27FC236}">
                  <a16:creationId xmlns:a16="http://schemas.microsoft.com/office/drawing/2014/main" id="{6DD2C082-36F8-47D2-B486-CDAF50E25753}"/>
                </a:ext>
              </a:extLst>
            </p:cNvPr>
            <p:cNvSpPr/>
            <p:nvPr/>
          </p:nvSpPr>
          <p:spPr>
            <a:xfrm>
              <a:off x="5940000" y="162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Requirements analysis</a:t>
              </a:r>
            </a:p>
          </p:txBody>
        </p:sp>
        <p:sp>
          <p:nvSpPr>
            <p:cNvPr id="24" name="Rounded Rectangle 6">
              <a:extLst>
                <a:ext uri="{FF2B5EF4-FFF2-40B4-BE49-F238E27FC236}">
                  <a16:creationId xmlns:a16="http://schemas.microsoft.com/office/drawing/2014/main" id="{07656366-A4D9-4EE0-A180-0D3DCF5524E9}"/>
                </a:ext>
              </a:extLst>
            </p:cNvPr>
            <p:cNvSpPr/>
            <p:nvPr/>
          </p:nvSpPr>
          <p:spPr>
            <a:xfrm>
              <a:off x="5940000" y="2339999"/>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Design</a:t>
              </a:r>
            </a:p>
          </p:txBody>
        </p:sp>
        <p:sp>
          <p:nvSpPr>
            <p:cNvPr id="25" name="Rounded Rectangle 7">
              <a:extLst>
                <a:ext uri="{FF2B5EF4-FFF2-40B4-BE49-F238E27FC236}">
                  <a16:creationId xmlns:a16="http://schemas.microsoft.com/office/drawing/2014/main" id="{B3F79C01-59F5-4751-962C-3B19D857D225}"/>
                </a:ext>
              </a:extLst>
            </p:cNvPr>
            <p:cNvSpPr/>
            <p:nvPr/>
          </p:nvSpPr>
          <p:spPr>
            <a:xfrm>
              <a:off x="5940000" y="3779997"/>
              <a:ext cx="2160000" cy="540000"/>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Testing</a:t>
              </a:r>
            </a:p>
          </p:txBody>
        </p:sp>
        <p:sp>
          <p:nvSpPr>
            <p:cNvPr id="26" name="Rounded Rectangle 8">
              <a:extLst>
                <a:ext uri="{FF2B5EF4-FFF2-40B4-BE49-F238E27FC236}">
                  <a16:creationId xmlns:a16="http://schemas.microsoft.com/office/drawing/2014/main" id="{98934A84-D3C4-4289-B903-CD6C651FAA13}"/>
                </a:ext>
              </a:extLst>
            </p:cNvPr>
            <p:cNvSpPr/>
            <p:nvPr/>
          </p:nvSpPr>
          <p:spPr>
            <a:xfrm>
              <a:off x="5940000" y="3059999"/>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Code development</a:t>
              </a:r>
            </a:p>
          </p:txBody>
        </p:sp>
        <p:sp>
          <p:nvSpPr>
            <p:cNvPr id="27" name="Rounded Rectangle 9">
              <a:extLst>
                <a:ext uri="{FF2B5EF4-FFF2-40B4-BE49-F238E27FC236}">
                  <a16:creationId xmlns:a16="http://schemas.microsoft.com/office/drawing/2014/main" id="{1393FFDE-3179-4DA2-A9E0-DE5D99945BCD}"/>
                </a:ext>
              </a:extLst>
            </p:cNvPr>
            <p:cNvSpPr/>
            <p:nvPr/>
          </p:nvSpPr>
          <p:spPr>
            <a:xfrm>
              <a:off x="5940000" y="4499999"/>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Deployment / implementation</a:t>
              </a:r>
            </a:p>
          </p:txBody>
        </p:sp>
        <p:cxnSp>
          <p:nvCxnSpPr>
            <p:cNvPr id="28" name="Straight Arrow Connector 27">
              <a:extLst>
                <a:ext uri="{FF2B5EF4-FFF2-40B4-BE49-F238E27FC236}">
                  <a16:creationId xmlns:a16="http://schemas.microsoft.com/office/drawing/2014/main" id="{7A168E54-E3E4-4882-A550-C35ED8D8EC21}"/>
                </a:ext>
              </a:extLst>
            </p:cNvPr>
            <p:cNvCxnSpPr>
              <a:stCxn id="22" idx="2"/>
              <a:endCxn id="23"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E8F8976-B9C2-472D-9621-BB500C77D0BA}"/>
                </a:ext>
              </a:extLst>
            </p:cNvPr>
            <p:cNvCxnSpPr>
              <a:stCxn id="23" idx="2"/>
              <a:endCxn id="24"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F4A42F9-FB60-4305-ACF6-8280488B26B6}"/>
                </a:ext>
              </a:extLst>
            </p:cNvPr>
            <p:cNvCxnSpPr>
              <a:stCxn id="26" idx="2"/>
              <a:endCxn id="25"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2FDA569-0E03-48F1-AEC5-065EA6B002CB}"/>
                </a:ext>
              </a:extLst>
            </p:cNvPr>
            <p:cNvCxnSpPr>
              <a:stCxn id="25" idx="2"/>
              <a:endCxn id="27"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18">
              <a:extLst>
                <a:ext uri="{FF2B5EF4-FFF2-40B4-BE49-F238E27FC236}">
                  <a16:creationId xmlns:a16="http://schemas.microsoft.com/office/drawing/2014/main" id="{8C6956E2-A44C-486C-AD66-C1069A9F86D7}"/>
                </a:ext>
              </a:extLst>
            </p:cNvPr>
            <p:cNvSpPr/>
            <p:nvPr/>
          </p:nvSpPr>
          <p:spPr>
            <a:xfrm>
              <a:off x="5940000" y="5220001"/>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Maintenance</a:t>
              </a:r>
            </a:p>
          </p:txBody>
        </p:sp>
        <p:cxnSp>
          <p:nvCxnSpPr>
            <p:cNvPr id="33" name="Straight Arrow Connector 32">
              <a:extLst>
                <a:ext uri="{FF2B5EF4-FFF2-40B4-BE49-F238E27FC236}">
                  <a16:creationId xmlns:a16="http://schemas.microsoft.com/office/drawing/2014/main" id="{07DACA61-6361-461A-AC69-E83958C1E41D}"/>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55036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AFFB7C-9904-470B-AF78-8BB3FB34606F}"/>
              </a:ext>
            </a:extLst>
          </p:cNvPr>
          <p:cNvSpPr>
            <a:spLocks noGrp="1"/>
          </p:cNvSpPr>
          <p:nvPr>
            <p:ph type="body" sz="quarter" idx="12"/>
          </p:nvPr>
        </p:nvSpPr>
        <p:spPr/>
        <p:txBody>
          <a:bodyPr/>
          <a:lstStyle/>
          <a:p>
            <a:r>
              <a:rPr lang="en-GB" sz="3100" dirty="0"/>
              <a:t>Deployment / implementation</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1"/>
          </p:nvPr>
        </p:nvSpPr>
        <p:spPr>
          <a:xfrm>
            <a:off x="373062" y="1892636"/>
            <a:ext cx="7094537" cy="2742864"/>
          </a:xfrm>
        </p:spPr>
        <p:txBody>
          <a:bodyPr/>
          <a:lstStyle/>
          <a:p>
            <a:pPr marL="360000" indent="-360000">
              <a:spcBef>
                <a:spcPts val="0"/>
              </a:spcBef>
              <a:buFont typeface="Arial" panose="020B0604020202020204" pitchFamily="34" charset="0"/>
              <a:buChar char="•"/>
            </a:pPr>
            <a:r>
              <a:rPr lang="en-GB" dirty="0"/>
              <a:t>Commissioning in a live environment:</a:t>
            </a:r>
          </a:p>
          <a:p>
            <a:pPr marL="720000" lvl="1" indent="-360000">
              <a:spcBef>
                <a:spcPts val="0"/>
              </a:spcBef>
            </a:pPr>
            <a:r>
              <a:rPr lang="en-GB" sz="1800" dirty="0"/>
              <a:t>Also known as  </a:t>
            </a:r>
            <a:r>
              <a:rPr lang="en-GB" sz="1800" b="1" dirty="0"/>
              <a:t>operation</a:t>
            </a:r>
            <a:r>
              <a:rPr lang="en-GB" sz="1800" dirty="0"/>
              <a:t> or </a:t>
            </a:r>
            <a:r>
              <a:rPr lang="en-GB" sz="1800" b="1" dirty="0"/>
              <a:t>production</a:t>
            </a:r>
            <a:r>
              <a:rPr lang="en-GB" sz="1800" dirty="0"/>
              <a:t> environment.</a:t>
            </a:r>
          </a:p>
          <a:p>
            <a:pPr marL="720000" lvl="1" indent="-360000">
              <a:spcBef>
                <a:spcPts val="0"/>
              </a:spcBef>
            </a:pPr>
            <a:r>
              <a:rPr lang="en-GB" sz="1800" dirty="0"/>
              <a:t>Developed in test environment to protect live systems.</a:t>
            </a:r>
          </a:p>
          <a:p>
            <a:pPr marL="360000" indent="-360000">
              <a:spcBef>
                <a:spcPts val="0"/>
              </a:spcBef>
              <a:buFont typeface="Arial" panose="020B0604020202020204" pitchFamily="34" charset="0"/>
              <a:buChar char="•"/>
            </a:pPr>
            <a:endParaRPr lang="en-GB" dirty="0"/>
          </a:p>
          <a:p>
            <a:pPr marL="360000" indent="-360000">
              <a:spcBef>
                <a:spcPts val="0"/>
              </a:spcBef>
              <a:buFont typeface="Arial" panose="020B0604020202020204" pitchFamily="34" charset="0"/>
              <a:buChar char="•"/>
            </a:pPr>
            <a:r>
              <a:rPr lang="en-GB" dirty="0"/>
              <a:t>Needs to be carefully planned, understood, and managed.</a:t>
            </a:r>
          </a:p>
          <a:p>
            <a:pPr marL="285750" indent="-285750">
              <a:buFont typeface="Arial" panose="020B0604020202020204" pitchFamily="34" charset="0"/>
              <a:buChar char="•"/>
            </a:pPr>
            <a:endParaRPr lang="en-GB" dirty="0"/>
          </a:p>
        </p:txBody>
      </p:sp>
      <p:grpSp>
        <p:nvGrpSpPr>
          <p:cNvPr id="21" name="Group 20">
            <a:extLst>
              <a:ext uri="{FF2B5EF4-FFF2-40B4-BE49-F238E27FC236}">
                <a16:creationId xmlns:a16="http://schemas.microsoft.com/office/drawing/2014/main" id="{DB490260-243E-435C-BB3D-5C937D82DFBA}"/>
              </a:ext>
            </a:extLst>
          </p:cNvPr>
          <p:cNvGrpSpPr/>
          <p:nvPr/>
        </p:nvGrpSpPr>
        <p:grpSpPr>
          <a:xfrm>
            <a:off x="8378967" y="1271576"/>
            <a:ext cx="2160000" cy="4860001"/>
            <a:chOff x="5940000" y="900000"/>
            <a:chExt cx="2160000" cy="4860001"/>
          </a:xfrm>
          <a:solidFill>
            <a:schemeClr val="accent6">
              <a:lumMod val="75000"/>
            </a:schemeClr>
          </a:solidFill>
        </p:grpSpPr>
        <p:sp>
          <p:nvSpPr>
            <p:cNvPr id="22" name="Rounded Rectangle 4">
              <a:extLst>
                <a:ext uri="{FF2B5EF4-FFF2-40B4-BE49-F238E27FC236}">
                  <a16:creationId xmlns:a16="http://schemas.microsoft.com/office/drawing/2014/main" id="{4DF37BBF-117D-4D20-BF10-A26F77F690F1}"/>
                </a:ext>
              </a:extLst>
            </p:cNvPr>
            <p:cNvSpPr/>
            <p:nvPr/>
          </p:nvSpPr>
          <p:spPr>
            <a:xfrm>
              <a:off x="5940000" y="90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Feasibility study</a:t>
              </a:r>
            </a:p>
          </p:txBody>
        </p:sp>
        <p:sp>
          <p:nvSpPr>
            <p:cNvPr id="23" name="Rounded Rectangle 5">
              <a:extLst>
                <a:ext uri="{FF2B5EF4-FFF2-40B4-BE49-F238E27FC236}">
                  <a16:creationId xmlns:a16="http://schemas.microsoft.com/office/drawing/2014/main" id="{6DD2C082-36F8-47D2-B486-CDAF50E25753}"/>
                </a:ext>
              </a:extLst>
            </p:cNvPr>
            <p:cNvSpPr/>
            <p:nvPr/>
          </p:nvSpPr>
          <p:spPr>
            <a:xfrm>
              <a:off x="5940000" y="162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Requirements analysis</a:t>
              </a:r>
            </a:p>
          </p:txBody>
        </p:sp>
        <p:sp>
          <p:nvSpPr>
            <p:cNvPr id="24" name="Rounded Rectangle 6">
              <a:extLst>
                <a:ext uri="{FF2B5EF4-FFF2-40B4-BE49-F238E27FC236}">
                  <a16:creationId xmlns:a16="http://schemas.microsoft.com/office/drawing/2014/main" id="{07656366-A4D9-4EE0-A180-0D3DCF5524E9}"/>
                </a:ext>
              </a:extLst>
            </p:cNvPr>
            <p:cNvSpPr/>
            <p:nvPr/>
          </p:nvSpPr>
          <p:spPr>
            <a:xfrm>
              <a:off x="5940000" y="2339999"/>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Design</a:t>
              </a:r>
            </a:p>
          </p:txBody>
        </p:sp>
        <p:sp>
          <p:nvSpPr>
            <p:cNvPr id="25" name="Rounded Rectangle 7">
              <a:extLst>
                <a:ext uri="{FF2B5EF4-FFF2-40B4-BE49-F238E27FC236}">
                  <a16:creationId xmlns:a16="http://schemas.microsoft.com/office/drawing/2014/main" id="{B3F79C01-59F5-4751-962C-3B19D857D225}"/>
                </a:ext>
              </a:extLst>
            </p:cNvPr>
            <p:cNvSpPr/>
            <p:nvPr/>
          </p:nvSpPr>
          <p:spPr>
            <a:xfrm>
              <a:off x="5940000" y="3779997"/>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Testing</a:t>
              </a:r>
            </a:p>
          </p:txBody>
        </p:sp>
        <p:sp>
          <p:nvSpPr>
            <p:cNvPr id="26" name="Rounded Rectangle 8">
              <a:extLst>
                <a:ext uri="{FF2B5EF4-FFF2-40B4-BE49-F238E27FC236}">
                  <a16:creationId xmlns:a16="http://schemas.microsoft.com/office/drawing/2014/main" id="{98934A84-D3C4-4289-B903-CD6C651FAA13}"/>
                </a:ext>
              </a:extLst>
            </p:cNvPr>
            <p:cNvSpPr/>
            <p:nvPr/>
          </p:nvSpPr>
          <p:spPr>
            <a:xfrm>
              <a:off x="5940000" y="3059999"/>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Code development</a:t>
              </a:r>
            </a:p>
          </p:txBody>
        </p:sp>
        <p:sp>
          <p:nvSpPr>
            <p:cNvPr id="27" name="Rounded Rectangle 9">
              <a:extLst>
                <a:ext uri="{FF2B5EF4-FFF2-40B4-BE49-F238E27FC236}">
                  <a16:creationId xmlns:a16="http://schemas.microsoft.com/office/drawing/2014/main" id="{1393FFDE-3179-4DA2-A9E0-DE5D99945BCD}"/>
                </a:ext>
              </a:extLst>
            </p:cNvPr>
            <p:cNvSpPr/>
            <p:nvPr/>
          </p:nvSpPr>
          <p:spPr>
            <a:xfrm>
              <a:off x="5940000" y="4499999"/>
              <a:ext cx="2160000" cy="540000"/>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Deployment / implementation</a:t>
              </a:r>
            </a:p>
          </p:txBody>
        </p:sp>
        <p:cxnSp>
          <p:nvCxnSpPr>
            <p:cNvPr id="28" name="Straight Arrow Connector 27">
              <a:extLst>
                <a:ext uri="{FF2B5EF4-FFF2-40B4-BE49-F238E27FC236}">
                  <a16:creationId xmlns:a16="http://schemas.microsoft.com/office/drawing/2014/main" id="{7A168E54-E3E4-4882-A550-C35ED8D8EC21}"/>
                </a:ext>
              </a:extLst>
            </p:cNvPr>
            <p:cNvCxnSpPr>
              <a:stCxn id="22" idx="2"/>
              <a:endCxn id="23"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E8F8976-B9C2-472D-9621-BB500C77D0BA}"/>
                </a:ext>
              </a:extLst>
            </p:cNvPr>
            <p:cNvCxnSpPr>
              <a:stCxn id="23" idx="2"/>
              <a:endCxn id="24"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F4A42F9-FB60-4305-ACF6-8280488B26B6}"/>
                </a:ext>
              </a:extLst>
            </p:cNvPr>
            <p:cNvCxnSpPr>
              <a:stCxn id="26" idx="2"/>
              <a:endCxn id="25"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2FDA569-0E03-48F1-AEC5-065EA6B002CB}"/>
                </a:ext>
              </a:extLst>
            </p:cNvPr>
            <p:cNvCxnSpPr>
              <a:stCxn id="25" idx="2"/>
              <a:endCxn id="27"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18">
              <a:extLst>
                <a:ext uri="{FF2B5EF4-FFF2-40B4-BE49-F238E27FC236}">
                  <a16:creationId xmlns:a16="http://schemas.microsoft.com/office/drawing/2014/main" id="{8C6956E2-A44C-486C-AD66-C1069A9F86D7}"/>
                </a:ext>
              </a:extLst>
            </p:cNvPr>
            <p:cNvSpPr/>
            <p:nvPr/>
          </p:nvSpPr>
          <p:spPr>
            <a:xfrm>
              <a:off x="5940000" y="5220001"/>
              <a:ext cx="2160000" cy="54000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Maintenance</a:t>
              </a:r>
            </a:p>
          </p:txBody>
        </p:sp>
        <p:cxnSp>
          <p:nvCxnSpPr>
            <p:cNvPr id="33" name="Straight Arrow Connector 32">
              <a:extLst>
                <a:ext uri="{FF2B5EF4-FFF2-40B4-BE49-F238E27FC236}">
                  <a16:creationId xmlns:a16="http://schemas.microsoft.com/office/drawing/2014/main" id="{07DACA61-6361-461A-AC69-E83958C1E41D}"/>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8804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AFFB7C-9904-470B-AF78-8BB3FB34606F}"/>
              </a:ext>
            </a:extLst>
          </p:cNvPr>
          <p:cNvSpPr>
            <a:spLocks noGrp="1"/>
          </p:cNvSpPr>
          <p:nvPr>
            <p:ph type="body" sz="quarter" idx="12"/>
          </p:nvPr>
        </p:nvSpPr>
        <p:spPr/>
        <p:txBody>
          <a:bodyPr/>
          <a:lstStyle/>
          <a:p>
            <a:r>
              <a:rPr lang="en-GB" sz="3100" dirty="0"/>
              <a:t>Maintenance</a:t>
            </a:r>
          </a:p>
        </p:txBody>
      </p:sp>
      <p:sp>
        <p:nvSpPr>
          <p:cNvPr id="7" name="Text Placeholder 14">
            <a:extLst>
              <a:ext uri="{FF2B5EF4-FFF2-40B4-BE49-F238E27FC236}">
                <a16:creationId xmlns:a16="http://schemas.microsoft.com/office/drawing/2014/main" id="{B49DC77B-A96B-4035-8CF1-97F7F7028B1A}"/>
              </a:ext>
            </a:extLst>
          </p:cNvPr>
          <p:cNvSpPr>
            <a:spLocks noGrp="1"/>
          </p:cNvSpPr>
          <p:nvPr>
            <p:ph type="body" sz="quarter" idx="11"/>
          </p:nvPr>
        </p:nvSpPr>
        <p:spPr>
          <a:xfrm>
            <a:off x="373062" y="1892636"/>
            <a:ext cx="6818843" cy="2742864"/>
          </a:xfrm>
        </p:spPr>
        <p:txBody>
          <a:bodyPr/>
          <a:lstStyle/>
          <a:p>
            <a:pPr marL="360000" indent="-360000">
              <a:spcBef>
                <a:spcPts val="0"/>
              </a:spcBef>
              <a:buFont typeface="Arial" panose="020B0604020202020204" pitchFamily="34" charset="0"/>
              <a:buChar char="•"/>
            </a:pPr>
            <a:r>
              <a:rPr lang="en-GB" sz="1700" dirty="0"/>
              <a:t>More than just correcting faults or keeping the system in good running order:</a:t>
            </a:r>
          </a:p>
          <a:p>
            <a:pPr marL="720000" lvl="1" indent="-360000">
              <a:spcBef>
                <a:spcPts val="0"/>
              </a:spcBef>
            </a:pPr>
            <a:r>
              <a:rPr lang="en-GB" sz="1700" dirty="0"/>
              <a:t>20% corrective</a:t>
            </a:r>
          </a:p>
          <a:p>
            <a:pPr marL="720000" lvl="1" indent="-360000">
              <a:spcBef>
                <a:spcPts val="0"/>
              </a:spcBef>
            </a:pPr>
            <a:r>
              <a:rPr lang="en-GB" sz="1700" dirty="0"/>
              <a:t>80% enhancements</a:t>
            </a:r>
          </a:p>
          <a:p>
            <a:pPr marL="360000" indent="-360000">
              <a:spcBef>
                <a:spcPts val="0"/>
              </a:spcBef>
              <a:buFont typeface="Arial" panose="020B0604020202020204" pitchFamily="34" charset="0"/>
              <a:buChar char="•"/>
            </a:pPr>
            <a:r>
              <a:rPr lang="en-GB" sz="1700" dirty="0"/>
              <a:t>Depends on:</a:t>
            </a:r>
          </a:p>
          <a:p>
            <a:pPr marL="720000" lvl="1" indent="-360000">
              <a:spcBef>
                <a:spcPts val="0"/>
              </a:spcBef>
            </a:pPr>
            <a:r>
              <a:rPr lang="en-GB" sz="1700" dirty="0"/>
              <a:t>development strategy and lifetime of operation</a:t>
            </a:r>
          </a:p>
          <a:p>
            <a:pPr lvl="1">
              <a:spcBef>
                <a:spcPts val="0"/>
              </a:spcBef>
            </a:pPr>
            <a:r>
              <a:rPr lang="en-GB" sz="1700" b="1" dirty="0"/>
              <a:t>Maintenance types:</a:t>
            </a:r>
          </a:p>
          <a:p>
            <a:pPr marL="720000" lvl="1" indent="-360000">
              <a:spcBef>
                <a:spcPts val="0"/>
              </a:spcBef>
            </a:pPr>
            <a:r>
              <a:rPr lang="en-GB" sz="1700" dirty="0"/>
              <a:t>Corrective</a:t>
            </a:r>
          </a:p>
          <a:p>
            <a:pPr marL="720000" lvl="1" indent="-360000">
              <a:spcBef>
                <a:spcPts val="0"/>
              </a:spcBef>
            </a:pPr>
            <a:r>
              <a:rPr lang="en-GB" sz="1700" dirty="0"/>
              <a:t>Adaptive</a:t>
            </a:r>
          </a:p>
          <a:p>
            <a:pPr marL="720000" lvl="1" indent="-360000">
              <a:spcBef>
                <a:spcPts val="0"/>
              </a:spcBef>
            </a:pPr>
            <a:r>
              <a:rPr lang="en-GB" sz="1700" dirty="0"/>
              <a:t>Perfective</a:t>
            </a:r>
          </a:p>
          <a:p>
            <a:pPr marL="720000" lvl="1" indent="-360000">
              <a:spcBef>
                <a:spcPts val="0"/>
              </a:spcBef>
            </a:pPr>
            <a:r>
              <a:rPr lang="en-GB" sz="1700" dirty="0"/>
              <a:t>Preventative</a:t>
            </a:r>
          </a:p>
          <a:p>
            <a:pPr marL="285750" indent="-285750">
              <a:buFont typeface="Arial" panose="020B0604020202020204" pitchFamily="34" charset="0"/>
              <a:buChar char="•"/>
            </a:pPr>
            <a:endParaRPr lang="en-GB" sz="1700" dirty="0"/>
          </a:p>
        </p:txBody>
      </p:sp>
      <p:grpSp>
        <p:nvGrpSpPr>
          <p:cNvPr id="21" name="Group 20">
            <a:extLst>
              <a:ext uri="{FF2B5EF4-FFF2-40B4-BE49-F238E27FC236}">
                <a16:creationId xmlns:a16="http://schemas.microsoft.com/office/drawing/2014/main" id="{DB490260-243E-435C-BB3D-5C937D82DFBA}"/>
              </a:ext>
            </a:extLst>
          </p:cNvPr>
          <p:cNvGrpSpPr/>
          <p:nvPr/>
        </p:nvGrpSpPr>
        <p:grpSpPr>
          <a:xfrm>
            <a:off x="8378967" y="1271576"/>
            <a:ext cx="2160000" cy="4860001"/>
            <a:chOff x="5940000" y="900000"/>
            <a:chExt cx="2160000" cy="4860001"/>
          </a:xfrm>
          <a:solidFill>
            <a:schemeClr val="accent6">
              <a:lumMod val="75000"/>
            </a:schemeClr>
          </a:solidFill>
        </p:grpSpPr>
        <p:sp>
          <p:nvSpPr>
            <p:cNvPr id="22" name="Rounded Rectangle 4">
              <a:extLst>
                <a:ext uri="{FF2B5EF4-FFF2-40B4-BE49-F238E27FC236}">
                  <a16:creationId xmlns:a16="http://schemas.microsoft.com/office/drawing/2014/main" id="{4DF37BBF-117D-4D20-BF10-A26F77F690F1}"/>
                </a:ext>
              </a:extLst>
            </p:cNvPr>
            <p:cNvSpPr/>
            <p:nvPr/>
          </p:nvSpPr>
          <p:spPr>
            <a:xfrm>
              <a:off x="5940000" y="90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Feasibility study</a:t>
              </a:r>
            </a:p>
          </p:txBody>
        </p:sp>
        <p:sp>
          <p:nvSpPr>
            <p:cNvPr id="23" name="Rounded Rectangle 5">
              <a:extLst>
                <a:ext uri="{FF2B5EF4-FFF2-40B4-BE49-F238E27FC236}">
                  <a16:creationId xmlns:a16="http://schemas.microsoft.com/office/drawing/2014/main" id="{6DD2C082-36F8-47D2-B486-CDAF50E25753}"/>
                </a:ext>
              </a:extLst>
            </p:cNvPr>
            <p:cNvSpPr/>
            <p:nvPr/>
          </p:nvSpPr>
          <p:spPr>
            <a:xfrm>
              <a:off x="5940000" y="1620000"/>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Requirements analysis</a:t>
              </a:r>
            </a:p>
          </p:txBody>
        </p:sp>
        <p:sp>
          <p:nvSpPr>
            <p:cNvPr id="24" name="Rounded Rectangle 6">
              <a:extLst>
                <a:ext uri="{FF2B5EF4-FFF2-40B4-BE49-F238E27FC236}">
                  <a16:creationId xmlns:a16="http://schemas.microsoft.com/office/drawing/2014/main" id="{07656366-A4D9-4EE0-A180-0D3DCF5524E9}"/>
                </a:ext>
              </a:extLst>
            </p:cNvPr>
            <p:cNvSpPr/>
            <p:nvPr/>
          </p:nvSpPr>
          <p:spPr>
            <a:xfrm>
              <a:off x="5940000" y="2339999"/>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Design</a:t>
              </a:r>
            </a:p>
          </p:txBody>
        </p:sp>
        <p:sp>
          <p:nvSpPr>
            <p:cNvPr id="25" name="Rounded Rectangle 7">
              <a:extLst>
                <a:ext uri="{FF2B5EF4-FFF2-40B4-BE49-F238E27FC236}">
                  <a16:creationId xmlns:a16="http://schemas.microsoft.com/office/drawing/2014/main" id="{B3F79C01-59F5-4751-962C-3B19D857D225}"/>
                </a:ext>
              </a:extLst>
            </p:cNvPr>
            <p:cNvSpPr/>
            <p:nvPr/>
          </p:nvSpPr>
          <p:spPr>
            <a:xfrm>
              <a:off x="5940000" y="3779997"/>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Testing</a:t>
              </a:r>
            </a:p>
          </p:txBody>
        </p:sp>
        <p:sp>
          <p:nvSpPr>
            <p:cNvPr id="26" name="Rounded Rectangle 8">
              <a:extLst>
                <a:ext uri="{FF2B5EF4-FFF2-40B4-BE49-F238E27FC236}">
                  <a16:creationId xmlns:a16="http://schemas.microsoft.com/office/drawing/2014/main" id="{98934A84-D3C4-4289-B903-CD6C651FAA13}"/>
                </a:ext>
              </a:extLst>
            </p:cNvPr>
            <p:cNvSpPr/>
            <p:nvPr/>
          </p:nvSpPr>
          <p:spPr>
            <a:xfrm>
              <a:off x="5940000" y="3059999"/>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Code development</a:t>
              </a:r>
            </a:p>
          </p:txBody>
        </p:sp>
        <p:sp>
          <p:nvSpPr>
            <p:cNvPr id="27" name="Rounded Rectangle 9">
              <a:extLst>
                <a:ext uri="{FF2B5EF4-FFF2-40B4-BE49-F238E27FC236}">
                  <a16:creationId xmlns:a16="http://schemas.microsoft.com/office/drawing/2014/main" id="{1393FFDE-3179-4DA2-A9E0-DE5D99945BCD}"/>
                </a:ext>
              </a:extLst>
            </p:cNvPr>
            <p:cNvSpPr/>
            <p:nvPr/>
          </p:nvSpPr>
          <p:spPr>
            <a:xfrm>
              <a:off x="5940000" y="4499999"/>
              <a:ext cx="2160000" cy="5400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Deployment / implementation</a:t>
              </a:r>
            </a:p>
          </p:txBody>
        </p:sp>
        <p:cxnSp>
          <p:nvCxnSpPr>
            <p:cNvPr id="28" name="Straight Arrow Connector 27">
              <a:extLst>
                <a:ext uri="{FF2B5EF4-FFF2-40B4-BE49-F238E27FC236}">
                  <a16:creationId xmlns:a16="http://schemas.microsoft.com/office/drawing/2014/main" id="{7A168E54-E3E4-4882-A550-C35ED8D8EC21}"/>
                </a:ext>
              </a:extLst>
            </p:cNvPr>
            <p:cNvCxnSpPr>
              <a:stCxn id="22" idx="2"/>
              <a:endCxn id="23" idx="0"/>
            </p:cNvCxnSpPr>
            <p:nvPr/>
          </p:nvCxnSpPr>
          <p:spPr>
            <a:xfrm>
              <a:off x="7020000" y="1440000"/>
              <a:ext cx="0" cy="180000"/>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E8F8976-B9C2-472D-9621-BB500C77D0BA}"/>
                </a:ext>
              </a:extLst>
            </p:cNvPr>
            <p:cNvCxnSpPr>
              <a:stCxn id="23" idx="2"/>
              <a:endCxn id="24" idx="0"/>
            </p:cNvCxnSpPr>
            <p:nvPr/>
          </p:nvCxnSpPr>
          <p:spPr>
            <a:xfrm>
              <a:off x="7020000" y="2160000"/>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F4A42F9-FB60-4305-ACF6-8280488B26B6}"/>
                </a:ext>
              </a:extLst>
            </p:cNvPr>
            <p:cNvCxnSpPr>
              <a:stCxn id="26" idx="2"/>
              <a:endCxn id="25" idx="0"/>
            </p:cNvCxnSpPr>
            <p:nvPr/>
          </p:nvCxnSpPr>
          <p:spPr>
            <a:xfrm>
              <a:off x="7020000" y="3599999"/>
              <a:ext cx="0" cy="179999"/>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2FDA569-0E03-48F1-AEC5-065EA6B002CB}"/>
                </a:ext>
              </a:extLst>
            </p:cNvPr>
            <p:cNvCxnSpPr>
              <a:stCxn id="25" idx="2"/>
              <a:endCxn id="27" idx="0"/>
            </p:cNvCxnSpPr>
            <p:nvPr/>
          </p:nvCxnSpPr>
          <p:spPr>
            <a:xfrm>
              <a:off x="7020000" y="4319997"/>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18">
              <a:extLst>
                <a:ext uri="{FF2B5EF4-FFF2-40B4-BE49-F238E27FC236}">
                  <a16:creationId xmlns:a16="http://schemas.microsoft.com/office/drawing/2014/main" id="{8C6956E2-A44C-486C-AD66-C1069A9F86D7}"/>
                </a:ext>
              </a:extLst>
            </p:cNvPr>
            <p:cNvSpPr/>
            <p:nvPr/>
          </p:nvSpPr>
          <p:spPr>
            <a:xfrm>
              <a:off x="5940000" y="5220001"/>
              <a:ext cx="2160000" cy="540000"/>
            </a:xfrm>
            <a:prstGeom prst="round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Maintenance</a:t>
              </a:r>
            </a:p>
          </p:txBody>
        </p:sp>
        <p:cxnSp>
          <p:nvCxnSpPr>
            <p:cNvPr id="33" name="Straight Arrow Connector 32">
              <a:extLst>
                <a:ext uri="{FF2B5EF4-FFF2-40B4-BE49-F238E27FC236}">
                  <a16:creationId xmlns:a16="http://schemas.microsoft.com/office/drawing/2014/main" id="{07DACA61-6361-461A-AC69-E83958C1E41D}"/>
                </a:ext>
              </a:extLst>
            </p:cNvPr>
            <p:cNvCxnSpPr/>
            <p:nvPr/>
          </p:nvCxnSpPr>
          <p:spPr>
            <a:xfrm>
              <a:off x="7036857" y="5042916"/>
              <a:ext cx="0" cy="180002"/>
            </a:xfrm>
            <a:prstGeom prst="straightConnector1">
              <a:avLst/>
            </a:prstGeom>
            <a:grpFill/>
            <a:ln w="381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47974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32C7-2A62-4EDC-9645-E575231D1642}"/>
              </a:ext>
            </a:extLst>
          </p:cNvPr>
          <p:cNvSpPr>
            <a:spLocks noGrp="1"/>
          </p:cNvSpPr>
          <p:nvPr>
            <p:ph type="title" idx="4294967295"/>
          </p:nvPr>
        </p:nvSpPr>
        <p:spPr>
          <a:xfrm>
            <a:off x="1335640" y="348110"/>
            <a:ext cx="10856360" cy="687388"/>
          </a:xfrm>
        </p:spPr>
        <p:txBody>
          <a:bodyPr/>
          <a:lstStyle/>
          <a:p>
            <a:r>
              <a:rPr lang="en-GB" dirty="0"/>
              <a:t>Elements of the SDLC</a:t>
            </a:r>
          </a:p>
        </p:txBody>
      </p:sp>
      <p:sp>
        <p:nvSpPr>
          <p:cNvPr id="3" name="Text Placeholder 2">
            <a:extLst>
              <a:ext uri="{FF2B5EF4-FFF2-40B4-BE49-F238E27FC236}">
                <a16:creationId xmlns:a16="http://schemas.microsoft.com/office/drawing/2014/main" id="{0246477C-32E2-46D4-8FC5-22C30D14D768}"/>
              </a:ext>
            </a:extLst>
          </p:cNvPr>
          <p:cNvSpPr>
            <a:spLocks noGrp="1"/>
          </p:cNvSpPr>
          <p:nvPr>
            <p:ph type="body" sz="quarter" idx="4294967295"/>
          </p:nvPr>
        </p:nvSpPr>
        <p:spPr>
          <a:xfrm>
            <a:off x="1629454" y="1825625"/>
            <a:ext cx="8674100" cy="687387"/>
          </a:xfrm>
        </p:spPr>
        <p:txBody>
          <a:bodyPr/>
          <a:lstStyle/>
          <a:p>
            <a:pPr algn="ctr"/>
            <a:r>
              <a:rPr lang="en-GB" dirty="0"/>
              <a:t>In addition to SDLC main stages, you also need to consider other elements:</a:t>
            </a:r>
          </a:p>
          <a:p>
            <a:pPr algn="ctr"/>
            <a:endParaRPr lang="en-GB" dirty="0"/>
          </a:p>
        </p:txBody>
      </p:sp>
      <p:sp>
        <p:nvSpPr>
          <p:cNvPr id="5" name="Text Placeholder 4">
            <a:extLst>
              <a:ext uri="{FF2B5EF4-FFF2-40B4-BE49-F238E27FC236}">
                <a16:creationId xmlns:a16="http://schemas.microsoft.com/office/drawing/2014/main" id="{2D9D49E4-A284-493A-89BF-69AB47C1B782}"/>
              </a:ext>
            </a:extLst>
          </p:cNvPr>
          <p:cNvSpPr txBox="1">
            <a:spLocks/>
          </p:cNvSpPr>
          <p:nvPr/>
        </p:nvSpPr>
        <p:spPr>
          <a:xfrm>
            <a:off x="2546504" y="277853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lt1"/>
                </a:solidFill>
                <a:latin typeface="+mn-lt"/>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lt1"/>
                </a:solidFill>
                <a:latin typeface="+mn-lt"/>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lt1"/>
                </a:solidFill>
                <a:latin typeface="+mn-lt"/>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lt1"/>
                </a:solidFill>
                <a:latin typeface="+mn-lt"/>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GB" sz="1600">
                <a:solidFill>
                  <a:schemeClr val="bg1"/>
                </a:solidFill>
                <a:cs typeface="Arial" pitchFamily="34" charset="0"/>
              </a:rPr>
              <a:t>Context</a:t>
            </a:r>
            <a:endParaRPr lang="en-GB" sz="1600" dirty="0">
              <a:solidFill>
                <a:schemeClr val="bg1"/>
              </a:solidFill>
              <a:cs typeface="Arial" pitchFamily="34" charset="0"/>
            </a:endParaRPr>
          </a:p>
        </p:txBody>
      </p:sp>
      <p:sp>
        <p:nvSpPr>
          <p:cNvPr id="6" name="Rounded Rectangle 5">
            <a:extLst>
              <a:ext uri="{FF2B5EF4-FFF2-40B4-BE49-F238E27FC236}">
                <a16:creationId xmlns:a16="http://schemas.microsoft.com/office/drawing/2014/main" id="{3631FC1E-BBAA-4CEA-ADCD-CCEE60E95873}"/>
              </a:ext>
            </a:extLst>
          </p:cNvPr>
          <p:cNvSpPr/>
          <p:nvPr/>
        </p:nvSpPr>
        <p:spPr>
          <a:xfrm>
            <a:off x="2546504" y="385853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Life cycle</a:t>
            </a:r>
          </a:p>
        </p:txBody>
      </p:sp>
      <p:sp>
        <p:nvSpPr>
          <p:cNvPr id="7" name="Text Placeholder 4">
            <a:extLst>
              <a:ext uri="{FF2B5EF4-FFF2-40B4-BE49-F238E27FC236}">
                <a16:creationId xmlns:a16="http://schemas.microsoft.com/office/drawing/2014/main" id="{2437B2C8-0858-4764-B24B-737CCA4CD6F5}"/>
              </a:ext>
            </a:extLst>
          </p:cNvPr>
          <p:cNvSpPr txBox="1">
            <a:spLocks/>
          </p:cNvSpPr>
          <p:nvPr/>
        </p:nvSpPr>
        <p:spPr>
          <a:xfrm>
            <a:off x="2546504" y="493853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600" dirty="0">
                <a:solidFill>
                  <a:schemeClr val="bg1"/>
                </a:solidFill>
                <a:cs typeface="Arial" pitchFamily="34" charset="0"/>
              </a:rPr>
              <a:t>Techniques</a:t>
            </a:r>
          </a:p>
        </p:txBody>
      </p:sp>
      <p:sp>
        <p:nvSpPr>
          <p:cNvPr id="8" name="Rounded Rectangle 7">
            <a:extLst>
              <a:ext uri="{FF2B5EF4-FFF2-40B4-BE49-F238E27FC236}">
                <a16:creationId xmlns:a16="http://schemas.microsoft.com/office/drawing/2014/main" id="{4B2FBE70-3149-46A5-AB64-FE01042C3DDB}"/>
              </a:ext>
            </a:extLst>
          </p:cNvPr>
          <p:cNvSpPr/>
          <p:nvPr/>
        </p:nvSpPr>
        <p:spPr>
          <a:xfrm>
            <a:off x="4346504" y="385853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Process</a:t>
            </a:r>
          </a:p>
        </p:txBody>
      </p:sp>
      <p:sp>
        <p:nvSpPr>
          <p:cNvPr id="9" name="Rounded Rectangle 8">
            <a:extLst>
              <a:ext uri="{FF2B5EF4-FFF2-40B4-BE49-F238E27FC236}">
                <a16:creationId xmlns:a16="http://schemas.microsoft.com/office/drawing/2014/main" id="{F241087B-30E1-4059-A992-C30ED539E362}"/>
              </a:ext>
            </a:extLst>
          </p:cNvPr>
          <p:cNvSpPr/>
          <p:nvPr/>
        </p:nvSpPr>
        <p:spPr>
          <a:xfrm>
            <a:off x="6146504" y="385853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Roles</a:t>
            </a:r>
          </a:p>
        </p:txBody>
      </p:sp>
      <p:sp>
        <p:nvSpPr>
          <p:cNvPr id="10" name="Rounded Rectangle 9">
            <a:extLst>
              <a:ext uri="{FF2B5EF4-FFF2-40B4-BE49-F238E27FC236}">
                <a16:creationId xmlns:a16="http://schemas.microsoft.com/office/drawing/2014/main" id="{3B35B1A6-D321-49D1-832A-A9C0A3E18D5C}"/>
              </a:ext>
            </a:extLst>
          </p:cNvPr>
          <p:cNvSpPr/>
          <p:nvPr/>
        </p:nvSpPr>
        <p:spPr>
          <a:xfrm>
            <a:off x="7946504" y="385853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solidFill>
                  <a:schemeClr val="bg1"/>
                </a:solidFill>
                <a:cs typeface="Arial" pitchFamily="34" charset="0"/>
              </a:rPr>
              <a:t>Deliverables</a:t>
            </a:r>
          </a:p>
        </p:txBody>
      </p:sp>
      <p:sp>
        <p:nvSpPr>
          <p:cNvPr id="11" name="Down Arrow 3">
            <a:extLst>
              <a:ext uri="{FF2B5EF4-FFF2-40B4-BE49-F238E27FC236}">
                <a16:creationId xmlns:a16="http://schemas.microsoft.com/office/drawing/2014/main" id="{AAB0E62B-41E0-44A4-80A9-7DC8A7AF0203}"/>
              </a:ext>
            </a:extLst>
          </p:cNvPr>
          <p:cNvSpPr/>
          <p:nvPr/>
        </p:nvSpPr>
        <p:spPr>
          <a:xfrm>
            <a:off x="3086504" y="331853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2" name="Down Arrow 11">
            <a:extLst>
              <a:ext uri="{FF2B5EF4-FFF2-40B4-BE49-F238E27FC236}">
                <a16:creationId xmlns:a16="http://schemas.microsoft.com/office/drawing/2014/main" id="{A22CBD1D-2526-4E57-BBB9-4FBC90EDD65B}"/>
              </a:ext>
            </a:extLst>
          </p:cNvPr>
          <p:cNvSpPr/>
          <p:nvPr/>
        </p:nvSpPr>
        <p:spPr>
          <a:xfrm>
            <a:off x="4886504" y="331853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3" name="Down Arrow 12">
            <a:extLst>
              <a:ext uri="{FF2B5EF4-FFF2-40B4-BE49-F238E27FC236}">
                <a16:creationId xmlns:a16="http://schemas.microsoft.com/office/drawing/2014/main" id="{CF28DBB8-CC9A-44A5-B0B7-B52B5BF564EC}"/>
              </a:ext>
            </a:extLst>
          </p:cNvPr>
          <p:cNvSpPr/>
          <p:nvPr/>
        </p:nvSpPr>
        <p:spPr>
          <a:xfrm>
            <a:off x="6686504" y="331853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4" name="Down Arrow 13">
            <a:extLst>
              <a:ext uri="{FF2B5EF4-FFF2-40B4-BE49-F238E27FC236}">
                <a16:creationId xmlns:a16="http://schemas.microsoft.com/office/drawing/2014/main" id="{9D2DD243-C544-494E-859C-EAD9678BCF80}"/>
              </a:ext>
            </a:extLst>
          </p:cNvPr>
          <p:cNvSpPr/>
          <p:nvPr/>
        </p:nvSpPr>
        <p:spPr>
          <a:xfrm>
            <a:off x="8486504" y="331853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5" name="Up-Down Arrow 10">
            <a:extLst>
              <a:ext uri="{FF2B5EF4-FFF2-40B4-BE49-F238E27FC236}">
                <a16:creationId xmlns:a16="http://schemas.microsoft.com/office/drawing/2014/main" id="{B8B47D75-F3F4-416A-9431-7C1E74465437}"/>
              </a:ext>
            </a:extLst>
          </p:cNvPr>
          <p:cNvSpPr/>
          <p:nvPr/>
        </p:nvSpPr>
        <p:spPr>
          <a:xfrm>
            <a:off x="3086504" y="439853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6" name="Up-Down Arrow 15">
            <a:extLst>
              <a:ext uri="{FF2B5EF4-FFF2-40B4-BE49-F238E27FC236}">
                <a16:creationId xmlns:a16="http://schemas.microsoft.com/office/drawing/2014/main" id="{61CFC9E1-E82F-4C95-9044-28A8B57075CF}"/>
              </a:ext>
            </a:extLst>
          </p:cNvPr>
          <p:cNvSpPr/>
          <p:nvPr/>
        </p:nvSpPr>
        <p:spPr>
          <a:xfrm>
            <a:off x="4886504" y="439853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7" name="Up-Down Arrow 16">
            <a:extLst>
              <a:ext uri="{FF2B5EF4-FFF2-40B4-BE49-F238E27FC236}">
                <a16:creationId xmlns:a16="http://schemas.microsoft.com/office/drawing/2014/main" id="{898390F1-3467-46EC-8BD1-23C31701BF13}"/>
              </a:ext>
            </a:extLst>
          </p:cNvPr>
          <p:cNvSpPr/>
          <p:nvPr/>
        </p:nvSpPr>
        <p:spPr>
          <a:xfrm>
            <a:off x="6677684" y="439853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8" name="Up-Down Arrow 17">
            <a:extLst>
              <a:ext uri="{FF2B5EF4-FFF2-40B4-BE49-F238E27FC236}">
                <a16:creationId xmlns:a16="http://schemas.microsoft.com/office/drawing/2014/main" id="{DD1B7651-E9F0-441E-8235-19FF11B6F669}"/>
              </a:ext>
            </a:extLst>
          </p:cNvPr>
          <p:cNvSpPr/>
          <p:nvPr/>
        </p:nvSpPr>
        <p:spPr>
          <a:xfrm>
            <a:off x="8486504" y="439853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19" name="Plus 14">
            <a:extLst>
              <a:ext uri="{FF2B5EF4-FFF2-40B4-BE49-F238E27FC236}">
                <a16:creationId xmlns:a16="http://schemas.microsoft.com/office/drawing/2014/main" id="{34C45B30-4EF6-4480-A736-0470D257FB72}"/>
              </a:ext>
            </a:extLst>
          </p:cNvPr>
          <p:cNvSpPr/>
          <p:nvPr/>
        </p:nvSpPr>
        <p:spPr>
          <a:xfrm>
            <a:off x="4058504" y="403853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20" name="Plus 19">
            <a:extLst>
              <a:ext uri="{FF2B5EF4-FFF2-40B4-BE49-F238E27FC236}">
                <a16:creationId xmlns:a16="http://schemas.microsoft.com/office/drawing/2014/main" id="{3C183A82-9222-4387-A141-F7C3F81E0E6A}"/>
              </a:ext>
            </a:extLst>
          </p:cNvPr>
          <p:cNvSpPr/>
          <p:nvPr/>
        </p:nvSpPr>
        <p:spPr>
          <a:xfrm>
            <a:off x="5858504" y="402053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21" name="Plus 20">
            <a:extLst>
              <a:ext uri="{FF2B5EF4-FFF2-40B4-BE49-F238E27FC236}">
                <a16:creationId xmlns:a16="http://schemas.microsoft.com/office/drawing/2014/main" id="{C7E693CD-A977-4377-918D-965B625A806C}"/>
              </a:ext>
            </a:extLst>
          </p:cNvPr>
          <p:cNvSpPr/>
          <p:nvPr/>
        </p:nvSpPr>
        <p:spPr>
          <a:xfrm>
            <a:off x="7658504" y="403853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Tree>
    <p:extLst>
      <p:ext uri="{BB962C8B-B14F-4D97-AF65-F5344CB8AC3E}">
        <p14:creationId xmlns:p14="http://schemas.microsoft.com/office/powerpoint/2010/main" val="823350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5F864-975F-4028-9776-65343FC88B70}"/>
              </a:ext>
            </a:extLst>
          </p:cNvPr>
          <p:cNvSpPr>
            <a:spLocks noGrp="1"/>
          </p:cNvSpPr>
          <p:nvPr>
            <p:ph type="title" idx="4294967295"/>
          </p:nvPr>
        </p:nvSpPr>
        <p:spPr>
          <a:xfrm>
            <a:off x="4758000" y="192088"/>
            <a:ext cx="2676000" cy="687387"/>
          </a:xfrm>
        </p:spPr>
        <p:txBody>
          <a:bodyPr/>
          <a:lstStyle/>
          <a:p>
            <a:r>
              <a:rPr lang="en-GB" dirty="0"/>
              <a:t>Context</a:t>
            </a:r>
          </a:p>
        </p:txBody>
      </p:sp>
      <p:sp>
        <p:nvSpPr>
          <p:cNvPr id="3" name="Text Placeholder 2">
            <a:extLst>
              <a:ext uri="{FF2B5EF4-FFF2-40B4-BE49-F238E27FC236}">
                <a16:creationId xmlns:a16="http://schemas.microsoft.com/office/drawing/2014/main" id="{F466390D-772C-486E-9B97-FEC9B2DDEF89}"/>
              </a:ext>
            </a:extLst>
          </p:cNvPr>
          <p:cNvSpPr>
            <a:spLocks noGrp="1"/>
          </p:cNvSpPr>
          <p:nvPr>
            <p:ph type="body" sz="quarter" idx="4294967295"/>
          </p:nvPr>
        </p:nvSpPr>
        <p:spPr>
          <a:xfrm>
            <a:off x="1329350" y="4239695"/>
            <a:ext cx="9893300" cy="2286000"/>
          </a:xfrm>
        </p:spPr>
        <p:txBody>
          <a:bodyPr/>
          <a:lstStyle/>
          <a:p>
            <a:pPr fontAlgn="auto">
              <a:spcBef>
                <a:spcPts val="0"/>
              </a:spcBef>
              <a:spcAft>
                <a:spcPts val="600"/>
              </a:spcAft>
            </a:pPr>
            <a:r>
              <a:rPr lang="en-GB" dirty="0"/>
              <a:t>Needs to be considered before starting:</a:t>
            </a:r>
          </a:p>
          <a:p>
            <a:pPr marL="720000" lvl="1" indent="-360000" fontAlgn="auto">
              <a:spcBef>
                <a:spcPts val="0"/>
              </a:spcBef>
              <a:spcAft>
                <a:spcPts val="600"/>
              </a:spcAft>
              <a:buFont typeface="Arial" panose="020B0604020202020204" pitchFamily="34" charset="0"/>
              <a:buChar char="•"/>
            </a:pPr>
            <a:r>
              <a:rPr lang="en-GB" sz="1800" b="1" dirty="0"/>
              <a:t>Release plan</a:t>
            </a:r>
            <a:r>
              <a:rPr lang="en-GB" sz="1800" dirty="0"/>
              <a:t>: single or multiple</a:t>
            </a:r>
          </a:p>
          <a:p>
            <a:pPr marL="720000" lvl="1" indent="-360000" fontAlgn="auto">
              <a:spcBef>
                <a:spcPts val="0"/>
              </a:spcBef>
              <a:spcAft>
                <a:spcPts val="600"/>
              </a:spcAft>
              <a:buFont typeface="Arial" panose="020B0604020202020204" pitchFamily="34" charset="0"/>
              <a:buChar char="•"/>
            </a:pPr>
            <a:r>
              <a:rPr lang="en-GB" sz="1800" dirty="0"/>
              <a:t>Level of </a:t>
            </a:r>
            <a:r>
              <a:rPr lang="en-GB" sz="1800" b="1" dirty="0"/>
              <a:t>skills </a:t>
            </a:r>
            <a:r>
              <a:rPr lang="en-GB" sz="1800" dirty="0"/>
              <a:t>and expertise: preferred delivery style</a:t>
            </a:r>
          </a:p>
          <a:p>
            <a:pPr marL="720000" lvl="1" indent="-360000" fontAlgn="auto">
              <a:spcBef>
                <a:spcPts val="0"/>
              </a:spcBef>
              <a:spcAft>
                <a:spcPts val="600"/>
              </a:spcAft>
              <a:buFont typeface="Arial" panose="020B0604020202020204" pitchFamily="34" charset="0"/>
              <a:buChar char="•"/>
            </a:pPr>
            <a:r>
              <a:rPr lang="en-GB" sz="1800" b="1" dirty="0"/>
              <a:t>Location of teams </a:t>
            </a:r>
            <a:r>
              <a:rPr lang="en-GB" sz="1800" dirty="0"/>
              <a:t>and stakeholders: single site or dispersed</a:t>
            </a:r>
          </a:p>
          <a:p>
            <a:pPr marL="720000" lvl="1" indent="-360000" fontAlgn="auto">
              <a:spcBef>
                <a:spcPts val="0"/>
              </a:spcBef>
              <a:spcAft>
                <a:spcPts val="600"/>
              </a:spcAft>
              <a:buFont typeface="Arial" panose="020B0604020202020204" pitchFamily="34" charset="0"/>
              <a:buChar char="•"/>
            </a:pPr>
            <a:r>
              <a:rPr lang="en-GB" sz="1800" b="1" dirty="0"/>
              <a:t>Requirements</a:t>
            </a:r>
            <a:r>
              <a:rPr lang="en-GB" sz="1800" dirty="0"/>
              <a:t>: audit, quality, regulatory, complexity and stability</a:t>
            </a:r>
          </a:p>
          <a:p>
            <a:pPr marL="720000" lvl="1" indent="-360000" fontAlgn="auto">
              <a:spcBef>
                <a:spcPts val="0"/>
              </a:spcBef>
              <a:spcAft>
                <a:spcPts val="600"/>
              </a:spcAft>
              <a:buFont typeface="Arial" panose="020B0604020202020204" pitchFamily="34" charset="0"/>
              <a:buChar char="•"/>
            </a:pPr>
            <a:r>
              <a:rPr lang="en-GB" sz="1800" b="1" dirty="0"/>
              <a:t>Technology</a:t>
            </a:r>
            <a:r>
              <a:rPr lang="en-GB" sz="1800" dirty="0"/>
              <a:t> to be used: tried and tested or new</a:t>
            </a:r>
          </a:p>
          <a:p>
            <a:pPr marL="285750" indent="-285750">
              <a:buFont typeface="Arial" panose="020B0604020202020204" pitchFamily="34" charset="0"/>
              <a:buChar char="•"/>
            </a:pPr>
            <a:endParaRPr lang="en-GB" dirty="0"/>
          </a:p>
        </p:txBody>
      </p:sp>
      <p:grpSp>
        <p:nvGrpSpPr>
          <p:cNvPr id="5" name="Group 4">
            <a:extLst>
              <a:ext uri="{FF2B5EF4-FFF2-40B4-BE49-F238E27FC236}">
                <a16:creationId xmlns:a16="http://schemas.microsoft.com/office/drawing/2014/main" id="{44DD2892-7A41-4B48-8042-EDC66462567B}"/>
              </a:ext>
            </a:extLst>
          </p:cNvPr>
          <p:cNvGrpSpPr/>
          <p:nvPr/>
        </p:nvGrpSpPr>
        <p:grpSpPr>
          <a:xfrm>
            <a:off x="2676000" y="1241763"/>
            <a:ext cx="6840000" cy="2700000"/>
            <a:chOff x="2676000" y="1138012"/>
            <a:chExt cx="6840000" cy="2700000"/>
          </a:xfrm>
        </p:grpSpPr>
        <p:sp>
          <p:nvSpPr>
            <p:cNvPr id="22" name="Text Placeholder 4">
              <a:extLst>
                <a:ext uri="{FF2B5EF4-FFF2-40B4-BE49-F238E27FC236}">
                  <a16:creationId xmlns:a16="http://schemas.microsoft.com/office/drawing/2014/main" id="{A49247A6-F51F-4B19-A567-B6B28C3B1F55}"/>
                </a:ext>
              </a:extLst>
            </p:cNvPr>
            <p:cNvSpPr txBox="1">
              <a:spLocks/>
            </p:cNvSpPr>
            <p:nvPr/>
          </p:nvSpPr>
          <p:spPr>
            <a:xfrm>
              <a:off x="2676000" y="329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600" dirty="0">
                  <a:solidFill>
                    <a:schemeClr val="bg1"/>
                  </a:solidFill>
                  <a:cs typeface="Arial" pitchFamily="34" charset="0"/>
                </a:rPr>
                <a:t>Techniques</a:t>
              </a:r>
            </a:p>
          </p:txBody>
        </p:sp>
        <p:grpSp>
          <p:nvGrpSpPr>
            <p:cNvPr id="4" name="Group 3">
              <a:extLst>
                <a:ext uri="{FF2B5EF4-FFF2-40B4-BE49-F238E27FC236}">
                  <a16:creationId xmlns:a16="http://schemas.microsoft.com/office/drawing/2014/main" id="{0B39F5CD-6AAB-4AB1-BF57-B10A91D1044B}"/>
                </a:ext>
              </a:extLst>
            </p:cNvPr>
            <p:cNvGrpSpPr/>
            <p:nvPr/>
          </p:nvGrpSpPr>
          <p:grpSpPr>
            <a:xfrm>
              <a:off x="2676000" y="1138012"/>
              <a:ext cx="6840000" cy="2160000"/>
              <a:chOff x="2676000" y="1138012"/>
              <a:chExt cx="6840000" cy="2160000"/>
            </a:xfrm>
          </p:grpSpPr>
          <p:sp>
            <p:nvSpPr>
              <p:cNvPr id="20" name="Text Placeholder 4">
                <a:extLst>
                  <a:ext uri="{FF2B5EF4-FFF2-40B4-BE49-F238E27FC236}">
                    <a16:creationId xmlns:a16="http://schemas.microsoft.com/office/drawing/2014/main" id="{7A016B54-F769-492B-AF85-B7F794DD6F1E}"/>
                  </a:ext>
                </a:extLst>
              </p:cNvPr>
              <p:cNvSpPr txBox="1">
                <a:spLocks/>
              </p:cNvSpPr>
              <p:nvPr/>
            </p:nvSpPr>
            <p:spPr>
              <a:xfrm>
                <a:off x="2676000" y="1138012"/>
                <a:ext cx="6840000" cy="5400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lt1"/>
                    </a:solidFill>
                    <a:latin typeface="+mn-lt"/>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lt1"/>
                    </a:solidFill>
                    <a:latin typeface="+mn-lt"/>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lt1"/>
                    </a:solidFill>
                    <a:latin typeface="+mn-lt"/>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lt1"/>
                    </a:solidFill>
                    <a:latin typeface="+mn-lt"/>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GB" sz="1600" dirty="0">
                    <a:solidFill>
                      <a:schemeClr val="bg1"/>
                    </a:solidFill>
                    <a:cs typeface="Arial" pitchFamily="34" charset="0"/>
                  </a:rPr>
                  <a:t>Context</a:t>
                </a:r>
              </a:p>
            </p:txBody>
          </p:sp>
          <p:sp>
            <p:nvSpPr>
              <p:cNvPr id="21" name="Rounded Rectangle 5">
                <a:extLst>
                  <a:ext uri="{FF2B5EF4-FFF2-40B4-BE49-F238E27FC236}">
                    <a16:creationId xmlns:a16="http://schemas.microsoft.com/office/drawing/2014/main" id="{5A2797CF-0D65-4B08-A9EA-5974E563870C}"/>
                  </a:ext>
                </a:extLst>
              </p:cNvPr>
              <p:cNvSpPr/>
              <p:nvPr/>
            </p:nvSpPr>
            <p:spPr>
              <a:xfrm>
                <a:off x="26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Life cycle</a:t>
                </a:r>
              </a:p>
            </p:txBody>
          </p:sp>
          <p:sp>
            <p:nvSpPr>
              <p:cNvPr id="23" name="Rounded Rectangle 7">
                <a:extLst>
                  <a:ext uri="{FF2B5EF4-FFF2-40B4-BE49-F238E27FC236}">
                    <a16:creationId xmlns:a16="http://schemas.microsoft.com/office/drawing/2014/main" id="{E755D7AA-0373-4E12-8FCA-6232B5B7D378}"/>
                  </a:ext>
                </a:extLst>
              </p:cNvPr>
              <p:cNvSpPr/>
              <p:nvPr/>
            </p:nvSpPr>
            <p:spPr>
              <a:xfrm>
                <a:off x="44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Process</a:t>
                </a:r>
              </a:p>
            </p:txBody>
          </p:sp>
          <p:sp>
            <p:nvSpPr>
              <p:cNvPr id="24" name="Rounded Rectangle 8">
                <a:extLst>
                  <a:ext uri="{FF2B5EF4-FFF2-40B4-BE49-F238E27FC236}">
                    <a16:creationId xmlns:a16="http://schemas.microsoft.com/office/drawing/2014/main" id="{0D178609-5E66-47BA-9634-E1BA3AA5E26C}"/>
                  </a:ext>
                </a:extLst>
              </p:cNvPr>
              <p:cNvSpPr/>
              <p:nvPr/>
            </p:nvSpPr>
            <p:spPr>
              <a:xfrm>
                <a:off x="62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Roles</a:t>
                </a:r>
              </a:p>
            </p:txBody>
          </p:sp>
          <p:sp>
            <p:nvSpPr>
              <p:cNvPr id="25" name="Rounded Rectangle 9">
                <a:extLst>
                  <a:ext uri="{FF2B5EF4-FFF2-40B4-BE49-F238E27FC236}">
                    <a16:creationId xmlns:a16="http://schemas.microsoft.com/office/drawing/2014/main" id="{2F4AE8E0-0CB5-4B7C-8AA1-CBCDFEF7E73E}"/>
                  </a:ext>
                </a:extLst>
              </p:cNvPr>
              <p:cNvSpPr/>
              <p:nvPr/>
            </p:nvSpPr>
            <p:spPr>
              <a:xfrm>
                <a:off x="80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solidFill>
                      <a:schemeClr val="bg1"/>
                    </a:solidFill>
                    <a:cs typeface="Arial" pitchFamily="34" charset="0"/>
                  </a:rPr>
                  <a:t>Deliverables</a:t>
                </a:r>
              </a:p>
            </p:txBody>
          </p:sp>
          <p:sp>
            <p:nvSpPr>
              <p:cNvPr id="26" name="Down Arrow 3">
                <a:extLst>
                  <a:ext uri="{FF2B5EF4-FFF2-40B4-BE49-F238E27FC236}">
                    <a16:creationId xmlns:a16="http://schemas.microsoft.com/office/drawing/2014/main" id="{79D65BFF-260F-447C-861C-3A9C63544FBD}"/>
                  </a:ext>
                </a:extLst>
              </p:cNvPr>
              <p:cNvSpPr/>
              <p:nvPr/>
            </p:nvSpPr>
            <p:spPr>
              <a:xfrm>
                <a:off x="32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27" name="Down Arrow 11">
                <a:extLst>
                  <a:ext uri="{FF2B5EF4-FFF2-40B4-BE49-F238E27FC236}">
                    <a16:creationId xmlns:a16="http://schemas.microsoft.com/office/drawing/2014/main" id="{F0FA2CEA-1643-4BA5-846F-AB753230225D}"/>
                  </a:ext>
                </a:extLst>
              </p:cNvPr>
              <p:cNvSpPr/>
              <p:nvPr/>
            </p:nvSpPr>
            <p:spPr>
              <a:xfrm>
                <a:off x="50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28" name="Down Arrow 12">
                <a:extLst>
                  <a:ext uri="{FF2B5EF4-FFF2-40B4-BE49-F238E27FC236}">
                    <a16:creationId xmlns:a16="http://schemas.microsoft.com/office/drawing/2014/main" id="{EF76CA67-A5BC-4338-962B-CC78393F07F4}"/>
                  </a:ext>
                </a:extLst>
              </p:cNvPr>
              <p:cNvSpPr/>
              <p:nvPr/>
            </p:nvSpPr>
            <p:spPr>
              <a:xfrm>
                <a:off x="68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29" name="Down Arrow 13">
                <a:extLst>
                  <a:ext uri="{FF2B5EF4-FFF2-40B4-BE49-F238E27FC236}">
                    <a16:creationId xmlns:a16="http://schemas.microsoft.com/office/drawing/2014/main" id="{69000852-6DAF-4C55-B69A-1558C6422DD1}"/>
                  </a:ext>
                </a:extLst>
              </p:cNvPr>
              <p:cNvSpPr/>
              <p:nvPr/>
            </p:nvSpPr>
            <p:spPr>
              <a:xfrm>
                <a:off x="86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0" name="Up-Down Arrow 10">
                <a:extLst>
                  <a:ext uri="{FF2B5EF4-FFF2-40B4-BE49-F238E27FC236}">
                    <a16:creationId xmlns:a16="http://schemas.microsoft.com/office/drawing/2014/main" id="{861EE579-AC88-4B0B-8577-A6F6621E88EE}"/>
                  </a:ext>
                </a:extLst>
              </p:cNvPr>
              <p:cNvSpPr/>
              <p:nvPr/>
            </p:nvSpPr>
            <p:spPr>
              <a:xfrm>
                <a:off x="32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1" name="Up-Down Arrow 15">
                <a:extLst>
                  <a:ext uri="{FF2B5EF4-FFF2-40B4-BE49-F238E27FC236}">
                    <a16:creationId xmlns:a16="http://schemas.microsoft.com/office/drawing/2014/main" id="{F9A2B217-EABD-4B85-819D-C24BD2664D42}"/>
                  </a:ext>
                </a:extLst>
              </p:cNvPr>
              <p:cNvSpPr/>
              <p:nvPr/>
            </p:nvSpPr>
            <p:spPr>
              <a:xfrm>
                <a:off x="50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2" name="Up-Down Arrow 16">
                <a:extLst>
                  <a:ext uri="{FF2B5EF4-FFF2-40B4-BE49-F238E27FC236}">
                    <a16:creationId xmlns:a16="http://schemas.microsoft.com/office/drawing/2014/main" id="{16A53297-A962-4808-B9C0-F54E55A60E98}"/>
                  </a:ext>
                </a:extLst>
              </p:cNvPr>
              <p:cNvSpPr/>
              <p:nvPr/>
            </p:nvSpPr>
            <p:spPr>
              <a:xfrm>
                <a:off x="680718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3" name="Up-Down Arrow 17">
                <a:extLst>
                  <a:ext uri="{FF2B5EF4-FFF2-40B4-BE49-F238E27FC236}">
                    <a16:creationId xmlns:a16="http://schemas.microsoft.com/office/drawing/2014/main" id="{0372A81C-1E9A-41AE-8A5F-CB10F51F93E8}"/>
                  </a:ext>
                </a:extLst>
              </p:cNvPr>
              <p:cNvSpPr/>
              <p:nvPr/>
            </p:nvSpPr>
            <p:spPr>
              <a:xfrm>
                <a:off x="86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4" name="Plus 14">
                <a:extLst>
                  <a:ext uri="{FF2B5EF4-FFF2-40B4-BE49-F238E27FC236}">
                    <a16:creationId xmlns:a16="http://schemas.microsoft.com/office/drawing/2014/main" id="{60337AA1-6156-4A50-B9A3-BD92D2D17526}"/>
                  </a:ext>
                </a:extLst>
              </p:cNvPr>
              <p:cNvSpPr/>
              <p:nvPr/>
            </p:nvSpPr>
            <p:spPr>
              <a:xfrm>
                <a:off x="41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5" name="Plus 19">
                <a:extLst>
                  <a:ext uri="{FF2B5EF4-FFF2-40B4-BE49-F238E27FC236}">
                    <a16:creationId xmlns:a16="http://schemas.microsoft.com/office/drawing/2014/main" id="{CC6BACE1-885F-4EB1-8913-7BB04C450676}"/>
                  </a:ext>
                </a:extLst>
              </p:cNvPr>
              <p:cNvSpPr/>
              <p:nvPr/>
            </p:nvSpPr>
            <p:spPr>
              <a:xfrm>
                <a:off x="5988000" y="2380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6" name="Plus 20">
                <a:extLst>
                  <a:ext uri="{FF2B5EF4-FFF2-40B4-BE49-F238E27FC236}">
                    <a16:creationId xmlns:a16="http://schemas.microsoft.com/office/drawing/2014/main" id="{48F2D162-4A5C-4E69-A920-E883933B6F0B}"/>
                  </a:ext>
                </a:extLst>
              </p:cNvPr>
              <p:cNvSpPr/>
              <p:nvPr/>
            </p:nvSpPr>
            <p:spPr>
              <a:xfrm>
                <a:off x="77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grpSp>
      </p:grpSp>
    </p:spTree>
    <p:extLst>
      <p:ext uri="{BB962C8B-B14F-4D97-AF65-F5344CB8AC3E}">
        <p14:creationId xmlns:p14="http://schemas.microsoft.com/office/powerpoint/2010/main" val="1432702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C64EA55-0B81-4B87-997B-E9C5A13AC681}"/>
              </a:ext>
            </a:extLst>
          </p:cNvPr>
          <p:cNvSpPr>
            <a:spLocks noGrp="1"/>
          </p:cNvSpPr>
          <p:nvPr>
            <p:ph type="body" sz="quarter" idx="4294967295"/>
          </p:nvPr>
        </p:nvSpPr>
        <p:spPr>
          <a:xfrm>
            <a:off x="1885768" y="4297609"/>
            <a:ext cx="8612899" cy="2206625"/>
          </a:xfrm>
        </p:spPr>
        <p:txBody>
          <a:bodyPr/>
          <a:lstStyle/>
          <a:p>
            <a:pPr marL="360000" indent="-360000" fontAlgn="auto">
              <a:spcBef>
                <a:spcPts val="0"/>
              </a:spcBef>
              <a:spcAft>
                <a:spcPts val="600"/>
              </a:spcAft>
              <a:buFont typeface="Arial" panose="020B0604020202020204" pitchFamily="34" charset="0"/>
              <a:buChar char="•"/>
            </a:pPr>
            <a:r>
              <a:rPr lang="en-GB" dirty="0"/>
              <a:t>Describes stages to follow: plan, design, build, test, and deliver.</a:t>
            </a:r>
          </a:p>
          <a:p>
            <a:pPr marL="720000" lvl="1" indent="-360000" fontAlgn="auto">
              <a:spcBef>
                <a:spcPts val="0"/>
              </a:spcBef>
              <a:spcAft>
                <a:spcPts val="600"/>
              </a:spcAft>
              <a:buFont typeface="Arial" panose="020B0604020202020204" pitchFamily="34" charset="0"/>
              <a:buChar char="•"/>
            </a:pPr>
            <a:endParaRPr lang="en-GB" sz="1800" dirty="0"/>
          </a:p>
          <a:p>
            <a:pPr marL="720000" lvl="1" indent="-360000" fontAlgn="auto">
              <a:spcBef>
                <a:spcPts val="0"/>
              </a:spcBef>
              <a:spcAft>
                <a:spcPts val="600"/>
              </a:spcAft>
              <a:buFont typeface="Arial" panose="020B0604020202020204" pitchFamily="34" charset="0"/>
              <a:buChar char="•"/>
            </a:pPr>
            <a:r>
              <a:rPr lang="en-GB" sz="1800" b="1" dirty="0"/>
              <a:t>Linear </a:t>
            </a:r>
            <a:r>
              <a:rPr lang="en-GB" sz="1800" dirty="0"/>
              <a:t>		</a:t>
            </a:r>
            <a:r>
              <a:rPr lang="en-GB" dirty="0"/>
              <a:t>s</a:t>
            </a:r>
            <a:r>
              <a:rPr lang="en-GB" sz="1800" dirty="0"/>
              <a:t>equential or step by step</a:t>
            </a:r>
          </a:p>
          <a:p>
            <a:pPr marL="720000" lvl="1" indent="-360000" fontAlgn="auto">
              <a:spcBef>
                <a:spcPts val="0"/>
              </a:spcBef>
              <a:spcAft>
                <a:spcPts val="600"/>
              </a:spcAft>
              <a:buFont typeface="Arial" panose="020B0604020202020204" pitchFamily="34" charset="0"/>
              <a:buChar char="•"/>
            </a:pPr>
            <a:r>
              <a:rPr lang="en-GB" sz="1800" b="1" dirty="0"/>
              <a:t>Evolutionary</a:t>
            </a:r>
            <a:r>
              <a:rPr lang="en-GB" sz="1800" dirty="0"/>
              <a:t> 	iterative, evolving through progressive versions</a:t>
            </a:r>
          </a:p>
          <a:p>
            <a:endParaRPr lang="en-GB" dirty="0"/>
          </a:p>
        </p:txBody>
      </p:sp>
      <p:grpSp>
        <p:nvGrpSpPr>
          <p:cNvPr id="22" name="Group 21">
            <a:extLst>
              <a:ext uri="{FF2B5EF4-FFF2-40B4-BE49-F238E27FC236}">
                <a16:creationId xmlns:a16="http://schemas.microsoft.com/office/drawing/2014/main" id="{363BC435-FF49-40B2-A697-58D67188E7C3}"/>
              </a:ext>
            </a:extLst>
          </p:cNvPr>
          <p:cNvGrpSpPr/>
          <p:nvPr/>
        </p:nvGrpSpPr>
        <p:grpSpPr>
          <a:xfrm>
            <a:off x="2676000" y="1241763"/>
            <a:ext cx="6840000" cy="2700000"/>
            <a:chOff x="2676000" y="1138012"/>
            <a:chExt cx="6840000" cy="2700000"/>
          </a:xfrm>
        </p:grpSpPr>
        <p:sp>
          <p:nvSpPr>
            <p:cNvPr id="23" name="Text Placeholder 4">
              <a:extLst>
                <a:ext uri="{FF2B5EF4-FFF2-40B4-BE49-F238E27FC236}">
                  <a16:creationId xmlns:a16="http://schemas.microsoft.com/office/drawing/2014/main" id="{BCA6F98B-CC2F-410C-955D-4CC591F79E8C}"/>
                </a:ext>
              </a:extLst>
            </p:cNvPr>
            <p:cNvSpPr txBox="1">
              <a:spLocks/>
            </p:cNvSpPr>
            <p:nvPr/>
          </p:nvSpPr>
          <p:spPr>
            <a:xfrm>
              <a:off x="2676000" y="329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600" dirty="0">
                  <a:solidFill>
                    <a:schemeClr val="bg1"/>
                  </a:solidFill>
                  <a:cs typeface="Arial" pitchFamily="34" charset="0"/>
                </a:rPr>
                <a:t>Techniques</a:t>
              </a:r>
            </a:p>
          </p:txBody>
        </p:sp>
        <p:grpSp>
          <p:nvGrpSpPr>
            <p:cNvPr id="24" name="Group 23">
              <a:extLst>
                <a:ext uri="{FF2B5EF4-FFF2-40B4-BE49-F238E27FC236}">
                  <a16:creationId xmlns:a16="http://schemas.microsoft.com/office/drawing/2014/main" id="{667F7A45-FF76-409F-9A36-3E998F9A9FCE}"/>
                </a:ext>
              </a:extLst>
            </p:cNvPr>
            <p:cNvGrpSpPr/>
            <p:nvPr/>
          </p:nvGrpSpPr>
          <p:grpSpPr>
            <a:xfrm>
              <a:off x="2676000" y="1138012"/>
              <a:ext cx="6840000" cy="2160000"/>
              <a:chOff x="2676000" y="1138012"/>
              <a:chExt cx="6840000" cy="2160000"/>
            </a:xfrm>
          </p:grpSpPr>
          <p:sp>
            <p:nvSpPr>
              <p:cNvPr id="25" name="Text Placeholder 4">
                <a:extLst>
                  <a:ext uri="{FF2B5EF4-FFF2-40B4-BE49-F238E27FC236}">
                    <a16:creationId xmlns:a16="http://schemas.microsoft.com/office/drawing/2014/main" id="{4C91F838-366D-4F54-9C84-DD299E24BE8F}"/>
                  </a:ext>
                </a:extLst>
              </p:cNvPr>
              <p:cNvSpPr txBox="1">
                <a:spLocks/>
              </p:cNvSpPr>
              <p:nvPr/>
            </p:nvSpPr>
            <p:spPr>
              <a:xfrm>
                <a:off x="2676000" y="113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lt1"/>
                    </a:solidFill>
                    <a:latin typeface="+mn-lt"/>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lt1"/>
                    </a:solidFill>
                    <a:latin typeface="+mn-lt"/>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lt1"/>
                    </a:solidFill>
                    <a:latin typeface="+mn-lt"/>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lt1"/>
                    </a:solidFill>
                    <a:latin typeface="+mn-lt"/>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GB" sz="1600" dirty="0">
                    <a:solidFill>
                      <a:schemeClr val="bg1"/>
                    </a:solidFill>
                    <a:cs typeface="Arial" pitchFamily="34" charset="0"/>
                  </a:rPr>
                  <a:t>Context</a:t>
                </a:r>
              </a:p>
            </p:txBody>
          </p:sp>
          <p:sp>
            <p:nvSpPr>
              <p:cNvPr id="26" name="Rounded Rectangle 5">
                <a:extLst>
                  <a:ext uri="{FF2B5EF4-FFF2-40B4-BE49-F238E27FC236}">
                    <a16:creationId xmlns:a16="http://schemas.microsoft.com/office/drawing/2014/main" id="{D6B5F5CA-647B-4910-9226-7B1F50FD7748}"/>
                  </a:ext>
                </a:extLst>
              </p:cNvPr>
              <p:cNvSpPr/>
              <p:nvPr/>
            </p:nvSpPr>
            <p:spPr>
              <a:xfrm>
                <a:off x="2676000" y="2218012"/>
                <a:ext cx="1440000" cy="5400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Life cycle</a:t>
                </a:r>
              </a:p>
            </p:txBody>
          </p:sp>
          <p:sp>
            <p:nvSpPr>
              <p:cNvPr id="27" name="Rounded Rectangle 7">
                <a:extLst>
                  <a:ext uri="{FF2B5EF4-FFF2-40B4-BE49-F238E27FC236}">
                    <a16:creationId xmlns:a16="http://schemas.microsoft.com/office/drawing/2014/main" id="{9F292EB1-7B4A-4997-A66A-2CA3EFB3FF79}"/>
                  </a:ext>
                </a:extLst>
              </p:cNvPr>
              <p:cNvSpPr/>
              <p:nvPr/>
            </p:nvSpPr>
            <p:spPr>
              <a:xfrm>
                <a:off x="44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Process</a:t>
                </a:r>
              </a:p>
            </p:txBody>
          </p:sp>
          <p:sp>
            <p:nvSpPr>
              <p:cNvPr id="28" name="Rounded Rectangle 8">
                <a:extLst>
                  <a:ext uri="{FF2B5EF4-FFF2-40B4-BE49-F238E27FC236}">
                    <a16:creationId xmlns:a16="http://schemas.microsoft.com/office/drawing/2014/main" id="{3CFC6C90-A6E0-465E-8872-B7C3DDE68188}"/>
                  </a:ext>
                </a:extLst>
              </p:cNvPr>
              <p:cNvSpPr/>
              <p:nvPr/>
            </p:nvSpPr>
            <p:spPr>
              <a:xfrm>
                <a:off x="62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Roles</a:t>
                </a:r>
              </a:p>
            </p:txBody>
          </p:sp>
          <p:sp>
            <p:nvSpPr>
              <p:cNvPr id="29" name="Rounded Rectangle 9">
                <a:extLst>
                  <a:ext uri="{FF2B5EF4-FFF2-40B4-BE49-F238E27FC236}">
                    <a16:creationId xmlns:a16="http://schemas.microsoft.com/office/drawing/2014/main" id="{0F41AAFF-AF12-41A2-9BF4-1E6F7A3B97B6}"/>
                  </a:ext>
                </a:extLst>
              </p:cNvPr>
              <p:cNvSpPr/>
              <p:nvPr/>
            </p:nvSpPr>
            <p:spPr>
              <a:xfrm>
                <a:off x="80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solidFill>
                      <a:schemeClr val="bg1"/>
                    </a:solidFill>
                    <a:cs typeface="Arial" pitchFamily="34" charset="0"/>
                  </a:rPr>
                  <a:t>Deliverables</a:t>
                </a:r>
              </a:p>
            </p:txBody>
          </p:sp>
          <p:sp>
            <p:nvSpPr>
              <p:cNvPr id="30" name="Down Arrow 3">
                <a:extLst>
                  <a:ext uri="{FF2B5EF4-FFF2-40B4-BE49-F238E27FC236}">
                    <a16:creationId xmlns:a16="http://schemas.microsoft.com/office/drawing/2014/main" id="{B7A0D56D-5CB3-4A35-B0B1-FB189D419814}"/>
                  </a:ext>
                </a:extLst>
              </p:cNvPr>
              <p:cNvSpPr/>
              <p:nvPr/>
            </p:nvSpPr>
            <p:spPr>
              <a:xfrm>
                <a:off x="32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1" name="Down Arrow 11">
                <a:extLst>
                  <a:ext uri="{FF2B5EF4-FFF2-40B4-BE49-F238E27FC236}">
                    <a16:creationId xmlns:a16="http://schemas.microsoft.com/office/drawing/2014/main" id="{96134687-EE36-416D-8AAB-2B0B9F2CA2C6}"/>
                  </a:ext>
                </a:extLst>
              </p:cNvPr>
              <p:cNvSpPr/>
              <p:nvPr/>
            </p:nvSpPr>
            <p:spPr>
              <a:xfrm>
                <a:off x="50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2" name="Down Arrow 12">
                <a:extLst>
                  <a:ext uri="{FF2B5EF4-FFF2-40B4-BE49-F238E27FC236}">
                    <a16:creationId xmlns:a16="http://schemas.microsoft.com/office/drawing/2014/main" id="{F633320D-BBB9-4B5F-9037-2216A2AB7D98}"/>
                  </a:ext>
                </a:extLst>
              </p:cNvPr>
              <p:cNvSpPr/>
              <p:nvPr/>
            </p:nvSpPr>
            <p:spPr>
              <a:xfrm>
                <a:off x="68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3" name="Down Arrow 13">
                <a:extLst>
                  <a:ext uri="{FF2B5EF4-FFF2-40B4-BE49-F238E27FC236}">
                    <a16:creationId xmlns:a16="http://schemas.microsoft.com/office/drawing/2014/main" id="{37B176D6-33A8-4FEA-8FB0-244448BC55A1}"/>
                  </a:ext>
                </a:extLst>
              </p:cNvPr>
              <p:cNvSpPr/>
              <p:nvPr/>
            </p:nvSpPr>
            <p:spPr>
              <a:xfrm>
                <a:off x="86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4" name="Up-Down Arrow 10">
                <a:extLst>
                  <a:ext uri="{FF2B5EF4-FFF2-40B4-BE49-F238E27FC236}">
                    <a16:creationId xmlns:a16="http://schemas.microsoft.com/office/drawing/2014/main" id="{EB269581-0555-4B7B-9FCD-F31C35897C95}"/>
                  </a:ext>
                </a:extLst>
              </p:cNvPr>
              <p:cNvSpPr/>
              <p:nvPr/>
            </p:nvSpPr>
            <p:spPr>
              <a:xfrm>
                <a:off x="32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5" name="Up-Down Arrow 15">
                <a:extLst>
                  <a:ext uri="{FF2B5EF4-FFF2-40B4-BE49-F238E27FC236}">
                    <a16:creationId xmlns:a16="http://schemas.microsoft.com/office/drawing/2014/main" id="{32806320-CF4B-4560-A462-DB893DB7FDB4}"/>
                  </a:ext>
                </a:extLst>
              </p:cNvPr>
              <p:cNvSpPr/>
              <p:nvPr/>
            </p:nvSpPr>
            <p:spPr>
              <a:xfrm>
                <a:off x="50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6" name="Up-Down Arrow 16">
                <a:extLst>
                  <a:ext uri="{FF2B5EF4-FFF2-40B4-BE49-F238E27FC236}">
                    <a16:creationId xmlns:a16="http://schemas.microsoft.com/office/drawing/2014/main" id="{C6DB2F47-3B5A-49E6-87D6-5B508BAADFF1}"/>
                  </a:ext>
                </a:extLst>
              </p:cNvPr>
              <p:cNvSpPr/>
              <p:nvPr/>
            </p:nvSpPr>
            <p:spPr>
              <a:xfrm>
                <a:off x="680718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7" name="Up-Down Arrow 17">
                <a:extLst>
                  <a:ext uri="{FF2B5EF4-FFF2-40B4-BE49-F238E27FC236}">
                    <a16:creationId xmlns:a16="http://schemas.microsoft.com/office/drawing/2014/main" id="{582148C7-4BD3-416E-A72E-9AB82D72FB1A}"/>
                  </a:ext>
                </a:extLst>
              </p:cNvPr>
              <p:cNvSpPr/>
              <p:nvPr/>
            </p:nvSpPr>
            <p:spPr>
              <a:xfrm>
                <a:off x="86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8" name="Plus 14">
                <a:extLst>
                  <a:ext uri="{FF2B5EF4-FFF2-40B4-BE49-F238E27FC236}">
                    <a16:creationId xmlns:a16="http://schemas.microsoft.com/office/drawing/2014/main" id="{ACB5498A-7A22-43CE-80E1-EAA6405136C7}"/>
                  </a:ext>
                </a:extLst>
              </p:cNvPr>
              <p:cNvSpPr/>
              <p:nvPr/>
            </p:nvSpPr>
            <p:spPr>
              <a:xfrm>
                <a:off x="41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9" name="Plus 19">
                <a:extLst>
                  <a:ext uri="{FF2B5EF4-FFF2-40B4-BE49-F238E27FC236}">
                    <a16:creationId xmlns:a16="http://schemas.microsoft.com/office/drawing/2014/main" id="{50C3A725-FF67-460C-B747-5A47680DE546}"/>
                  </a:ext>
                </a:extLst>
              </p:cNvPr>
              <p:cNvSpPr/>
              <p:nvPr/>
            </p:nvSpPr>
            <p:spPr>
              <a:xfrm>
                <a:off x="5988000" y="2380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40" name="Plus 20">
                <a:extLst>
                  <a:ext uri="{FF2B5EF4-FFF2-40B4-BE49-F238E27FC236}">
                    <a16:creationId xmlns:a16="http://schemas.microsoft.com/office/drawing/2014/main" id="{97532952-8691-42AB-A432-51BAB9EA0A44}"/>
                  </a:ext>
                </a:extLst>
              </p:cNvPr>
              <p:cNvSpPr/>
              <p:nvPr/>
            </p:nvSpPr>
            <p:spPr>
              <a:xfrm>
                <a:off x="77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grpSp>
      </p:grpSp>
      <p:sp>
        <p:nvSpPr>
          <p:cNvPr id="41" name="Title 1">
            <a:extLst>
              <a:ext uri="{FF2B5EF4-FFF2-40B4-BE49-F238E27FC236}">
                <a16:creationId xmlns:a16="http://schemas.microsoft.com/office/drawing/2014/main" id="{4DDBE1F6-91B1-4386-BEBF-A18714AE4C22}"/>
              </a:ext>
            </a:extLst>
          </p:cNvPr>
          <p:cNvSpPr txBox="1">
            <a:spLocks/>
          </p:cNvSpPr>
          <p:nvPr/>
        </p:nvSpPr>
        <p:spPr>
          <a:xfrm>
            <a:off x="4758000" y="192088"/>
            <a:ext cx="2676000" cy="687387"/>
          </a:xfrm>
          <a:prstGeom prst="rect">
            <a:avLst/>
          </a:prstGeom>
        </p:spPr>
        <p:txBody>
          <a:bodyPr vert="horz" lIns="0" tIns="0" rIns="0" bIns="0" rtlCol="0" anchor="t" anchorCtr="0">
            <a:noAutofit/>
          </a:bodyPr>
          <a:lst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a:lstStyle>
          <a:p>
            <a:r>
              <a:rPr lang="en-GB" dirty="0"/>
              <a:t>Life cycle</a:t>
            </a:r>
          </a:p>
        </p:txBody>
      </p:sp>
    </p:spTree>
    <p:extLst>
      <p:ext uri="{BB962C8B-B14F-4D97-AF65-F5344CB8AC3E}">
        <p14:creationId xmlns:p14="http://schemas.microsoft.com/office/powerpoint/2010/main" val="3267931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E40BA-1F59-43D0-9B63-E08FB3EC790C}"/>
              </a:ext>
            </a:extLst>
          </p:cNvPr>
          <p:cNvSpPr>
            <a:spLocks noGrp="1"/>
          </p:cNvSpPr>
          <p:nvPr>
            <p:ph type="title" idx="4294967295"/>
          </p:nvPr>
        </p:nvSpPr>
        <p:spPr>
          <a:xfrm>
            <a:off x="4994980" y="284384"/>
            <a:ext cx="2250040" cy="687387"/>
          </a:xfrm>
        </p:spPr>
        <p:txBody>
          <a:bodyPr/>
          <a:lstStyle/>
          <a:p>
            <a:r>
              <a:rPr lang="en-GB" dirty="0"/>
              <a:t>Process</a:t>
            </a:r>
          </a:p>
        </p:txBody>
      </p:sp>
      <p:sp>
        <p:nvSpPr>
          <p:cNvPr id="3" name="Text Placeholder 2">
            <a:extLst>
              <a:ext uri="{FF2B5EF4-FFF2-40B4-BE49-F238E27FC236}">
                <a16:creationId xmlns:a16="http://schemas.microsoft.com/office/drawing/2014/main" id="{3CC385CD-C31B-4597-ADB5-53F479629D97}"/>
              </a:ext>
            </a:extLst>
          </p:cNvPr>
          <p:cNvSpPr>
            <a:spLocks noGrp="1"/>
          </p:cNvSpPr>
          <p:nvPr>
            <p:ph type="body" sz="quarter" idx="4294967295"/>
          </p:nvPr>
        </p:nvSpPr>
        <p:spPr>
          <a:xfrm>
            <a:off x="1374169" y="4154134"/>
            <a:ext cx="9491662" cy="2617787"/>
          </a:xfrm>
        </p:spPr>
        <p:txBody>
          <a:bodyPr/>
          <a:lstStyle/>
          <a:p>
            <a:pPr marL="360000" indent="-360000" fontAlgn="auto">
              <a:spcBef>
                <a:spcPts val="0"/>
              </a:spcBef>
              <a:spcAft>
                <a:spcPts val="600"/>
              </a:spcAft>
              <a:buFont typeface="Arial" panose="020B0604020202020204" pitchFamily="34" charset="0"/>
              <a:buChar char="•"/>
            </a:pPr>
            <a:r>
              <a:rPr lang="en-GB" dirty="0"/>
              <a:t>Set of steps and actions followed to deliver outcomes within stages.</a:t>
            </a:r>
          </a:p>
          <a:p>
            <a:pPr marL="360000" indent="-360000" fontAlgn="auto">
              <a:spcBef>
                <a:spcPts val="0"/>
              </a:spcBef>
              <a:spcAft>
                <a:spcPts val="600"/>
              </a:spcAft>
              <a:buFont typeface="Arial" panose="020B0604020202020204" pitchFamily="34" charset="0"/>
              <a:buChar char="•"/>
            </a:pPr>
            <a:r>
              <a:rPr lang="en-GB" dirty="0"/>
              <a:t>Methods and standards support the framework within SDLC:</a:t>
            </a:r>
          </a:p>
          <a:p>
            <a:pPr marL="720000" lvl="1" indent="-360000" fontAlgn="auto">
              <a:spcBef>
                <a:spcPts val="0"/>
              </a:spcBef>
              <a:spcAft>
                <a:spcPts val="600"/>
              </a:spcAft>
              <a:buFont typeface="Arial" panose="020B0604020202020204" pitchFamily="34" charset="0"/>
              <a:buChar char="•"/>
            </a:pPr>
            <a:r>
              <a:rPr lang="en-GB" sz="1800" dirty="0"/>
              <a:t>Include defined roles, deliverables, techniques, models</a:t>
            </a:r>
          </a:p>
          <a:p>
            <a:pPr marL="720000" lvl="1" indent="-360000" fontAlgn="auto">
              <a:spcBef>
                <a:spcPts val="0"/>
              </a:spcBef>
              <a:spcAft>
                <a:spcPts val="600"/>
              </a:spcAft>
              <a:buFont typeface="Arial" panose="020B0604020202020204" pitchFamily="34" charset="0"/>
              <a:buChar char="•"/>
            </a:pPr>
            <a:r>
              <a:rPr lang="en-GB" sz="1800" dirty="0"/>
              <a:t>Prescriptive: specific SDLCs</a:t>
            </a:r>
          </a:p>
          <a:p>
            <a:pPr marL="720000" lvl="1" indent="-360000" fontAlgn="auto">
              <a:spcBef>
                <a:spcPts val="0"/>
              </a:spcBef>
              <a:spcAft>
                <a:spcPts val="600"/>
              </a:spcAft>
              <a:buFont typeface="Arial" panose="020B0604020202020204" pitchFamily="34" charset="0"/>
              <a:buChar char="•"/>
            </a:pPr>
            <a:r>
              <a:rPr lang="en-GB" sz="1800" dirty="0"/>
              <a:t>Agnostic: various SDLCs</a:t>
            </a:r>
          </a:p>
          <a:p>
            <a:pPr marL="720000" lvl="1" indent="-360000" fontAlgn="auto">
              <a:spcBef>
                <a:spcPts val="0"/>
              </a:spcBef>
              <a:spcAft>
                <a:spcPts val="600"/>
              </a:spcAft>
              <a:buFont typeface="Arial" panose="020B0604020202020204" pitchFamily="34" charset="0"/>
              <a:buChar char="•"/>
            </a:pPr>
            <a:r>
              <a:rPr lang="en-GB" sz="1800" dirty="0"/>
              <a:t>Dependent on context and lifecycle chosen</a:t>
            </a:r>
          </a:p>
          <a:p>
            <a:pPr marL="285750" indent="-285750">
              <a:buFont typeface="Arial" panose="020B0604020202020204" pitchFamily="34" charset="0"/>
              <a:buChar char="•"/>
            </a:pPr>
            <a:endParaRPr lang="en-GB" dirty="0"/>
          </a:p>
        </p:txBody>
      </p:sp>
      <p:grpSp>
        <p:nvGrpSpPr>
          <p:cNvPr id="22" name="Group 21">
            <a:extLst>
              <a:ext uri="{FF2B5EF4-FFF2-40B4-BE49-F238E27FC236}">
                <a16:creationId xmlns:a16="http://schemas.microsoft.com/office/drawing/2014/main" id="{3AA03E72-1E29-45B0-8EFF-FA5BDAC0934B}"/>
              </a:ext>
            </a:extLst>
          </p:cNvPr>
          <p:cNvGrpSpPr/>
          <p:nvPr/>
        </p:nvGrpSpPr>
        <p:grpSpPr>
          <a:xfrm>
            <a:off x="2676000" y="1241763"/>
            <a:ext cx="6840000" cy="2700000"/>
            <a:chOff x="2676000" y="1138012"/>
            <a:chExt cx="6840000" cy="2700000"/>
          </a:xfrm>
        </p:grpSpPr>
        <p:sp>
          <p:nvSpPr>
            <p:cNvPr id="23" name="Text Placeholder 4">
              <a:extLst>
                <a:ext uri="{FF2B5EF4-FFF2-40B4-BE49-F238E27FC236}">
                  <a16:creationId xmlns:a16="http://schemas.microsoft.com/office/drawing/2014/main" id="{0AE17357-0D24-45E7-A458-986B312958FC}"/>
                </a:ext>
              </a:extLst>
            </p:cNvPr>
            <p:cNvSpPr txBox="1">
              <a:spLocks/>
            </p:cNvSpPr>
            <p:nvPr/>
          </p:nvSpPr>
          <p:spPr>
            <a:xfrm>
              <a:off x="2676000" y="329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600" dirty="0">
                  <a:solidFill>
                    <a:schemeClr val="bg1"/>
                  </a:solidFill>
                  <a:cs typeface="Arial" pitchFamily="34" charset="0"/>
                </a:rPr>
                <a:t>Techniques</a:t>
              </a:r>
            </a:p>
          </p:txBody>
        </p:sp>
        <p:grpSp>
          <p:nvGrpSpPr>
            <p:cNvPr id="24" name="Group 23">
              <a:extLst>
                <a:ext uri="{FF2B5EF4-FFF2-40B4-BE49-F238E27FC236}">
                  <a16:creationId xmlns:a16="http://schemas.microsoft.com/office/drawing/2014/main" id="{7404D969-AA73-49B5-95B9-79D9D7D8FDE2}"/>
                </a:ext>
              </a:extLst>
            </p:cNvPr>
            <p:cNvGrpSpPr/>
            <p:nvPr/>
          </p:nvGrpSpPr>
          <p:grpSpPr>
            <a:xfrm>
              <a:off x="2676000" y="1138012"/>
              <a:ext cx="6840000" cy="2160000"/>
              <a:chOff x="2676000" y="1138012"/>
              <a:chExt cx="6840000" cy="2160000"/>
            </a:xfrm>
          </p:grpSpPr>
          <p:sp>
            <p:nvSpPr>
              <p:cNvPr id="25" name="Text Placeholder 4">
                <a:extLst>
                  <a:ext uri="{FF2B5EF4-FFF2-40B4-BE49-F238E27FC236}">
                    <a16:creationId xmlns:a16="http://schemas.microsoft.com/office/drawing/2014/main" id="{DEDC5967-85D0-45CD-8875-9DBD8D1E6334}"/>
                  </a:ext>
                </a:extLst>
              </p:cNvPr>
              <p:cNvSpPr txBox="1">
                <a:spLocks/>
              </p:cNvSpPr>
              <p:nvPr/>
            </p:nvSpPr>
            <p:spPr>
              <a:xfrm>
                <a:off x="2676000" y="113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lt1"/>
                    </a:solidFill>
                    <a:latin typeface="+mn-lt"/>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lt1"/>
                    </a:solidFill>
                    <a:latin typeface="+mn-lt"/>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lt1"/>
                    </a:solidFill>
                    <a:latin typeface="+mn-lt"/>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lt1"/>
                    </a:solidFill>
                    <a:latin typeface="+mn-lt"/>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GB" sz="1600" dirty="0">
                    <a:solidFill>
                      <a:schemeClr val="bg1"/>
                    </a:solidFill>
                    <a:cs typeface="Arial" pitchFamily="34" charset="0"/>
                  </a:rPr>
                  <a:t>Context</a:t>
                </a:r>
              </a:p>
            </p:txBody>
          </p:sp>
          <p:sp>
            <p:nvSpPr>
              <p:cNvPr id="26" name="Rounded Rectangle 5">
                <a:extLst>
                  <a:ext uri="{FF2B5EF4-FFF2-40B4-BE49-F238E27FC236}">
                    <a16:creationId xmlns:a16="http://schemas.microsoft.com/office/drawing/2014/main" id="{8020DB80-9DD9-4BC8-B9BE-64B1E23A381F}"/>
                  </a:ext>
                </a:extLst>
              </p:cNvPr>
              <p:cNvSpPr/>
              <p:nvPr/>
            </p:nvSpPr>
            <p:spPr>
              <a:xfrm>
                <a:off x="26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Life cycle</a:t>
                </a:r>
              </a:p>
            </p:txBody>
          </p:sp>
          <p:sp>
            <p:nvSpPr>
              <p:cNvPr id="27" name="Rounded Rectangle 7">
                <a:extLst>
                  <a:ext uri="{FF2B5EF4-FFF2-40B4-BE49-F238E27FC236}">
                    <a16:creationId xmlns:a16="http://schemas.microsoft.com/office/drawing/2014/main" id="{3DE9940E-C6F2-4128-B3E0-A630E2B0A683}"/>
                  </a:ext>
                </a:extLst>
              </p:cNvPr>
              <p:cNvSpPr/>
              <p:nvPr/>
            </p:nvSpPr>
            <p:spPr>
              <a:xfrm>
                <a:off x="4476000" y="2218012"/>
                <a:ext cx="1440000" cy="5400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Process</a:t>
                </a:r>
              </a:p>
            </p:txBody>
          </p:sp>
          <p:sp>
            <p:nvSpPr>
              <p:cNvPr id="28" name="Rounded Rectangle 8">
                <a:extLst>
                  <a:ext uri="{FF2B5EF4-FFF2-40B4-BE49-F238E27FC236}">
                    <a16:creationId xmlns:a16="http://schemas.microsoft.com/office/drawing/2014/main" id="{6FF6AC04-FEB2-4421-A57A-348412AF1423}"/>
                  </a:ext>
                </a:extLst>
              </p:cNvPr>
              <p:cNvSpPr/>
              <p:nvPr/>
            </p:nvSpPr>
            <p:spPr>
              <a:xfrm>
                <a:off x="62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Roles</a:t>
                </a:r>
              </a:p>
            </p:txBody>
          </p:sp>
          <p:sp>
            <p:nvSpPr>
              <p:cNvPr id="29" name="Rounded Rectangle 9">
                <a:extLst>
                  <a:ext uri="{FF2B5EF4-FFF2-40B4-BE49-F238E27FC236}">
                    <a16:creationId xmlns:a16="http://schemas.microsoft.com/office/drawing/2014/main" id="{485C63B6-DCC2-4779-99E0-9D46A38E9330}"/>
                  </a:ext>
                </a:extLst>
              </p:cNvPr>
              <p:cNvSpPr/>
              <p:nvPr/>
            </p:nvSpPr>
            <p:spPr>
              <a:xfrm>
                <a:off x="80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solidFill>
                      <a:schemeClr val="bg1"/>
                    </a:solidFill>
                    <a:cs typeface="Arial" pitchFamily="34" charset="0"/>
                  </a:rPr>
                  <a:t>Deliverables</a:t>
                </a:r>
              </a:p>
            </p:txBody>
          </p:sp>
          <p:sp>
            <p:nvSpPr>
              <p:cNvPr id="30" name="Down Arrow 3">
                <a:extLst>
                  <a:ext uri="{FF2B5EF4-FFF2-40B4-BE49-F238E27FC236}">
                    <a16:creationId xmlns:a16="http://schemas.microsoft.com/office/drawing/2014/main" id="{580FE0A8-7862-4866-89FF-AE10B3CBA2FF}"/>
                  </a:ext>
                </a:extLst>
              </p:cNvPr>
              <p:cNvSpPr/>
              <p:nvPr/>
            </p:nvSpPr>
            <p:spPr>
              <a:xfrm>
                <a:off x="32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1" name="Down Arrow 11">
                <a:extLst>
                  <a:ext uri="{FF2B5EF4-FFF2-40B4-BE49-F238E27FC236}">
                    <a16:creationId xmlns:a16="http://schemas.microsoft.com/office/drawing/2014/main" id="{417830B2-531A-4C26-BDAE-EB7543FB8C62}"/>
                  </a:ext>
                </a:extLst>
              </p:cNvPr>
              <p:cNvSpPr/>
              <p:nvPr/>
            </p:nvSpPr>
            <p:spPr>
              <a:xfrm>
                <a:off x="50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2" name="Down Arrow 12">
                <a:extLst>
                  <a:ext uri="{FF2B5EF4-FFF2-40B4-BE49-F238E27FC236}">
                    <a16:creationId xmlns:a16="http://schemas.microsoft.com/office/drawing/2014/main" id="{FC79F311-7D57-4C72-BB62-8E91E4ED7B85}"/>
                  </a:ext>
                </a:extLst>
              </p:cNvPr>
              <p:cNvSpPr/>
              <p:nvPr/>
            </p:nvSpPr>
            <p:spPr>
              <a:xfrm>
                <a:off x="68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3" name="Down Arrow 13">
                <a:extLst>
                  <a:ext uri="{FF2B5EF4-FFF2-40B4-BE49-F238E27FC236}">
                    <a16:creationId xmlns:a16="http://schemas.microsoft.com/office/drawing/2014/main" id="{FE9C1935-60E3-4962-95A8-6536D34839DB}"/>
                  </a:ext>
                </a:extLst>
              </p:cNvPr>
              <p:cNvSpPr/>
              <p:nvPr/>
            </p:nvSpPr>
            <p:spPr>
              <a:xfrm>
                <a:off x="86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4" name="Up-Down Arrow 10">
                <a:extLst>
                  <a:ext uri="{FF2B5EF4-FFF2-40B4-BE49-F238E27FC236}">
                    <a16:creationId xmlns:a16="http://schemas.microsoft.com/office/drawing/2014/main" id="{B492D846-EA47-427A-BE8F-F14ECC19DFF2}"/>
                  </a:ext>
                </a:extLst>
              </p:cNvPr>
              <p:cNvSpPr/>
              <p:nvPr/>
            </p:nvSpPr>
            <p:spPr>
              <a:xfrm>
                <a:off x="32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5" name="Up-Down Arrow 15">
                <a:extLst>
                  <a:ext uri="{FF2B5EF4-FFF2-40B4-BE49-F238E27FC236}">
                    <a16:creationId xmlns:a16="http://schemas.microsoft.com/office/drawing/2014/main" id="{D2599A67-7CD0-4F40-8E0F-3FFA70096F3A}"/>
                  </a:ext>
                </a:extLst>
              </p:cNvPr>
              <p:cNvSpPr/>
              <p:nvPr/>
            </p:nvSpPr>
            <p:spPr>
              <a:xfrm>
                <a:off x="50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6" name="Up-Down Arrow 16">
                <a:extLst>
                  <a:ext uri="{FF2B5EF4-FFF2-40B4-BE49-F238E27FC236}">
                    <a16:creationId xmlns:a16="http://schemas.microsoft.com/office/drawing/2014/main" id="{AC774036-508C-4C20-8CD7-1985A283B60A}"/>
                  </a:ext>
                </a:extLst>
              </p:cNvPr>
              <p:cNvSpPr/>
              <p:nvPr/>
            </p:nvSpPr>
            <p:spPr>
              <a:xfrm>
                <a:off x="680718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7" name="Up-Down Arrow 17">
                <a:extLst>
                  <a:ext uri="{FF2B5EF4-FFF2-40B4-BE49-F238E27FC236}">
                    <a16:creationId xmlns:a16="http://schemas.microsoft.com/office/drawing/2014/main" id="{75441625-B3FC-4241-9320-BFEFB5DCF4A3}"/>
                  </a:ext>
                </a:extLst>
              </p:cNvPr>
              <p:cNvSpPr/>
              <p:nvPr/>
            </p:nvSpPr>
            <p:spPr>
              <a:xfrm>
                <a:off x="86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8" name="Plus 14">
                <a:extLst>
                  <a:ext uri="{FF2B5EF4-FFF2-40B4-BE49-F238E27FC236}">
                    <a16:creationId xmlns:a16="http://schemas.microsoft.com/office/drawing/2014/main" id="{0EEC5DAB-66C0-47F2-9EB4-1C572084F8D0}"/>
                  </a:ext>
                </a:extLst>
              </p:cNvPr>
              <p:cNvSpPr/>
              <p:nvPr/>
            </p:nvSpPr>
            <p:spPr>
              <a:xfrm>
                <a:off x="41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9" name="Plus 19">
                <a:extLst>
                  <a:ext uri="{FF2B5EF4-FFF2-40B4-BE49-F238E27FC236}">
                    <a16:creationId xmlns:a16="http://schemas.microsoft.com/office/drawing/2014/main" id="{5E9C87EE-3FD8-4AF5-9009-8ABB1DACD870}"/>
                  </a:ext>
                </a:extLst>
              </p:cNvPr>
              <p:cNvSpPr/>
              <p:nvPr/>
            </p:nvSpPr>
            <p:spPr>
              <a:xfrm>
                <a:off x="5988000" y="2380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40" name="Plus 20">
                <a:extLst>
                  <a:ext uri="{FF2B5EF4-FFF2-40B4-BE49-F238E27FC236}">
                    <a16:creationId xmlns:a16="http://schemas.microsoft.com/office/drawing/2014/main" id="{2769B874-6DB3-4FB0-8B5F-623FE2C8B9E7}"/>
                  </a:ext>
                </a:extLst>
              </p:cNvPr>
              <p:cNvSpPr/>
              <p:nvPr/>
            </p:nvSpPr>
            <p:spPr>
              <a:xfrm>
                <a:off x="77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grpSp>
      </p:grpSp>
    </p:spTree>
    <p:extLst>
      <p:ext uri="{BB962C8B-B14F-4D97-AF65-F5344CB8AC3E}">
        <p14:creationId xmlns:p14="http://schemas.microsoft.com/office/powerpoint/2010/main" val="3735588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D15F0-FF7D-4C21-9CAC-35BEBB4FB1DD}"/>
              </a:ext>
            </a:extLst>
          </p:cNvPr>
          <p:cNvSpPr>
            <a:spLocks noGrp="1"/>
          </p:cNvSpPr>
          <p:nvPr>
            <p:ph type="title" idx="4294967295"/>
          </p:nvPr>
        </p:nvSpPr>
        <p:spPr>
          <a:xfrm>
            <a:off x="5305094" y="337521"/>
            <a:ext cx="1695236" cy="687387"/>
          </a:xfrm>
        </p:spPr>
        <p:txBody>
          <a:bodyPr/>
          <a:lstStyle/>
          <a:p>
            <a:r>
              <a:rPr lang="en-GB" dirty="0"/>
              <a:t>Roles</a:t>
            </a:r>
          </a:p>
        </p:txBody>
      </p:sp>
      <p:sp>
        <p:nvSpPr>
          <p:cNvPr id="3" name="Text Placeholder 2">
            <a:extLst>
              <a:ext uri="{FF2B5EF4-FFF2-40B4-BE49-F238E27FC236}">
                <a16:creationId xmlns:a16="http://schemas.microsoft.com/office/drawing/2014/main" id="{919E61B0-CB90-40D2-8883-C1BA57AC6E5D}"/>
              </a:ext>
            </a:extLst>
          </p:cNvPr>
          <p:cNvSpPr>
            <a:spLocks noGrp="1"/>
          </p:cNvSpPr>
          <p:nvPr>
            <p:ph type="body" sz="quarter" idx="4294967295"/>
          </p:nvPr>
        </p:nvSpPr>
        <p:spPr>
          <a:xfrm>
            <a:off x="2469222" y="4378942"/>
            <a:ext cx="7253555" cy="2141537"/>
          </a:xfrm>
        </p:spPr>
        <p:txBody>
          <a:bodyPr/>
          <a:lstStyle/>
          <a:p>
            <a:pPr marL="360000" indent="-360000" fontAlgn="auto">
              <a:spcBef>
                <a:spcPts val="0"/>
              </a:spcBef>
              <a:spcAft>
                <a:spcPts val="600"/>
              </a:spcAft>
              <a:buFont typeface="Arial" panose="020B0604020202020204" pitchFamily="34" charset="0"/>
              <a:buChar char="•"/>
            </a:pPr>
            <a:r>
              <a:rPr lang="en-GB" dirty="0"/>
              <a:t>People that carry out tasks within various SDLCs:</a:t>
            </a:r>
          </a:p>
          <a:p>
            <a:pPr marL="720000" lvl="1" indent="-360000" fontAlgn="auto">
              <a:spcBef>
                <a:spcPts val="0"/>
              </a:spcBef>
              <a:spcAft>
                <a:spcPts val="600"/>
              </a:spcAft>
              <a:buFont typeface="Arial" panose="020B0604020202020204" pitchFamily="34" charset="0"/>
              <a:buChar char="•"/>
            </a:pPr>
            <a:r>
              <a:rPr lang="en-GB" sz="1800" dirty="0"/>
              <a:t>Specific to particular SDLC or generic: various titles</a:t>
            </a:r>
          </a:p>
          <a:p>
            <a:pPr marL="720000" lvl="1" indent="-360000" fontAlgn="auto">
              <a:spcBef>
                <a:spcPts val="0"/>
              </a:spcBef>
              <a:spcAft>
                <a:spcPts val="600"/>
              </a:spcAft>
              <a:buFont typeface="Arial" panose="020B0604020202020204" pitchFamily="34" charset="0"/>
              <a:buChar char="•"/>
            </a:pPr>
            <a:r>
              <a:rPr lang="en-GB" sz="1800" dirty="0"/>
              <a:t>Include business, project, technical, and support roles </a:t>
            </a:r>
          </a:p>
          <a:p>
            <a:pPr marL="285750" indent="-285750">
              <a:buFont typeface="Arial" panose="020B0604020202020204" pitchFamily="34" charset="0"/>
              <a:buChar char="•"/>
            </a:pPr>
            <a:endParaRPr lang="en-GB" dirty="0"/>
          </a:p>
        </p:txBody>
      </p:sp>
      <p:grpSp>
        <p:nvGrpSpPr>
          <p:cNvPr id="22" name="Group 21">
            <a:extLst>
              <a:ext uri="{FF2B5EF4-FFF2-40B4-BE49-F238E27FC236}">
                <a16:creationId xmlns:a16="http://schemas.microsoft.com/office/drawing/2014/main" id="{06116758-492A-40FF-9B0C-AE46314A45E7}"/>
              </a:ext>
            </a:extLst>
          </p:cNvPr>
          <p:cNvGrpSpPr/>
          <p:nvPr/>
        </p:nvGrpSpPr>
        <p:grpSpPr>
          <a:xfrm>
            <a:off x="2676000" y="1241763"/>
            <a:ext cx="6840000" cy="2700000"/>
            <a:chOff x="2676000" y="1138012"/>
            <a:chExt cx="6840000" cy="2700000"/>
          </a:xfrm>
        </p:grpSpPr>
        <p:sp>
          <p:nvSpPr>
            <p:cNvPr id="23" name="Text Placeholder 4">
              <a:extLst>
                <a:ext uri="{FF2B5EF4-FFF2-40B4-BE49-F238E27FC236}">
                  <a16:creationId xmlns:a16="http://schemas.microsoft.com/office/drawing/2014/main" id="{CF480DD0-3B5A-4881-919D-C1656B772343}"/>
                </a:ext>
              </a:extLst>
            </p:cNvPr>
            <p:cNvSpPr txBox="1">
              <a:spLocks/>
            </p:cNvSpPr>
            <p:nvPr/>
          </p:nvSpPr>
          <p:spPr>
            <a:xfrm>
              <a:off x="2676000" y="329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600" dirty="0">
                  <a:solidFill>
                    <a:schemeClr val="bg1"/>
                  </a:solidFill>
                  <a:cs typeface="Arial" pitchFamily="34" charset="0"/>
                </a:rPr>
                <a:t>Techniques</a:t>
              </a:r>
            </a:p>
          </p:txBody>
        </p:sp>
        <p:grpSp>
          <p:nvGrpSpPr>
            <p:cNvPr id="24" name="Group 23">
              <a:extLst>
                <a:ext uri="{FF2B5EF4-FFF2-40B4-BE49-F238E27FC236}">
                  <a16:creationId xmlns:a16="http://schemas.microsoft.com/office/drawing/2014/main" id="{9D415F3E-A632-438F-B772-CC899EB78EFD}"/>
                </a:ext>
              </a:extLst>
            </p:cNvPr>
            <p:cNvGrpSpPr/>
            <p:nvPr/>
          </p:nvGrpSpPr>
          <p:grpSpPr>
            <a:xfrm>
              <a:off x="2676000" y="1138012"/>
              <a:ext cx="6840000" cy="2160000"/>
              <a:chOff x="2676000" y="1138012"/>
              <a:chExt cx="6840000" cy="2160000"/>
            </a:xfrm>
          </p:grpSpPr>
          <p:sp>
            <p:nvSpPr>
              <p:cNvPr id="25" name="Text Placeholder 4">
                <a:extLst>
                  <a:ext uri="{FF2B5EF4-FFF2-40B4-BE49-F238E27FC236}">
                    <a16:creationId xmlns:a16="http://schemas.microsoft.com/office/drawing/2014/main" id="{274A2ED6-B13A-4DF1-A4B6-905DCFB30FEC}"/>
                  </a:ext>
                </a:extLst>
              </p:cNvPr>
              <p:cNvSpPr txBox="1">
                <a:spLocks/>
              </p:cNvSpPr>
              <p:nvPr/>
            </p:nvSpPr>
            <p:spPr>
              <a:xfrm>
                <a:off x="2676000" y="113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lt1"/>
                    </a:solidFill>
                    <a:latin typeface="+mn-lt"/>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lt1"/>
                    </a:solidFill>
                    <a:latin typeface="+mn-lt"/>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lt1"/>
                    </a:solidFill>
                    <a:latin typeface="+mn-lt"/>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lt1"/>
                    </a:solidFill>
                    <a:latin typeface="+mn-lt"/>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GB" sz="1600" dirty="0">
                    <a:solidFill>
                      <a:schemeClr val="bg1"/>
                    </a:solidFill>
                    <a:cs typeface="Arial" pitchFamily="34" charset="0"/>
                  </a:rPr>
                  <a:t>Context</a:t>
                </a:r>
              </a:p>
            </p:txBody>
          </p:sp>
          <p:sp>
            <p:nvSpPr>
              <p:cNvPr id="26" name="Rounded Rectangle 5">
                <a:extLst>
                  <a:ext uri="{FF2B5EF4-FFF2-40B4-BE49-F238E27FC236}">
                    <a16:creationId xmlns:a16="http://schemas.microsoft.com/office/drawing/2014/main" id="{672E819B-1A25-45C1-88AD-3A051416A3FB}"/>
                  </a:ext>
                </a:extLst>
              </p:cNvPr>
              <p:cNvSpPr/>
              <p:nvPr/>
            </p:nvSpPr>
            <p:spPr>
              <a:xfrm>
                <a:off x="26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Life cycle</a:t>
                </a:r>
              </a:p>
            </p:txBody>
          </p:sp>
          <p:sp>
            <p:nvSpPr>
              <p:cNvPr id="27" name="Rounded Rectangle 7">
                <a:extLst>
                  <a:ext uri="{FF2B5EF4-FFF2-40B4-BE49-F238E27FC236}">
                    <a16:creationId xmlns:a16="http://schemas.microsoft.com/office/drawing/2014/main" id="{38F5F7F2-933E-4C74-AA8E-70807DE11774}"/>
                  </a:ext>
                </a:extLst>
              </p:cNvPr>
              <p:cNvSpPr/>
              <p:nvPr/>
            </p:nvSpPr>
            <p:spPr>
              <a:xfrm>
                <a:off x="44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Process</a:t>
                </a:r>
              </a:p>
            </p:txBody>
          </p:sp>
          <p:sp>
            <p:nvSpPr>
              <p:cNvPr id="28" name="Rounded Rectangle 8">
                <a:extLst>
                  <a:ext uri="{FF2B5EF4-FFF2-40B4-BE49-F238E27FC236}">
                    <a16:creationId xmlns:a16="http://schemas.microsoft.com/office/drawing/2014/main" id="{2D8310B2-1CF2-428A-B6F2-3B9DA5C27FAD}"/>
                  </a:ext>
                </a:extLst>
              </p:cNvPr>
              <p:cNvSpPr/>
              <p:nvPr/>
            </p:nvSpPr>
            <p:spPr>
              <a:xfrm>
                <a:off x="6276000" y="2218012"/>
                <a:ext cx="1440000" cy="5400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Roles</a:t>
                </a:r>
              </a:p>
            </p:txBody>
          </p:sp>
          <p:sp>
            <p:nvSpPr>
              <p:cNvPr id="29" name="Rounded Rectangle 9">
                <a:extLst>
                  <a:ext uri="{FF2B5EF4-FFF2-40B4-BE49-F238E27FC236}">
                    <a16:creationId xmlns:a16="http://schemas.microsoft.com/office/drawing/2014/main" id="{CA7E04A8-F595-46B0-8899-47CB2B852939}"/>
                  </a:ext>
                </a:extLst>
              </p:cNvPr>
              <p:cNvSpPr/>
              <p:nvPr/>
            </p:nvSpPr>
            <p:spPr>
              <a:xfrm>
                <a:off x="80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solidFill>
                      <a:schemeClr val="bg1"/>
                    </a:solidFill>
                    <a:cs typeface="Arial" pitchFamily="34" charset="0"/>
                  </a:rPr>
                  <a:t>Deliverables</a:t>
                </a:r>
              </a:p>
            </p:txBody>
          </p:sp>
          <p:sp>
            <p:nvSpPr>
              <p:cNvPr id="30" name="Down Arrow 3">
                <a:extLst>
                  <a:ext uri="{FF2B5EF4-FFF2-40B4-BE49-F238E27FC236}">
                    <a16:creationId xmlns:a16="http://schemas.microsoft.com/office/drawing/2014/main" id="{AA3A68DD-E636-417B-87E7-6B9657380645}"/>
                  </a:ext>
                </a:extLst>
              </p:cNvPr>
              <p:cNvSpPr/>
              <p:nvPr/>
            </p:nvSpPr>
            <p:spPr>
              <a:xfrm>
                <a:off x="32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1" name="Down Arrow 11">
                <a:extLst>
                  <a:ext uri="{FF2B5EF4-FFF2-40B4-BE49-F238E27FC236}">
                    <a16:creationId xmlns:a16="http://schemas.microsoft.com/office/drawing/2014/main" id="{CA1B2C99-4854-4F9A-AE8D-1658BCDD767D}"/>
                  </a:ext>
                </a:extLst>
              </p:cNvPr>
              <p:cNvSpPr/>
              <p:nvPr/>
            </p:nvSpPr>
            <p:spPr>
              <a:xfrm>
                <a:off x="50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2" name="Down Arrow 12">
                <a:extLst>
                  <a:ext uri="{FF2B5EF4-FFF2-40B4-BE49-F238E27FC236}">
                    <a16:creationId xmlns:a16="http://schemas.microsoft.com/office/drawing/2014/main" id="{7E955980-55E0-44D3-9A90-142022A29B5F}"/>
                  </a:ext>
                </a:extLst>
              </p:cNvPr>
              <p:cNvSpPr/>
              <p:nvPr/>
            </p:nvSpPr>
            <p:spPr>
              <a:xfrm>
                <a:off x="68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3" name="Down Arrow 13">
                <a:extLst>
                  <a:ext uri="{FF2B5EF4-FFF2-40B4-BE49-F238E27FC236}">
                    <a16:creationId xmlns:a16="http://schemas.microsoft.com/office/drawing/2014/main" id="{DD4CCA19-1FA7-4732-953E-E47BFB4E5365}"/>
                  </a:ext>
                </a:extLst>
              </p:cNvPr>
              <p:cNvSpPr/>
              <p:nvPr/>
            </p:nvSpPr>
            <p:spPr>
              <a:xfrm>
                <a:off x="86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4" name="Up-Down Arrow 10">
                <a:extLst>
                  <a:ext uri="{FF2B5EF4-FFF2-40B4-BE49-F238E27FC236}">
                    <a16:creationId xmlns:a16="http://schemas.microsoft.com/office/drawing/2014/main" id="{5C6849B8-5993-4D94-9E8E-0C2C37B5F3D8}"/>
                  </a:ext>
                </a:extLst>
              </p:cNvPr>
              <p:cNvSpPr/>
              <p:nvPr/>
            </p:nvSpPr>
            <p:spPr>
              <a:xfrm>
                <a:off x="32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5" name="Up-Down Arrow 15">
                <a:extLst>
                  <a:ext uri="{FF2B5EF4-FFF2-40B4-BE49-F238E27FC236}">
                    <a16:creationId xmlns:a16="http://schemas.microsoft.com/office/drawing/2014/main" id="{288917F5-7EDA-40E8-B540-8BCA8D453FC9}"/>
                  </a:ext>
                </a:extLst>
              </p:cNvPr>
              <p:cNvSpPr/>
              <p:nvPr/>
            </p:nvSpPr>
            <p:spPr>
              <a:xfrm>
                <a:off x="50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6" name="Up-Down Arrow 16">
                <a:extLst>
                  <a:ext uri="{FF2B5EF4-FFF2-40B4-BE49-F238E27FC236}">
                    <a16:creationId xmlns:a16="http://schemas.microsoft.com/office/drawing/2014/main" id="{CE9517B0-EEC5-41FD-AC5F-6188239C7775}"/>
                  </a:ext>
                </a:extLst>
              </p:cNvPr>
              <p:cNvSpPr/>
              <p:nvPr/>
            </p:nvSpPr>
            <p:spPr>
              <a:xfrm>
                <a:off x="680718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7" name="Up-Down Arrow 17">
                <a:extLst>
                  <a:ext uri="{FF2B5EF4-FFF2-40B4-BE49-F238E27FC236}">
                    <a16:creationId xmlns:a16="http://schemas.microsoft.com/office/drawing/2014/main" id="{C6EBF760-F41E-4A49-85FC-962786D42C3A}"/>
                  </a:ext>
                </a:extLst>
              </p:cNvPr>
              <p:cNvSpPr/>
              <p:nvPr/>
            </p:nvSpPr>
            <p:spPr>
              <a:xfrm>
                <a:off x="86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8" name="Plus 14">
                <a:extLst>
                  <a:ext uri="{FF2B5EF4-FFF2-40B4-BE49-F238E27FC236}">
                    <a16:creationId xmlns:a16="http://schemas.microsoft.com/office/drawing/2014/main" id="{8658ACE2-DC0C-4B82-9440-2C01E43D1669}"/>
                  </a:ext>
                </a:extLst>
              </p:cNvPr>
              <p:cNvSpPr/>
              <p:nvPr/>
            </p:nvSpPr>
            <p:spPr>
              <a:xfrm>
                <a:off x="41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9" name="Plus 19">
                <a:extLst>
                  <a:ext uri="{FF2B5EF4-FFF2-40B4-BE49-F238E27FC236}">
                    <a16:creationId xmlns:a16="http://schemas.microsoft.com/office/drawing/2014/main" id="{3AB49509-CA1C-4387-98A1-8D88FB6B0ABE}"/>
                  </a:ext>
                </a:extLst>
              </p:cNvPr>
              <p:cNvSpPr/>
              <p:nvPr/>
            </p:nvSpPr>
            <p:spPr>
              <a:xfrm>
                <a:off x="5988000" y="2380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40" name="Plus 20">
                <a:extLst>
                  <a:ext uri="{FF2B5EF4-FFF2-40B4-BE49-F238E27FC236}">
                    <a16:creationId xmlns:a16="http://schemas.microsoft.com/office/drawing/2014/main" id="{9BC73161-003D-4834-B9BD-5D911819B09B}"/>
                  </a:ext>
                </a:extLst>
              </p:cNvPr>
              <p:cNvSpPr/>
              <p:nvPr/>
            </p:nvSpPr>
            <p:spPr>
              <a:xfrm>
                <a:off x="77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grpSp>
      </p:grpSp>
    </p:spTree>
    <p:extLst>
      <p:ext uri="{BB962C8B-B14F-4D97-AF65-F5344CB8AC3E}">
        <p14:creationId xmlns:p14="http://schemas.microsoft.com/office/powerpoint/2010/main" val="3322944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B7CB6-0896-4AE8-B629-492424B6C3E7}"/>
              </a:ext>
            </a:extLst>
          </p:cNvPr>
          <p:cNvSpPr>
            <a:spLocks noGrp="1"/>
          </p:cNvSpPr>
          <p:nvPr>
            <p:ph type="title" idx="4294967295"/>
          </p:nvPr>
        </p:nvSpPr>
        <p:spPr>
          <a:xfrm>
            <a:off x="4308000" y="298608"/>
            <a:ext cx="3576000" cy="687387"/>
          </a:xfrm>
        </p:spPr>
        <p:txBody>
          <a:bodyPr/>
          <a:lstStyle/>
          <a:p>
            <a:r>
              <a:rPr lang="en-GB" dirty="0"/>
              <a:t>Deliverables</a:t>
            </a:r>
          </a:p>
        </p:txBody>
      </p:sp>
      <p:sp>
        <p:nvSpPr>
          <p:cNvPr id="3" name="Text Placeholder 2">
            <a:extLst>
              <a:ext uri="{FF2B5EF4-FFF2-40B4-BE49-F238E27FC236}">
                <a16:creationId xmlns:a16="http://schemas.microsoft.com/office/drawing/2014/main" id="{6425AAD1-C522-4D2C-AD0A-481A0FB9CE66}"/>
              </a:ext>
            </a:extLst>
          </p:cNvPr>
          <p:cNvSpPr>
            <a:spLocks noGrp="1"/>
          </p:cNvSpPr>
          <p:nvPr>
            <p:ph type="body" sz="quarter" idx="4294967295"/>
          </p:nvPr>
        </p:nvSpPr>
        <p:spPr>
          <a:xfrm>
            <a:off x="1534137" y="4132836"/>
            <a:ext cx="9483725" cy="2565400"/>
          </a:xfrm>
        </p:spPr>
        <p:txBody>
          <a:bodyPr/>
          <a:lstStyle/>
          <a:p>
            <a:pPr marL="360000" indent="-360000" fontAlgn="auto">
              <a:spcBef>
                <a:spcPts val="0"/>
              </a:spcBef>
              <a:spcAft>
                <a:spcPts val="600"/>
              </a:spcAft>
              <a:buFont typeface="Wingdings" pitchFamily="2" charset="2"/>
              <a:buChar char="§"/>
            </a:pPr>
            <a:r>
              <a:rPr lang="en-GB" b="1" dirty="0"/>
              <a:t>Documents, models, designs, hardware and software required</a:t>
            </a:r>
            <a:r>
              <a:rPr lang="en-GB" dirty="0"/>
              <a:t>:</a:t>
            </a:r>
          </a:p>
          <a:p>
            <a:pPr marL="720000" lvl="1" indent="-360000" fontAlgn="auto">
              <a:spcBef>
                <a:spcPts val="0"/>
              </a:spcBef>
              <a:spcAft>
                <a:spcPts val="600"/>
              </a:spcAft>
              <a:buFont typeface="Arial" panose="020B0604020202020204" pitchFamily="34" charset="0"/>
              <a:buChar char="•"/>
            </a:pPr>
            <a:r>
              <a:rPr lang="en-GB" sz="1800" dirty="0"/>
              <a:t>Vary for different SDLCs and stages</a:t>
            </a:r>
          </a:p>
          <a:p>
            <a:pPr marL="360000" indent="-360000" fontAlgn="auto">
              <a:spcBef>
                <a:spcPts val="0"/>
              </a:spcBef>
              <a:spcAft>
                <a:spcPts val="600"/>
              </a:spcAft>
              <a:buFont typeface="Wingdings" pitchFamily="2" charset="2"/>
              <a:buChar char="§"/>
            </a:pPr>
            <a:r>
              <a:rPr lang="en-GB" dirty="0"/>
              <a:t>Detailed understanding of requirements – what, how, level of quality, when?</a:t>
            </a:r>
          </a:p>
          <a:p>
            <a:pPr marL="360000" indent="-360000" fontAlgn="auto">
              <a:spcBef>
                <a:spcPts val="0"/>
              </a:spcBef>
              <a:spcAft>
                <a:spcPts val="600"/>
              </a:spcAft>
              <a:buFont typeface="Wingdings" pitchFamily="2" charset="2"/>
              <a:buChar char="§"/>
            </a:pPr>
            <a:r>
              <a:rPr lang="en-GB" dirty="0"/>
              <a:t>Examples:</a:t>
            </a:r>
          </a:p>
          <a:p>
            <a:pPr marL="720000" lvl="1" indent="-360000" fontAlgn="auto">
              <a:spcBef>
                <a:spcPts val="0"/>
              </a:spcBef>
              <a:spcAft>
                <a:spcPts val="600"/>
              </a:spcAft>
              <a:buFont typeface="Arial" panose="020B0604020202020204" pitchFamily="34" charset="0"/>
              <a:buChar char="•"/>
            </a:pPr>
            <a:r>
              <a:rPr lang="en-GB" sz="1800" dirty="0"/>
              <a:t>Requirement documents, models, system / software components</a:t>
            </a:r>
          </a:p>
          <a:p>
            <a:pPr marL="720000" lvl="1" indent="-360000" fontAlgn="auto">
              <a:spcBef>
                <a:spcPts val="0"/>
              </a:spcBef>
              <a:spcAft>
                <a:spcPts val="600"/>
              </a:spcAft>
              <a:buFont typeface="Arial" panose="020B0604020202020204" pitchFamily="34" charset="0"/>
              <a:buChar char="•"/>
            </a:pPr>
            <a:r>
              <a:rPr lang="en-GB" sz="1800" dirty="0"/>
              <a:t>Test / implementation plans and scripts  </a:t>
            </a:r>
          </a:p>
          <a:p>
            <a:pPr marL="285750" indent="-285750">
              <a:buFont typeface="Arial" panose="020B0604020202020204" pitchFamily="34" charset="0"/>
              <a:buChar char="•"/>
            </a:pPr>
            <a:endParaRPr lang="en-GB" dirty="0"/>
          </a:p>
        </p:txBody>
      </p:sp>
      <p:grpSp>
        <p:nvGrpSpPr>
          <p:cNvPr id="22" name="Group 21">
            <a:extLst>
              <a:ext uri="{FF2B5EF4-FFF2-40B4-BE49-F238E27FC236}">
                <a16:creationId xmlns:a16="http://schemas.microsoft.com/office/drawing/2014/main" id="{36C83D1A-45C6-445F-A168-EFFF60A63853}"/>
              </a:ext>
            </a:extLst>
          </p:cNvPr>
          <p:cNvGrpSpPr/>
          <p:nvPr/>
        </p:nvGrpSpPr>
        <p:grpSpPr>
          <a:xfrm>
            <a:off x="2676000" y="1241763"/>
            <a:ext cx="6840000" cy="2700000"/>
            <a:chOff x="2676000" y="1138012"/>
            <a:chExt cx="6840000" cy="2700000"/>
          </a:xfrm>
        </p:grpSpPr>
        <p:sp>
          <p:nvSpPr>
            <p:cNvPr id="23" name="Text Placeholder 4">
              <a:extLst>
                <a:ext uri="{FF2B5EF4-FFF2-40B4-BE49-F238E27FC236}">
                  <a16:creationId xmlns:a16="http://schemas.microsoft.com/office/drawing/2014/main" id="{515FE60A-A7EE-4037-A52B-45DDA909C4C6}"/>
                </a:ext>
              </a:extLst>
            </p:cNvPr>
            <p:cNvSpPr txBox="1">
              <a:spLocks/>
            </p:cNvSpPr>
            <p:nvPr/>
          </p:nvSpPr>
          <p:spPr>
            <a:xfrm>
              <a:off x="2676000" y="329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600" dirty="0">
                  <a:solidFill>
                    <a:schemeClr val="bg1"/>
                  </a:solidFill>
                  <a:cs typeface="Arial" pitchFamily="34" charset="0"/>
                </a:rPr>
                <a:t>Techniques</a:t>
              </a:r>
            </a:p>
          </p:txBody>
        </p:sp>
        <p:grpSp>
          <p:nvGrpSpPr>
            <p:cNvPr id="24" name="Group 23">
              <a:extLst>
                <a:ext uri="{FF2B5EF4-FFF2-40B4-BE49-F238E27FC236}">
                  <a16:creationId xmlns:a16="http://schemas.microsoft.com/office/drawing/2014/main" id="{190DAF67-EBE2-4E29-8356-899F47028E76}"/>
                </a:ext>
              </a:extLst>
            </p:cNvPr>
            <p:cNvGrpSpPr/>
            <p:nvPr/>
          </p:nvGrpSpPr>
          <p:grpSpPr>
            <a:xfrm>
              <a:off x="2676000" y="1138012"/>
              <a:ext cx="6840000" cy="2160000"/>
              <a:chOff x="2676000" y="1138012"/>
              <a:chExt cx="6840000" cy="2160000"/>
            </a:xfrm>
          </p:grpSpPr>
          <p:sp>
            <p:nvSpPr>
              <p:cNvPr id="25" name="Text Placeholder 4">
                <a:extLst>
                  <a:ext uri="{FF2B5EF4-FFF2-40B4-BE49-F238E27FC236}">
                    <a16:creationId xmlns:a16="http://schemas.microsoft.com/office/drawing/2014/main" id="{EFC7C223-5108-4AB5-8D3F-CBFE90581EC7}"/>
                  </a:ext>
                </a:extLst>
              </p:cNvPr>
              <p:cNvSpPr txBox="1">
                <a:spLocks/>
              </p:cNvSpPr>
              <p:nvPr/>
            </p:nvSpPr>
            <p:spPr>
              <a:xfrm>
                <a:off x="2676000" y="113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lt1"/>
                    </a:solidFill>
                    <a:latin typeface="+mn-lt"/>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lt1"/>
                    </a:solidFill>
                    <a:latin typeface="+mn-lt"/>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lt1"/>
                    </a:solidFill>
                    <a:latin typeface="+mn-lt"/>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lt1"/>
                    </a:solidFill>
                    <a:latin typeface="+mn-lt"/>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GB" sz="1600" dirty="0">
                    <a:solidFill>
                      <a:schemeClr val="bg1"/>
                    </a:solidFill>
                    <a:cs typeface="Arial" pitchFamily="34" charset="0"/>
                  </a:rPr>
                  <a:t>Context</a:t>
                </a:r>
              </a:p>
            </p:txBody>
          </p:sp>
          <p:sp>
            <p:nvSpPr>
              <p:cNvPr id="26" name="Rounded Rectangle 5">
                <a:extLst>
                  <a:ext uri="{FF2B5EF4-FFF2-40B4-BE49-F238E27FC236}">
                    <a16:creationId xmlns:a16="http://schemas.microsoft.com/office/drawing/2014/main" id="{CCE02BE1-1FD2-40AF-9CE9-5A233451B96C}"/>
                  </a:ext>
                </a:extLst>
              </p:cNvPr>
              <p:cNvSpPr/>
              <p:nvPr/>
            </p:nvSpPr>
            <p:spPr>
              <a:xfrm>
                <a:off x="26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Life cycle</a:t>
                </a:r>
              </a:p>
            </p:txBody>
          </p:sp>
          <p:sp>
            <p:nvSpPr>
              <p:cNvPr id="27" name="Rounded Rectangle 7">
                <a:extLst>
                  <a:ext uri="{FF2B5EF4-FFF2-40B4-BE49-F238E27FC236}">
                    <a16:creationId xmlns:a16="http://schemas.microsoft.com/office/drawing/2014/main" id="{B6890B88-7046-4551-8B06-967FC1ED1259}"/>
                  </a:ext>
                </a:extLst>
              </p:cNvPr>
              <p:cNvSpPr/>
              <p:nvPr/>
            </p:nvSpPr>
            <p:spPr>
              <a:xfrm>
                <a:off x="44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Process</a:t>
                </a:r>
              </a:p>
            </p:txBody>
          </p:sp>
          <p:sp>
            <p:nvSpPr>
              <p:cNvPr id="28" name="Rounded Rectangle 8">
                <a:extLst>
                  <a:ext uri="{FF2B5EF4-FFF2-40B4-BE49-F238E27FC236}">
                    <a16:creationId xmlns:a16="http://schemas.microsoft.com/office/drawing/2014/main" id="{59D9A064-804A-4737-AF26-254DF1F6D167}"/>
                  </a:ext>
                </a:extLst>
              </p:cNvPr>
              <p:cNvSpPr/>
              <p:nvPr/>
            </p:nvSpPr>
            <p:spPr>
              <a:xfrm>
                <a:off x="62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Roles</a:t>
                </a:r>
              </a:p>
            </p:txBody>
          </p:sp>
          <p:sp>
            <p:nvSpPr>
              <p:cNvPr id="29" name="Rounded Rectangle 9">
                <a:extLst>
                  <a:ext uri="{FF2B5EF4-FFF2-40B4-BE49-F238E27FC236}">
                    <a16:creationId xmlns:a16="http://schemas.microsoft.com/office/drawing/2014/main" id="{D78C0E48-F5A5-4590-920A-6A4900A729AD}"/>
                  </a:ext>
                </a:extLst>
              </p:cNvPr>
              <p:cNvSpPr/>
              <p:nvPr/>
            </p:nvSpPr>
            <p:spPr>
              <a:xfrm>
                <a:off x="8076000" y="2218012"/>
                <a:ext cx="1440000" cy="540000"/>
              </a:xfrm>
              <a:prstGeom prst="roundRect">
                <a:avLst/>
              </a:prstGeom>
              <a:solidFill>
                <a:srgbClr val="F3622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solidFill>
                      <a:schemeClr val="bg1"/>
                    </a:solidFill>
                    <a:cs typeface="Arial" pitchFamily="34" charset="0"/>
                  </a:rPr>
                  <a:t>Deliverables</a:t>
                </a:r>
              </a:p>
            </p:txBody>
          </p:sp>
          <p:sp>
            <p:nvSpPr>
              <p:cNvPr id="30" name="Down Arrow 3">
                <a:extLst>
                  <a:ext uri="{FF2B5EF4-FFF2-40B4-BE49-F238E27FC236}">
                    <a16:creationId xmlns:a16="http://schemas.microsoft.com/office/drawing/2014/main" id="{5CD515C7-FCAE-44E2-A7E4-18A849680D15}"/>
                  </a:ext>
                </a:extLst>
              </p:cNvPr>
              <p:cNvSpPr/>
              <p:nvPr/>
            </p:nvSpPr>
            <p:spPr>
              <a:xfrm>
                <a:off x="32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1" name="Down Arrow 11">
                <a:extLst>
                  <a:ext uri="{FF2B5EF4-FFF2-40B4-BE49-F238E27FC236}">
                    <a16:creationId xmlns:a16="http://schemas.microsoft.com/office/drawing/2014/main" id="{9C10BF56-0EA3-497A-AE21-4A9E9602B86E}"/>
                  </a:ext>
                </a:extLst>
              </p:cNvPr>
              <p:cNvSpPr/>
              <p:nvPr/>
            </p:nvSpPr>
            <p:spPr>
              <a:xfrm>
                <a:off x="50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2" name="Down Arrow 12">
                <a:extLst>
                  <a:ext uri="{FF2B5EF4-FFF2-40B4-BE49-F238E27FC236}">
                    <a16:creationId xmlns:a16="http://schemas.microsoft.com/office/drawing/2014/main" id="{1501D4C6-4F0B-449D-9D07-8FF5781AC2F4}"/>
                  </a:ext>
                </a:extLst>
              </p:cNvPr>
              <p:cNvSpPr/>
              <p:nvPr/>
            </p:nvSpPr>
            <p:spPr>
              <a:xfrm>
                <a:off x="68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3" name="Down Arrow 13">
                <a:extLst>
                  <a:ext uri="{FF2B5EF4-FFF2-40B4-BE49-F238E27FC236}">
                    <a16:creationId xmlns:a16="http://schemas.microsoft.com/office/drawing/2014/main" id="{7D34CFAA-C363-444D-8282-B85C344B5105}"/>
                  </a:ext>
                </a:extLst>
              </p:cNvPr>
              <p:cNvSpPr/>
              <p:nvPr/>
            </p:nvSpPr>
            <p:spPr>
              <a:xfrm>
                <a:off x="86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4" name="Up-Down Arrow 10">
                <a:extLst>
                  <a:ext uri="{FF2B5EF4-FFF2-40B4-BE49-F238E27FC236}">
                    <a16:creationId xmlns:a16="http://schemas.microsoft.com/office/drawing/2014/main" id="{806EFDF0-EFF1-4DB6-9CD6-20C5FAA38083}"/>
                  </a:ext>
                </a:extLst>
              </p:cNvPr>
              <p:cNvSpPr/>
              <p:nvPr/>
            </p:nvSpPr>
            <p:spPr>
              <a:xfrm>
                <a:off x="32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5" name="Up-Down Arrow 15">
                <a:extLst>
                  <a:ext uri="{FF2B5EF4-FFF2-40B4-BE49-F238E27FC236}">
                    <a16:creationId xmlns:a16="http://schemas.microsoft.com/office/drawing/2014/main" id="{0C51A739-D9A5-4477-A238-34EF15E0F191}"/>
                  </a:ext>
                </a:extLst>
              </p:cNvPr>
              <p:cNvSpPr/>
              <p:nvPr/>
            </p:nvSpPr>
            <p:spPr>
              <a:xfrm>
                <a:off x="50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6" name="Up-Down Arrow 16">
                <a:extLst>
                  <a:ext uri="{FF2B5EF4-FFF2-40B4-BE49-F238E27FC236}">
                    <a16:creationId xmlns:a16="http://schemas.microsoft.com/office/drawing/2014/main" id="{73551E60-7104-4A27-9B4C-F3F5E8911EB8}"/>
                  </a:ext>
                </a:extLst>
              </p:cNvPr>
              <p:cNvSpPr/>
              <p:nvPr/>
            </p:nvSpPr>
            <p:spPr>
              <a:xfrm>
                <a:off x="680718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7" name="Up-Down Arrow 17">
                <a:extLst>
                  <a:ext uri="{FF2B5EF4-FFF2-40B4-BE49-F238E27FC236}">
                    <a16:creationId xmlns:a16="http://schemas.microsoft.com/office/drawing/2014/main" id="{1CB7FA76-80B6-4F0C-8831-E138F2E5BB6E}"/>
                  </a:ext>
                </a:extLst>
              </p:cNvPr>
              <p:cNvSpPr/>
              <p:nvPr/>
            </p:nvSpPr>
            <p:spPr>
              <a:xfrm>
                <a:off x="86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8" name="Plus 14">
                <a:extLst>
                  <a:ext uri="{FF2B5EF4-FFF2-40B4-BE49-F238E27FC236}">
                    <a16:creationId xmlns:a16="http://schemas.microsoft.com/office/drawing/2014/main" id="{004601AC-E9FD-46F4-B5A3-0AA82162AD63}"/>
                  </a:ext>
                </a:extLst>
              </p:cNvPr>
              <p:cNvSpPr/>
              <p:nvPr/>
            </p:nvSpPr>
            <p:spPr>
              <a:xfrm>
                <a:off x="41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9" name="Plus 19">
                <a:extLst>
                  <a:ext uri="{FF2B5EF4-FFF2-40B4-BE49-F238E27FC236}">
                    <a16:creationId xmlns:a16="http://schemas.microsoft.com/office/drawing/2014/main" id="{CFAE8F94-FB6C-4B7F-9EA0-BA717CBCB357}"/>
                  </a:ext>
                </a:extLst>
              </p:cNvPr>
              <p:cNvSpPr/>
              <p:nvPr/>
            </p:nvSpPr>
            <p:spPr>
              <a:xfrm>
                <a:off x="5988000" y="2380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40" name="Plus 20">
                <a:extLst>
                  <a:ext uri="{FF2B5EF4-FFF2-40B4-BE49-F238E27FC236}">
                    <a16:creationId xmlns:a16="http://schemas.microsoft.com/office/drawing/2014/main" id="{3A71E99B-828E-4267-BCAB-9E840ED281C0}"/>
                  </a:ext>
                </a:extLst>
              </p:cNvPr>
              <p:cNvSpPr/>
              <p:nvPr/>
            </p:nvSpPr>
            <p:spPr>
              <a:xfrm>
                <a:off x="77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grpSp>
      </p:grpSp>
    </p:spTree>
    <p:extLst>
      <p:ext uri="{BB962C8B-B14F-4D97-AF65-F5344CB8AC3E}">
        <p14:creationId xmlns:p14="http://schemas.microsoft.com/office/powerpoint/2010/main" val="1613051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1480D-848C-421F-AD45-956A6C2B82FF}"/>
              </a:ext>
            </a:extLst>
          </p:cNvPr>
          <p:cNvSpPr>
            <a:spLocks noGrp="1"/>
          </p:cNvSpPr>
          <p:nvPr>
            <p:ph type="title" idx="4294967295"/>
          </p:nvPr>
        </p:nvSpPr>
        <p:spPr>
          <a:xfrm>
            <a:off x="4596000" y="288987"/>
            <a:ext cx="3216000" cy="687387"/>
          </a:xfrm>
        </p:spPr>
        <p:txBody>
          <a:bodyPr/>
          <a:lstStyle/>
          <a:p>
            <a:r>
              <a:rPr lang="en-GB" dirty="0"/>
              <a:t>Techniques</a:t>
            </a:r>
          </a:p>
        </p:txBody>
      </p:sp>
      <p:sp>
        <p:nvSpPr>
          <p:cNvPr id="3" name="Text Placeholder 2">
            <a:extLst>
              <a:ext uri="{FF2B5EF4-FFF2-40B4-BE49-F238E27FC236}">
                <a16:creationId xmlns:a16="http://schemas.microsoft.com/office/drawing/2014/main" id="{C4DBD6C5-48B8-45A6-A94D-293D7DCF6CD4}"/>
              </a:ext>
            </a:extLst>
          </p:cNvPr>
          <p:cNvSpPr>
            <a:spLocks noGrp="1"/>
          </p:cNvSpPr>
          <p:nvPr>
            <p:ph type="body" sz="quarter" idx="4294967295"/>
          </p:nvPr>
        </p:nvSpPr>
        <p:spPr>
          <a:xfrm>
            <a:off x="1458168" y="4213529"/>
            <a:ext cx="9491663" cy="2433637"/>
          </a:xfrm>
        </p:spPr>
        <p:txBody>
          <a:bodyPr/>
          <a:lstStyle/>
          <a:p>
            <a:pPr marL="360000" indent="-360000" fontAlgn="auto">
              <a:spcBef>
                <a:spcPts val="0"/>
              </a:spcBef>
              <a:spcAft>
                <a:spcPts val="600"/>
              </a:spcAft>
              <a:buFont typeface="Wingdings" pitchFamily="2" charset="2"/>
              <a:buChar char="§"/>
            </a:pPr>
            <a:r>
              <a:rPr lang="en-GB" b="1" dirty="0"/>
              <a:t>Numerous</a:t>
            </a:r>
            <a:r>
              <a:rPr lang="en-GB" dirty="0"/>
              <a:t>: choice dependent on team, organisation, SDLC. For example:</a:t>
            </a:r>
          </a:p>
          <a:p>
            <a:pPr marL="720000" lvl="1" indent="-360000" fontAlgn="auto">
              <a:spcBef>
                <a:spcPts val="0"/>
              </a:spcBef>
              <a:spcAft>
                <a:spcPts val="600"/>
              </a:spcAft>
              <a:buFont typeface="Arial" panose="020B0604020202020204" pitchFamily="34" charset="0"/>
              <a:buChar char="•"/>
            </a:pPr>
            <a:r>
              <a:rPr lang="en-GB" sz="1800" dirty="0"/>
              <a:t>Military: Ministry of Defence Architecture Framework (</a:t>
            </a:r>
            <a:r>
              <a:rPr lang="en-GB" sz="1800" dirty="0" err="1"/>
              <a:t>MoDAF</a:t>
            </a:r>
            <a:r>
              <a:rPr lang="en-GB" sz="1800" dirty="0"/>
              <a:t>)</a:t>
            </a:r>
          </a:p>
          <a:p>
            <a:pPr marL="720000" lvl="1" indent="-360000" fontAlgn="auto">
              <a:spcBef>
                <a:spcPts val="0"/>
              </a:spcBef>
              <a:spcAft>
                <a:spcPts val="600"/>
              </a:spcAft>
              <a:buFont typeface="Arial" panose="020B0604020202020204" pitchFamily="34" charset="0"/>
              <a:buChar char="•"/>
            </a:pPr>
            <a:r>
              <a:rPr lang="en-GB" sz="1800" dirty="0"/>
              <a:t>Commercial payment milestones and reviews: </a:t>
            </a:r>
            <a:r>
              <a:rPr lang="en-GB" sz="1800" b="1" dirty="0"/>
              <a:t>Waterfall</a:t>
            </a:r>
            <a:r>
              <a:rPr lang="en-GB" sz="1800" dirty="0"/>
              <a:t> </a:t>
            </a:r>
          </a:p>
          <a:p>
            <a:pPr marL="720000" lvl="1" indent="-360000" fontAlgn="auto">
              <a:spcBef>
                <a:spcPts val="0"/>
              </a:spcBef>
              <a:spcAft>
                <a:spcPts val="600"/>
              </a:spcAft>
              <a:buFont typeface="Arial" panose="020B0604020202020204" pitchFamily="34" charset="0"/>
              <a:buChar char="•"/>
            </a:pPr>
            <a:r>
              <a:rPr lang="en-GB" sz="1800" dirty="0"/>
              <a:t>Rapid prototypes: </a:t>
            </a:r>
            <a:r>
              <a:rPr lang="en-GB" sz="1800" b="1" dirty="0"/>
              <a:t>Agile</a:t>
            </a:r>
            <a:br>
              <a:rPr lang="en-GB" sz="1800" dirty="0"/>
            </a:br>
            <a:endParaRPr lang="en-GB" sz="1800" dirty="0"/>
          </a:p>
          <a:p>
            <a:pPr marL="360000" indent="-360000" fontAlgn="auto">
              <a:spcBef>
                <a:spcPts val="0"/>
              </a:spcBef>
              <a:spcAft>
                <a:spcPts val="600"/>
              </a:spcAft>
              <a:buFont typeface="Wingdings" pitchFamily="2" charset="2"/>
              <a:buChar char="§"/>
            </a:pPr>
            <a:r>
              <a:rPr lang="en-GB" dirty="0"/>
              <a:t>Many SDLCs: strengths / weaknesses, suit particular projects</a:t>
            </a:r>
          </a:p>
          <a:p>
            <a:pPr marL="285750" indent="-285750">
              <a:buFont typeface="Arial" panose="020B0604020202020204" pitchFamily="34" charset="0"/>
              <a:buChar char="•"/>
            </a:pPr>
            <a:endParaRPr lang="en-GB" dirty="0"/>
          </a:p>
        </p:txBody>
      </p:sp>
      <p:grpSp>
        <p:nvGrpSpPr>
          <p:cNvPr id="22" name="Group 21">
            <a:extLst>
              <a:ext uri="{FF2B5EF4-FFF2-40B4-BE49-F238E27FC236}">
                <a16:creationId xmlns:a16="http://schemas.microsoft.com/office/drawing/2014/main" id="{E5AEADA1-562F-416D-A764-B24AE5646A65}"/>
              </a:ext>
            </a:extLst>
          </p:cNvPr>
          <p:cNvGrpSpPr/>
          <p:nvPr/>
        </p:nvGrpSpPr>
        <p:grpSpPr>
          <a:xfrm>
            <a:off x="2676000" y="1241763"/>
            <a:ext cx="6840000" cy="2700000"/>
            <a:chOff x="2676000" y="1138012"/>
            <a:chExt cx="6840000" cy="2700000"/>
          </a:xfrm>
        </p:grpSpPr>
        <p:sp>
          <p:nvSpPr>
            <p:cNvPr id="23" name="Text Placeholder 4">
              <a:extLst>
                <a:ext uri="{FF2B5EF4-FFF2-40B4-BE49-F238E27FC236}">
                  <a16:creationId xmlns:a16="http://schemas.microsoft.com/office/drawing/2014/main" id="{E74F56F0-1990-4756-B2F9-2492BC83F546}"/>
                </a:ext>
              </a:extLst>
            </p:cNvPr>
            <p:cNvSpPr txBox="1">
              <a:spLocks/>
            </p:cNvSpPr>
            <p:nvPr/>
          </p:nvSpPr>
          <p:spPr>
            <a:xfrm>
              <a:off x="2676000" y="3298012"/>
              <a:ext cx="6840000" cy="540000"/>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360000" indent="-360000" algn="l" defTabSz="914400" rtl="0" eaLnBrk="1" latinLnBrk="0" hangingPunct="1">
                <a:spcBef>
                  <a:spcPts val="600"/>
                </a:spcBef>
                <a:buClr>
                  <a:schemeClr val="accent1"/>
                </a:buClr>
                <a:buFont typeface="Wingdings" pitchFamily="2" charset="2"/>
                <a:buChar char="§"/>
                <a:defRPr lang="en-US" sz="2000" b="1" kern="1200">
                  <a:solidFill>
                    <a:schemeClr val="lt1"/>
                  </a:solidFill>
                  <a:latin typeface="+mn-lt"/>
                  <a:ea typeface="+mn-ea"/>
                  <a:cs typeface="+mn-cs"/>
                </a:defRPr>
              </a:lvl1pPr>
              <a:lvl2pPr marL="72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2pPr>
              <a:lvl3pPr marL="108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3pPr>
              <a:lvl4pPr marL="1440000" indent="-360000" algn="l" defTabSz="914400" rtl="0" eaLnBrk="1" latinLnBrk="0" hangingPunct="1">
                <a:spcBef>
                  <a:spcPts val="600"/>
                </a:spcBef>
                <a:buClr>
                  <a:schemeClr val="accent1"/>
                </a:buClr>
                <a:buFont typeface="Wingdings" pitchFamily="2" charset="2"/>
                <a:buChar char="§"/>
                <a:defRPr lang="en-US" sz="2000" b="0" kern="1200">
                  <a:solidFill>
                    <a:schemeClr val="lt1"/>
                  </a:solidFill>
                  <a:latin typeface="+mn-lt"/>
                  <a:ea typeface="+mn-ea"/>
                  <a:cs typeface="+mn-cs"/>
                </a:defRPr>
              </a:lvl4pPr>
              <a:lvl5pPr marL="1800000" indent="-360000" algn="l" defTabSz="914400" rtl="0" eaLnBrk="1" latinLnBrk="0" hangingPunct="1">
                <a:spcBef>
                  <a:spcPts val="600"/>
                </a:spcBef>
                <a:buClr>
                  <a:schemeClr val="accent1"/>
                </a:buClr>
                <a:buFont typeface="Wingdings" pitchFamily="2" charset="2"/>
                <a:buChar char="§"/>
                <a:defRPr lang="en-GB" sz="2000" b="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indent="0" algn="ctr" fontAlgn="auto">
                <a:spcAft>
                  <a:spcPts val="0"/>
                </a:spcAft>
                <a:buFont typeface="Wingdings" pitchFamily="2" charset="2"/>
                <a:buNone/>
              </a:pPr>
              <a:r>
                <a:rPr lang="en-GB" sz="1600" dirty="0">
                  <a:solidFill>
                    <a:schemeClr val="bg1"/>
                  </a:solidFill>
                  <a:cs typeface="Arial" pitchFamily="34" charset="0"/>
                </a:rPr>
                <a:t>Techniques</a:t>
              </a:r>
            </a:p>
          </p:txBody>
        </p:sp>
        <p:grpSp>
          <p:nvGrpSpPr>
            <p:cNvPr id="24" name="Group 23">
              <a:extLst>
                <a:ext uri="{FF2B5EF4-FFF2-40B4-BE49-F238E27FC236}">
                  <a16:creationId xmlns:a16="http://schemas.microsoft.com/office/drawing/2014/main" id="{BD60203D-33DB-419E-864F-24AC297FF0E3}"/>
                </a:ext>
              </a:extLst>
            </p:cNvPr>
            <p:cNvGrpSpPr/>
            <p:nvPr/>
          </p:nvGrpSpPr>
          <p:grpSpPr>
            <a:xfrm>
              <a:off x="2676000" y="1138012"/>
              <a:ext cx="6840000" cy="2160000"/>
              <a:chOff x="2676000" y="1138012"/>
              <a:chExt cx="6840000" cy="2160000"/>
            </a:xfrm>
          </p:grpSpPr>
          <p:sp>
            <p:nvSpPr>
              <p:cNvPr id="25" name="Text Placeholder 4">
                <a:extLst>
                  <a:ext uri="{FF2B5EF4-FFF2-40B4-BE49-F238E27FC236}">
                    <a16:creationId xmlns:a16="http://schemas.microsoft.com/office/drawing/2014/main" id="{DD75D32F-708E-4E65-8370-C1597D4649D9}"/>
                  </a:ext>
                </a:extLst>
              </p:cNvPr>
              <p:cNvSpPr txBox="1">
                <a:spLocks/>
              </p:cNvSpPr>
              <p:nvPr/>
            </p:nvSpPr>
            <p:spPr>
              <a:xfrm>
                <a:off x="2676000" y="1138012"/>
                <a:ext cx="68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70000" indent="-270000" algn="l" defTabSz="914400" rtl="0" eaLnBrk="1" latinLnBrk="0" hangingPunct="1">
                  <a:lnSpc>
                    <a:spcPct val="100000"/>
                  </a:lnSpc>
                  <a:spcBef>
                    <a:spcPts val="0"/>
                  </a:spcBef>
                  <a:spcAft>
                    <a:spcPts val="650"/>
                  </a:spcAft>
                  <a:buSzPct val="115000"/>
                  <a:buFontTx/>
                  <a:buBlip>
                    <a:blip r:embed="rId3"/>
                  </a:buBlip>
                  <a:defRPr sz="1800" b="1" i="0" kern="1200">
                    <a:solidFill>
                      <a:schemeClr val="lt1"/>
                    </a:solidFill>
                    <a:latin typeface="+mn-lt"/>
                    <a:ea typeface="+mn-ea"/>
                    <a:cs typeface="+mn-cs"/>
                  </a:defRPr>
                </a:lvl1pPr>
                <a:lvl2pPr marL="180000" indent="-180000" algn="l" defTabSz="914400" rtl="0" eaLnBrk="1" latinLnBrk="0" hangingPunct="1">
                  <a:lnSpc>
                    <a:spcPct val="100000"/>
                  </a:lnSpc>
                  <a:spcBef>
                    <a:spcPts val="0"/>
                  </a:spcBef>
                  <a:spcAft>
                    <a:spcPts val="650"/>
                  </a:spcAft>
                  <a:buSzPct val="125000"/>
                  <a:buFontTx/>
                  <a:buBlip>
                    <a:blip r:embed="rId3"/>
                  </a:buBlip>
                  <a:tabLst/>
                  <a:defRPr sz="1200" kern="1200">
                    <a:solidFill>
                      <a:schemeClr val="lt1"/>
                    </a:solidFill>
                    <a:latin typeface="+mn-lt"/>
                    <a:ea typeface="+mn-ea"/>
                    <a:cs typeface="+mn-cs"/>
                  </a:defRPr>
                </a:lvl2pPr>
                <a:lvl3pPr marL="180000" indent="-180000" algn="l" defTabSz="914400" rtl="0" eaLnBrk="1" latinLnBrk="0" hangingPunct="1">
                  <a:lnSpc>
                    <a:spcPct val="100000"/>
                  </a:lnSpc>
                  <a:spcBef>
                    <a:spcPts val="0"/>
                  </a:spcBef>
                  <a:spcAft>
                    <a:spcPts val="650"/>
                  </a:spcAft>
                  <a:buSzPct val="120000"/>
                  <a:buFontTx/>
                  <a:buBlip>
                    <a:blip r:embed="rId3"/>
                  </a:buBlip>
                  <a:tabLst/>
                  <a:defRPr sz="1000" b="1" i="0" kern="1200">
                    <a:solidFill>
                      <a:schemeClr val="lt1"/>
                    </a:solidFill>
                    <a:latin typeface="+mn-lt"/>
                    <a:ea typeface="+mn-ea"/>
                    <a:cs typeface="+mn-cs"/>
                  </a:defRPr>
                </a:lvl3pPr>
                <a:lvl4pPr marL="180000" indent="-180000" algn="l" defTabSz="914400" rtl="0" eaLnBrk="1" latinLnBrk="0" hangingPunct="1">
                  <a:lnSpc>
                    <a:spcPct val="100000"/>
                  </a:lnSpc>
                  <a:spcBef>
                    <a:spcPts val="0"/>
                  </a:spcBef>
                  <a:spcAft>
                    <a:spcPts val="650"/>
                  </a:spcAft>
                  <a:buSzPct val="120000"/>
                  <a:buFontTx/>
                  <a:buBlip>
                    <a:blip r:embed="rId3"/>
                  </a:buBlip>
                  <a:tabLst/>
                  <a:defRPr sz="1000" kern="1200">
                    <a:solidFill>
                      <a:schemeClr val="lt1"/>
                    </a:solidFill>
                    <a:latin typeface="+mn-lt"/>
                    <a:ea typeface="+mn-ea"/>
                    <a:cs typeface="+mn-cs"/>
                  </a:defRPr>
                </a:lvl4pPr>
                <a:lvl5pPr marL="180000" indent="-180000" algn="l" defTabSz="914400" rtl="0" eaLnBrk="1" latinLnBrk="0" hangingPunct="1">
                  <a:lnSpc>
                    <a:spcPct val="100000"/>
                  </a:lnSpc>
                  <a:spcBef>
                    <a:spcPts val="0"/>
                  </a:spcBef>
                  <a:spcAft>
                    <a:spcPts val="650"/>
                  </a:spcAft>
                  <a:buSzPct val="125000"/>
                  <a:buFontTx/>
                  <a:buBlip>
                    <a:blip r:embed="rId3"/>
                  </a:buBlip>
                  <a:tabLst/>
                  <a:defRPr sz="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GB" sz="1600" dirty="0">
                    <a:solidFill>
                      <a:schemeClr val="bg1"/>
                    </a:solidFill>
                    <a:cs typeface="Arial" pitchFamily="34" charset="0"/>
                  </a:rPr>
                  <a:t>Context</a:t>
                </a:r>
              </a:p>
            </p:txBody>
          </p:sp>
          <p:sp>
            <p:nvSpPr>
              <p:cNvPr id="26" name="Rounded Rectangle 5">
                <a:extLst>
                  <a:ext uri="{FF2B5EF4-FFF2-40B4-BE49-F238E27FC236}">
                    <a16:creationId xmlns:a16="http://schemas.microsoft.com/office/drawing/2014/main" id="{FFF658AC-7BA3-4720-BC81-2084201E63AF}"/>
                  </a:ext>
                </a:extLst>
              </p:cNvPr>
              <p:cNvSpPr/>
              <p:nvPr/>
            </p:nvSpPr>
            <p:spPr>
              <a:xfrm>
                <a:off x="26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Life cycle</a:t>
                </a:r>
              </a:p>
            </p:txBody>
          </p:sp>
          <p:sp>
            <p:nvSpPr>
              <p:cNvPr id="27" name="Rounded Rectangle 7">
                <a:extLst>
                  <a:ext uri="{FF2B5EF4-FFF2-40B4-BE49-F238E27FC236}">
                    <a16:creationId xmlns:a16="http://schemas.microsoft.com/office/drawing/2014/main" id="{3E2EB8B9-AF07-489C-BD28-0B10FAB828C7}"/>
                  </a:ext>
                </a:extLst>
              </p:cNvPr>
              <p:cNvSpPr/>
              <p:nvPr/>
            </p:nvSpPr>
            <p:spPr>
              <a:xfrm>
                <a:off x="44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Process</a:t>
                </a:r>
              </a:p>
            </p:txBody>
          </p:sp>
          <p:sp>
            <p:nvSpPr>
              <p:cNvPr id="28" name="Rounded Rectangle 8">
                <a:extLst>
                  <a:ext uri="{FF2B5EF4-FFF2-40B4-BE49-F238E27FC236}">
                    <a16:creationId xmlns:a16="http://schemas.microsoft.com/office/drawing/2014/main" id="{C27E3F31-C6A8-4EE5-A6BA-45C6E9D6D6D7}"/>
                  </a:ext>
                </a:extLst>
              </p:cNvPr>
              <p:cNvSpPr/>
              <p:nvPr/>
            </p:nvSpPr>
            <p:spPr>
              <a:xfrm>
                <a:off x="62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bg1"/>
                    </a:solidFill>
                    <a:cs typeface="Arial" pitchFamily="34" charset="0"/>
                  </a:rPr>
                  <a:t>Roles</a:t>
                </a:r>
              </a:p>
            </p:txBody>
          </p:sp>
          <p:sp>
            <p:nvSpPr>
              <p:cNvPr id="29" name="Rounded Rectangle 9">
                <a:extLst>
                  <a:ext uri="{FF2B5EF4-FFF2-40B4-BE49-F238E27FC236}">
                    <a16:creationId xmlns:a16="http://schemas.microsoft.com/office/drawing/2014/main" id="{F146776D-C81B-45A2-BE40-17B28A8C51CC}"/>
                  </a:ext>
                </a:extLst>
              </p:cNvPr>
              <p:cNvSpPr/>
              <p:nvPr/>
            </p:nvSpPr>
            <p:spPr>
              <a:xfrm>
                <a:off x="8076000" y="2218012"/>
                <a:ext cx="1440000" cy="5400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dirty="0">
                    <a:solidFill>
                      <a:schemeClr val="bg1"/>
                    </a:solidFill>
                    <a:cs typeface="Arial" pitchFamily="34" charset="0"/>
                  </a:rPr>
                  <a:t>Deliverables</a:t>
                </a:r>
              </a:p>
            </p:txBody>
          </p:sp>
          <p:sp>
            <p:nvSpPr>
              <p:cNvPr id="30" name="Down Arrow 3">
                <a:extLst>
                  <a:ext uri="{FF2B5EF4-FFF2-40B4-BE49-F238E27FC236}">
                    <a16:creationId xmlns:a16="http://schemas.microsoft.com/office/drawing/2014/main" id="{7A54CB59-A8C7-45EC-90A3-897BE8DCC58A}"/>
                  </a:ext>
                </a:extLst>
              </p:cNvPr>
              <p:cNvSpPr/>
              <p:nvPr/>
            </p:nvSpPr>
            <p:spPr>
              <a:xfrm>
                <a:off x="32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1" name="Down Arrow 11">
                <a:extLst>
                  <a:ext uri="{FF2B5EF4-FFF2-40B4-BE49-F238E27FC236}">
                    <a16:creationId xmlns:a16="http://schemas.microsoft.com/office/drawing/2014/main" id="{392FFADD-7C9C-4D3C-985B-CF73CF5ADE9E}"/>
                  </a:ext>
                </a:extLst>
              </p:cNvPr>
              <p:cNvSpPr/>
              <p:nvPr/>
            </p:nvSpPr>
            <p:spPr>
              <a:xfrm>
                <a:off x="50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2" name="Down Arrow 12">
                <a:extLst>
                  <a:ext uri="{FF2B5EF4-FFF2-40B4-BE49-F238E27FC236}">
                    <a16:creationId xmlns:a16="http://schemas.microsoft.com/office/drawing/2014/main" id="{D9E40BDC-2CAB-4BA9-B0C7-52531E3EBC94}"/>
                  </a:ext>
                </a:extLst>
              </p:cNvPr>
              <p:cNvSpPr/>
              <p:nvPr/>
            </p:nvSpPr>
            <p:spPr>
              <a:xfrm>
                <a:off x="68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3" name="Down Arrow 13">
                <a:extLst>
                  <a:ext uri="{FF2B5EF4-FFF2-40B4-BE49-F238E27FC236}">
                    <a16:creationId xmlns:a16="http://schemas.microsoft.com/office/drawing/2014/main" id="{71AE0554-C5E7-4C77-86C5-0E1D8EAF8FE4}"/>
                  </a:ext>
                </a:extLst>
              </p:cNvPr>
              <p:cNvSpPr/>
              <p:nvPr/>
            </p:nvSpPr>
            <p:spPr>
              <a:xfrm>
                <a:off x="8616000" y="1678012"/>
                <a:ext cx="360000" cy="540000"/>
              </a:xfrm>
              <a:prstGeom prst="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4" name="Up-Down Arrow 10">
                <a:extLst>
                  <a:ext uri="{FF2B5EF4-FFF2-40B4-BE49-F238E27FC236}">
                    <a16:creationId xmlns:a16="http://schemas.microsoft.com/office/drawing/2014/main" id="{0F764C0C-78D4-4919-90F6-506E90B48C78}"/>
                  </a:ext>
                </a:extLst>
              </p:cNvPr>
              <p:cNvSpPr/>
              <p:nvPr/>
            </p:nvSpPr>
            <p:spPr>
              <a:xfrm>
                <a:off x="32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5" name="Up-Down Arrow 15">
                <a:extLst>
                  <a:ext uri="{FF2B5EF4-FFF2-40B4-BE49-F238E27FC236}">
                    <a16:creationId xmlns:a16="http://schemas.microsoft.com/office/drawing/2014/main" id="{E15B1200-8CA1-4621-A442-73132BC0BC16}"/>
                  </a:ext>
                </a:extLst>
              </p:cNvPr>
              <p:cNvSpPr/>
              <p:nvPr/>
            </p:nvSpPr>
            <p:spPr>
              <a:xfrm>
                <a:off x="50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6" name="Up-Down Arrow 16">
                <a:extLst>
                  <a:ext uri="{FF2B5EF4-FFF2-40B4-BE49-F238E27FC236}">
                    <a16:creationId xmlns:a16="http://schemas.microsoft.com/office/drawing/2014/main" id="{D782DDE5-FD77-4AA4-8089-C9294F9DDB2E}"/>
                  </a:ext>
                </a:extLst>
              </p:cNvPr>
              <p:cNvSpPr/>
              <p:nvPr/>
            </p:nvSpPr>
            <p:spPr>
              <a:xfrm>
                <a:off x="680718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7" name="Up-Down Arrow 17">
                <a:extLst>
                  <a:ext uri="{FF2B5EF4-FFF2-40B4-BE49-F238E27FC236}">
                    <a16:creationId xmlns:a16="http://schemas.microsoft.com/office/drawing/2014/main" id="{18B76FB6-9FEA-472B-8E89-DB650E3A729C}"/>
                  </a:ext>
                </a:extLst>
              </p:cNvPr>
              <p:cNvSpPr/>
              <p:nvPr/>
            </p:nvSpPr>
            <p:spPr>
              <a:xfrm>
                <a:off x="8616000" y="2758012"/>
                <a:ext cx="360000" cy="540000"/>
              </a:xfrm>
              <a:prstGeom prst="upDown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8" name="Plus 14">
                <a:extLst>
                  <a:ext uri="{FF2B5EF4-FFF2-40B4-BE49-F238E27FC236}">
                    <a16:creationId xmlns:a16="http://schemas.microsoft.com/office/drawing/2014/main" id="{08BE88F3-66AE-4EED-A728-FF0FF300745C}"/>
                  </a:ext>
                </a:extLst>
              </p:cNvPr>
              <p:cNvSpPr/>
              <p:nvPr/>
            </p:nvSpPr>
            <p:spPr>
              <a:xfrm>
                <a:off x="41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39" name="Plus 19">
                <a:extLst>
                  <a:ext uri="{FF2B5EF4-FFF2-40B4-BE49-F238E27FC236}">
                    <a16:creationId xmlns:a16="http://schemas.microsoft.com/office/drawing/2014/main" id="{B1EEB6EB-67C6-44D0-9125-7A8EE6BEC62B}"/>
                  </a:ext>
                </a:extLst>
              </p:cNvPr>
              <p:cNvSpPr/>
              <p:nvPr/>
            </p:nvSpPr>
            <p:spPr>
              <a:xfrm>
                <a:off x="5988000" y="2380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sp>
            <p:nvSpPr>
              <p:cNvPr id="40" name="Plus 20">
                <a:extLst>
                  <a:ext uri="{FF2B5EF4-FFF2-40B4-BE49-F238E27FC236}">
                    <a16:creationId xmlns:a16="http://schemas.microsoft.com/office/drawing/2014/main" id="{9EE9465A-6ADF-46D7-8C3F-9AA87C1FA6F1}"/>
                  </a:ext>
                </a:extLst>
              </p:cNvPr>
              <p:cNvSpPr/>
              <p:nvPr/>
            </p:nvSpPr>
            <p:spPr>
              <a:xfrm>
                <a:off x="7788000" y="2398012"/>
                <a:ext cx="216000" cy="216000"/>
              </a:xfrm>
              <a:prstGeom prst="mathPlu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cs typeface="Arial" pitchFamily="34" charset="0"/>
                </a:endParaRPr>
              </a:p>
            </p:txBody>
          </p:sp>
        </p:grpSp>
      </p:grpSp>
    </p:spTree>
    <p:extLst>
      <p:ext uri="{BB962C8B-B14F-4D97-AF65-F5344CB8AC3E}">
        <p14:creationId xmlns:p14="http://schemas.microsoft.com/office/powerpoint/2010/main" val="3778890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D5F57-AD44-4C6E-9C66-7CAE4C98177D}"/>
              </a:ext>
            </a:extLst>
          </p:cNvPr>
          <p:cNvSpPr>
            <a:spLocks noGrp="1"/>
          </p:cNvSpPr>
          <p:nvPr>
            <p:ph type="body" sz="quarter" idx="10"/>
          </p:nvPr>
        </p:nvSpPr>
        <p:spPr>
          <a:xfrm>
            <a:off x="118970" y="1254292"/>
            <a:ext cx="3804443" cy="2751999"/>
          </a:xfrm>
        </p:spPr>
        <p:txBody>
          <a:bodyPr anchor="t">
            <a:normAutofit/>
          </a:bodyPr>
          <a:lstStyle/>
          <a:p>
            <a:pPr>
              <a:spcAft>
                <a:spcPts val="600"/>
              </a:spcAft>
            </a:pPr>
            <a:r>
              <a:rPr lang="en-GB" sz="3200" dirty="0"/>
              <a:t>What are Deliverables?</a:t>
            </a:r>
          </a:p>
        </p:txBody>
      </p:sp>
      <p:sp>
        <p:nvSpPr>
          <p:cNvPr id="3" name="Text Placeholder 2">
            <a:extLst>
              <a:ext uri="{FF2B5EF4-FFF2-40B4-BE49-F238E27FC236}">
                <a16:creationId xmlns:a16="http://schemas.microsoft.com/office/drawing/2014/main" id="{30598DEA-F0A2-432B-A6B1-3900CBDE077D}"/>
              </a:ext>
            </a:extLst>
          </p:cNvPr>
          <p:cNvSpPr>
            <a:spLocks noGrp="1"/>
          </p:cNvSpPr>
          <p:nvPr>
            <p:ph type="body" sz="quarter" idx="15"/>
          </p:nvPr>
        </p:nvSpPr>
        <p:spPr>
          <a:xfrm>
            <a:off x="5037138" y="1349986"/>
            <a:ext cx="6770687" cy="5112343"/>
          </a:xfrm>
        </p:spPr>
        <p:txBody>
          <a:bodyPr anchor="t">
            <a:normAutofit/>
          </a:bodyPr>
          <a:lstStyle/>
          <a:p>
            <a:r>
              <a:rPr lang="en-GB" dirty="0"/>
              <a:t>Outputs / documents from each stage of the SDLC:</a:t>
            </a:r>
          </a:p>
          <a:p>
            <a:pPr lvl="1"/>
            <a:r>
              <a:rPr lang="en-GB" dirty="0"/>
              <a:t>Review, sign-off, and become inputs for following stage.</a:t>
            </a:r>
          </a:p>
          <a:p>
            <a:pPr lvl="1"/>
            <a:r>
              <a:rPr lang="en-GB" dirty="0"/>
              <a:t>Type, format, and content dependent on methodology adopted.</a:t>
            </a:r>
          </a:p>
          <a:p>
            <a:pPr lvl="2"/>
            <a:r>
              <a:rPr lang="en-GB" dirty="0"/>
              <a:t>Linear vs. evolutionary.</a:t>
            </a:r>
          </a:p>
          <a:p>
            <a:pPr lvl="1"/>
            <a:r>
              <a:rPr lang="en-GB" dirty="0"/>
              <a:t>Also known as </a:t>
            </a:r>
            <a:r>
              <a:rPr lang="en-GB" b="1" dirty="0"/>
              <a:t>system documentation</a:t>
            </a:r>
            <a:r>
              <a:rPr lang="en-GB" dirty="0"/>
              <a:t>.</a:t>
            </a:r>
          </a:p>
          <a:p>
            <a:endParaRPr lang="en-GB" dirty="0"/>
          </a:p>
        </p:txBody>
      </p:sp>
      <p:sp>
        <p:nvSpPr>
          <p:cNvPr id="8" name="Slide Number Placeholder 3">
            <a:extLst>
              <a:ext uri="{FF2B5EF4-FFF2-40B4-BE49-F238E27FC236}">
                <a16:creationId xmlns:a16="http://schemas.microsoft.com/office/drawing/2014/main" id="{F4CE5748-1722-BBC6-A59F-1D917D7D66B3}"/>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27</a:t>
            </a:fld>
            <a:endParaRPr lang="en-GB"/>
          </a:p>
        </p:txBody>
      </p:sp>
    </p:spTree>
    <p:extLst>
      <p:ext uri="{BB962C8B-B14F-4D97-AF65-F5344CB8AC3E}">
        <p14:creationId xmlns:p14="http://schemas.microsoft.com/office/powerpoint/2010/main" val="4176645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1A698D25-029D-2971-9BE3-5F9FF6EEE4B6}"/>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28</a:t>
            </a:fld>
            <a:endParaRPr lang="en-GB"/>
          </a:p>
        </p:txBody>
      </p:sp>
      <p:sp>
        <p:nvSpPr>
          <p:cNvPr id="3" name="Text Placeholder 2">
            <a:extLst>
              <a:ext uri="{FF2B5EF4-FFF2-40B4-BE49-F238E27FC236}">
                <a16:creationId xmlns:a16="http://schemas.microsoft.com/office/drawing/2014/main" id="{8250D877-07A8-4A72-B881-08DDE0016CD9}"/>
              </a:ext>
            </a:extLst>
          </p:cNvPr>
          <p:cNvSpPr>
            <a:spLocks noGrp="1"/>
          </p:cNvSpPr>
          <p:nvPr>
            <p:ph type="body" sz="quarter" idx="15"/>
          </p:nvPr>
        </p:nvSpPr>
        <p:spPr>
          <a:xfrm>
            <a:off x="5037137" y="863030"/>
            <a:ext cx="6770688" cy="5606364"/>
          </a:xfrm>
        </p:spPr>
        <p:txBody>
          <a:bodyPr anchor="t">
            <a:normAutofit/>
          </a:bodyPr>
          <a:lstStyle/>
          <a:p>
            <a:pPr lvl="0"/>
            <a:r>
              <a:rPr lang="en-GB" b="1" dirty="0"/>
              <a:t>Feasibility study (initiation):</a:t>
            </a:r>
          </a:p>
          <a:p>
            <a:pPr lvl="1"/>
            <a:r>
              <a:rPr lang="en-GB" dirty="0"/>
              <a:t>Project brief / charter / initiation / scope</a:t>
            </a:r>
          </a:p>
          <a:p>
            <a:pPr lvl="1"/>
            <a:r>
              <a:rPr lang="en-GB" dirty="0"/>
              <a:t>Terms of reference</a:t>
            </a:r>
          </a:p>
          <a:p>
            <a:pPr lvl="1"/>
            <a:r>
              <a:rPr lang="en-GB" dirty="0"/>
              <a:t>Business case: cost / benefit analysis</a:t>
            </a:r>
          </a:p>
          <a:p>
            <a:pPr lvl="1"/>
            <a:r>
              <a:rPr lang="en-GB" dirty="0"/>
              <a:t>System scope / requirements</a:t>
            </a:r>
          </a:p>
          <a:p>
            <a:pPr lvl="1"/>
            <a:r>
              <a:rPr lang="en-GB" dirty="0"/>
              <a:t>High level plan (Gantt chart)</a:t>
            </a:r>
            <a:br>
              <a:rPr lang="en-GB" dirty="0"/>
            </a:br>
            <a:endParaRPr lang="en-GB" dirty="0"/>
          </a:p>
          <a:p>
            <a:pPr lvl="0"/>
            <a:r>
              <a:rPr lang="en-GB" b="1" dirty="0"/>
              <a:t>Requirements analysis</a:t>
            </a:r>
            <a:r>
              <a:rPr lang="en-GB" dirty="0"/>
              <a:t>:</a:t>
            </a:r>
          </a:p>
          <a:p>
            <a:pPr lvl="1"/>
            <a:r>
              <a:rPr lang="en-GB" dirty="0"/>
              <a:t>Requirements report</a:t>
            </a:r>
          </a:p>
          <a:p>
            <a:pPr lvl="1"/>
            <a:r>
              <a:rPr lang="en-GB" dirty="0"/>
              <a:t>Threats and risks report</a:t>
            </a:r>
          </a:p>
          <a:p>
            <a:pPr lvl="1"/>
            <a:r>
              <a:rPr lang="en-GB" dirty="0"/>
              <a:t>Recommendations</a:t>
            </a:r>
            <a:br>
              <a:rPr lang="en-GB" dirty="0"/>
            </a:br>
            <a:endParaRPr lang="en-GB" dirty="0"/>
          </a:p>
          <a:p>
            <a:pPr lvl="0"/>
            <a:r>
              <a:rPr lang="en-GB" b="1" dirty="0"/>
              <a:t>Design:</a:t>
            </a:r>
          </a:p>
          <a:p>
            <a:pPr lvl="1"/>
            <a:r>
              <a:rPr lang="en-GB" dirty="0"/>
              <a:t>Detailed technical specifications</a:t>
            </a:r>
          </a:p>
          <a:p>
            <a:pPr lvl="1"/>
            <a:r>
              <a:rPr lang="en-GB" dirty="0"/>
              <a:t>Logical and physical designs</a:t>
            </a:r>
          </a:p>
          <a:p>
            <a:endParaRPr lang="en-GB" dirty="0"/>
          </a:p>
        </p:txBody>
      </p:sp>
      <p:sp>
        <p:nvSpPr>
          <p:cNvPr id="2" name="Title 1">
            <a:extLst>
              <a:ext uri="{FF2B5EF4-FFF2-40B4-BE49-F238E27FC236}">
                <a16:creationId xmlns:a16="http://schemas.microsoft.com/office/drawing/2014/main" id="{8BF1A53C-A88E-464F-89D5-9301F3242171}"/>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sz="3200" dirty="0"/>
              <a:t>Deliverables</a:t>
            </a:r>
          </a:p>
        </p:txBody>
      </p:sp>
    </p:spTree>
    <p:extLst>
      <p:ext uri="{BB962C8B-B14F-4D97-AF65-F5344CB8AC3E}">
        <p14:creationId xmlns:p14="http://schemas.microsoft.com/office/powerpoint/2010/main" val="1000341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2D277073-8313-0E77-B569-6AFCF168468C}"/>
              </a:ext>
            </a:extLst>
          </p:cNvPr>
          <p:cNvSpPr>
            <a:spLocks noGrp="1"/>
          </p:cNvSpPr>
          <p:nvPr>
            <p:ph type="sldNum" sz="quarter" idx="4"/>
          </p:nvPr>
        </p:nvSpPr>
        <p:spPr/>
        <p:txBody>
          <a:bodyPr/>
          <a:lstStyle/>
          <a:p>
            <a:pPr>
              <a:spcAft>
                <a:spcPts val="600"/>
              </a:spcAft>
            </a:pPr>
            <a:fld id="{EF892D59-8F09-EF4B-AD6D-DA609442F868}" type="slidenum">
              <a:rPr lang="en-GB" smtClean="0"/>
              <a:pPr>
                <a:spcAft>
                  <a:spcPts val="600"/>
                </a:spcAft>
              </a:pPr>
              <a:t>29</a:t>
            </a:fld>
            <a:endParaRPr lang="en-GB"/>
          </a:p>
        </p:txBody>
      </p:sp>
      <p:sp>
        <p:nvSpPr>
          <p:cNvPr id="2" name="Title 1">
            <a:extLst>
              <a:ext uri="{FF2B5EF4-FFF2-40B4-BE49-F238E27FC236}">
                <a16:creationId xmlns:a16="http://schemas.microsoft.com/office/drawing/2014/main" id="{EFE03195-0C31-4B09-B50A-931711FF90E3}"/>
              </a:ext>
            </a:extLst>
          </p:cNvPr>
          <p:cNvSpPr>
            <a:spLocks noGrp="1"/>
          </p:cNvSpPr>
          <p:nvPr>
            <p:ph type="body" sz="quarter" idx="10"/>
          </p:nvPr>
        </p:nvSpPr>
        <p:spPr/>
        <p:txBody>
          <a:bodyPr anchor="t">
            <a:normAutofit/>
          </a:bodyPr>
          <a:lstStyle/>
          <a:p>
            <a:pPr>
              <a:spcAft>
                <a:spcPts val="600"/>
              </a:spcAft>
            </a:pPr>
            <a:r>
              <a:rPr lang="en-GB" sz="3200" dirty="0"/>
              <a:t>Deliverables</a:t>
            </a:r>
          </a:p>
        </p:txBody>
      </p:sp>
      <p:sp>
        <p:nvSpPr>
          <p:cNvPr id="3" name="Text Placeholder 2">
            <a:extLst>
              <a:ext uri="{FF2B5EF4-FFF2-40B4-BE49-F238E27FC236}">
                <a16:creationId xmlns:a16="http://schemas.microsoft.com/office/drawing/2014/main" id="{766229B6-5E11-4CEC-BECE-312E4601632B}"/>
              </a:ext>
            </a:extLst>
          </p:cNvPr>
          <p:cNvSpPr>
            <a:spLocks noGrp="1"/>
          </p:cNvSpPr>
          <p:nvPr>
            <p:ph type="body" sz="quarter" idx="15"/>
          </p:nvPr>
        </p:nvSpPr>
        <p:spPr>
          <a:xfrm>
            <a:off x="4715405" y="599755"/>
            <a:ext cx="6770687" cy="5388441"/>
          </a:xfrm>
        </p:spPr>
        <p:txBody>
          <a:bodyPr anchor="t">
            <a:normAutofit/>
          </a:bodyPr>
          <a:lstStyle/>
          <a:p>
            <a:pPr lvl="0"/>
            <a:r>
              <a:rPr lang="en-GB" b="1" dirty="0"/>
              <a:t>Code development:</a:t>
            </a:r>
          </a:p>
          <a:p>
            <a:pPr lvl="1"/>
            <a:r>
              <a:rPr lang="en-GB" dirty="0"/>
              <a:t>Developed system: software and hardware if appropriate</a:t>
            </a:r>
          </a:p>
          <a:p>
            <a:pPr lvl="1"/>
            <a:r>
              <a:rPr lang="en-GB" dirty="0"/>
              <a:t>Code / screens / reports</a:t>
            </a:r>
          </a:p>
          <a:p>
            <a:pPr lvl="1"/>
            <a:r>
              <a:rPr lang="en-GB" dirty="0"/>
              <a:t>Database</a:t>
            </a:r>
          </a:p>
          <a:p>
            <a:pPr lvl="1"/>
            <a:r>
              <a:rPr lang="en-GB" dirty="0"/>
              <a:t>Interfaces</a:t>
            </a:r>
          </a:p>
          <a:p>
            <a:pPr marL="0" lvl="1" indent="0">
              <a:buNone/>
            </a:pPr>
            <a:endParaRPr lang="en-GB" dirty="0"/>
          </a:p>
          <a:p>
            <a:pPr lvl="0"/>
            <a:r>
              <a:rPr lang="en-GB" b="1" dirty="0"/>
              <a:t>Testing:</a:t>
            </a:r>
          </a:p>
          <a:p>
            <a:pPr lvl="1"/>
            <a:r>
              <a:rPr lang="en-GB" dirty="0"/>
              <a:t>Tested system</a:t>
            </a:r>
          </a:p>
          <a:p>
            <a:pPr lvl="1"/>
            <a:r>
              <a:rPr lang="en-GB" dirty="0"/>
              <a:t>Test plans / cases / specifications</a:t>
            </a:r>
          </a:p>
          <a:p>
            <a:pPr lvl="1"/>
            <a:endParaRPr lang="en-GB" dirty="0"/>
          </a:p>
          <a:p>
            <a:endParaRPr lang="en-GB" dirty="0"/>
          </a:p>
        </p:txBody>
      </p:sp>
    </p:spTree>
    <p:extLst>
      <p:ext uri="{BB962C8B-B14F-4D97-AF65-F5344CB8AC3E}">
        <p14:creationId xmlns:p14="http://schemas.microsoft.com/office/powerpoint/2010/main" val="2730588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C54DA91-587B-4922-830A-29535F16D27C}"/>
              </a:ext>
            </a:extLst>
          </p:cNvPr>
          <p:cNvSpPr>
            <a:spLocks noGrp="1"/>
          </p:cNvSpPr>
          <p:nvPr>
            <p:ph type="body" sz="quarter" idx="15"/>
          </p:nvPr>
        </p:nvSpPr>
        <p:spPr>
          <a:xfrm>
            <a:off x="5037137" y="1349986"/>
            <a:ext cx="6770688" cy="5119407"/>
          </a:xfrm>
        </p:spPr>
        <p:txBody>
          <a:bodyPr anchor="t">
            <a:normAutofit/>
          </a:bodyPr>
          <a:lstStyle/>
          <a:p>
            <a:pPr lvl="0"/>
            <a:r>
              <a:rPr lang="en-GB" b="1" dirty="0"/>
              <a:t>Deployment / implementation</a:t>
            </a:r>
          </a:p>
          <a:p>
            <a:pPr lvl="1"/>
            <a:r>
              <a:rPr lang="en-GB" dirty="0"/>
              <a:t>Implemented system</a:t>
            </a:r>
          </a:p>
          <a:p>
            <a:pPr lvl="1"/>
            <a:r>
              <a:rPr lang="en-GB" dirty="0"/>
              <a:t>User documentation</a:t>
            </a:r>
          </a:p>
          <a:p>
            <a:pPr lvl="1"/>
            <a:r>
              <a:rPr lang="en-GB" dirty="0"/>
              <a:t>Training procedures</a:t>
            </a:r>
          </a:p>
          <a:p>
            <a:pPr lvl="1"/>
            <a:r>
              <a:rPr lang="en-GB" dirty="0"/>
              <a:t>Support capabilities</a:t>
            </a:r>
          </a:p>
          <a:p>
            <a:pPr lvl="0"/>
            <a:endParaRPr lang="en-GB" dirty="0"/>
          </a:p>
          <a:p>
            <a:pPr lvl="0"/>
            <a:r>
              <a:rPr lang="en-GB" b="1" dirty="0"/>
              <a:t>Maintenance</a:t>
            </a:r>
            <a:r>
              <a:rPr lang="en-GB" dirty="0"/>
              <a:t>:</a:t>
            </a:r>
          </a:p>
          <a:p>
            <a:pPr lvl="1"/>
            <a:r>
              <a:rPr lang="en-GB" dirty="0"/>
              <a:t>How to guides</a:t>
            </a:r>
          </a:p>
          <a:p>
            <a:pPr lvl="1"/>
            <a:r>
              <a:rPr lang="en-GB" dirty="0"/>
              <a:t>Completed tickets</a:t>
            </a:r>
          </a:p>
          <a:p>
            <a:endParaRPr lang="en-GB" dirty="0"/>
          </a:p>
        </p:txBody>
      </p:sp>
      <p:sp>
        <p:nvSpPr>
          <p:cNvPr id="10" name="Slide Number Placeholder 2">
            <a:extLst>
              <a:ext uri="{FF2B5EF4-FFF2-40B4-BE49-F238E27FC236}">
                <a16:creationId xmlns:a16="http://schemas.microsoft.com/office/drawing/2014/main" id="{6B1DBA51-1AFB-A798-6244-B44294014072}"/>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30</a:t>
            </a:fld>
            <a:endParaRPr lang="en-GB"/>
          </a:p>
        </p:txBody>
      </p:sp>
      <p:sp>
        <p:nvSpPr>
          <p:cNvPr id="2" name="Title 1">
            <a:extLst>
              <a:ext uri="{FF2B5EF4-FFF2-40B4-BE49-F238E27FC236}">
                <a16:creationId xmlns:a16="http://schemas.microsoft.com/office/drawing/2014/main" id="{D8A185A8-9380-46C7-B440-86F25429D27E}"/>
              </a:ext>
            </a:extLst>
          </p:cNvPr>
          <p:cNvSpPr>
            <a:spLocks noGrp="1"/>
          </p:cNvSpPr>
          <p:nvPr>
            <p:ph type="body" sz="quarter" idx="10"/>
          </p:nvPr>
        </p:nvSpPr>
        <p:spPr>
          <a:xfrm>
            <a:off x="384785" y="1349985"/>
            <a:ext cx="3443732" cy="2751999"/>
          </a:xfrm>
        </p:spPr>
        <p:txBody>
          <a:bodyPr anchor="t">
            <a:normAutofit/>
          </a:bodyPr>
          <a:lstStyle/>
          <a:p>
            <a:pPr>
              <a:spcAft>
                <a:spcPts val="600"/>
              </a:spcAft>
            </a:pPr>
            <a:r>
              <a:rPr lang="en-GB" sz="3200" dirty="0"/>
              <a:t>Deliverables</a:t>
            </a:r>
          </a:p>
        </p:txBody>
      </p:sp>
    </p:spTree>
    <p:extLst>
      <p:ext uri="{BB962C8B-B14F-4D97-AF65-F5344CB8AC3E}">
        <p14:creationId xmlns:p14="http://schemas.microsoft.com/office/powerpoint/2010/main" val="39091268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1">
            <a:extLst>
              <a:ext uri="{FF2B5EF4-FFF2-40B4-BE49-F238E27FC236}">
                <a16:creationId xmlns:a16="http://schemas.microsoft.com/office/drawing/2014/main" id="{03CAB3AC-2A80-E59C-A20E-55887205F449}"/>
              </a:ext>
            </a:extLst>
          </p:cNvPr>
          <p:cNvSpPr>
            <a:spLocks noGrp="1"/>
          </p:cNvSpPr>
          <p:nvPr>
            <p:ph type="sldNum" sz="quarter" idx="4"/>
          </p:nvPr>
        </p:nvSpPr>
        <p:spPr>
          <a:xfrm>
            <a:off x="11256421" y="6511672"/>
            <a:ext cx="785483" cy="180000"/>
          </a:xfrm>
        </p:spPr>
        <p:txBody>
          <a:bodyPr/>
          <a:lstStyle/>
          <a:p>
            <a:pPr>
              <a:spcAft>
                <a:spcPts val="600"/>
              </a:spcAft>
            </a:pPr>
            <a:fld id="{EF892D59-8F09-EF4B-AD6D-DA609442F868}" type="slidenum">
              <a:rPr lang="en-GB" smtClean="0"/>
              <a:pPr>
                <a:spcAft>
                  <a:spcPts val="600"/>
                </a:spcAft>
              </a:pPr>
              <a:t>31</a:t>
            </a:fld>
            <a:endParaRPr lang="en-GB"/>
          </a:p>
        </p:txBody>
      </p:sp>
      <p:sp>
        <p:nvSpPr>
          <p:cNvPr id="3" name="Text Placeholder 2">
            <a:extLst>
              <a:ext uri="{FF2B5EF4-FFF2-40B4-BE49-F238E27FC236}">
                <a16:creationId xmlns:a16="http://schemas.microsoft.com/office/drawing/2014/main" id="{56E819A6-1A23-4BD0-B969-E96B64E8BD33}"/>
              </a:ext>
            </a:extLst>
          </p:cNvPr>
          <p:cNvSpPr>
            <a:spLocks noGrp="1"/>
          </p:cNvSpPr>
          <p:nvPr>
            <p:ph type="body" sz="quarter" idx="11"/>
          </p:nvPr>
        </p:nvSpPr>
        <p:spPr>
          <a:xfrm>
            <a:off x="5473700" y="1261533"/>
            <a:ext cx="6342671" cy="5217055"/>
          </a:xfrm>
        </p:spPr>
        <p:txBody>
          <a:bodyPr anchor="t">
            <a:normAutofit/>
          </a:bodyPr>
          <a:lstStyle/>
          <a:p>
            <a:r>
              <a:rPr lang="en-GB" b="1" dirty="0"/>
              <a:t>Documentation meets organisational standards:</a:t>
            </a:r>
          </a:p>
          <a:p>
            <a:pPr lvl="1"/>
            <a:r>
              <a:rPr lang="en-GB" dirty="0"/>
              <a:t>Documentation content and layout</a:t>
            </a:r>
          </a:p>
          <a:p>
            <a:pPr lvl="1"/>
            <a:r>
              <a:rPr lang="en-GB" dirty="0"/>
              <a:t>Naming conventions</a:t>
            </a:r>
          </a:p>
          <a:p>
            <a:pPr lvl="1"/>
            <a:r>
              <a:rPr lang="en-GB" dirty="0"/>
              <a:t>Diagrams</a:t>
            </a:r>
          </a:p>
          <a:p>
            <a:pPr lvl="1"/>
            <a:r>
              <a:rPr lang="en-GB" dirty="0"/>
              <a:t>Quality control requirements</a:t>
            </a:r>
          </a:p>
          <a:p>
            <a:pPr marL="0" lvl="1" indent="0">
              <a:buNone/>
            </a:pPr>
            <a:endParaRPr lang="en-GB" dirty="0"/>
          </a:p>
          <a:p>
            <a:r>
              <a:rPr lang="en-GB" b="1" dirty="0"/>
              <a:t>Organisational processes and requirements:</a:t>
            </a:r>
          </a:p>
          <a:p>
            <a:pPr lvl="1"/>
            <a:r>
              <a:rPr lang="en-GB" dirty="0"/>
              <a:t>Project management</a:t>
            </a:r>
          </a:p>
          <a:p>
            <a:pPr lvl="1"/>
            <a:r>
              <a:rPr lang="en-GB" dirty="0"/>
              <a:t>Governance</a:t>
            </a:r>
          </a:p>
          <a:p>
            <a:endParaRPr lang="en-GB" dirty="0"/>
          </a:p>
        </p:txBody>
      </p:sp>
      <p:sp>
        <p:nvSpPr>
          <p:cNvPr id="2" name="Title 1">
            <a:extLst>
              <a:ext uri="{FF2B5EF4-FFF2-40B4-BE49-F238E27FC236}">
                <a16:creationId xmlns:a16="http://schemas.microsoft.com/office/drawing/2014/main" id="{7AD732EC-A2F1-4F4E-BE8E-DF4DBD1EA0C5}"/>
              </a:ext>
            </a:extLst>
          </p:cNvPr>
          <p:cNvSpPr>
            <a:spLocks noGrp="1"/>
          </p:cNvSpPr>
          <p:nvPr>
            <p:ph type="body" sz="quarter" idx="10"/>
          </p:nvPr>
        </p:nvSpPr>
        <p:spPr>
          <a:xfrm>
            <a:off x="384785" y="1261533"/>
            <a:ext cx="3895116" cy="2626384"/>
          </a:xfrm>
        </p:spPr>
        <p:txBody>
          <a:bodyPr anchor="t">
            <a:normAutofit/>
          </a:bodyPr>
          <a:lstStyle/>
          <a:p>
            <a:pPr>
              <a:spcAft>
                <a:spcPts val="600"/>
              </a:spcAft>
            </a:pPr>
            <a:r>
              <a:rPr lang="en-GB" dirty="0"/>
              <a:t>General considerations</a:t>
            </a:r>
          </a:p>
        </p:txBody>
      </p:sp>
    </p:spTree>
    <p:extLst>
      <p:ext uri="{BB962C8B-B14F-4D97-AF65-F5344CB8AC3E}">
        <p14:creationId xmlns:p14="http://schemas.microsoft.com/office/powerpoint/2010/main" val="1467009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943D6-D544-4244-9881-38BF9BA82662}"/>
              </a:ext>
            </a:extLst>
          </p:cNvPr>
          <p:cNvSpPr>
            <a:spLocks noGrp="1"/>
          </p:cNvSpPr>
          <p:nvPr>
            <p:ph type="ctrTitle"/>
          </p:nvPr>
        </p:nvSpPr>
        <p:spPr/>
        <p:txBody>
          <a:bodyPr/>
          <a:lstStyle/>
          <a:p>
            <a:r>
              <a:rPr lang="en-GB" dirty="0"/>
              <a:t>review</a:t>
            </a:r>
          </a:p>
        </p:txBody>
      </p:sp>
      <p:sp>
        <p:nvSpPr>
          <p:cNvPr id="3" name="Action Button: Go Forward or Next 2">
            <a:hlinkClick r:id="rId3" highlightClick="1"/>
            <a:extLst>
              <a:ext uri="{FF2B5EF4-FFF2-40B4-BE49-F238E27FC236}">
                <a16:creationId xmlns:a16="http://schemas.microsoft.com/office/drawing/2014/main" id="{6C04A70E-8905-BAA4-69DD-8D8E423C51A0}"/>
              </a:ext>
            </a:extLst>
          </p:cNvPr>
          <p:cNvSpPr/>
          <p:nvPr/>
        </p:nvSpPr>
        <p:spPr>
          <a:xfrm>
            <a:off x="3752192" y="5707116"/>
            <a:ext cx="1087821" cy="819807"/>
          </a:xfrm>
          <a:prstGeom prst="actionButtonForwardNex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itle 1">
            <a:extLst>
              <a:ext uri="{FF2B5EF4-FFF2-40B4-BE49-F238E27FC236}">
                <a16:creationId xmlns:a16="http://schemas.microsoft.com/office/drawing/2014/main" id="{C7DDAC16-352C-83AA-2F65-A36587B50E0C}"/>
              </a:ext>
            </a:extLst>
          </p:cNvPr>
          <p:cNvSpPr txBox="1">
            <a:spLocks/>
          </p:cNvSpPr>
          <p:nvPr/>
        </p:nvSpPr>
        <p:spPr>
          <a:xfrm>
            <a:off x="1980132" y="5588545"/>
            <a:ext cx="5719761" cy="819808"/>
          </a:xfrm>
          <a:prstGeom prst="rect">
            <a:avLst/>
          </a:prstGeom>
        </p:spPr>
        <p:txBody>
          <a:bodyPr vert="horz" lIns="0" tIns="0" rIns="0" bIns="0" rtlCol="0" anchor="b" anchorCtr="0">
            <a:noAutofit/>
          </a:bodyPr>
          <a:lstStyle>
            <a:lvl1pPr algn="l" defTabSz="914377" rtl="0" eaLnBrk="1" latinLnBrk="0" hangingPunct="1">
              <a:lnSpc>
                <a:spcPct val="90000"/>
              </a:lnSpc>
              <a:spcBef>
                <a:spcPct val="0"/>
              </a:spcBef>
              <a:buNone/>
              <a:defRPr sz="3600" b="0" i="0" kern="1200" cap="none" spc="60" baseline="0">
                <a:solidFill>
                  <a:srgbClr val="004050"/>
                </a:solidFill>
                <a:latin typeface="Montserrat Black" panose="00000A00000000000000" pitchFamily="2" charset="0"/>
                <a:ea typeface="+mj-ea"/>
                <a:cs typeface="+mj-cs"/>
              </a:defRPr>
            </a:lvl1pPr>
          </a:lstStyle>
          <a:p>
            <a:r>
              <a:rPr lang="en-GB" dirty="0"/>
              <a:t>Quiz</a:t>
            </a:r>
          </a:p>
        </p:txBody>
      </p:sp>
    </p:spTree>
    <p:extLst>
      <p:ext uri="{BB962C8B-B14F-4D97-AF65-F5344CB8AC3E}">
        <p14:creationId xmlns:p14="http://schemas.microsoft.com/office/powerpoint/2010/main" val="1734973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489301-45C5-4586-A14D-022F60CBC6E0}"/>
              </a:ext>
            </a:extLst>
          </p:cNvPr>
          <p:cNvSpPr>
            <a:spLocks noGrp="1"/>
          </p:cNvSpPr>
          <p:nvPr>
            <p:ph type="body" sz="quarter" idx="12"/>
          </p:nvPr>
        </p:nvSpPr>
        <p:spPr/>
        <p:txBody>
          <a:bodyPr/>
          <a:lstStyle/>
          <a:p>
            <a:endParaRPr lang="en-GB"/>
          </a:p>
        </p:txBody>
      </p:sp>
      <p:sp>
        <p:nvSpPr>
          <p:cNvPr id="3" name="Title 2"/>
          <p:cNvSpPr>
            <a:spLocks noGrp="1"/>
          </p:cNvSpPr>
          <p:nvPr>
            <p:ph type="ctrTitle"/>
          </p:nvPr>
        </p:nvSpPr>
        <p:spPr/>
        <p:txBody>
          <a:bodyPr/>
          <a:lstStyle/>
          <a:p>
            <a:r>
              <a:rPr lang="en-GB" dirty="0"/>
              <a:t>Questions and feedback</a:t>
            </a:r>
          </a:p>
        </p:txBody>
      </p:sp>
    </p:spTree>
    <p:extLst>
      <p:ext uri="{BB962C8B-B14F-4D97-AF65-F5344CB8AC3E}">
        <p14:creationId xmlns:p14="http://schemas.microsoft.com/office/powerpoint/2010/main" val="3983785826"/>
      </p:ext>
    </p:extLst>
  </p:cSld>
  <p:clrMapOvr>
    <a:masterClrMapping/>
  </p:clrMapOvr>
</p:sld>
</file>

<file path=ppt/theme/theme1.xml><?xml version="1.0" encoding="utf-8"?>
<a:theme xmlns:a="http://schemas.openxmlformats.org/drawingml/2006/main" name="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CDB2D89-314C-4D83-B504-BF4072DFB9FD}">
  <ds:schemaRefs>
    <ds:schemaRef ds:uri="http://schemas.microsoft.com/sharepoint/v3/contenttype/forms"/>
  </ds:schemaRefs>
</ds:datastoreItem>
</file>

<file path=customXml/itemProps2.xml><?xml version="1.0" encoding="utf-8"?>
<ds:datastoreItem xmlns:ds="http://schemas.openxmlformats.org/officeDocument/2006/customXml" ds:itemID="{E7B87742-D786-48D6-A5BB-220D2D2207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E287A7-626A-41C1-92DF-BE8EECFCD6C2}">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8152707b-ac2c-4ea2-ac9a-b989788b8469"/>
    <ds:schemaRef ds:uri="http://purl.org/dc/elements/1.1/"/>
    <ds:schemaRef ds:uri="http://schemas.microsoft.com/office/2006/metadata/properties"/>
    <ds:schemaRef ds:uri="9a63c464-9648-4824-9ad1-ed767784f626"/>
    <ds:schemaRef ds:uri="http://www.w3.org/XML/1998/namespace"/>
    <ds:schemaRef ds:uri="http://purl.org/dc/terms/"/>
    <ds:schemaRef ds:uri="9e706368-9a73-4dcc-9221-b8fc62424fbc"/>
    <ds:schemaRef ds:uri="eb7c3fc1-ccd5-477b-94a4-7b6dc96a8d59"/>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3717</Words>
  <Application>Microsoft Office PowerPoint</Application>
  <PresentationFormat>Widescreen</PresentationFormat>
  <Paragraphs>548</Paragraphs>
  <Slides>33</Slides>
  <Notes>31</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33</vt:i4>
      </vt:variant>
    </vt:vector>
  </HeadingPairs>
  <TitlesOfParts>
    <vt:vector size="43" baseType="lpstr">
      <vt:lpstr>Arial</vt:lpstr>
      <vt:lpstr>Krana Fat B</vt:lpstr>
      <vt:lpstr>Montserrat</vt:lpstr>
      <vt:lpstr>Montserrat Black</vt:lpstr>
      <vt:lpstr>Wingdings</vt:lpstr>
      <vt:lpstr>NoKrana</vt:lpstr>
      <vt:lpstr>Master_Red_and_Purple</vt:lpstr>
      <vt:lpstr>Master_Yellow_and_Orange</vt:lpstr>
      <vt:lpstr>Master_Blue</vt:lpstr>
      <vt:lpstr>Master_Neutral</vt:lpstr>
      <vt:lpstr>Software Developer  Agile Software Development  The SDLC </vt:lpstr>
      <vt:lpstr>PowerPoint Presentation</vt:lpstr>
      <vt:lpstr>What is a systems development life cycle?</vt:lpstr>
      <vt:lpstr>PowerPoint Presentation</vt:lpstr>
      <vt:lpstr>PowerPoint Presentation</vt:lpstr>
      <vt:lpstr>PowerPoint Presentation</vt:lpstr>
      <vt:lpstr>The importance of good requirements</vt:lpstr>
      <vt:lpstr>Characteristics of good requirements</vt:lpstr>
      <vt:lpstr>Characteristics of good requirements</vt:lpstr>
      <vt:lpstr>Requirement Classification</vt:lpstr>
      <vt:lpstr>PowerPoint Presentation</vt:lpstr>
      <vt:lpstr>Non-functional requirements</vt:lpstr>
      <vt:lpstr>Non-functional requirements</vt:lpstr>
      <vt:lpstr>Non-functional requirements types</vt:lpstr>
      <vt:lpstr>PowerPoint Presentation</vt:lpstr>
      <vt:lpstr>PowerPoint Presentation</vt:lpstr>
      <vt:lpstr>PowerPoint Presentation</vt:lpstr>
      <vt:lpstr>PowerPoint Presentation</vt:lpstr>
      <vt:lpstr>PowerPoint Presentation</vt:lpstr>
      <vt:lpstr>Elements of the SDLC</vt:lpstr>
      <vt:lpstr>Context</vt:lpstr>
      <vt:lpstr>PowerPoint Presentation</vt:lpstr>
      <vt:lpstr>Process</vt:lpstr>
      <vt:lpstr>Roles</vt:lpstr>
      <vt:lpstr>Deliverables</vt:lpstr>
      <vt:lpstr>Techniques</vt:lpstr>
      <vt:lpstr>PowerPoint Presentation</vt:lpstr>
      <vt:lpstr>PowerPoint Presentation</vt:lpstr>
      <vt:lpstr>PowerPoint Presentation</vt:lpstr>
      <vt:lpstr>PowerPoint Presentation</vt:lpstr>
      <vt:lpstr>PowerPoint Presentation</vt:lpstr>
      <vt:lpstr>review</vt:lpstr>
      <vt:lpstr>Questions and feedback</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 here and here</dc:title>
  <dc:subject/>
  <dc:creator>Haynes, Amanda</dc:creator>
  <cp:keywords/>
  <dc:description/>
  <cp:lastModifiedBy>Baradaran, Mike</cp:lastModifiedBy>
  <cp:revision>53</cp:revision>
  <cp:lastPrinted>2019-07-03T09:46:41Z</cp:lastPrinted>
  <dcterms:created xsi:type="dcterms:W3CDTF">2021-11-17T15:28:08Z</dcterms:created>
  <dcterms:modified xsi:type="dcterms:W3CDTF">2025-01-24T23:29:15Z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ies>
</file>