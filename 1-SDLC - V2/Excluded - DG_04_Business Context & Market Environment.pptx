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3.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4.xml" ContentType="application/vnd.openxmlformats-officedocument.theme+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4"/>
    <p:sldMasterId id="2147483789" r:id="rId5"/>
    <p:sldMasterId id="2147483824" r:id="rId6"/>
    <p:sldMasterId id="2147483862" r:id="rId7"/>
    <p:sldMasterId id="2147483895" r:id="rId8"/>
  </p:sldMasterIdLst>
  <p:notesMasterIdLst>
    <p:notesMasterId r:id="rId25"/>
  </p:notesMasterIdLst>
  <p:handoutMasterIdLst>
    <p:handoutMasterId r:id="rId26"/>
  </p:handoutMasterIdLst>
  <p:sldIdLst>
    <p:sldId id="278" r:id="rId9"/>
    <p:sldId id="333" r:id="rId10"/>
    <p:sldId id="334" r:id="rId11"/>
    <p:sldId id="301" r:id="rId12"/>
    <p:sldId id="335" r:id="rId13"/>
    <p:sldId id="303" r:id="rId14"/>
    <p:sldId id="304" r:id="rId15"/>
    <p:sldId id="305" r:id="rId16"/>
    <p:sldId id="306" r:id="rId17"/>
    <p:sldId id="336" r:id="rId18"/>
    <p:sldId id="337" r:id="rId19"/>
    <p:sldId id="338" r:id="rId20"/>
    <p:sldId id="339" r:id="rId21"/>
    <p:sldId id="324" r:id="rId22"/>
    <p:sldId id="325" r:id="rId23"/>
    <p:sldId id="332" r:id="rId24"/>
  </p:sldIdLst>
  <p:sldSz cx="12192000" cy="6858000"/>
  <p:notesSz cx="9775825" cy="6645275"/>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or Divider Slides" id="{DE8BF54A-1323-4403-83F8-D7B5510C9D53}">
          <p14:sldIdLst>
            <p14:sldId id="278"/>
          </p14:sldIdLst>
        </p14:section>
        <p14:section name="Content Slides" id="{1A095CF9-3572-4538-94D7-8ABEC199D1E2}">
          <p14:sldIdLst>
            <p14:sldId id="333"/>
            <p14:sldId id="334"/>
            <p14:sldId id="301"/>
            <p14:sldId id="335"/>
            <p14:sldId id="303"/>
            <p14:sldId id="304"/>
            <p14:sldId id="305"/>
            <p14:sldId id="306"/>
            <p14:sldId id="336"/>
            <p14:sldId id="337"/>
            <p14:sldId id="338"/>
            <p14:sldId id="339"/>
            <p14:sldId id="324"/>
            <p14:sldId id="325"/>
            <p14:sldId id="332"/>
          </p14:sldIdLst>
        </p14:section>
        <p14:section name="Closing slide options" id="{6824D640-AAEC-4A13-80D1-D50C04BFFF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20D3FF"/>
    <a:srgbClr val="7F007D"/>
    <a:srgbClr val="F3622C"/>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14" autoAdjust="0"/>
    <p:restoredTop sz="71487" autoAdjust="0"/>
  </p:normalViewPr>
  <p:slideViewPr>
    <p:cSldViewPr snapToGrid="0" snapToObjects="1" showGuides="1">
      <p:cViewPr>
        <p:scale>
          <a:sx n="48" d="100"/>
          <a:sy n="48" d="100"/>
        </p:scale>
        <p:origin x="1188" y="24"/>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showGuides="1">
      <p:cViewPr varScale="1">
        <p:scale>
          <a:sx n="117" d="100"/>
          <a:sy n="117" d="100"/>
        </p:scale>
        <p:origin x="2052" y="6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sz="1050" dirty="0">
              <a:latin typeface="Montserrat" panose="00000500000000000000" pitchFamily="2" charset="0"/>
            </a:endParaRPr>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z="1050" smtClean="0">
                <a:latin typeface="Montserrat" panose="00000500000000000000" pitchFamily="2" charset="0"/>
              </a:rPr>
              <a:t>28/07/2022</a:t>
            </a:fld>
            <a:endParaRPr lang="en-GB" sz="1050">
              <a:latin typeface="Montserrat" panose="00000500000000000000" pitchFamily="2" charset="0"/>
            </a:endParaRPr>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sz="1050">
              <a:latin typeface="Montserrat" panose="00000500000000000000" pitchFamily="2" charset="0"/>
            </a:endParaRPr>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z="1050" smtClean="0">
                <a:latin typeface="Montserrat" panose="00000500000000000000" pitchFamily="2" charset="0"/>
              </a:rPr>
              <a:t>‹#›</a:t>
            </a:fld>
            <a:endParaRPr lang="en-GB" sz="1050">
              <a:latin typeface="Montserrat" panose="00000500000000000000" pitchFamily="2" charset="0"/>
            </a:endParaRPr>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05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050">
                <a:latin typeface="Montserrat" panose="00000500000000000000" pitchFamily="2" charset="0"/>
              </a:defRPr>
            </a:lvl1pPr>
          </a:lstStyle>
          <a:p>
            <a:fld id="{1D6B66C6-1E92-0F4E-A300-9D4ED1F0C23F}" type="datetimeFigureOut">
              <a:rPr lang="en-GB" smtClean="0"/>
              <a:pPr/>
              <a:t>28/07/2022</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05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05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050" kern="1200">
        <a:solidFill>
          <a:schemeClr val="tx1"/>
        </a:solidFill>
        <a:latin typeface="Montserrat" panose="00000500000000000000" pitchFamily="2" charset="0"/>
        <a:ea typeface="+mn-ea"/>
        <a:cs typeface="+mn-cs"/>
      </a:defRPr>
    </a:lvl1pPr>
    <a:lvl2pPr marL="457200" algn="l" defTabSz="914400" rtl="0" eaLnBrk="1" latinLnBrk="0" hangingPunct="1">
      <a:defRPr sz="1050" kern="1200">
        <a:solidFill>
          <a:schemeClr val="tx1"/>
        </a:solidFill>
        <a:latin typeface="Montserrat" panose="00000500000000000000" pitchFamily="2" charset="0"/>
        <a:ea typeface="+mn-ea"/>
        <a:cs typeface="+mn-cs"/>
      </a:defRPr>
    </a:lvl2pPr>
    <a:lvl3pPr marL="914400" algn="l" defTabSz="914400" rtl="0" eaLnBrk="1" latinLnBrk="0" hangingPunct="1">
      <a:defRPr sz="1050" kern="1200">
        <a:solidFill>
          <a:schemeClr val="tx1"/>
        </a:solidFill>
        <a:latin typeface="Montserrat" panose="00000500000000000000" pitchFamily="2" charset="0"/>
        <a:ea typeface="+mn-ea"/>
        <a:cs typeface="+mn-cs"/>
      </a:defRPr>
    </a:lvl3pPr>
    <a:lvl4pPr marL="1371600" algn="l" defTabSz="914400" rtl="0" eaLnBrk="1" latinLnBrk="0" hangingPunct="1">
      <a:defRPr sz="1050" kern="1200">
        <a:solidFill>
          <a:schemeClr val="tx1"/>
        </a:solidFill>
        <a:latin typeface="Montserrat" panose="00000500000000000000" pitchFamily="2" charset="0"/>
        <a:ea typeface="+mn-ea"/>
        <a:cs typeface="+mn-cs"/>
      </a:defRPr>
    </a:lvl4pPr>
    <a:lvl5pPr marL="1828800" algn="l" defTabSz="914400" rtl="0" eaLnBrk="1" latinLnBrk="0" hangingPunct="1">
      <a:defRPr sz="105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this module the apprentice will learn to understand their roles within their software development team. </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41386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any systems</a:t>
            </a:r>
            <a:r>
              <a:rPr lang="en-GB" baseline="0" dirty="0"/>
              <a:t> development there are a number of stages that must be undertaken. These are shown as sequential steps although they do not have to be as we shall see when we consider different lifecycles.</a:t>
            </a:r>
          </a:p>
          <a:p>
            <a:r>
              <a:rPr lang="en-GB" dirty="0"/>
              <a:t>The main stages vary dependent on the systems development approach being used but typically include:</a:t>
            </a:r>
          </a:p>
          <a:p>
            <a:pPr lvl="1"/>
            <a:r>
              <a:rPr lang="en-GB" dirty="0"/>
              <a:t>Feasibility Study – Why do we need the system?</a:t>
            </a:r>
          </a:p>
          <a:p>
            <a:pPr lvl="1"/>
            <a:r>
              <a:rPr lang="en-GB" dirty="0"/>
              <a:t>Requirements Analysis – What does the system need to do?</a:t>
            </a:r>
          </a:p>
          <a:p>
            <a:pPr lvl="1"/>
            <a:r>
              <a:rPr lang="en-GB" dirty="0"/>
              <a:t>Design – How will the system and components be built?</a:t>
            </a:r>
          </a:p>
          <a:p>
            <a:pPr lvl="1"/>
            <a:r>
              <a:rPr lang="en-GB" dirty="0"/>
              <a:t>Code Development – Construct system to meet requirements</a:t>
            </a:r>
          </a:p>
          <a:p>
            <a:pPr lvl="1"/>
            <a:r>
              <a:rPr lang="en-GB" dirty="0"/>
              <a:t>Testing – Checks system does what it should do and how it should do it</a:t>
            </a:r>
          </a:p>
          <a:p>
            <a:pPr lvl="1"/>
            <a:r>
              <a:rPr lang="en-GB" dirty="0"/>
              <a:t>Deployment</a:t>
            </a:r>
            <a:r>
              <a:rPr lang="en-GB" baseline="0" dirty="0"/>
              <a:t> / </a:t>
            </a:r>
            <a:r>
              <a:rPr lang="en-GB" dirty="0"/>
              <a:t>Implementation – Deploys the system in the live or production or operational environment </a:t>
            </a:r>
          </a:p>
          <a:p>
            <a:pPr lvl="1"/>
            <a:r>
              <a:rPr lang="en-GB" dirty="0"/>
              <a:t>Maintenance</a:t>
            </a:r>
            <a:r>
              <a:rPr lang="en-GB" baseline="0" dirty="0"/>
              <a:t> – Support the live system.</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895860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many SDLCs in use today. It</a:t>
            </a:r>
            <a:r>
              <a:rPr lang="en-GB" baseline="0" dirty="0"/>
              <a:t> is important to understand the features of each to </a:t>
            </a:r>
            <a:r>
              <a:rPr lang="en-GB" dirty="0"/>
              <a:t>make an appropriate choice</a:t>
            </a:r>
            <a:r>
              <a:rPr lang="en-GB" baseline="0" dirty="0"/>
              <a:t> for nature of your organisation and the specific requirements of a project. They can be considered to exist on a spectrum:</a:t>
            </a:r>
            <a:endParaRPr lang="en-GB" dirty="0"/>
          </a:p>
          <a:p>
            <a:pPr marL="362448" lvl="1" indent="-181224"/>
            <a:r>
              <a:rPr lang="en-GB" dirty="0"/>
              <a:t>From linear that</a:t>
            </a:r>
            <a:r>
              <a:rPr lang="en-GB" baseline="0" dirty="0"/>
              <a:t> consist of s</a:t>
            </a:r>
            <a:r>
              <a:rPr lang="en-GB" dirty="0"/>
              <a:t>equential stages and tasks such as Waterfall and ‘V’ Model.</a:t>
            </a:r>
          </a:p>
          <a:p>
            <a:pPr marL="362448" lvl="1" indent="-181224"/>
            <a:r>
              <a:rPr lang="en-GB" dirty="0"/>
              <a:t>To evolutionary that evolve through progressive versions including Incremental, Iterative and Agile.</a:t>
            </a:r>
          </a:p>
          <a:p>
            <a:pPr lvl="1" algn="l">
              <a:buFont typeface="Arial" panose="020B0604020202020204" pitchFamily="34" charset="0"/>
              <a:buNone/>
            </a:pP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895860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a:t>
            </a:r>
            <a:r>
              <a:rPr lang="en-GB" baseline="0" dirty="0"/>
              <a:t> the Context needs to be considered before starting. Several key questions must be asked and answered including:</a:t>
            </a:r>
          </a:p>
          <a:p>
            <a:pPr marL="362448" lvl="1" indent="-181224"/>
            <a:r>
              <a:rPr lang="en-GB" baseline="0" dirty="0"/>
              <a:t>Release plan – Is the system to implemented a single or multiple releases?</a:t>
            </a:r>
          </a:p>
          <a:p>
            <a:pPr marL="362448" lvl="1" indent="-181224"/>
            <a:r>
              <a:rPr lang="en-GB" baseline="0" dirty="0"/>
              <a:t>Level of skills and expertise – What is the ability of the team and preferred delivery style of the organisation?</a:t>
            </a:r>
          </a:p>
          <a:p>
            <a:pPr marL="362448" lvl="1" indent="-181224"/>
            <a:r>
              <a:rPr lang="en-GB" baseline="0" dirty="0"/>
              <a:t>Location of teams and stakeholders – Is the team based at a single site or dispersed locally, nationally or globally?</a:t>
            </a:r>
          </a:p>
          <a:p>
            <a:pPr marL="362448" lvl="1" indent="-181224"/>
            <a:r>
              <a:rPr lang="en-GB" baseline="0" dirty="0"/>
              <a:t>Requirements – What are the audit, quality, regulatory requirements that must be met? What is the complexity and stability of the current operating environment?</a:t>
            </a:r>
          </a:p>
          <a:p>
            <a:pPr marL="362448" lvl="1" indent="-181224"/>
            <a:r>
              <a:rPr lang="en-GB" baseline="0" dirty="0"/>
              <a:t>Technology to be used – Is the technology both hardware and software including servers, databases, packages, programming languages tried and tested or new?</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1629982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research and answer the following questions:</a:t>
            </a:r>
          </a:p>
          <a:p>
            <a:pPr marL="362448" lvl="1" indent="-181224"/>
            <a:r>
              <a:rPr lang="en-GB" dirty="0"/>
              <a:t>What factors will influence the development of different Information Systems within or across a range of industry sectors and how?</a:t>
            </a:r>
          </a:p>
          <a:p>
            <a:r>
              <a:rPr lang="en-GB" dirty="0"/>
              <a:t>Instructions: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Work individually or in pairs; your choice</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10 minutes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646818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will many</a:t>
            </a:r>
            <a:r>
              <a:rPr lang="en-GB" baseline="0" dirty="0"/>
              <a:t> factors that influence the development of different Information Systems within or across a range of industry sectors such as: </a:t>
            </a:r>
            <a:endParaRPr lang="en-GB" dirty="0"/>
          </a:p>
          <a:p>
            <a:pPr marL="362448" lvl="1" indent="-181224"/>
            <a:r>
              <a:rPr lang="en-GB" dirty="0"/>
              <a:t>Business requirements – Be them general</a:t>
            </a:r>
            <a:r>
              <a:rPr lang="en-GB" baseline="0" dirty="0"/>
              <a:t> to all business, </a:t>
            </a:r>
            <a:r>
              <a:rPr lang="en-GB" dirty="0"/>
              <a:t>specific to a business area or market or particular to a single organisation. </a:t>
            </a:r>
          </a:p>
          <a:p>
            <a:pPr marL="362448" lvl="1" indent="-181224"/>
            <a:r>
              <a:rPr lang="en-GB" dirty="0"/>
              <a:t>Project timescales – These</a:t>
            </a:r>
            <a:r>
              <a:rPr lang="en-GB" baseline="0" dirty="0"/>
              <a:t> might be h</a:t>
            </a:r>
            <a:r>
              <a:rPr lang="en-GB" dirty="0"/>
              <a:t>ard deadlines, as soon as possible</a:t>
            </a:r>
            <a:r>
              <a:rPr lang="en-GB" baseline="0" dirty="0"/>
              <a:t> (ASAP) or immediate</a:t>
            </a:r>
            <a:r>
              <a:rPr lang="en-GB" dirty="0"/>
              <a:t>!</a:t>
            </a:r>
          </a:p>
          <a:p>
            <a:pPr marL="362448" lvl="1" indent="-181224"/>
            <a:r>
              <a:rPr lang="en-GB" dirty="0"/>
              <a:t>Budgets – Does</a:t>
            </a:r>
            <a:r>
              <a:rPr lang="en-GB" baseline="0" dirty="0"/>
              <a:t> the organisation have up</a:t>
            </a:r>
            <a:r>
              <a:rPr lang="en-GB" dirty="0"/>
              <a:t> front investment to spend, projects</a:t>
            </a:r>
            <a:r>
              <a:rPr lang="en-GB" baseline="0" dirty="0"/>
              <a:t> selected on a </a:t>
            </a:r>
            <a:r>
              <a:rPr lang="en-GB" dirty="0"/>
              <a:t>Return on Investment</a:t>
            </a:r>
            <a:r>
              <a:rPr lang="en-GB" baseline="0" dirty="0"/>
              <a:t> (R</a:t>
            </a:r>
            <a:r>
              <a:rPr lang="en-GB" dirty="0"/>
              <a:t>OI) basis or funded through the ongoing benefits of the project.</a:t>
            </a:r>
          </a:p>
          <a:p>
            <a:pPr marL="362448" lvl="1" indent="-181224"/>
            <a:r>
              <a:rPr lang="en-GB" dirty="0"/>
              <a:t>Resources and skills availability – Does the organisation have</a:t>
            </a:r>
            <a:r>
              <a:rPr lang="en-GB" baseline="0" dirty="0"/>
              <a:t> the staff and skills in</a:t>
            </a:r>
            <a:r>
              <a:rPr lang="en-GB" dirty="0"/>
              <a:t>-house or will they need to be outsourced or offshored.</a:t>
            </a:r>
          </a:p>
          <a:p>
            <a:pPr marL="362448" lvl="1" indent="-181224"/>
            <a:r>
              <a:rPr lang="en-GB" dirty="0"/>
              <a:t>Product and project risks – What are the changes facing the organisation? The general business market or environment, specific requirements, new products and services, or technology.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624155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All organisations will use similar type</a:t>
            </a:r>
            <a:r>
              <a:rPr lang="en-GB" baseline="0" dirty="0"/>
              <a:t>s of </a:t>
            </a:r>
            <a:r>
              <a:rPr lang="en-GB" dirty="0"/>
              <a:t>applications to support the core functions such as accounts, email, Human</a:t>
            </a:r>
            <a:r>
              <a:rPr lang="en-GB" baseline="0" dirty="0"/>
              <a:t> Resources (HR) and p</a:t>
            </a:r>
            <a:r>
              <a:rPr lang="en-GB" dirty="0"/>
              <a:t>urchasing / sales.  Often</a:t>
            </a:r>
            <a:r>
              <a:rPr lang="en-GB" baseline="0" dirty="0"/>
              <a:t> these will be third party packages that are purchased and tailored or customised to the needs of a business.</a:t>
            </a:r>
            <a:endParaRPr lang="en-GB" dirty="0"/>
          </a:p>
          <a:p>
            <a:r>
              <a:rPr lang="en-GB" dirty="0"/>
              <a:t>Other application will be more specific to needs of a particular business area</a:t>
            </a:r>
            <a:r>
              <a:rPr lang="en-GB" baseline="0" dirty="0"/>
              <a:t> or individual business such as trading systems for banks, material requirements planning (MRP) systems for manufacturing companies and c</a:t>
            </a:r>
            <a:r>
              <a:rPr lang="en-GB" dirty="0"/>
              <a:t>ourse booking and scheduling</a:t>
            </a:r>
            <a:r>
              <a:rPr lang="en-GB" baseline="0" dirty="0"/>
              <a:t> systems for training companies.</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864308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research and answer the following questions:</a:t>
            </a:r>
          </a:p>
          <a:p>
            <a:pPr marL="362448" lvl="1" indent="-181224"/>
            <a:r>
              <a:rPr lang="en-GB" dirty="0"/>
              <a:t>Why do businesses need to keep systems updates and what is the impact if they are not?</a:t>
            </a:r>
          </a:p>
          <a:p>
            <a:r>
              <a:rPr lang="en-GB" dirty="0"/>
              <a:t>Instructions: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Work individually or in pairs; your choice</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10 minutes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2675723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Businesses need to keep systems updated to:</a:t>
            </a:r>
          </a:p>
          <a:p>
            <a:pPr marL="362448" lvl="1" indent="-181224"/>
            <a:r>
              <a:rPr lang="en-GB" dirty="0"/>
              <a:t>Respond to business needs</a:t>
            </a:r>
          </a:p>
          <a:p>
            <a:pPr marL="362448" lvl="1" indent="-181224"/>
            <a:r>
              <a:rPr lang="en-GB" dirty="0"/>
              <a:t>Make new functionality available</a:t>
            </a:r>
          </a:p>
          <a:p>
            <a:pPr marL="362448" lvl="1" indent="-181224"/>
            <a:r>
              <a:rPr lang="en-GB" dirty="0"/>
              <a:t>Correct errors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3799984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Impacts to businesses if systems are not updated are:</a:t>
            </a:r>
          </a:p>
          <a:p>
            <a:pPr marL="362448" lvl="1" indent="-181224"/>
            <a:r>
              <a:rPr lang="en-GB" dirty="0"/>
              <a:t>Reduce business competitiveness, efficiency, effectiveness</a:t>
            </a:r>
          </a:p>
          <a:p>
            <a:pPr marL="362448" lvl="1" indent="-181224"/>
            <a:r>
              <a:rPr lang="en-GB" dirty="0"/>
              <a:t>No longer accessible</a:t>
            </a:r>
          </a:p>
          <a:p>
            <a:pPr marL="724896" lvl="2" indent="-181224"/>
            <a:r>
              <a:rPr lang="en-GB" dirty="0"/>
              <a:t>Stop upgrades / support</a:t>
            </a:r>
          </a:p>
          <a:p>
            <a:pPr marL="724896" lvl="2" indent="-181224"/>
            <a:r>
              <a:rPr lang="en-GB" dirty="0"/>
              <a:t>Backward compatible – IBM / Java?</a:t>
            </a:r>
          </a:p>
          <a:p>
            <a:pPr marL="724896" lvl="2" indent="-181224"/>
            <a:r>
              <a:rPr lang="en-GB" dirty="0"/>
              <a:t>Files ‘disappear’ – Microsoft Office</a:t>
            </a:r>
          </a:p>
          <a:p>
            <a:pPr marL="362448" lvl="1" indent="-181224"/>
            <a:r>
              <a:rPr lang="en-GB" dirty="0"/>
              <a:t>Less secure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4099017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research and answer the following questions:</a:t>
            </a:r>
          </a:p>
          <a:p>
            <a:pPr lvl="1">
              <a:buClr>
                <a:schemeClr val="accent1"/>
              </a:buClr>
            </a:pPr>
            <a:r>
              <a:rPr lang="en-GB" dirty="0"/>
              <a:t>What do the following terms mean? </a:t>
            </a:r>
          </a:p>
          <a:p>
            <a:pPr lvl="2">
              <a:buClr>
                <a:schemeClr val="accent1"/>
              </a:buClr>
            </a:pPr>
            <a:r>
              <a:rPr lang="en-GB" dirty="0"/>
              <a:t>B2B</a:t>
            </a:r>
          </a:p>
          <a:p>
            <a:pPr lvl="2">
              <a:buClr>
                <a:schemeClr val="accent1"/>
              </a:buClr>
            </a:pPr>
            <a:r>
              <a:rPr lang="en-GB" dirty="0"/>
              <a:t>B2C</a:t>
            </a:r>
          </a:p>
          <a:p>
            <a:pPr lvl="2">
              <a:buClr>
                <a:schemeClr val="accent1"/>
              </a:buClr>
            </a:pPr>
            <a:r>
              <a:rPr lang="en-GB" dirty="0"/>
              <a:t>C2B</a:t>
            </a:r>
          </a:p>
          <a:p>
            <a:pPr lvl="2">
              <a:buClr>
                <a:schemeClr val="accent1"/>
              </a:buClr>
            </a:pPr>
            <a:r>
              <a:rPr lang="en-GB" dirty="0"/>
              <a:t>C2C</a:t>
            </a:r>
          </a:p>
          <a:p>
            <a:pPr lvl="1">
              <a:buClr>
                <a:schemeClr val="accent1"/>
              </a:buClr>
            </a:pPr>
            <a:r>
              <a:rPr lang="en-GB" dirty="0"/>
              <a:t>Give an example of each?</a:t>
            </a:r>
          </a:p>
          <a:p>
            <a:pPr marL="362448" lvl="1" indent="-181224" defTabSz="920618">
              <a:spcAft>
                <a:spcPts val="604"/>
              </a:spcAft>
              <a:buClr>
                <a:schemeClr val="accent1"/>
              </a:buClr>
              <a:tabLst>
                <a:tab pos="274907" algn="l"/>
                <a:tab pos="548216" algn="l"/>
                <a:tab pos="802344" algn="l"/>
                <a:tab pos="1077251" algn="l"/>
                <a:tab pos="1352158" algn="l"/>
                <a:tab pos="1625467" algn="l"/>
                <a:tab pos="1900373" algn="l"/>
                <a:tab pos="2173681" algn="l"/>
                <a:tab pos="2429408" algn="l"/>
                <a:tab pos="2702717" algn="l"/>
              </a:tabLst>
              <a:defRPr/>
            </a:pPr>
            <a:r>
              <a:rPr lang="en-GB" dirty="0"/>
              <a:t>Which types of applications will be general to all businesses and specific to others?</a:t>
            </a:r>
          </a:p>
          <a:p>
            <a:r>
              <a:rPr lang="en-GB" dirty="0"/>
              <a:t>Instructions: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Work individually or in pairs; your choice</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10 minutes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3698493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Business to Business</a:t>
            </a:r>
            <a:r>
              <a:rPr lang="en-GB" baseline="0" dirty="0"/>
              <a:t> (B2B) model is where o</a:t>
            </a:r>
            <a:r>
              <a:rPr lang="en-GB" dirty="0"/>
              <a:t>ne business makes a commercial transaction with another such</a:t>
            </a:r>
            <a:r>
              <a:rPr lang="en-GB" baseline="0" dirty="0"/>
              <a:t> as a</a:t>
            </a:r>
            <a:r>
              <a:rPr lang="en-GB" dirty="0"/>
              <a:t> business is sourcing materials for their production process like a food manufacturer.</a:t>
            </a:r>
          </a:p>
          <a:p>
            <a:r>
              <a:rPr lang="en-GB" dirty="0"/>
              <a:t>Alternatively</a:t>
            </a:r>
            <a:r>
              <a:rPr lang="en-GB" baseline="0" dirty="0"/>
              <a:t> it could be a</a:t>
            </a:r>
            <a:r>
              <a:rPr lang="en-GB" dirty="0"/>
              <a:t> business that needs the services of another for operational reasons such as a food manufacturer employing an accountancy firm to audit their finances. Or a business that re-sells goods and services produced by others such</a:t>
            </a:r>
            <a:r>
              <a:rPr lang="en-GB" baseline="0" dirty="0"/>
              <a:t> as a</a:t>
            </a:r>
            <a:r>
              <a:rPr lang="en-GB" dirty="0"/>
              <a:t> retailer buying the end product from the food manufacturer.</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1520271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Business to Consumer (B2C) model is where business or transactions are conducted directly between a company and consumers who are the end-users of its products or services. The differs significantly from the business-to-business model which refers to commerce between two or more businesses.</a:t>
            </a:r>
          </a:p>
          <a:p>
            <a:r>
              <a:rPr lang="en-GB" dirty="0"/>
              <a:t>Most companies that sell directly to consumers can be referred to as B2C companies .</a:t>
            </a:r>
            <a:r>
              <a:rPr lang="en-GB" baseline="0" dirty="0"/>
              <a:t> The term became p</a:t>
            </a:r>
            <a:r>
              <a:rPr lang="en-GB" dirty="0"/>
              <a:t>opular during the dotcom boom of the late 1990s when it was used mainly to refer to online retailers / companies that sold products and services to consumers through the internet.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3230288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Consumer to Business</a:t>
            </a:r>
            <a:r>
              <a:rPr lang="en-GB" baseline="0" dirty="0"/>
              <a:t> (C2B) is where consumers offer products and services to companies for which the companies pay the consumers. This is a complete reversal of the traditional business model in which companies offer goods and services to consumers.</a:t>
            </a:r>
          </a:p>
          <a:p>
            <a:r>
              <a:rPr lang="en-GB" baseline="0" dirty="0"/>
              <a:t>It can also be a reverse auction or demand collection model where buyers name or demand their own price, which is often binding, for a specific good or service. A website collects the demand bids then offers the bids to participating sellers.</a:t>
            </a:r>
          </a:p>
          <a:p>
            <a:r>
              <a:rPr lang="en-GB" dirty="0"/>
              <a:t>This</a:t>
            </a:r>
            <a:r>
              <a:rPr lang="en-GB" baseline="0" dirty="0"/>
              <a:t> model is i</a:t>
            </a:r>
            <a:r>
              <a:rPr lang="en-GB" dirty="0"/>
              <a:t>ncreasing in popularity</a:t>
            </a:r>
            <a:r>
              <a:rPr lang="en-GB" baseline="0" dirty="0"/>
              <a:t> due to the </a:t>
            </a:r>
            <a:r>
              <a:rPr lang="en-GB" dirty="0"/>
              <a:t>internet connecting large groups of people to a bidirectional network. The traditional media outlets are one-directional relationships whereas the internet is bidirectional. Also the decreasing costs of technology as individuals now have access to technologies that were once only available to large companies such as high performance computers and powerful software.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2553034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a:t>
            </a:r>
            <a:r>
              <a:rPr lang="en-GB" baseline="0" dirty="0"/>
              <a:t> </a:t>
            </a:r>
            <a:r>
              <a:rPr lang="en-GB" dirty="0"/>
              <a:t>Consumer to Consumer (C2C)</a:t>
            </a:r>
            <a:r>
              <a:rPr lang="en-GB" baseline="0" dirty="0"/>
              <a:t> model p</a:t>
            </a:r>
            <a:r>
              <a:rPr lang="en-GB" dirty="0"/>
              <a:t>rovides an innovative way to allow customers to interact with each other. Whereas traditional markets require business to customer relationships which requires the customer to go to the business in order to purchase a product or service this business model facilitates an environment where customers can sell goods or services to each other.</a:t>
            </a:r>
          </a:p>
          <a:p>
            <a:r>
              <a:rPr lang="en-GB" dirty="0"/>
              <a:t>They are often electronically facilitated transactions between consumers through some third party such</a:t>
            </a:r>
            <a:r>
              <a:rPr lang="en-GB" baseline="0" dirty="0"/>
              <a:t> as an o</a:t>
            </a:r>
            <a:r>
              <a:rPr lang="en-GB" dirty="0"/>
              <a:t>nline auction. A consumer posts an item for sale and other consumers bid to purchase it. The third party generally charges a flat fee or commission. The sites are only intermediaries which are just there to match consumers. They do not have to check quality of the products being offered.</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31724140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9.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9.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9.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3.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8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31.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30.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11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27374960"/>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5106406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120800504"/>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15016054"/>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45452897"/>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413293266"/>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2864285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71147682"/>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94543106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7148512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91698413"/>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84192964"/>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809625386"/>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66385598"/>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34078083"/>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2628511"/>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39340451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20828976"/>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68146767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0575347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05533872"/>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75585166"/>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78705177"/>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15034317"/>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89004547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9950739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127736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81878963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295608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191035206"/>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2555122159"/>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771193914"/>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39058242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ontents or agenda">
    <p:spTree>
      <p:nvGrpSpPr>
        <p:cNvPr id="1" name=""/>
        <p:cNvGrpSpPr/>
        <p:nvPr/>
      </p:nvGrpSpPr>
      <p:grpSpPr>
        <a:xfrm>
          <a:off x="0" y="0"/>
          <a:ext cx="0" cy="0"/>
          <a:chOff x="0" y="0"/>
          <a:chExt cx="0" cy="0"/>
        </a:xfrm>
      </p:grpSpPr>
      <p:pic>
        <p:nvPicPr>
          <p:cNvPr id="26" name="Picture 25" descr="Shape&#10;&#10;Description automatically generated with medium confidence">
            <a:extLst>
              <a:ext uri="{FF2B5EF4-FFF2-40B4-BE49-F238E27FC236}">
                <a16:creationId xmlns:a16="http://schemas.microsoft.com/office/drawing/2014/main" id="{3B4E1F50-500D-4F08-9594-04DCAC10E481}"/>
              </a:ext>
            </a:extLst>
          </p:cNvPr>
          <p:cNvPicPr>
            <a:picLocks noChangeAspect="1"/>
          </p:cNvPicPr>
          <p:nvPr userDrawn="1"/>
        </p:nvPicPr>
        <p:blipFill>
          <a:blip r:embed="rId2"/>
          <a:stretch>
            <a:fillRect/>
          </a:stretch>
        </p:blipFill>
        <p:spPr>
          <a:xfrm>
            <a:off x="7877310" y="0"/>
            <a:ext cx="4314690" cy="6858000"/>
          </a:xfrm>
          <a:prstGeom prst="rect">
            <a:avLst/>
          </a:prstGeom>
        </p:spPr>
      </p:pic>
      <p:cxnSp>
        <p:nvCxnSpPr>
          <p:cNvPr id="13" name="Straight Connector 12"/>
          <p:cNvCxnSpPr/>
          <p:nvPr userDrawn="1"/>
        </p:nvCxnSpPr>
        <p:spPr>
          <a:xfrm>
            <a:off x="3101975" y="1484598"/>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14589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2807184"/>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46847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12977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4791062"/>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sp>
        <p:nvSpPr>
          <p:cNvPr id="30" name="Text Placeholder 2"/>
          <p:cNvSpPr>
            <a:spLocks noGrp="1"/>
          </p:cNvSpPr>
          <p:nvPr>
            <p:ph type="body" sz="quarter" idx="10" hasCustomPrompt="1"/>
          </p:nvPr>
        </p:nvSpPr>
        <p:spPr>
          <a:xfrm>
            <a:off x="384784" y="1484598"/>
            <a:ext cx="2521449" cy="1962150"/>
          </a:xfrm>
        </p:spPr>
        <p:txBody>
          <a:bodyPr/>
          <a:lstStyle>
            <a:lvl1pPr marL="0" indent="0">
              <a:lnSpc>
                <a:spcPct val="90000"/>
              </a:lnSpc>
              <a:spcAft>
                <a:spcPts val="0"/>
              </a:spcAft>
              <a:buFont typeface="Arial" panose="020B0604020202020204" pitchFamily="34" charset="0"/>
              <a:buNone/>
              <a:defRPr sz="4000" b="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161944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166661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280736"/>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32790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2939432"/>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2986599"/>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359442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364159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259419"/>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306586"/>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4937056"/>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498422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432022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634562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4163796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Column A">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umn A Plain">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729812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A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679632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s B">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F8457ED5-FFC6-4734-A6E8-9C12AAF7EA0D}"/>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a:xfrm>
            <a:off x="376238" y="450398"/>
            <a:ext cx="10464799" cy="687614"/>
          </a:xfrm>
        </p:spPr>
        <p:txBody>
          <a:bodyPr/>
          <a:lstStyle/>
          <a:p>
            <a:r>
              <a:rPr lang="en-US" dirty="0"/>
              <a:t>Click to edit Master title style</a:t>
            </a:r>
            <a:endParaRPr lang="en-GB" dirty="0"/>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376238" y="1635854"/>
            <a:ext cx="5627688"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5" name="Graphic 31">
            <a:extLst>
              <a:ext uri="{FF2B5EF4-FFF2-40B4-BE49-F238E27FC236}">
                <a16:creationId xmlns:a16="http://schemas.microsoft.com/office/drawing/2014/main" id="{6E7E2E15-3B47-4552-B2F2-43A358272F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930530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3803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py Slide - QA Left Side">
    <p:bg>
      <p:bgPr>
        <a:solidFill>
          <a:schemeClr val="bg1"/>
        </a:solidFill>
        <a:effectLst/>
      </p:bgPr>
    </p:bg>
    <p:spTree>
      <p:nvGrpSpPr>
        <p:cNvPr id="1" name=""/>
        <p:cNvGrpSpPr/>
        <p:nvPr/>
      </p:nvGrpSpPr>
      <p:grpSpPr>
        <a:xfrm>
          <a:off x="0" y="0"/>
          <a:ext cx="0" cy="0"/>
          <a:chOff x="0" y="0"/>
          <a:chExt cx="0" cy="0"/>
        </a:xfrm>
      </p:grpSpPr>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747991474"/>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lain Background">
    <p:spTree>
      <p:nvGrpSpPr>
        <p:cNvPr id="1" name=""/>
        <p:cNvGrpSpPr/>
        <p:nvPr/>
      </p:nvGrpSpPr>
      <p:grpSpPr>
        <a:xfrm>
          <a:off x="0" y="0"/>
          <a:ext cx="0" cy="0"/>
          <a:chOff x="0" y="0"/>
          <a:chExt cx="0" cy="0"/>
        </a:xfrm>
      </p:grpSpPr>
      <p:sp>
        <p:nvSpPr>
          <p:cNvPr id="2" name="Rectangle 1"/>
          <p:cNvSpPr/>
          <p:nvPr userDrawn="1"/>
        </p:nvSpPr>
        <p:spPr>
          <a:xfrm>
            <a:off x="269737" y="304800"/>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15769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lain side block - A">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1E76E-2742-450B-96BA-3BB549EE2428}"/>
              </a:ext>
            </a:extLst>
          </p:cNvPr>
          <p:cNvSpPr/>
          <p:nvPr userDrawn="1"/>
        </p:nvSpPr>
        <p:spPr>
          <a:xfrm>
            <a:off x="0" y="0"/>
            <a:ext cx="4152550"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2"/>
          <p:cNvSpPr>
            <a:spLocks noGrp="1"/>
          </p:cNvSpPr>
          <p:nvPr>
            <p:ph type="body" sz="quarter" idx="12" hasCustomPrompt="1"/>
          </p:nvPr>
        </p:nvSpPr>
        <p:spPr>
          <a:xfrm>
            <a:off x="376238" y="1233488"/>
            <a:ext cx="3437005" cy="2030142"/>
          </a:xfrm>
        </p:spPr>
        <p:txBody>
          <a:bodyPr/>
          <a:lstStyle>
            <a:lvl1pPr marL="0" indent="0">
              <a:lnSpc>
                <a:spcPct val="90000"/>
              </a:lnSpc>
              <a:spcAft>
                <a:spcPts val="0"/>
              </a:spcAft>
              <a:buFont typeface="Arial" panose="020B0604020202020204" pitchFamily="34" charset="0"/>
              <a:buNone/>
              <a:defRPr sz="4000" b="0" cap="none"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5037138" y="1233488"/>
            <a:ext cx="6770687" cy="4651746"/>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pic>
        <p:nvPicPr>
          <p:cNvPr id="8" name="Picture 7">
            <a:extLst>
              <a:ext uri="{FF2B5EF4-FFF2-40B4-BE49-F238E27FC236}">
                <a16:creationId xmlns:a16="http://schemas.microsoft.com/office/drawing/2014/main" id="{AB547ADA-2CB9-46E7-811F-C8E01F6F3CE5}"/>
              </a:ext>
            </a:extLst>
          </p:cNvPr>
          <p:cNvPicPr>
            <a:picLocks noChangeAspect="1"/>
          </p:cNvPicPr>
          <p:nvPr userDrawn="1"/>
        </p:nvPicPr>
        <p:blipFill>
          <a:blip r:embed="rId4"/>
          <a:srcRect/>
          <a:stretch/>
        </p:blipFill>
        <p:spPr>
          <a:xfrm>
            <a:off x="0" y="4283345"/>
            <a:ext cx="5907041" cy="2574654"/>
          </a:xfrm>
          <a:prstGeom prst="rect">
            <a:avLst/>
          </a:prstGeom>
        </p:spPr>
      </p:pic>
    </p:spTree>
    <p:extLst>
      <p:ext uri="{BB962C8B-B14F-4D97-AF65-F5344CB8AC3E}">
        <p14:creationId xmlns:p14="http://schemas.microsoft.com/office/powerpoint/2010/main" val="89513587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36995201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13750641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2996185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83775069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569705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1066623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514761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140080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1181325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16852589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5869441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0016973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3759126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8574635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1372439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5684331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2353167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015701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32372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68048841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615078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153429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8174327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51842163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7434058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206659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24715447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34800688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6540288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356312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86730878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6771563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0516096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25039531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134228556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5933938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33350051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0700864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87466052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6879193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05892751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39826804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2152703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7683897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702320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3166280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8400995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405676076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74466158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5780647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904406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4843351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004503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520291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9695572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424163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8552061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3290357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279416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1562786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072411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606336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64813028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434596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6809404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083526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765586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210473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5595678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40033777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2344694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17112780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082245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81379989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10302389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45059264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2143157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8403644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23599308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6906712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38889033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423999840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0783307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4395539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6905999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5702666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5940166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6169096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2987501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4374840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4027554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350826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8555858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195822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865266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7658596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2080460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185520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67421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982151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279578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94507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8483271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70928158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298932731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48359307"/>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718921165"/>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72839401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5025210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0140185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5203994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2868671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3924208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6911211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image" Target="../media/image1.png"/><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theme" Target="../theme/theme2.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slideLayout" Target="../slideLayouts/slideLayout98.xml"/><Relationship Id="rId26" Type="http://schemas.openxmlformats.org/officeDocument/2006/relationships/slideLayout" Target="../slideLayouts/slideLayout106.xml"/><Relationship Id="rId39" Type="http://schemas.openxmlformats.org/officeDocument/2006/relationships/image" Target="../media/image1.png"/><Relationship Id="rId3" Type="http://schemas.openxmlformats.org/officeDocument/2006/relationships/slideLayout" Target="../slideLayouts/slideLayout83.xml"/><Relationship Id="rId21" Type="http://schemas.openxmlformats.org/officeDocument/2006/relationships/slideLayout" Target="../slideLayouts/slideLayout101.xml"/><Relationship Id="rId34" Type="http://schemas.openxmlformats.org/officeDocument/2006/relationships/slideLayout" Target="../slideLayouts/slideLayout114.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5" Type="http://schemas.openxmlformats.org/officeDocument/2006/relationships/slideLayout" Target="../slideLayouts/slideLayout105.xml"/><Relationship Id="rId33" Type="http://schemas.openxmlformats.org/officeDocument/2006/relationships/slideLayout" Target="../slideLayouts/slideLayout113.xml"/><Relationship Id="rId38" Type="http://schemas.openxmlformats.org/officeDocument/2006/relationships/theme" Target="../theme/theme3.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slideLayout" Target="../slideLayouts/slideLayout100.xml"/><Relationship Id="rId29" Type="http://schemas.openxmlformats.org/officeDocument/2006/relationships/slideLayout" Target="../slideLayouts/slideLayout109.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24" Type="http://schemas.openxmlformats.org/officeDocument/2006/relationships/slideLayout" Target="../slideLayouts/slideLayout104.xml"/><Relationship Id="rId32" Type="http://schemas.openxmlformats.org/officeDocument/2006/relationships/slideLayout" Target="../slideLayouts/slideLayout112.xml"/><Relationship Id="rId37" Type="http://schemas.openxmlformats.org/officeDocument/2006/relationships/slideLayout" Target="../slideLayouts/slideLayout117.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23" Type="http://schemas.openxmlformats.org/officeDocument/2006/relationships/slideLayout" Target="../slideLayouts/slideLayout103.xml"/><Relationship Id="rId28" Type="http://schemas.openxmlformats.org/officeDocument/2006/relationships/slideLayout" Target="../slideLayouts/slideLayout108.xml"/><Relationship Id="rId36" Type="http://schemas.openxmlformats.org/officeDocument/2006/relationships/slideLayout" Target="../slideLayouts/slideLayout116.xml"/><Relationship Id="rId10" Type="http://schemas.openxmlformats.org/officeDocument/2006/relationships/slideLayout" Target="../slideLayouts/slideLayout90.xml"/><Relationship Id="rId19" Type="http://schemas.openxmlformats.org/officeDocument/2006/relationships/slideLayout" Target="../slideLayouts/slideLayout99.xml"/><Relationship Id="rId31" Type="http://schemas.openxmlformats.org/officeDocument/2006/relationships/slideLayout" Target="../slideLayouts/slideLayout111.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slideLayout" Target="../slideLayouts/slideLayout102.xml"/><Relationship Id="rId27" Type="http://schemas.openxmlformats.org/officeDocument/2006/relationships/slideLayout" Target="../slideLayouts/slideLayout107.xml"/><Relationship Id="rId30" Type="http://schemas.openxmlformats.org/officeDocument/2006/relationships/slideLayout" Target="../slideLayouts/slideLayout110.xml"/><Relationship Id="rId35" Type="http://schemas.openxmlformats.org/officeDocument/2006/relationships/slideLayout" Target="../slideLayouts/slideLayout11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slideLayout" Target="../slideLayouts/slideLayout130.xml"/><Relationship Id="rId18" Type="http://schemas.openxmlformats.org/officeDocument/2006/relationships/slideLayout" Target="../slideLayouts/slideLayout135.xml"/><Relationship Id="rId26" Type="http://schemas.openxmlformats.org/officeDocument/2006/relationships/slideLayout" Target="../slideLayouts/slideLayout143.xml"/><Relationship Id="rId3" Type="http://schemas.openxmlformats.org/officeDocument/2006/relationships/slideLayout" Target="../slideLayouts/slideLayout120.xml"/><Relationship Id="rId21" Type="http://schemas.openxmlformats.org/officeDocument/2006/relationships/slideLayout" Target="../slideLayouts/slideLayout138.xml"/><Relationship Id="rId34" Type="http://schemas.openxmlformats.org/officeDocument/2006/relationships/image" Target="../media/image1.png"/><Relationship Id="rId7" Type="http://schemas.openxmlformats.org/officeDocument/2006/relationships/slideLayout" Target="../slideLayouts/slideLayout124.xml"/><Relationship Id="rId12" Type="http://schemas.openxmlformats.org/officeDocument/2006/relationships/slideLayout" Target="../slideLayouts/slideLayout129.xml"/><Relationship Id="rId17" Type="http://schemas.openxmlformats.org/officeDocument/2006/relationships/slideLayout" Target="../slideLayouts/slideLayout134.xml"/><Relationship Id="rId25" Type="http://schemas.openxmlformats.org/officeDocument/2006/relationships/slideLayout" Target="../slideLayouts/slideLayout142.xml"/><Relationship Id="rId33" Type="http://schemas.openxmlformats.org/officeDocument/2006/relationships/theme" Target="../theme/theme4.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20" Type="http://schemas.openxmlformats.org/officeDocument/2006/relationships/slideLayout" Target="../slideLayouts/slideLayout137.xml"/><Relationship Id="rId29" Type="http://schemas.openxmlformats.org/officeDocument/2006/relationships/slideLayout" Target="../slideLayouts/slideLayout146.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24" Type="http://schemas.openxmlformats.org/officeDocument/2006/relationships/slideLayout" Target="../slideLayouts/slideLayout141.xml"/><Relationship Id="rId32" Type="http://schemas.openxmlformats.org/officeDocument/2006/relationships/slideLayout" Target="../slideLayouts/slideLayout149.xml"/><Relationship Id="rId5" Type="http://schemas.openxmlformats.org/officeDocument/2006/relationships/slideLayout" Target="../slideLayouts/slideLayout122.xml"/><Relationship Id="rId15" Type="http://schemas.openxmlformats.org/officeDocument/2006/relationships/slideLayout" Target="../slideLayouts/slideLayout132.xml"/><Relationship Id="rId23" Type="http://schemas.openxmlformats.org/officeDocument/2006/relationships/slideLayout" Target="../slideLayouts/slideLayout140.xml"/><Relationship Id="rId28" Type="http://schemas.openxmlformats.org/officeDocument/2006/relationships/slideLayout" Target="../slideLayouts/slideLayout145.xml"/><Relationship Id="rId10" Type="http://schemas.openxmlformats.org/officeDocument/2006/relationships/slideLayout" Target="../slideLayouts/slideLayout127.xml"/><Relationship Id="rId19" Type="http://schemas.openxmlformats.org/officeDocument/2006/relationships/slideLayout" Target="../slideLayouts/slideLayout136.xml"/><Relationship Id="rId31" Type="http://schemas.openxmlformats.org/officeDocument/2006/relationships/slideLayout" Target="../slideLayouts/slideLayout148.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slideLayout" Target="../slideLayouts/slideLayout131.xml"/><Relationship Id="rId22" Type="http://schemas.openxmlformats.org/officeDocument/2006/relationships/slideLayout" Target="../slideLayouts/slideLayout139.xml"/><Relationship Id="rId27" Type="http://schemas.openxmlformats.org/officeDocument/2006/relationships/slideLayout" Target="../slideLayouts/slideLayout144.xml"/><Relationship Id="rId30" Type="http://schemas.openxmlformats.org/officeDocument/2006/relationships/slideLayout" Target="../slideLayouts/slideLayout1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7.xml"/><Relationship Id="rId13" Type="http://schemas.openxmlformats.org/officeDocument/2006/relationships/image" Target="../media/image1.png"/><Relationship Id="rId3" Type="http://schemas.openxmlformats.org/officeDocument/2006/relationships/slideLayout" Target="../slideLayouts/slideLayout152.xml"/><Relationship Id="rId7" Type="http://schemas.openxmlformats.org/officeDocument/2006/relationships/slideLayout" Target="../slideLayouts/slideLayout156.xml"/><Relationship Id="rId12" Type="http://schemas.openxmlformats.org/officeDocument/2006/relationships/image" Target="../media/image10.svg"/><Relationship Id="rId2" Type="http://schemas.openxmlformats.org/officeDocument/2006/relationships/slideLayout" Target="../slideLayouts/slideLayout151.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1" Type="http://schemas.openxmlformats.org/officeDocument/2006/relationships/image" Target="../media/image9.png"/><Relationship Id="rId5" Type="http://schemas.openxmlformats.org/officeDocument/2006/relationships/slideLayout" Target="../slideLayouts/slideLayout154.xml"/><Relationship Id="rId10" Type="http://schemas.openxmlformats.org/officeDocument/2006/relationships/theme" Target="../theme/theme5.xml"/><Relationship Id="rId4" Type="http://schemas.openxmlformats.org/officeDocument/2006/relationships/slideLayout" Target="../slideLayouts/slideLayout153.xml"/><Relationship Id="rId9" Type="http://schemas.openxmlformats.org/officeDocument/2006/relationships/slideLayout" Target="../slideLayouts/slideLayout1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
        <p:nvSpPr>
          <p:cNvPr id="6" name="Title Placeholder 1">
            <a:extLst>
              <a:ext uri="{FF2B5EF4-FFF2-40B4-BE49-F238E27FC236}">
                <a16:creationId xmlns:a16="http://schemas.microsoft.com/office/drawing/2014/main" id="{8B35C36F-C581-4B00-BD2F-FB99795C2519}"/>
              </a:ext>
            </a:extLst>
          </p:cNvPr>
          <p:cNvSpPr>
            <a:spLocks noGrp="1"/>
          </p:cNvSpPr>
          <p:nvPr>
            <p:ph type="title"/>
          </p:nvPr>
        </p:nvSpPr>
        <p:spPr>
          <a:xfrm>
            <a:off x="1349374" y="450398"/>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7" name="Text Placeholder 2">
            <a:extLst>
              <a:ext uri="{FF2B5EF4-FFF2-40B4-BE49-F238E27FC236}">
                <a16:creationId xmlns:a16="http://schemas.microsoft.com/office/drawing/2014/main" id="{4E2FE0A1-5EB6-413E-8B65-7AA83692803B}"/>
              </a:ext>
            </a:extLst>
          </p:cNvPr>
          <p:cNvSpPr>
            <a:spLocks noGrp="1"/>
          </p:cNvSpPr>
          <p:nvPr>
            <p:ph type="body" idx="1"/>
          </p:nvPr>
        </p:nvSpPr>
        <p:spPr>
          <a:xfrm>
            <a:off x="1350676" y="1596719"/>
            <a:ext cx="9490362" cy="458024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390352345"/>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650" r:id="rId37"/>
    <p:sldLayoutId id="2147483748" r:id="rId38"/>
    <p:sldLayoutId id="2147483749" r:id="rId39"/>
    <p:sldLayoutId id="2147483744" r:id="rId40"/>
    <p:sldLayoutId id="2147483747" r:id="rId41"/>
    <p:sldLayoutId id="2147483750" r:id="rId42"/>
    <p:sldLayoutId id="2147483660" r:id="rId43"/>
    <p:sldLayoutId id="2147483751" r:id="rId44"/>
  </p:sldLayoutIdLst>
  <p:hf hdr="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784844199"/>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 id="2147483819" r:id="rId30"/>
    <p:sldLayoutId id="2147483820" r:id="rId31"/>
    <p:sldLayoutId id="2147483821" r:id="rId32"/>
    <p:sldLayoutId id="2147483822" r:id="rId33"/>
    <p:sldLayoutId id="2147483823" r:id="rId34"/>
    <p:sldLayoutId id="2147483905" r:id="rId35"/>
    <p:sldLayoutId id="2147483907" r:id="rId36"/>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8"/>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8"/>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8"/>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8"/>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197830208"/>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8" r:id="rId34"/>
    <p:sldLayoutId id="2147483859" r:id="rId35"/>
    <p:sldLayoutId id="2147483860" r:id="rId36"/>
    <p:sldLayoutId id="2147483861"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55168035"/>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 id="2147483888" r:id="rId26"/>
    <p:sldLayoutId id="2147483889" r:id="rId27"/>
    <p:sldLayoutId id="2147483890" r:id="rId28"/>
    <p:sldLayoutId id="2147483891" r:id="rId29"/>
    <p:sldLayoutId id="2147483892" r:id="rId30"/>
    <p:sldLayoutId id="2147483893" r:id="rId31"/>
    <p:sldLayoutId id="2147483894"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46819615"/>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5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9645-10D3-4636-8E7B-FE1FF2991808}"/>
              </a:ext>
            </a:extLst>
          </p:cNvPr>
          <p:cNvSpPr>
            <a:spLocks noGrp="1"/>
          </p:cNvSpPr>
          <p:nvPr>
            <p:ph type="ctrTitle"/>
          </p:nvPr>
        </p:nvSpPr>
        <p:spPr>
          <a:xfrm>
            <a:off x="384785" y="3011843"/>
            <a:ext cx="6596062" cy="2431485"/>
          </a:xfrm>
        </p:spPr>
        <p:txBody>
          <a:bodyPr>
            <a:noAutofit/>
          </a:bodyPr>
          <a:lstStyle/>
          <a:p>
            <a:r>
              <a:rPr lang="en-GB" sz="3200" dirty="0"/>
              <a:t>Software Developer Level 3</a:t>
            </a:r>
            <a:br>
              <a:rPr lang="en-GB" sz="3200" dirty="0"/>
            </a:br>
            <a:br>
              <a:rPr lang="en-GB" sz="3200" dirty="0"/>
            </a:br>
            <a:r>
              <a:rPr lang="en-GB" sz="3200" dirty="0"/>
              <a:t>Agile Software Development</a:t>
            </a:r>
            <a:br>
              <a:rPr lang="en-GB" sz="3200" dirty="0"/>
            </a:br>
            <a:br>
              <a:rPr lang="en-GB" sz="3200" dirty="0"/>
            </a:br>
            <a:r>
              <a:rPr lang="en-GB" sz="3200" dirty="0"/>
              <a:t>Business Context and Market Environment</a:t>
            </a:r>
            <a:br>
              <a:rPr lang="en-GB" sz="3200" dirty="0"/>
            </a:br>
            <a:endParaRPr lang="en-GB" sz="3200" dirty="0"/>
          </a:p>
        </p:txBody>
      </p:sp>
    </p:spTree>
    <p:extLst>
      <p:ext uri="{BB962C8B-B14F-4D97-AF65-F5344CB8AC3E}">
        <p14:creationId xmlns:p14="http://schemas.microsoft.com/office/powerpoint/2010/main" val="117794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GB" dirty="0"/>
              <a:t>Course Plan</a:t>
            </a:r>
          </a:p>
        </p:txBody>
      </p:sp>
      <p:sp>
        <p:nvSpPr>
          <p:cNvPr id="16" name="Text Placeholder 15">
            <a:extLst>
              <a:ext uri="{FF2B5EF4-FFF2-40B4-BE49-F238E27FC236}">
                <a16:creationId xmlns:a16="http://schemas.microsoft.com/office/drawing/2014/main" id="{A4809ADB-2F8E-4284-8CC1-E1817040D39C}"/>
              </a:ext>
            </a:extLst>
          </p:cNvPr>
          <p:cNvSpPr>
            <a:spLocks noGrp="1"/>
          </p:cNvSpPr>
          <p:nvPr>
            <p:ph type="body" sz="quarter" idx="15"/>
          </p:nvPr>
        </p:nvSpPr>
        <p:spPr>
          <a:xfrm>
            <a:off x="5037138" y="329570"/>
            <a:ext cx="6770687" cy="5112343"/>
          </a:xfrm>
        </p:spPr>
        <p:txBody>
          <a:bodyPr/>
          <a:lstStyle/>
          <a:p>
            <a:r>
              <a:rPr lang="en-GB" sz="2400" b="1" dirty="0"/>
              <a:t>Day 1</a:t>
            </a:r>
            <a:r>
              <a:rPr lang="en-GB" sz="2400" dirty="0"/>
              <a:t>:</a:t>
            </a:r>
          </a:p>
          <a:p>
            <a:pPr marL="342900" indent="-342900">
              <a:buFont typeface="Arial" panose="020B0604020202020204" pitchFamily="34" charset="0"/>
              <a:buChar char="•"/>
            </a:pPr>
            <a:r>
              <a:rPr lang="en-GB" sz="2400" dirty="0"/>
              <a:t>Introduction</a:t>
            </a:r>
          </a:p>
          <a:p>
            <a:pPr marL="342900" indent="-342900">
              <a:buFont typeface="Arial" panose="020B0604020202020204" pitchFamily="34" charset="0"/>
              <a:buChar char="•"/>
            </a:pPr>
            <a:r>
              <a:rPr lang="en-GB" sz="2400" dirty="0"/>
              <a:t>SDLC</a:t>
            </a:r>
          </a:p>
          <a:p>
            <a:pPr marL="342900" indent="-342900">
              <a:buFont typeface="Arial" panose="020B0604020202020204" pitchFamily="34" charset="0"/>
              <a:buChar char="•"/>
            </a:pPr>
            <a:r>
              <a:rPr lang="en-GB" sz="2400" dirty="0"/>
              <a:t>Software dev methods</a:t>
            </a:r>
          </a:p>
          <a:p>
            <a:endParaRPr lang="en-GB" sz="2400" dirty="0"/>
          </a:p>
          <a:p>
            <a:r>
              <a:rPr lang="en-GB" sz="2400" b="1" dirty="0"/>
              <a:t>Day 2</a:t>
            </a:r>
            <a:r>
              <a:rPr lang="en-GB" sz="2400" dirty="0"/>
              <a:t>:</a:t>
            </a:r>
          </a:p>
          <a:p>
            <a:pPr marL="342900" indent="-342900">
              <a:buFont typeface="Arial" panose="020B0604020202020204" pitchFamily="34" charset="0"/>
              <a:buChar char="•"/>
            </a:pPr>
            <a:r>
              <a:rPr lang="en-GB" sz="2400" dirty="0"/>
              <a:t>Team roles and relationships</a:t>
            </a:r>
          </a:p>
          <a:p>
            <a:pPr marL="342900" indent="-342900">
              <a:buFont typeface="Arial" panose="020B0604020202020204" pitchFamily="34" charset="0"/>
              <a:buChar char="•"/>
            </a:pPr>
            <a:r>
              <a:rPr lang="en-GB" sz="2400" b="1" dirty="0"/>
              <a:t>Business context and marketing environments </a:t>
            </a:r>
          </a:p>
          <a:p>
            <a:pPr marL="342900" indent="-342900">
              <a:buFont typeface="Arial" panose="020B0604020202020204" pitchFamily="34" charset="0"/>
              <a:buChar char="•"/>
            </a:pPr>
            <a:r>
              <a:rPr lang="en-GB" sz="2400" dirty="0"/>
              <a:t>Application structure and dev platforms</a:t>
            </a:r>
          </a:p>
          <a:p>
            <a:endParaRPr lang="en-GB" sz="2400" dirty="0"/>
          </a:p>
          <a:p>
            <a:r>
              <a:rPr lang="en-GB" sz="2400" b="1" dirty="0"/>
              <a:t>Day 3</a:t>
            </a:r>
            <a:r>
              <a:rPr lang="en-GB" sz="2400" dirty="0"/>
              <a:t>:</a:t>
            </a:r>
          </a:p>
          <a:p>
            <a:pPr marL="342900" indent="-342900">
              <a:buFont typeface="Arial" panose="020B0604020202020204" pitchFamily="34" charset="0"/>
              <a:buChar char="•"/>
            </a:pPr>
            <a:r>
              <a:rPr lang="en-GB" sz="2400" dirty="0"/>
              <a:t>Software testing </a:t>
            </a:r>
          </a:p>
          <a:p>
            <a:pPr marL="342900" indent="-342900">
              <a:buFont typeface="Arial" panose="020B0604020202020204" pitchFamily="34" charset="0"/>
              <a:buChar char="•"/>
            </a:pPr>
            <a:r>
              <a:rPr lang="en-GB" sz="2400" dirty="0"/>
              <a:t>Config management and version control</a:t>
            </a:r>
          </a:p>
          <a:p>
            <a:pPr marL="342900" indent="-342900">
              <a:buFont typeface="Arial" panose="020B0604020202020204" pitchFamily="34" charset="0"/>
              <a:buChar char="•"/>
            </a:pPr>
            <a:endParaRPr lang="en-GB" sz="2400" dirty="0"/>
          </a:p>
        </p:txBody>
      </p:sp>
    </p:spTree>
    <p:extLst>
      <p:ext uri="{BB962C8B-B14F-4D97-AF65-F5344CB8AC3E}">
        <p14:creationId xmlns:p14="http://schemas.microsoft.com/office/powerpoint/2010/main" val="130631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a:xfrm>
            <a:off x="384785" y="1142265"/>
            <a:ext cx="3895116" cy="2626384"/>
          </a:xfrm>
        </p:spPr>
        <p:txBody>
          <a:bodyPr/>
          <a:lstStyle/>
          <a:p>
            <a:pPr>
              <a:spcBef>
                <a:spcPts val="0"/>
              </a:spcBef>
            </a:pPr>
            <a:r>
              <a:rPr lang="en-GB" sz="1600" dirty="0">
                <a:latin typeface="+mn-lt"/>
              </a:rPr>
              <a:t>A system development lifecycle (SDLC) is a framework describing a process to:</a:t>
            </a:r>
          </a:p>
          <a:p>
            <a:pPr>
              <a:spcBef>
                <a:spcPts val="0"/>
              </a:spcBef>
            </a:pPr>
            <a:endParaRPr lang="en-GB" sz="1600" dirty="0">
              <a:latin typeface="+mn-lt"/>
            </a:endParaRPr>
          </a:p>
          <a:p>
            <a:pPr marL="720000" lvl="1" indent="-360000">
              <a:spcBef>
                <a:spcPts val="0"/>
              </a:spcBef>
              <a:buFont typeface="Arial" panose="020B0604020202020204" pitchFamily="34" charset="0"/>
              <a:buChar char="•"/>
            </a:pPr>
            <a:r>
              <a:rPr lang="en-GB" sz="1600" dirty="0">
                <a:latin typeface="+mn-lt"/>
              </a:rPr>
              <a:t>understand</a:t>
            </a:r>
          </a:p>
          <a:p>
            <a:pPr marL="720000" lvl="1" indent="-360000">
              <a:spcBef>
                <a:spcPts val="0"/>
              </a:spcBef>
              <a:buFont typeface="Arial" panose="020B0604020202020204" pitchFamily="34" charset="0"/>
              <a:buChar char="•"/>
            </a:pPr>
            <a:r>
              <a:rPr lang="en-GB" sz="1600" dirty="0">
                <a:latin typeface="+mn-lt"/>
              </a:rPr>
              <a:t>plan</a:t>
            </a:r>
          </a:p>
          <a:p>
            <a:pPr marL="720000" lvl="1" indent="-360000">
              <a:spcBef>
                <a:spcPts val="0"/>
              </a:spcBef>
              <a:buFont typeface="Arial" panose="020B0604020202020204" pitchFamily="34" charset="0"/>
              <a:buChar char="•"/>
            </a:pPr>
            <a:r>
              <a:rPr lang="en-GB" sz="1600" dirty="0">
                <a:latin typeface="+mn-lt"/>
              </a:rPr>
              <a:t>build</a:t>
            </a:r>
          </a:p>
          <a:p>
            <a:pPr marL="720000" lvl="1" indent="-360000">
              <a:spcBef>
                <a:spcPts val="0"/>
              </a:spcBef>
              <a:buFont typeface="Arial" panose="020B0604020202020204" pitchFamily="34" charset="0"/>
              <a:buChar char="•"/>
            </a:pPr>
            <a:r>
              <a:rPr lang="en-GB" sz="1600" dirty="0">
                <a:latin typeface="+mn-lt"/>
              </a:rPr>
              <a:t>test</a:t>
            </a:r>
          </a:p>
          <a:p>
            <a:pPr marL="720000" lvl="1" indent="-360000">
              <a:spcBef>
                <a:spcPts val="0"/>
              </a:spcBef>
              <a:buFont typeface="Arial" panose="020B0604020202020204" pitchFamily="34" charset="0"/>
              <a:buChar char="•"/>
            </a:pPr>
            <a:r>
              <a:rPr lang="en-GB" sz="1600" dirty="0">
                <a:latin typeface="+mn-lt"/>
              </a:rPr>
              <a:t>deploy</a:t>
            </a:r>
          </a:p>
          <a:p>
            <a:pPr>
              <a:spcBef>
                <a:spcPts val="0"/>
              </a:spcBef>
            </a:pPr>
            <a:r>
              <a:rPr lang="en-GB" sz="1600" dirty="0">
                <a:latin typeface="+mn-lt"/>
              </a:rPr>
              <a:t>an information system.</a:t>
            </a:r>
          </a:p>
          <a:p>
            <a:pPr marL="360000" indent="-360000">
              <a:spcBef>
                <a:spcPts val="0"/>
              </a:spcBef>
              <a:buFont typeface="Arial" panose="020B0604020202020204" pitchFamily="34" charset="0"/>
              <a:buChar char="•"/>
            </a:pPr>
            <a:endParaRPr lang="en-GB" sz="1600" dirty="0">
              <a:latin typeface="+mn-lt"/>
            </a:endParaRPr>
          </a:p>
          <a:p>
            <a:pPr marL="285750" lvl="1" indent="-285750">
              <a:buClr>
                <a:srgbClr val="B8CCE4"/>
              </a:buClr>
              <a:buFont typeface="Arial" panose="020B0604020202020204" pitchFamily="34" charset="0"/>
              <a:buChar char="•"/>
            </a:pPr>
            <a:endParaRPr lang="en-GB" sz="1600" dirty="0">
              <a:latin typeface="+mn-lt"/>
            </a:endParaRPr>
          </a:p>
          <a:p>
            <a:pPr marL="285750" indent="-285750">
              <a:buFont typeface="Arial" panose="020B0604020202020204" pitchFamily="34" charset="0"/>
              <a:buChar char="•"/>
            </a:pPr>
            <a:endParaRPr lang="en-GB" sz="1600" b="0" dirty="0">
              <a:latin typeface="+mn-lt"/>
            </a:endParaRPr>
          </a:p>
        </p:txBody>
      </p:sp>
      <p:sp>
        <p:nvSpPr>
          <p:cNvPr id="8" name="Title 7">
            <a:extLst>
              <a:ext uri="{FF2B5EF4-FFF2-40B4-BE49-F238E27FC236}">
                <a16:creationId xmlns:a16="http://schemas.microsoft.com/office/drawing/2014/main" id="{DB5DF360-4026-4711-A361-4B2B609759C9}"/>
              </a:ext>
            </a:extLst>
          </p:cNvPr>
          <p:cNvSpPr>
            <a:spLocks noGrp="1"/>
          </p:cNvSpPr>
          <p:nvPr>
            <p:ph type="title" idx="4294967295"/>
          </p:nvPr>
        </p:nvSpPr>
        <p:spPr>
          <a:xfrm>
            <a:off x="1179721" y="360363"/>
            <a:ext cx="11436350" cy="687387"/>
          </a:xfrm>
        </p:spPr>
        <p:txBody>
          <a:bodyPr/>
          <a:lstStyle/>
          <a:p>
            <a:r>
              <a:rPr lang="en-GB" sz="3600" dirty="0"/>
              <a:t>Generic system development lifecycle</a:t>
            </a:r>
          </a:p>
        </p:txBody>
      </p:sp>
      <p:grpSp>
        <p:nvGrpSpPr>
          <p:cNvPr id="5" name="Group 4">
            <a:extLst>
              <a:ext uri="{FF2B5EF4-FFF2-40B4-BE49-F238E27FC236}">
                <a16:creationId xmlns:a16="http://schemas.microsoft.com/office/drawing/2014/main" id="{DB65E479-3DB2-4CDE-9108-D3EF0D7FC489}"/>
              </a:ext>
            </a:extLst>
          </p:cNvPr>
          <p:cNvGrpSpPr/>
          <p:nvPr/>
        </p:nvGrpSpPr>
        <p:grpSpPr>
          <a:xfrm>
            <a:off x="8378967" y="1271576"/>
            <a:ext cx="2160000" cy="4860001"/>
            <a:chOff x="5940000" y="900000"/>
            <a:chExt cx="2160000" cy="4860001"/>
          </a:xfrm>
          <a:solidFill>
            <a:schemeClr val="accent3"/>
          </a:solidFill>
        </p:grpSpPr>
        <p:sp>
          <p:nvSpPr>
            <p:cNvPr id="6" name="Rounded Rectangle 4">
              <a:extLst>
                <a:ext uri="{FF2B5EF4-FFF2-40B4-BE49-F238E27FC236}">
                  <a16:creationId xmlns:a16="http://schemas.microsoft.com/office/drawing/2014/main" id="{0FD502F5-2C70-40DD-91F7-80B81D97FA4C}"/>
                </a:ext>
              </a:extLst>
            </p:cNvPr>
            <p:cNvSpPr/>
            <p:nvPr/>
          </p:nvSpPr>
          <p:spPr>
            <a:xfrm>
              <a:off x="5940000" y="900000"/>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Feasibility study</a:t>
              </a:r>
            </a:p>
          </p:txBody>
        </p:sp>
        <p:sp>
          <p:nvSpPr>
            <p:cNvPr id="7" name="Rounded Rectangle 5">
              <a:extLst>
                <a:ext uri="{FF2B5EF4-FFF2-40B4-BE49-F238E27FC236}">
                  <a16:creationId xmlns:a16="http://schemas.microsoft.com/office/drawing/2014/main" id="{207B8EB1-DC62-4BEE-B1C5-E296B734EE5C}"/>
                </a:ext>
              </a:extLst>
            </p:cNvPr>
            <p:cNvSpPr/>
            <p:nvPr/>
          </p:nvSpPr>
          <p:spPr>
            <a:xfrm>
              <a:off x="5940000" y="1620000"/>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Requirements analysis</a:t>
              </a:r>
            </a:p>
          </p:txBody>
        </p:sp>
        <p:sp>
          <p:nvSpPr>
            <p:cNvPr id="9" name="Rounded Rectangle 6">
              <a:extLst>
                <a:ext uri="{FF2B5EF4-FFF2-40B4-BE49-F238E27FC236}">
                  <a16:creationId xmlns:a16="http://schemas.microsoft.com/office/drawing/2014/main" id="{7671AE00-76E8-4F2F-9AAB-9FB3876FD2ED}"/>
                </a:ext>
              </a:extLst>
            </p:cNvPr>
            <p:cNvSpPr/>
            <p:nvPr/>
          </p:nvSpPr>
          <p:spPr>
            <a:xfrm>
              <a:off x="5940000" y="233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Design</a:t>
              </a:r>
            </a:p>
          </p:txBody>
        </p:sp>
        <p:sp>
          <p:nvSpPr>
            <p:cNvPr id="10" name="Rounded Rectangle 7">
              <a:extLst>
                <a:ext uri="{FF2B5EF4-FFF2-40B4-BE49-F238E27FC236}">
                  <a16:creationId xmlns:a16="http://schemas.microsoft.com/office/drawing/2014/main" id="{F2D25127-C336-407C-8B91-4F6C4E2164FA}"/>
                </a:ext>
              </a:extLst>
            </p:cNvPr>
            <p:cNvSpPr/>
            <p:nvPr/>
          </p:nvSpPr>
          <p:spPr>
            <a:xfrm>
              <a:off x="5940000" y="3779997"/>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Testing</a:t>
              </a:r>
            </a:p>
          </p:txBody>
        </p:sp>
        <p:sp>
          <p:nvSpPr>
            <p:cNvPr id="12" name="Rounded Rectangle 8">
              <a:extLst>
                <a:ext uri="{FF2B5EF4-FFF2-40B4-BE49-F238E27FC236}">
                  <a16:creationId xmlns:a16="http://schemas.microsoft.com/office/drawing/2014/main" id="{77B8ACC4-B5FF-4738-8E99-FFAFE93B3B95}"/>
                </a:ext>
              </a:extLst>
            </p:cNvPr>
            <p:cNvSpPr/>
            <p:nvPr/>
          </p:nvSpPr>
          <p:spPr>
            <a:xfrm>
              <a:off x="5940000" y="305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Code development</a:t>
              </a:r>
            </a:p>
          </p:txBody>
        </p:sp>
        <p:sp>
          <p:nvSpPr>
            <p:cNvPr id="13" name="Rounded Rectangle 9">
              <a:extLst>
                <a:ext uri="{FF2B5EF4-FFF2-40B4-BE49-F238E27FC236}">
                  <a16:creationId xmlns:a16="http://schemas.microsoft.com/office/drawing/2014/main" id="{DE66AAF3-3E66-4990-9960-B547E4A5001B}"/>
                </a:ext>
              </a:extLst>
            </p:cNvPr>
            <p:cNvSpPr/>
            <p:nvPr/>
          </p:nvSpPr>
          <p:spPr>
            <a:xfrm>
              <a:off x="5940000" y="449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Deployment / implementation</a:t>
              </a:r>
            </a:p>
          </p:txBody>
        </p:sp>
        <p:cxnSp>
          <p:nvCxnSpPr>
            <p:cNvPr id="14" name="Straight Arrow Connector 13">
              <a:extLst>
                <a:ext uri="{FF2B5EF4-FFF2-40B4-BE49-F238E27FC236}">
                  <a16:creationId xmlns:a16="http://schemas.microsoft.com/office/drawing/2014/main" id="{C808E36E-62CB-49F1-922A-D6B750872B3A}"/>
                </a:ext>
              </a:extLst>
            </p:cNvPr>
            <p:cNvCxnSpPr>
              <a:stCxn id="6" idx="2"/>
              <a:endCxn id="7"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6D75F53-ADF0-49BB-94FA-5627B74DAEC1}"/>
                </a:ext>
              </a:extLst>
            </p:cNvPr>
            <p:cNvCxnSpPr>
              <a:stCxn id="7" idx="2"/>
              <a:endCxn id="9"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15F8534-593C-4B06-870C-328B0F9C14CD}"/>
                </a:ext>
              </a:extLst>
            </p:cNvPr>
            <p:cNvCxnSpPr>
              <a:stCxn id="12" idx="2"/>
              <a:endCxn id="10"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C6AE134-F2F9-40C0-A2C2-4A1543CDEE26}"/>
                </a:ext>
              </a:extLst>
            </p:cNvPr>
            <p:cNvCxnSpPr>
              <a:stCxn id="10" idx="2"/>
              <a:endCxn id="13"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8">
              <a:extLst>
                <a:ext uri="{FF2B5EF4-FFF2-40B4-BE49-F238E27FC236}">
                  <a16:creationId xmlns:a16="http://schemas.microsoft.com/office/drawing/2014/main" id="{AF96B49D-1609-4892-A5C3-930B6FB52066}"/>
                </a:ext>
              </a:extLst>
            </p:cNvPr>
            <p:cNvSpPr/>
            <p:nvPr/>
          </p:nvSpPr>
          <p:spPr>
            <a:xfrm>
              <a:off x="5940000" y="5220001"/>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Maintenance</a:t>
              </a:r>
            </a:p>
          </p:txBody>
        </p:sp>
        <p:cxnSp>
          <p:nvCxnSpPr>
            <p:cNvPr id="19" name="Straight Arrow Connector 18">
              <a:extLst>
                <a:ext uri="{FF2B5EF4-FFF2-40B4-BE49-F238E27FC236}">
                  <a16:creationId xmlns:a16="http://schemas.microsoft.com/office/drawing/2014/main" id="{3F868EE2-1AAC-4FD2-AA18-ED0A5275B396}"/>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2DD013CB-79EE-46DB-9171-DBE728DC62E5}"/>
              </a:ext>
            </a:extLst>
          </p:cNvPr>
          <p:cNvSpPr txBox="1"/>
          <p:nvPr/>
        </p:nvSpPr>
        <p:spPr>
          <a:xfrm>
            <a:off x="4744661" y="1149856"/>
            <a:ext cx="3295185" cy="1323439"/>
          </a:xfrm>
          <a:prstGeom prst="rect">
            <a:avLst/>
          </a:prstGeom>
          <a:noFill/>
        </p:spPr>
        <p:txBody>
          <a:bodyPr wrap="square">
            <a:spAutoFit/>
          </a:bodyPr>
          <a:lstStyle/>
          <a:p>
            <a:pPr>
              <a:spcBef>
                <a:spcPts val="0"/>
              </a:spcBef>
            </a:pPr>
            <a:r>
              <a:rPr lang="en-GB" sz="1600" dirty="0">
                <a:latin typeface="+mn-lt"/>
              </a:rPr>
              <a:t>Can apply to:</a:t>
            </a:r>
          </a:p>
          <a:p>
            <a:pPr>
              <a:spcBef>
                <a:spcPts val="0"/>
              </a:spcBef>
            </a:pPr>
            <a:endParaRPr lang="en-GB" sz="1600" dirty="0">
              <a:latin typeface="+mn-lt"/>
            </a:endParaRPr>
          </a:p>
          <a:p>
            <a:pPr marL="720000" lvl="1" indent="-360000">
              <a:spcBef>
                <a:spcPts val="0"/>
              </a:spcBef>
              <a:buFont typeface="Arial" panose="020B0604020202020204" pitchFamily="34" charset="0"/>
              <a:buChar char="•"/>
            </a:pPr>
            <a:r>
              <a:rPr lang="en-GB" sz="1600" dirty="0">
                <a:latin typeface="+mn-lt"/>
              </a:rPr>
              <a:t>Hardware</a:t>
            </a:r>
          </a:p>
          <a:p>
            <a:pPr marL="720000" lvl="1" indent="-360000">
              <a:spcBef>
                <a:spcPts val="0"/>
              </a:spcBef>
              <a:buFont typeface="Arial" panose="020B0604020202020204" pitchFamily="34" charset="0"/>
              <a:buChar char="•"/>
            </a:pPr>
            <a:r>
              <a:rPr lang="en-GB" sz="1600" dirty="0">
                <a:latin typeface="+mn-lt"/>
              </a:rPr>
              <a:t>Software</a:t>
            </a:r>
          </a:p>
          <a:p>
            <a:pPr marL="720000" lvl="1" indent="-360000">
              <a:spcBef>
                <a:spcPts val="0"/>
              </a:spcBef>
              <a:buFont typeface="Arial" panose="020B0604020202020204" pitchFamily="34" charset="0"/>
              <a:buChar char="•"/>
            </a:pPr>
            <a:r>
              <a:rPr lang="en-GB" sz="1600" dirty="0">
                <a:latin typeface="+mn-lt"/>
              </a:rPr>
              <a:t>Both</a:t>
            </a:r>
          </a:p>
        </p:txBody>
      </p:sp>
    </p:spTree>
    <p:extLst>
      <p:ext uri="{BB962C8B-B14F-4D97-AF65-F5344CB8AC3E}">
        <p14:creationId xmlns:p14="http://schemas.microsoft.com/office/powerpoint/2010/main" val="130905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p:txBody>
          <a:bodyPr/>
          <a:lstStyle/>
          <a:p>
            <a:r>
              <a:rPr lang="en-GB" sz="3200" dirty="0"/>
              <a:t>System development lifecycles</a:t>
            </a:r>
            <a:endParaRPr lang="en-GB" sz="3200" b="0" dirty="0">
              <a:latin typeface="+mn-lt"/>
            </a:endParaRPr>
          </a:p>
        </p:txBody>
      </p:sp>
      <p:sp>
        <p:nvSpPr>
          <p:cNvPr id="2" name="Text Placeholder 1">
            <a:extLst>
              <a:ext uri="{FF2B5EF4-FFF2-40B4-BE49-F238E27FC236}">
                <a16:creationId xmlns:a16="http://schemas.microsoft.com/office/drawing/2014/main" id="{86BEAB66-0229-4037-A45F-F96CE80B02D2}"/>
              </a:ext>
            </a:extLst>
          </p:cNvPr>
          <p:cNvSpPr>
            <a:spLocks noGrp="1"/>
          </p:cNvSpPr>
          <p:nvPr>
            <p:ph type="body" sz="quarter" idx="15"/>
          </p:nvPr>
        </p:nvSpPr>
        <p:spPr/>
        <p:txBody>
          <a:bodyPr/>
          <a:lstStyle/>
          <a:p>
            <a:r>
              <a:rPr lang="en-GB" dirty="0"/>
              <a:t>Many SDLCs in use today – understand to make appropriate choice.</a:t>
            </a:r>
          </a:p>
          <a:p>
            <a:r>
              <a:rPr lang="en-GB" dirty="0"/>
              <a:t>Exist on spectrum:</a:t>
            </a:r>
          </a:p>
          <a:p>
            <a:pPr lvl="1"/>
            <a:r>
              <a:rPr lang="en-GB" sz="1800" dirty="0"/>
              <a:t>Sequential – linear stages / tasks</a:t>
            </a:r>
          </a:p>
          <a:p>
            <a:pPr lvl="2"/>
            <a:r>
              <a:rPr lang="en-GB" sz="1800" dirty="0"/>
              <a:t>Waterfall</a:t>
            </a:r>
          </a:p>
          <a:p>
            <a:pPr lvl="2"/>
            <a:r>
              <a:rPr lang="en-GB" sz="1800" dirty="0"/>
              <a:t>V model</a:t>
            </a:r>
          </a:p>
          <a:p>
            <a:pPr lvl="1"/>
            <a:r>
              <a:rPr lang="en-GB" sz="1800" dirty="0"/>
              <a:t>Evolutionary – evolves through progressive versions</a:t>
            </a:r>
          </a:p>
          <a:p>
            <a:pPr lvl="2"/>
            <a:r>
              <a:rPr lang="en-GB" sz="1800" dirty="0"/>
              <a:t>Incremental – mini </a:t>
            </a:r>
            <a:r>
              <a:rPr lang="en-GB" dirty="0"/>
              <a:t>w</a:t>
            </a:r>
            <a:r>
              <a:rPr lang="en-GB" sz="1800" dirty="0"/>
              <a:t>aterfalls</a:t>
            </a:r>
          </a:p>
          <a:p>
            <a:pPr lvl="2"/>
            <a:r>
              <a:rPr lang="en-GB" sz="1800" dirty="0"/>
              <a:t>Iterative – DSDM, RAD, RUP, rapid </a:t>
            </a:r>
            <a:r>
              <a:rPr lang="en-GB" dirty="0"/>
              <a:t>p</a:t>
            </a:r>
            <a:r>
              <a:rPr lang="en-GB" sz="1800" dirty="0"/>
              <a:t>rototyping, Spiral</a:t>
            </a:r>
          </a:p>
          <a:p>
            <a:pPr lvl="2"/>
            <a:r>
              <a:rPr lang="en-GB" sz="1800" dirty="0"/>
              <a:t>Agile – XP, scrum</a:t>
            </a:r>
          </a:p>
          <a:p>
            <a:pPr marL="285750" indent="-285750">
              <a:buFont typeface="Arial" panose="020B0604020202020204" pitchFamily="34" charset="0"/>
              <a:buChar char="•"/>
            </a:pPr>
            <a:endParaRPr lang="en-GB" b="0" dirty="0">
              <a:latin typeface="+mn-lt"/>
            </a:endParaRPr>
          </a:p>
          <a:p>
            <a:endParaRPr lang="en-GB" dirty="0"/>
          </a:p>
        </p:txBody>
      </p:sp>
    </p:spTree>
    <p:extLst>
      <p:ext uri="{BB962C8B-B14F-4D97-AF65-F5344CB8AC3E}">
        <p14:creationId xmlns:p14="http://schemas.microsoft.com/office/powerpoint/2010/main" val="3760681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32C7-2A62-4EDC-9645-E575231D1642}"/>
              </a:ext>
            </a:extLst>
          </p:cNvPr>
          <p:cNvSpPr>
            <a:spLocks noGrp="1"/>
          </p:cNvSpPr>
          <p:nvPr>
            <p:ph type="title" idx="4294967295"/>
          </p:nvPr>
        </p:nvSpPr>
        <p:spPr>
          <a:xfrm>
            <a:off x="1104086" y="333822"/>
            <a:ext cx="10856360" cy="687388"/>
          </a:xfrm>
        </p:spPr>
        <p:txBody>
          <a:bodyPr/>
          <a:lstStyle/>
          <a:p>
            <a:r>
              <a:rPr lang="en-GB" dirty="0"/>
              <a:t>Rationale behind choice of methodology </a:t>
            </a:r>
          </a:p>
        </p:txBody>
      </p:sp>
      <p:grpSp>
        <p:nvGrpSpPr>
          <p:cNvPr id="4" name="Group 3">
            <a:extLst>
              <a:ext uri="{FF2B5EF4-FFF2-40B4-BE49-F238E27FC236}">
                <a16:creationId xmlns:a16="http://schemas.microsoft.com/office/drawing/2014/main" id="{1A84B349-FE78-449D-AFAC-92FCACC8333F}"/>
              </a:ext>
            </a:extLst>
          </p:cNvPr>
          <p:cNvGrpSpPr/>
          <p:nvPr/>
        </p:nvGrpSpPr>
        <p:grpSpPr>
          <a:xfrm>
            <a:off x="5188785" y="2560255"/>
            <a:ext cx="6423029" cy="2557783"/>
            <a:chOff x="2546504" y="2778532"/>
            <a:chExt cx="6840000" cy="2700000"/>
          </a:xfrm>
          <a:solidFill>
            <a:schemeClr val="accent3"/>
          </a:solidFill>
        </p:grpSpPr>
        <p:sp>
          <p:nvSpPr>
            <p:cNvPr id="5" name="Text Placeholder 4">
              <a:extLst>
                <a:ext uri="{FF2B5EF4-FFF2-40B4-BE49-F238E27FC236}">
                  <a16:creationId xmlns:a16="http://schemas.microsoft.com/office/drawing/2014/main" id="{2D9D49E4-A284-493A-89BF-69AB47C1B782}"/>
                </a:ext>
              </a:extLst>
            </p:cNvPr>
            <p:cNvSpPr txBox="1">
              <a:spLocks/>
            </p:cNvSpPr>
            <p:nvPr/>
          </p:nvSpPr>
          <p:spPr>
            <a:xfrm>
              <a:off x="2546504" y="2778532"/>
              <a:ext cx="6840000" cy="540000"/>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lt1"/>
                  </a:solidFill>
                  <a:latin typeface="+mn-lt"/>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lt1"/>
                  </a:solidFill>
                  <a:latin typeface="+mn-lt"/>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lt1"/>
                  </a:solidFill>
                  <a:latin typeface="+mn-lt"/>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lt1"/>
                  </a:solidFill>
                  <a:latin typeface="+mn-lt"/>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GB" sz="1600">
                  <a:solidFill>
                    <a:schemeClr val="bg1"/>
                  </a:solidFill>
                  <a:cs typeface="Arial" pitchFamily="34" charset="0"/>
                </a:rPr>
                <a:t>Context</a:t>
              </a:r>
              <a:endParaRPr lang="en-GB" sz="1600" dirty="0">
                <a:solidFill>
                  <a:schemeClr val="bg1"/>
                </a:solidFill>
                <a:cs typeface="Arial" pitchFamily="34" charset="0"/>
              </a:endParaRPr>
            </a:p>
          </p:txBody>
        </p:sp>
        <p:sp>
          <p:nvSpPr>
            <p:cNvPr id="6" name="Rounded Rectangle 5">
              <a:extLst>
                <a:ext uri="{FF2B5EF4-FFF2-40B4-BE49-F238E27FC236}">
                  <a16:creationId xmlns:a16="http://schemas.microsoft.com/office/drawing/2014/main" id="{3631FC1E-BBAA-4CEA-ADCD-CCEE60E95873}"/>
                </a:ext>
              </a:extLst>
            </p:cNvPr>
            <p:cNvSpPr/>
            <p:nvPr/>
          </p:nvSpPr>
          <p:spPr>
            <a:xfrm>
              <a:off x="2546504" y="3858532"/>
              <a:ext cx="144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Lifecycle</a:t>
              </a:r>
            </a:p>
          </p:txBody>
        </p:sp>
        <p:sp>
          <p:nvSpPr>
            <p:cNvPr id="7" name="Text Placeholder 4">
              <a:extLst>
                <a:ext uri="{FF2B5EF4-FFF2-40B4-BE49-F238E27FC236}">
                  <a16:creationId xmlns:a16="http://schemas.microsoft.com/office/drawing/2014/main" id="{2437B2C8-0858-4764-B24B-737CCA4CD6F5}"/>
                </a:ext>
              </a:extLst>
            </p:cNvPr>
            <p:cNvSpPr txBox="1">
              <a:spLocks/>
            </p:cNvSpPr>
            <p:nvPr/>
          </p:nvSpPr>
          <p:spPr>
            <a:xfrm>
              <a:off x="2546504" y="4938532"/>
              <a:ext cx="684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600" dirty="0">
                  <a:solidFill>
                    <a:schemeClr val="bg1"/>
                  </a:solidFill>
                  <a:cs typeface="Arial" pitchFamily="34" charset="0"/>
                </a:rPr>
                <a:t>Techniques</a:t>
              </a:r>
            </a:p>
          </p:txBody>
        </p:sp>
        <p:sp>
          <p:nvSpPr>
            <p:cNvPr id="8" name="Rounded Rectangle 7">
              <a:extLst>
                <a:ext uri="{FF2B5EF4-FFF2-40B4-BE49-F238E27FC236}">
                  <a16:creationId xmlns:a16="http://schemas.microsoft.com/office/drawing/2014/main" id="{4B2FBE70-3149-46A5-AB64-FE01042C3DDB}"/>
                </a:ext>
              </a:extLst>
            </p:cNvPr>
            <p:cNvSpPr/>
            <p:nvPr/>
          </p:nvSpPr>
          <p:spPr>
            <a:xfrm>
              <a:off x="4346504" y="3858532"/>
              <a:ext cx="144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Process</a:t>
              </a:r>
            </a:p>
          </p:txBody>
        </p:sp>
        <p:sp>
          <p:nvSpPr>
            <p:cNvPr id="9" name="Rounded Rectangle 8">
              <a:extLst>
                <a:ext uri="{FF2B5EF4-FFF2-40B4-BE49-F238E27FC236}">
                  <a16:creationId xmlns:a16="http://schemas.microsoft.com/office/drawing/2014/main" id="{F241087B-30E1-4059-A992-C30ED539E362}"/>
                </a:ext>
              </a:extLst>
            </p:cNvPr>
            <p:cNvSpPr/>
            <p:nvPr/>
          </p:nvSpPr>
          <p:spPr>
            <a:xfrm>
              <a:off x="6146504" y="3858532"/>
              <a:ext cx="144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Roles</a:t>
              </a:r>
            </a:p>
          </p:txBody>
        </p:sp>
        <p:sp>
          <p:nvSpPr>
            <p:cNvPr id="10" name="Rounded Rectangle 9">
              <a:extLst>
                <a:ext uri="{FF2B5EF4-FFF2-40B4-BE49-F238E27FC236}">
                  <a16:creationId xmlns:a16="http://schemas.microsoft.com/office/drawing/2014/main" id="{3B35B1A6-D321-49D1-832A-A9C0A3E18D5C}"/>
                </a:ext>
              </a:extLst>
            </p:cNvPr>
            <p:cNvSpPr/>
            <p:nvPr/>
          </p:nvSpPr>
          <p:spPr>
            <a:xfrm>
              <a:off x="7946504" y="3858532"/>
              <a:ext cx="144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cs typeface="Arial" pitchFamily="34" charset="0"/>
                </a:rPr>
                <a:t>Deliverables</a:t>
              </a:r>
            </a:p>
          </p:txBody>
        </p:sp>
        <p:sp>
          <p:nvSpPr>
            <p:cNvPr id="11" name="Down Arrow 3">
              <a:extLst>
                <a:ext uri="{FF2B5EF4-FFF2-40B4-BE49-F238E27FC236}">
                  <a16:creationId xmlns:a16="http://schemas.microsoft.com/office/drawing/2014/main" id="{AAB0E62B-41E0-44A4-80A9-7DC8A7AF0203}"/>
                </a:ext>
              </a:extLst>
            </p:cNvPr>
            <p:cNvSpPr/>
            <p:nvPr/>
          </p:nvSpPr>
          <p:spPr>
            <a:xfrm>
              <a:off x="3086504" y="3318532"/>
              <a:ext cx="360000" cy="540000"/>
            </a:xfrm>
            <a:prstGeom prst="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2" name="Down Arrow 11">
              <a:extLst>
                <a:ext uri="{FF2B5EF4-FFF2-40B4-BE49-F238E27FC236}">
                  <a16:creationId xmlns:a16="http://schemas.microsoft.com/office/drawing/2014/main" id="{A22CBD1D-2526-4E57-BBB9-4FBC90EDD65B}"/>
                </a:ext>
              </a:extLst>
            </p:cNvPr>
            <p:cNvSpPr/>
            <p:nvPr/>
          </p:nvSpPr>
          <p:spPr>
            <a:xfrm>
              <a:off x="4886504" y="3318532"/>
              <a:ext cx="360000" cy="540000"/>
            </a:xfrm>
            <a:prstGeom prst="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3" name="Down Arrow 12">
              <a:extLst>
                <a:ext uri="{FF2B5EF4-FFF2-40B4-BE49-F238E27FC236}">
                  <a16:creationId xmlns:a16="http://schemas.microsoft.com/office/drawing/2014/main" id="{CF28DBB8-CC9A-44A5-B0B7-B52B5BF564EC}"/>
                </a:ext>
              </a:extLst>
            </p:cNvPr>
            <p:cNvSpPr/>
            <p:nvPr/>
          </p:nvSpPr>
          <p:spPr>
            <a:xfrm>
              <a:off x="6686504" y="3318532"/>
              <a:ext cx="360000" cy="540000"/>
            </a:xfrm>
            <a:prstGeom prst="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4" name="Down Arrow 13">
              <a:extLst>
                <a:ext uri="{FF2B5EF4-FFF2-40B4-BE49-F238E27FC236}">
                  <a16:creationId xmlns:a16="http://schemas.microsoft.com/office/drawing/2014/main" id="{9D2DD243-C544-494E-859C-EAD9678BCF80}"/>
                </a:ext>
              </a:extLst>
            </p:cNvPr>
            <p:cNvSpPr/>
            <p:nvPr/>
          </p:nvSpPr>
          <p:spPr>
            <a:xfrm>
              <a:off x="8486504" y="3318532"/>
              <a:ext cx="360000" cy="540000"/>
            </a:xfrm>
            <a:prstGeom prst="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5" name="Up-Down Arrow 10">
              <a:extLst>
                <a:ext uri="{FF2B5EF4-FFF2-40B4-BE49-F238E27FC236}">
                  <a16:creationId xmlns:a16="http://schemas.microsoft.com/office/drawing/2014/main" id="{B8B47D75-F3F4-416A-9431-7C1E74465437}"/>
                </a:ext>
              </a:extLst>
            </p:cNvPr>
            <p:cNvSpPr/>
            <p:nvPr/>
          </p:nvSpPr>
          <p:spPr>
            <a:xfrm>
              <a:off x="3086504" y="4398532"/>
              <a:ext cx="360000" cy="540000"/>
            </a:xfrm>
            <a:prstGeom prst="up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6" name="Up-Down Arrow 15">
              <a:extLst>
                <a:ext uri="{FF2B5EF4-FFF2-40B4-BE49-F238E27FC236}">
                  <a16:creationId xmlns:a16="http://schemas.microsoft.com/office/drawing/2014/main" id="{61CFC9E1-E82F-4C95-9044-28A8B57075CF}"/>
                </a:ext>
              </a:extLst>
            </p:cNvPr>
            <p:cNvSpPr/>
            <p:nvPr/>
          </p:nvSpPr>
          <p:spPr>
            <a:xfrm>
              <a:off x="4886504" y="4398532"/>
              <a:ext cx="360000" cy="540000"/>
            </a:xfrm>
            <a:prstGeom prst="up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7" name="Up-Down Arrow 16">
              <a:extLst>
                <a:ext uri="{FF2B5EF4-FFF2-40B4-BE49-F238E27FC236}">
                  <a16:creationId xmlns:a16="http://schemas.microsoft.com/office/drawing/2014/main" id="{898390F1-3467-46EC-8BD1-23C31701BF13}"/>
                </a:ext>
              </a:extLst>
            </p:cNvPr>
            <p:cNvSpPr/>
            <p:nvPr/>
          </p:nvSpPr>
          <p:spPr>
            <a:xfrm>
              <a:off x="6677684" y="4398532"/>
              <a:ext cx="360000" cy="540000"/>
            </a:xfrm>
            <a:prstGeom prst="up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8" name="Up-Down Arrow 17">
              <a:extLst>
                <a:ext uri="{FF2B5EF4-FFF2-40B4-BE49-F238E27FC236}">
                  <a16:creationId xmlns:a16="http://schemas.microsoft.com/office/drawing/2014/main" id="{DD1B7651-E9F0-441E-8235-19FF11B6F669}"/>
                </a:ext>
              </a:extLst>
            </p:cNvPr>
            <p:cNvSpPr/>
            <p:nvPr/>
          </p:nvSpPr>
          <p:spPr>
            <a:xfrm>
              <a:off x="8486504" y="4398532"/>
              <a:ext cx="360000" cy="540000"/>
            </a:xfrm>
            <a:prstGeom prst="upDownArrow">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9" name="Plus 14">
              <a:extLst>
                <a:ext uri="{FF2B5EF4-FFF2-40B4-BE49-F238E27FC236}">
                  <a16:creationId xmlns:a16="http://schemas.microsoft.com/office/drawing/2014/main" id="{34C45B30-4EF6-4480-A736-0470D257FB72}"/>
                </a:ext>
              </a:extLst>
            </p:cNvPr>
            <p:cNvSpPr/>
            <p:nvPr/>
          </p:nvSpPr>
          <p:spPr>
            <a:xfrm>
              <a:off x="4058504" y="4038532"/>
              <a:ext cx="216000" cy="216000"/>
            </a:xfrm>
            <a:prstGeom prst="mathPlus">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20" name="Plus 19">
              <a:extLst>
                <a:ext uri="{FF2B5EF4-FFF2-40B4-BE49-F238E27FC236}">
                  <a16:creationId xmlns:a16="http://schemas.microsoft.com/office/drawing/2014/main" id="{3C183A82-9222-4387-A141-F7C3F81E0E6A}"/>
                </a:ext>
              </a:extLst>
            </p:cNvPr>
            <p:cNvSpPr/>
            <p:nvPr/>
          </p:nvSpPr>
          <p:spPr>
            <a:xfrm>
              <a:off x="5858504" y="4020532"/>
              <a:ext cx="216000" cy="216000"/>
            </a:xfrm>
            <a:prstGeom prst="mathPlus">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21" name="Plus 20">
              <a:extLst>
                <a:ext uri="{FF2B5EF4-FFF2-40B4-BE49-F238E27FC236}">
                  <a16:creationId xmlns:a16="http://schemas.microsoft.com/office/drawing/2014/main" id="{C7E693CD-A977-4377-918D-965B625A806C}"/>
                </a:ext>
              </a:extLst>
            </p:cNvPr>
            <p:cNvSpPr/>
            <p:nvPr/>
          </p:nvSpPr>
          <p:spPr>
            <a:xfrm>
              <a:off x="7658504" y="4038532"/>
              <a:ext cx="216000" cy="216000"/>
            </a:xfrm>
            <a:prstGeom prst="mathPlus">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grpSp>
      <p:sp>
        <p:nvSpPr>
          <p:cNvPr id="22" name="TextBox 21">
            <a:extLst>
              <a:ext uri="{FF2B5EF4-FFF2-40B4-BE49-F238E27FC236}">
                <a16:creationId xmlns:a16="http://schemas.microsoft.com/office/drawing/2014/main" id="{E6DBB95D-D69D-409A-B070-0DB3D6FC958B}"/>
              </a:ext>
            </a:extLst>
          </p:cNvPr>
          <p:cNvSpPr txBox="1"/>
          <p:nvPr/>
        </p:nvSpPr>
        <p:spPr>
          <a:xfrm>
            <a:off x="1024154" y="1769852"/>
            <a:ext cx="3821670" cy="4632037"/>
          </a:xfrm>
          <a:prstGeom prst="rect">
            <a:avLst/>
          </a:prstGeom>
          <a:noFill/>
        </p:spPr>
        <p:txBody>
          <a:bodyPr wrap="square">
            <a:spAutoFit/>
          </a:bodyPr>
          <a:lstStyle/>
          <a:p>
            <a:pPr fontAlgn="auto">
              <a:spcBef>
                <a:spcPts val="0"/>
              </a:spcBef>
              <a:spcAft>
                <a:spcPts val="600"/>
              </a:spcAft>
            </a:pPr>
            <a:r>
              <a:rPr lang="en-GB" b="1" dirty="0"/>
              <a:t>Needs to be considered before starting:</a:t>
            </a:r>
          </a:p>
          <a:p>
            <a:pPr marL="720000" lvl="1" indent="-360000" fontAlgn="auto">
              <a:spcBef>
                <a:spcPts val="0"/>
              </a:spcBef>
              <a:spcAft>
                <a:spcPts val="600"/>
              </a:spcAft>
              <a:buFont typeface="Arial" panose="020B0604020202020204" pitchFamily="34" charset="0"/>
              <a:buChar char="•"/>
            </a:pPr>
            <a:r>
              <a:rPr lang="en-GB" dirty="0"/>
              <a:t>Release plan – single or multiple</a:t>
            </a:r>
          </a:p>
          <a:p>
            <a:pPr marL="720000" lvl="1" indent="-360000" fontAlgn="auto">
              <a:spcBef>
                <a:spcPts val="0"/>
              </a:spcBef>
              <a:spcAft>
                <a:spcPts val="600"/>
              </a:spcAft>
              <a:buFont typeface="Arial" panose="020B0604020202020204" pitchFamily="34" charset="0"/>
              <a:buChar char="•"/>
            </a:pPr>
            <a:r>
              <a:rPr lang="en-GB" dirty="0"/>
              <a:t>Level of skills and expertise – preferred delivery style</a:t>
            </a:r>
          </a:p>
          <a:p>
            <a:pPr marL="720000" lvl="1" indent="-360000" fontAlgn="auto">
              <a:spcBef>
                <a:spcPts val="0"/>
              </a:spcBef>
              <a:spcAft>
                <a:spcPts val="600"/>
              </a:spcAft>
              <a:buFont typeface="Arial" panose="020B0604020202020204" pitchFamily="34" charset="0"/>
              <a:buChar char="•"/>
            </a:pPr>
            <a:r>
              <a:rPr lang="en-GB" dirty="0"/>
              <a:t>Location of teams and stakeholders – Single site or dispersed</a:t>
            </a:r>
          </a:p>
          <a:p>
            <a:pPr marL="720000" lvl="1" indent="-360000" fontAlgn="auto">
              <a:spcBef>
                <a:spcPts val="0"/>
              </a:spcBef>
              <a:spcAft>
                <a:spcPts val="600"/>
              </a:spcAft>
              <a:buFont typeface="Arial" panose="020B0604020202020204" pitchFamily="34" charset="0"/>
              <a:buChar char="•"/>
            </a:pPr>
            <a:r>
              <a:rPr lang="en-GB" dirty="0"/>
              <a:t>Requirements – audit, quality, regulatory, complexity, and stability</a:t>
            </a:r>
          </a:p>
          <a:p>
            <a:pPr marL="720000" lvl="1" indent="-360000" fontAlgn="auto">
              <a:spcBef>
                <a:spcPts val="0"/>
              </a:spcBef>
              <a:spcAft>
                <a:spcPts val="600"/>
              </a:spcAft>
              <a:buFont typeface="Arial" panose="020B0604020202020204" pitchFamily="34" charset="0"/>
              <a:buChar char="•"/>
            </a:pPr>
            <a:r>
              <a:rPr lang="en-GB" dirty="0"/>
              <a:t>Technology to be used – tried and tested or new? </a:t>
            </a:r>
          </a:p>
        </p:txBody>
      </p:sp>
    </p:spTree>
    <p:extLst>
      <p:ext uri="{BB962C8B-B14F-4D97-AF65-F5344CB8AC3E}">
        <p14:creationId xmlns:p14="http://schemas.microsoft.com/office/powerpoint/2010/main" val="823350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0"/>
          </p:nvPr>
        </p:nvSpPr>
        <p:spPr/>
        <p:txBody>
          <a:bodyPr/>
          <a:lstStyle/>
          <a:p>
            <a:pPr lvl="1">
              <a:spcAft>
                <a:spcPts val="600"/>
              </a:spcAft>
              <a:buClr>
                <a:schemeClr val="accent1"/>
              </a:buClr>
            </a:pPr>
            <a:r>
              <a:rPr lang="en-GB" sz="4800" b="1" dirty="0">
                <a:solidFill>
                  <a:schemeClr val="bg1"/>
                </a:solidFill>
                <a:latin typeface="Montserrat Black" panose="00000A00000000000000" pitchFamily="2" charset="0"/>
                <a:cs typeface="Arial" pitchFamily="34" charset="0"/>
              </a:rPr>
              <a:t>FACTORS</a:t>
            </a:r>
            <a:endParaRPr lang="en-GB" sz="4800" b="0" dirty="0">
              <a:solidFill>
                <a:schemeClr val="bg1"/>
              </a:solidFill>
              <a:latin typeface="Montserrat Black" panose="00000A00000000000000" pitchFamily="2" charset="0"/>
            </a:endParaRPr>
          </a:p>
        </p:txBody>
      </p:sp>
      <p:sp>
        <p:nvSpPr>
          <p:cNvPr id="3" name="Text Placeholder 2">
            <a:extLst>
              <a:ext uri="{FF2B5EF4-FFF2-40B4-BE49-F238E27FC236}">
                <a16:creationId xmlns:a16="http://schemas.microsoft.com/office/drawing/2014/main" id="{6D4329EC-57C5-4F99-B1FB-F7CFD3BC0EEA}"/>
              </a:ext>
            </a:extLst>
          </p:cNvPr>
          <p:cNvSpPr>
            <a:spLocks noGrp="1"/>
          </p:cNvSpPr>
          <p:nvPr>
            <p:ph type="body" sz="quarter" idx="15"/>
          </p:nvPr>
        </p:nvSpPr>
        <p:spPr>
          <a:xfrm>
            <a:off x="5037138" y="1521438"/>
            <a:ext cx="6770687" cy="5112343"/>
          </a:xfrm>
        </p:spPr>
        <p:txBody>
          <a:bodyPr/>
          <a:lstStyle/>
          <a:p>
            <a:pPr marL="0" lvl="1" indent="0">
              <a:spcAft>
                <a:spcPts val="600"/>
              </a:spcAft>
              <a:buClr>
                <a:schemeClr val="accent1"/>
              </a:buClr>
              <a:buNone/>
            </a:pPr>
            <a:r>
              <a:rPr lang="en-GB" sz="2400" b="1" dirty="0">
                <a:latin typeface="+mn-lt"/>
                <a:cs typeface="Arial" pitchFamily="34" charset="0"/>
              </a:rPr>
              <a:t>Discuss:</a:t>
            </a:r>
            <a:br>
              <a:rPr lang="en-GB" sz="2400" b="1" dirty="0">
                <a:latin typeface="+mn-lt"/>
                <a:cs typeface="Arial" pitchFamily="34" charset="0"/>
              </a:rPr>
            </a:br>
            <a:endParaRPr lang="en-GB" sz="2400" b="1" dirty="0">
              <a:latin typeface="+mn-lt"/>
              <a:cs typeface="Arial" pitchFamily="34" charset="0"/>
            </a:endParaRPr>
          </a:p>
          <a:p>
            <a:pPr marL="0" lvl="1" indent="0">
              <a:spcAft>
                <a:spcPts val="600"/>
              </a:spcAft>
              <a:buClr>
                <a:schemeClr val="accent1"/>
              </a:buClr>
              <a:buNone/>
            </a:pPr>
            <a:r>
              <a:rPr lang="en-GB" sz="2400" dirty="0">
                <a:latin typeface="+mn-lt"/>
                <a:cs typeface="Arial" pitchFamily="34" charset="0"/>
              </a:rPr>
              <a:t>What factors will influence the development of different information systems, within or across a range of industry sectors, and how?</a:t>
            </a:r>
          </a:p>
          <a:p>
            <a:pPr marL="285750" indent="-285750">
              <a:buFont typeface="Arial" panose="020B0604020202020204" pitchFamily="34" charset="0"/>
              <a:buChar char="•"/>
            </a:pPr>
            <a:endParaRPr lang="en-GB" sz="2400" b="0" dirty="0">
              <a:latin typeface="+mn-lt"/>
            </a:endParaRPr>
          </a:p>
          <a:p>
            <a:pPr marL="285750" indent="-285750">
              <a:buFont typeface="Arial" panose="020B0604020202020204" pitchFamily="34" charset="0"/>
              <a:buChar char="•"/>
            </a:pPr>
            <a:endParaRPr lang="en-GB" sz="2400" dirty="0"/>
          </a:p>
        </p:txBody>
      </p:sp>
    </p:spTree>
    <p:extLst>
      <p:ext uri="{BB962C8B-B14F-4D97-AF65-F5344CB8AC3E}">
        <p14:creationId xmlns:p14="http://schemas.microsoft.com/office/powerpoint/2010/main" val="1966319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43569C-EC6C-42CD-BD8F-5E289A630692}"/>
              </a:ext>
            </a:extLst>
          </p:cNvPr>
          <p:cNvSpPr>
            <a:spLocks noGrp="1"/>
          </p:cNvSpPr>
          <p:nvPr>
            <p:ph type="body" sz="quarter" idx="10"/>
          </p:nvPr>
        </p:nvSpPr>
        <p:spPr/>
        <p:txBody>
          <a:bodyPr/>
          <a:lstStyle/>
          <a:p>
            <a:r>
              <a:rPr lang="en-GB" sz="4800" dirty="0"/>
              <a:t>Factors</a:t>
            </a:r>
          </a:p>
        </p:txBody>
      </p:sp>
      <p:sp>
        <p:nvSpPr>
          <p:cNvPr id="6" name="TextBox 5">
            <a:extLst>
              <a:ext uri="{FF2B5EF4-FFF2-40B4-BE49-F238E27FC236}">
                <a16:creationId xmlns:a16="http://schemas.microsoft.com/office/drawing/2014/main" id="{E460C11D-2D8B-4F27-ACA8-39C088F4AA9D}"/>
              </a:ext>
            </a:extLst>
          </p:cNvPr>
          <p:cNvSpPr txBox="1"/>
          <p:nvPr/>
        </p:nvSpPr>
        <p:spPr>
          <a:xfrm>
            <a:off x="4939748" y="1349985"/>
            <a:ext cx="6761922" cy="5324535"/>
          </a:xfrm>
          <a:prstGeom prst="rect">
            <a:avLst/>
          </a:prstGeom>
          <a:noFill/>
        </p:spPr>
        <p:txBody>
          <a:bodyPr wrap="square">
            <a:spAutoFit/>
          </a:bodyPr>
          <a:lstStyle/>
          <a:p>
            <a:r>
              <a:rPr lang="en-GB" sz="2000" b="1" dirty="0">
                <a:latin typeface="+mn-lt"/>
              </a:rPr>
              <a:t>Business requirements</a:t>
            </a:r>
            <a:r>
              <a:rPr lang="en-GB" sz="2000" dirty="0">
                <a:latin typeface="+mn-lt"/>
              </a:rPr>
              <a:t>:</a:t>
            </a:r>
          </a:p>
          <a:p>
            <a:pPr marL="742939" lvl="1" indent="-285750">
              <a:buFont typeface="Arial" panose="020B0604020202020204" pitchFamily="34" charset="0"/>
              <a:buChar char="•"/>
            </a:pPr>
            <a:r>
              <a:rPr lang="en-GB" sz="2000" dirty="0">
                <a:latin typeface="+mn-lt"/>
              </a:rPr>
              <a:t>General, specific area, and organisation needs</a:t>
            </a:r>
            <a:br>
              <a:rPr lang="en-GB" sz="2000" dirty="0">
                <a:latin typeface="+mn-lt"/>
              </a:rPr>
            </a:br>
            <a:r>
              <a:rPr lang="en-GB" sz="2000" dirty="0">
                <a:latin typeface="+mn-lt"/>
              </a:rPr>
              <a:t> </a:t>
            </a:r>
          </a:p>
          <a:p>
            <a:r>
              <a:rPr lang="en-GB" sz="2000" b="1" dirty="0">
                <a:latin typeface="+mn-lt"/>
              </a:rPr>
              <a:t>Project timescales</a:t>
            </a:r>
            <a:r>
              <a:rPr lang="en-GB" sz="2000" dirty="0">
                <a:latin typeface="+mn-lt"/>
              </a:rPr>
              <a:t>:</a:t>
            </a:r>
          </a:p>
          <a:p>
            <a:pPr marL="742939" lvl="1" indent="-285750">
              <a:buFont typeface="Arial" panose="020B0604020202020204" pitchFamily="34" charset="0"/>
              <a:buChar char="•"/>
            </a:pPr>
            <a:r>
              <a:rPr lang="en-GB" sz="2000" dirty="0">
                <a:latin typeface="+mn-lt"/>
              </a:rPr>
              <a:t>Hard deadlines, ASAP, now!</a:t>
            </a:r>
            <a:br>
              <a:rPr lang="en-GB" sz="2000" dirty="0">
                <a:latin typeface="+mn-lt"/>
              </a:rPr>
            </a:br>
            <a:endParaRPr lang="en-GB" sz="2000" dirty="0">
              <a:latin typeface="+mn-lt"/>
            </a:endParaRPr>
          </a:p>
          <a:p>
            <a:r>
              <a:rPr lang="en-GB" sz="2000" b="1" dirty="0">
                <a:latin typeface="+mn-lt"/>
              </a:rPr>
              <a:t>Budgets</a:t>
            </a:r>
            <a:r>
              <a:rPr lang="en-GB" sz="2000" dirty="0">
                <a:latin typeface="+mn-lt"/>
              </a:rPr>
              <a:t>:</a:t>
            </a:r>
          </a:p>
          <a:p>
            <a:pPr marL="742939" lvl="1" indent="-285750">
              <a:buFont typeface="Arial" panose="020B0604020202020204" pitchFamily="34" charset="0"/>
              <a:buChar char="•"/>
            </a:pPr>
            <a:r>
              <a:rPr lang="en-GB" sz="2000" dirty="0">
                <a:latin typeface="+mn-lt"/>
              </a:rPr>
              <a:t>Up front investment, ROI, funded through benefits</a:t>
            </a:r>
            <a:br>
              <a:rPr lang="en-GB" sz="2000" dirty="0">
                <a:latin typeface="+mn-lt"/>
              </a:rPr>
            </a:br>
            <a:endParaRPr lang="en-GB" sz="2000" dirty="0">
              <a:latin typeface="+mn-lt"/>
            </a:endParaRPr>
          </a:p>
          <a:p>
            <a:r>
              <a:rPr lang="en-GB" sz="2000" b="1" dirty="0">
                <a:latin typeface="+mn-lt"/>
              </a:rPr>
              <a:t>Resources and skills availability</a:t>
            </a:r>
            <a:r>
              <a:rPr lang="en-GB" sz="2000" dirty="0">
                <a:latin typeface="+mn-lt"/>
              </a:rPr>
              <a:t>:</a:t>
            </a:r>
          </a:p>
          <a:p>
            <a:pPr marL="742939" lvl="1" indent="-285750">
              <a:buFont typeface="Arial" panose="020B0604020202020204" pitchFamily="34" charset="0"/>
              <a:buChar char="•"/>
            </a:pPr>
            <a:r>
              <a:rPr lang="en-GB" sz="2000" dirty="0">
                <a:latin typeface="+mn-lt"/>
              </a:rPr>
              <a:t>In-house, </a:t>
            </a:r>
            <a:r>
              <a:rPr lang="en-GB" sz="2000" dirty="0"/>
              <a:t>o</a:t>
            </a:r>
            <a:r>
              <a:rPr lang="en-GB" sz="2000" dirty="0">
                <a:latin typeface="+mn-lt"/>
              </a:rPr>
              <a:t>utsourced, </a:t>
            </a:r>
            <a:r>
              <a:rPr lang="en-GB" sz="2000" dirty="0"/>
              <a:t>o</a:t>
            </a:r>
            <a:r>
              <a:rPr lang="en-GB" sz="2000" dirty="0">
                <a:latin typeface="+mn-lt"/>
              </a:rPr>
              <a:t>ffshored</a:t>
            </a:r>
            <a:br>
              <a:rPr lang="en-GB" sz="2000" dirty="0">
                <a:latin typeface="+mn-lt"/>
              </a:rPr>
            </a:br>
            <a:endParaRPr lang="en-GB" sz="2000" dirty="0">
              <a:latin typeface="+mn-lt"/>
            </a:endParaRPr>
          </a:p>
          <a:p>
            <a:r>
              <a:rPr lang="en-GB" sz="2000" b="1" dirty="0">
                <a:latin typeface="+mn-lt"/>
              </a:rPr>
              <a:t>Product and project risks</a:t>
            </a:r>
            <a:r>
              <a:rPr lang="en-GB" sz="2000" dirty="0">
                <a:latin typeface="+mn-lt"/>
              </a:rPr>
              <a:t>:</a:t>
            </a:r>
          </a:p>
          <a:p>
            <a:pPr marL="742939" lvl="1" indent="-285750">
              <a:buFont typeface="Arial" panose="020B0604020202020204" pitchFamily="34" charset="0"/>
              <a:buChar char="•"/>
            </a:pPr>
            <a:r>
              <a:rPr lang="en-GB" sz="2000" dirty="0">
                <a:latin typeface="+mn-lt"/>
              </a:rPr>
              <a:t>Changing market, requirements, products / services, technology</a:t>
            </a:r>
          </a:p>
          <a:p>
            <a:endParaRPr lang="en-GB" sz="2000" dirty="0">
              <a:latin typeface="+mn-lt"/>
            </a:endParaRPr>
          </a:p>
        </p:txBody>
      </p:sp>
    </p:spTree>
    <p:extLst>
      <p:ext uri="{BB962C8B-B14F-4D97-AF65-F5344CB8AC3E}">
        <p14:creationId xmlns:p14="http://schemas.microsoft.com/office/powerpoint/2010/main" val="2191132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40E09C-6EF1-4CA0-B033-217C27765250}"/>
              </a:ext>
            </a:extLst>
          </p:cNvPr>
          <p:cNvSpPr>
            <a:spLocks noGrp="1"/>
          </p:cNvSpPr>
          <p:nvPr>
            <p:ph type="body" sz="quarter" idx="10"/>
          </p:nvPr>
        </p:nvSpPr>
        <p:spPr/>
        <p:txBody>
          <a:bodyPr/>
          <a:lstStyle/>
          <a:p>
            <a:r>
              <a:rPr lang="en-GB" dirty="0"/>
              <a:t>Types of Application</a:t>
            </a:r>
          </a:p>
        </p:txBody>
      </p:sp>
      <p:sp>
        <p:nvSpPr>
          <p:cNvPr id="4" name="Text Placeholder 3">
            <a:extLst>
              <a:ext uri="{FF2B5EF4-FFF2-40B4-BE49-F238E27FC236}">
                <a16:creationId xmlns:a16="http://schemas.microsoft.com/office/drawing/2014/main" id="{560BA1C2-48C0-443E-9BDA-6427A1477FBA}"/>
              </a:ext>
            </a:extLst>
          </p:cNvPr>
          <p:cNvSpPr>
            <a:spLocks noGrp="1"/>
          </p:cNvSpPr>
          <p:nvPr>
            <p:ph type="body" sz="quarter" idx="15"/>
          </p:nvPr>
        </p:nvSpPr>
        <p:spPr>
          <a:xfrm>
            <a:off x="4851607" y="276560"/>
            <a:ext cx="6770687" cy="5112343"/>
          </a:xfrm>
        </p:spPr>
        <p:txBody>
          <a:bodyPr/>
          <a:lstStyle/>
          <a:p>
            <a:r>
              <a:rPr lang="en-GB" sz="1850" dirty="0"/>
              <a:t>All organisations will use similar applications – Core functions:</a:t>
            </a:r>
          </a:p>
          <a:p>
            <a:pPr lvl="1"/>
            <a:r>
              <a:rPr lang="en-GB" sz="1850" dirty="0"/>
              <a:t>Accounts</a:t>
            </a:r>
          </a:p>
          <a:p>
            <a:pPr lvl="1"/>
            <a:r>
              <a:rPr lang="en-GB" sz="1850" dirty="0"/>
              <a:t>Email</a:t>
            </a:r>
          </a:p>
          <a:p>
            <a:pPr lvl="1"/>
            <a:r>
              <a:rPr lang="en-GB" sz="1850" dirty="0"/>
              <a:t>HR</a:t>
            </a:r>
          </a:p>
          <a:p>
            <a:pPr lvl="1"/>
            <a:r>
              <a:rPr lang="en-GB" sz="1850" dirty="0"/>
              <a:t>Purchasing / sales</a:t>
            </a:r>
          </a:p>
          <a:p>
            <a:pPr marL="0" lvl="1" indent="0">
              <a:buNone/>
            </a:pPr>
            <a:endParaRPr lang="en-GB" sz="1850" dirty="0"/>
          </a:p>
          <a:p>
            <a:r>
              <a:rPr lang="en-GB" sz="1850" dirty="0"/>
              <a:t>Industry specific:</a:t>
            </a:r>
          </a:p>
          <a:p>
            <a:pPr lvl="1"/>
            <a:r>
              <a:rPr lang="en-GB" sz="1850" dirty="0"/>
              <a:t>Banks – trading</a:t>
            </a:r>
          </a:p>
          <a:p>
            <a:pPr lvl="1"/>
            <a:r>
              <a:rPr lang="en-GB" sz="1850" dirty="0"/>
              <a:t>Manufacturing – material requirements planning (MRP)</a:t>
            </a:r>
          </a:p>
          <a:p>
            <a:pPr lvl="1"/>
            <a:r>
              <a:rPr lang="en-GB" sz="1850" dirty="0"/>
              <a:t>Training – Course booking</a:t>
            </a:r>
          </a:p>
          <a:p>
            <a:endParaRPr lang="en-GB" sz="1850" dirty="0"/>
          </a:p>
          <a:p>
            <a:r>
              <a:rPr lang="en-GB" sz="1850" dirty="0"/>
              <a:t>Organisation specific:</a:t>
            </a:r>
          </a:p>
          <a:p>
            <a:pPr lvl="1"/>
            <a:r>
              <a:rPr lang="en-GB" sz="1850" dirty="0"/>
              <a:t>Unique selling point (UP)</a:t>
            </a:r>
          </a:p>
          <a:p>
            <a:pPr lvl="1"/>
            <a:r>
              <a:rPr lang="en-GB" sz="1850" dirty="0"/>
              <a:t>History of business / mergers</a:t>
            </a:r>
          </a:p>
          <a:p>
            <a:pPr lvl="1"/>
            <a:r>
              <a:rPr lang="en-GB" sz="1850" dirty="0"/>
              <a:t>Competitive advantage</a:t>
            </a:r>
          </a:p>
          <a:p>
            <a:pPr lvl="1"/>
            <a:r>
              <a:rPr lang="en-GB" sz="1850" dirty="0"/>
              <a:t>Desire to do things own way</a:t>
            </a:r>
          </a:p>
          <a:p>
            <a:endParaRPr lang="en-GB" sz="1850" dirty="0"/>
          </a:p>
          <a:p>
            <a:endParaRPr lang="en-GB" sz="1850" dirty="0"/>
          </a:p>
        </p:txBody>
      </p:sp>
    </p:spTree>
    <p:extLst>
      <p:ext uri="{BB962C8B-B14F-4D97-AF65-F5344CB8AC3E}">
        <p14:creationId xmlns:p14="http://schemas.microsoft.com/office/powerpoint/2010/main" val="2595863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098F698-9A50-47FC-A5EE-F6E1035CE36F}"/>
              </a:ext>
            </a:extLst>
          </p:cNvPr>
          <p:cNvSpPr>
            <a:spLocks noGrp="1"/>
          </p:cNvSpPr>
          <p:nvPr>
            <p:ph type="body" sz="quarter" idx="10"/>
          </p:nvPr>
        </p:nvSpPr>
        <p:spPr/>
        <p:txBody>
          <a:bodyPr/>
          <a:lstStyle/>
          <a:p>
            <a:pPr lvl="1">
              <a:spcAft>
                <a:spcPts val="600"/>
              </a:spcAft>
              <a:buClr>
                <a:schemeClr val="accent1"/>
              </a:buClr>
            </a:pPr>
            <a:r>
              <a:rPr lang="en-GB" sz="4400" dirty="0">
                <a:solidFill>
                  <a:schemeClr val="bg1"/>
                </a:solidFill>
                <a:latin typeface="Montserrat Black" panose="00000A00000000000000" pitchFamily="2" charset="0"/>
                <a:cs typeface="Arial" pitchFamily="34" charset="0"/>
              </a:rPr>
              <a:t>UPDATES</a:t>
            </a:r>
            <a:endParaRPr lang="en-GB" sz="4400" dirty="0">
              <a:solidFill>
                <a:schemeClr val="bg1"/>
              </a:solidFill>
              <a:latin typeface="Montserrat Black" panose="00000A00000000000000" pitchFamily="2" charset="0"/>
            </a:endParaRPr>
          </a:p>
        </p:txBody>
      </p:sp>
      <p:sp>
        <p:nvSpPr>
          <p:cNvPr id="4" name="Text Placeholder 3">
            <a:extLst>
              <a:ext uri="{FF2B5EF4-FFF2-40B4-BE49-F238E27FC236}">
                <a16:creationId xmlns:a16="http://schemas.microsoft.com/office/drawing/2014/main" id="{168A29A4-5A55-40D8-BB2D-7D0A1CC9C697}"/>
              </a:ext>
            </a:extLst>
          </p:cNvPr>
          <p:cNvSpPr>
            <a:spLocks noGrp="1"/>
          </p:cNvSpPr>
          <p:nvPr>
            <p:ph type="body" sz="quarter" idx="15"/>
          </p:nvPr>
        </p:nvSpPr>
        <p:spPr/>
        <p:txBody>
          <a:bodyPr/>
          <a:lstStyle/>
          <a:p>
            <a:pPr marL="0" lvl="1" indent="0">
              <a:spcAft>
                <a:spcPts val="600"/>
              </a:spcAft>
              <a:buClr>
                <a:schemeClr val="accent1"/>
              </a:buClr>
              <a:buNone/>
            </a:pPr>
            <a:r>
              <a:rPr lang="en-GB" sz="2200" b="1" dirty="0">
                <a:latin typeface="+mn-lt"/>
                <a:cs typeface="Arial" pitchFamily="34" charset="0"/>
              </a:rPr>
              <a:t>Discuss:</a:t>
            </a:r>
          </a:p>
          <a:p>
            <a:pPr marL="0" lvl="1" indent="0">
              <a:spcAft>
                <a:spcPts val="600"/>
              </a:spcAft>
              <a:buClr>
                <a:schemeClr val="accent1"/>
              </a:buClr>
              <a:buNone/>
            </a:pPr>
            <a:endParaRPr lang="en-GB" sz="2200" b="1" dirty="0">
              <a:latin typeface="+mn-lt"/>
              <a:cs typeface="Arial" pitchFamily="34" charset="0"/>
            </a:endParaRPr>
          </a:p>
          <a:p>
            <a:pPr marL="720000" lvl="1" indent="-360000">
              <a:spcAft>
                <a:spcPts val="600"/>
              </a:spcAft>
              <a:buClr>
                <a:schemeClr val="accent1"/>
              </a:buClr>
            </a:pPr>
            <a:r>
              <a:rPr lang="en-GB" sz="2200" dirty="0">
                <a:latin typeface="+mn-lt"/>
                <a:cs typeface="Arial" pitchFamily="34" charset="0"/>
              </a:rPr>
              <a:t>Why do businesses need to keep updating their IT systems over time? Consider:</a:t>
            </a:r>
          </a:p>
          <a:p>
            <a:pPr marL="1177200" lvl="2" indent="-360000">
              <a:spcAft>
                <a:spcPts val="600"/>
              </a:spcAft>
              <a:buClr>
                <a:schemeClr val="accent1"/>
              </a:buClr>
            </a:pPr>
            <a:r>
              <a:rPr lang="en-GB" sz="2200" dirty="0">
                <a:latin typeface="+mn-lt"/>
                <a:cs typeface="Arial" pitchFamily="34" charset="0"/>
              </a:rPr>
              <a:t>Operating systems / infrastructure</a:t>
            </a:r>
          </a:p>
          <a:p>
            <a:pPr marL="1177200" lvl="2" indent="-360000">
              <a:spcAft>
                <a:spcPts val="600"/>
              </a:spcAft>
              <a:buClr>
                <a:schemeClr val="accent1"/>
              </a:buClr>
            </a:pPr>
            <a:r>
              <a:rPr lang="en-GB" sz="2200" dirty="0">
                <a:latin typeface="+mn-lt"/>
                <a:cs typeface="Arial" pitchFamily="34" charset="0"/>
              </a:rPr>
              <a:t>Organisation-specific business systems</a:t>
            </a:r>
          </a:p>
          <a:p>
            <a:pPr marL="1177200" lvl="2" indent="-360000">
              <a:spcAft>
                <a:spcPts val="600"/>
              </a:spcAft>
              <a:buClr>
                <a:schemeClr val="accent1"/>
              </a:buClr>
            </a:pPr>
            <a:r>
              <a:rPr lang="en-GB" sz="2200" dirty="0">
                <a:latin typeface="+mn-lt"/>
                <a:cs typeface="Arial" pitchFamily="34" charset="0"/>
              </a:rPr>
              <a:t>General purpose systems and applications</a:t>
            </a:r>
          </a:p>
          <a:p>
            <a:pPr marL="1177200" lvl="2" indent="-360000">
              <a:spcAft>
                <a:spcPts val="600"/>
              </a:spcAft>
              <a:buClr>
                <a:schemeClr val="accent1"/>
              </a:buClr>
            </a:pPr>
            <a:r>
              <a:rPr lang="en-GB" sz="2200" dirty="0">
                <a:latin typeface="+mn-lt"/>
                <a:cs typeface="Arial" pitchFamily="34" charset="0"/>
              </a:rPr>
              <a:t>Public-facing systems</a:t>
            </a:r>
          </a:p>
          <a:p>
            <a:pPr marL="285750" indent="-285750">
              <a:buFont typeface="Arial" panose="020B0604020202020204" pitchFamily="34" charset="0"/>
              <a:buChar char="•"/>
            </a:pPr>
            <a:endParaRPr lang="en-GB" sz="2200" dirty="0">
              <a:latin typeface="+mn-lt"/>
            </a:endParaRPr>
          </a:p>
          <a:p>
            <a:pPr marL="285750" indent="-285750">
              <a:buFont typeface="Arial" panose="020B0604020202020204" pitchFamily="34" charset="0"/>
              <a:buChar char="•"/>
            </a:pPr>
            <a:endParaRPr lang="en-GB" sz="2200" dirty="0"/>
          </a:p>
        </p:txBody>
      </p:sp>
    </p:spTree>
    <p:extLst>
      <p:ext uri="{BB962C8B-B14F-4D97-AF65-F5344CB8AC3E}">
        <p14:creationId xmlns:p14="http://schemas.microsoft.com/office/powerpoint/2010/main" val="1890785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098F698-9A50-47FC-A5EE-F6E1035CE36F}"/>
              </a:ext>
            </a:extLst>
          </p:cNvPr>
          <p:cNvSpPr>
            <a:spLocks noGrp="1"/>
          </p:cNvSpPr>
          <p:nvPr>
            <p:ph type="body" sz="quarter" idx="10"/>
          </p:nvPr>
        </p:nvSpPr>
        <p:spPr/>
        <p:txBody>
          <a:bodyPr/>
          <a:lstStyle/>
          <a:p>
            <a:pPr lvl="1">
              <a:spcAft>
                <a:spcPts val="600"/>
              </a:spcAft>
              <a:buClr>
                <a:schemeClr val="accent1"/>
              </a:buClr>
            </a:pPr>
            <a:r>
              <a:rPr lang="en-GB" sz="4400" dirty="0">
                <a:solidFill>
                  <a:schemeClr val="bg1"/>
                </a:solidFill>
                <a:latin typeface="Montserrat Black" panose="00000A00000000000000" pitchFamily="2" charset="0"/>
                <a:cs typeface="Arial" pitchFamily="34" charset="0"/>
              </a:rPr>
              <a:t>UPDATES</a:t>
            </a:r>
            <a:endParaRPr lang="en-GB" sz="4400" dirty="0">
              <a:solidFill>
                <a:schemeClr val="bg1"/>
              </a:solidFill>
              <a:latin typeface="Montserrat Black" panose="00000A00000000000000" pitchFamily="2" charset="0"/>
            </a:endParaRPr>
          </a:p>
        </p:txBody>
      </p:sp>
      <p:sp>
        <p:nvSpPr>
          <p:cNvPr id="4" name="Text Placeholder 3">
            <a:extLst>
              <a:ext uri="{FF2B5EF4-FFF2-40B4-BE49-F238E27FC236}">
                <a16:creationId xmlns:a16="http://schemas.microsoft.com/office/drawing/2014/main" id="{168A29A4-5A55-40D8-BB2D-7D0A1CC9C697}"/>
              </a:ext>
            </a:extLst>
          </p:cNvPr>
          <p:cNvSpPr>
            <a:spLocks noGrp="1"/>
          </p:cNvSpPr>
          <p:nvPr>
            <p:ph type="body" sz="quarter" idx="15"/>
          </p:nvPr>
        </p:nvSpPr>
        <p:spPr/>
        <p:txBody>
          <a:bodyPr/>
          <a:lstStyle/>
          <a:p>
            <a:r>
              <a:rPr lang="en-GB" sz="2400" b="1" dirty="0"/>
              <a:t>Businesses need to keep systems updated to:</a:t>
            </a:r>
          </a:p>
          <a:p>
            <a:pPr marL="742950" lvl="1" indent="-285750">
              <a:buFont typeface="Arial" panose="020B0604020202020204" pitchFamily="34" charset="0"/>
              <a:buChar char="•"/>
            </a:pPr>
            <a:r>
              <a:rPr lang="en-GB" sz="2400" dirty="0"/>
              <a:t>Implement security fixes</a:t>
            </a:r>
          </a:p>
          <a:p>
            <a:pPr marL="742950" lvl="1" indent="-285750">
              <a:buFont typeface="Arial" panose="020B0604020202020204" pitchFamily="34" charset="0"/>
              <a:buChar char="•"/>
            </a:pPr>
            <a:r>
              <a:rPr lang="en-GB" sz="2400" dirty="0"/>
              <a:t>Respond to changing business needs / opportunities / threats</a:t>
            </a:r>
          </a:p>
          <a:p>
            <a:pPr marL="742950" lvl="1" indent="-285750">
              <a:buFont typeface="Arial" panose="020B0604020202020204" pitchFamily="34" charset="0"/>
              <a:buChar char="•"/>
            </a:pPr>
            <a:r>
              <a:rPr lang="en-GB" sz="2400" dirty="0"/>
              <a:t>Make new functionality available</a:t>
            </a:r>
          </a:p>
          <a:p>
            <a:pPr marL="742950" lvl="1" indent="-285750">
              <a:buFont typeface="Arial" panose="020B0604020202020204" pitchFamily="34" charset="0"/>
              <a:buChar char="•"/>
            </a:pPr>
            <a:r>
              <a:rPr lang="en-GB" sz="2400" dirty="0"/>
              <a:t>Correct errors</a:t>
            </a:r>
          </a:p>
          <a:p>
            <a:pPr marL="742950" lvl="1" indent="-285750">
              <a:buFont typeface="Arial" panose="020B0604020202020204" pitchFamily="34" charset="0"/>
              <a:buChar char="•"/>
            </a:pPr>
            <a:r>
              <a:rPr lang="en-GB" sz="2400" dirty="0"/>
              <a:t>Adapt to ever increasing expectations of users</a:t>
            </a:r>
          </a:p>
        </p:txBody>
      </p:sp>
    </p:spTree>
    <p:extLst>
      <p:ext uri="{BB962C8B-B14F-4D97-AF65-F5344CB8AC3E}">
        <p14:creationId xmlns:p14="http://schemas.microsoft.com/office/powerpoint/2010/main" val="271772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098F698-9A50-47FC-A5EE-F6E1035CE36F}"/>
              </a:ext>
            </a:extLst>
          </p:cNvPr>
          <p:cNvSpPr>
            <a:spLocks noGrp="1"/>
          </p:cNvSpPr>
          <p:nvPr>
            <p:ph type="body" sz="quarter" idx="10"/>
          </p:nvPr>
        </p:nvSpPr>
        <p:spPr/>
        <p:txBody>
          <a:bodyPr/>
          <a:lstStyle/>
          <a:p>
            <a:pPr lvl="1">
              <a:spcAft>
                <a:spcPts val="600"/>
              </a:spcAft>
              <a:buClr>
                <a:schemeClr val="accent1"/>
              </a:buClr>
            </a:pPr>
            <a:r>
              <a:rPr lang="en-GB" sz="4400" dirty="0">
                <a:solidFill>
                  <a:schemeClr val="bg1"/>
                </a:solidFill>
                <a:latin typeface="Montserrat Black" panose="00000A00000000000000" pitchFamily="2" charset="0"/>
                <a:cs typeface="Arial" pitchFamily="34" charset="0"/>
              </a:rPr>
              <a:t>IMPACTS</a:t>
            </a:r>
            <a:endParaRPr lang="en-GB" sz="4400" dirty="0">
              <a:solidFill>
                <a:schemeClr val="bg1"/>
              </a:solidFill>
              <a:latin typeface="Montserrat Black" panose="00000A00000000000000" pitchFamily="2" charset="0"/>
            </a:endParaRPr>
          </a:p>
        </p:txBody>
      </p:sp>
      <p:sp>
        <p:nvSpPr>
          <p:cNvPr id="4" name="Text Placeholder 3">
            <a:extLst>
              <a:ext uri="{FF2B5EF4-FFF2-40B4-BE49-F238E27FC236}">
                <a16:creationId xmlns:a16="http://schemas.microsoft.com/office/drawing/2014/main" id="{168A29A4-5A55-40D8-BB2D-7D0A1CC9C697}"/>
              </a:ext>
            </a:extLst>
          </p:cNvPr>
          <p:cNvSpPr>
            <a:spLocks noGrp="1"/>
          </p:cNvSpPr>
          <p:nvPr>
            <p:ph type="body" sz="quarter" idx="15"/>
          </p:nvPr>
        </p:nvSpPr>
        <p:spPr/>
        <p:txBody>
          <a:bodyPr/>
          <a:lstStyle/>
          <a:p>
            <a:r>
              <a:rPr lang="en-GB" sz="2400" b="1" dirty="0"/>
              <a:t>Impacts if systems are not updated</a:t>
            </a:r>
            <a:r>
              <a:rPr lang="en-GB" sz="2400" dirty="0"/>
              <a:t>:</a:t>
            </a:r>
          </a:p>
          <a:p>
            <a:endParaRPr lang="en-GB" sz="2400" b="1" dirty="0"/>
          </a:p>
          <a:p>
            <a:pPr marL="742950" lvl="1" indent="-285750">
              <a:buFont typeface="Arial" panose="020B0604020202020204" pitchFamily="34" charset="0"/>
              <a:buChar char="•"/>
            </a:pPr>
            <a:r>
              <a:rPr lang="en-GB" sz="2400" dirty="0"/>
              <a:t>Reduce business competitiveness, efficiency, effectiveness</a:t>
            </a:r>
          </a:p>
          <a:p>
            <a:pPr marL="742950" lvl="1" indent="-285750">
              <a:buFont typeface="Arial" panose="020B0604020202020204" pitchFamily="34" charset="0"/>
              <a:buChar char="•"/>
            </a:pPr>
            <a:r>
              <a:rPr lang="en-GB" sz="2400" dirty="0"/>
              <a:t>No longer accessible:</a:t>
            </a:r>
          </a:p>
          <a:p>
            <a:pPr marL="1200150" lvl="2" indent="-285750">
              <a:buFont typeface="Arial" panose="020B0604020202020204" pitchFamily="34" charset="0"/>
              <a:buChar char="•"/>
            </a:pPr>
            <a:r>
              <a:rPr lang="en-GB" sz="2400" dirty="0"/>
              <a:t>Stop upgrades / support</a:t>
            </a:r>
          </a:p>
          <a:p>
            <a:pPr marL="1200150" lvl="2" indent="-285750">
              <a:buFont typeface="Arial" panose="020B0604020202020204" pitchFamily="34" charset="0"/>
              <a:buChar char="•"/>
            </a:pPr>
            <a:r>
              <a:rPr lang="en-GB" sz="2400" dirty="0"/>
              <a:t>Backward compatible – IBM / Java?</a:t>
            </a:r>
          </a:p>
          <a:p>
            <a:pPr marL="1200150" lvl="2" indent="-285750">
              <a:buFont typeface="Arial" panose="020B0604020202020204" pitchFamily="34" charset="0"/>
              <a:buChar char="•"/>
            </a:pPr>
            <a:r>
              <a:rPr lang="en-GB" sz="2400" dirty="0"/>
              <a:t>Files disappear – Microsoft Office</a:t>
            </a:r>
          </a:p>
          <a:p>
            <a:pPr marL="742950" lvl="1" indent="-285750">
              <a:buFont typeface="Arial" panose="020B0604020202020204" pitchFamily="34" charset="0"/>
              <a:buChar char="•"/>
            </a:pPr>
            <a:r>
              <a:rPr lang="en-GB" sz="2400" dirty="0"/>
              <a:t>Less secure</a:t>
            </a:r>
          </a:p>
        </p:txBody>
      </p:sp>
    </p:spTree>
    <p:extLst>
      <p:ext uri="{BB962C8B-B14F-4D97-AF65-F5344CB8AC3E}">
        <p14:creationId xmlns:p14="http://schemas.microsoft.com/office/powerpoint/2010/main" val="4163053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098F698-9A50-47FC-A5EE-F6E1035CE36F}"/>
              </a:ext>
            </a:extLst>
          </p:cNvPr>
          <p:cNvSpPr>
            <a:spLocks noGrp="1"/>
          </p:cNvSpPr>
          <p:nvPr>
            <p:ph type="body" sz="quarter" idx="10"/>
          </p:nvPr>
        </p:nvSpPr>
        <p:spPr/>
        <p:txBody>
          <a:bodyPr/>
          <a:lstStyle/>
          <a:p>
            <a:pPr lvl="1">
              <a:spcAft>
                <a:spcPts val="600"/>
              </a:spcAft>
              <a:buClr>
                <a:schemeClr val="accent1"/>
              </a:buClr>
            </a:pPr>
            <a:r>
              <a:rPr lang="en-GB" sz="4400" dirty="0">
                <a:solidFill>
                  <a:schemeClr val="bg1"/>
                </a:solidFill>
                <a:latin typeface="Montserrat Black" panose="00000A00000000000000" pitchFamily="2" charset="0"/>
                <a:cs typeface="Arial" pitchFamily="34" charset="0"/>
              </a:rPr>
              <a:t>WEB / DIGITAL SERVICES</a:t>
            </a:r>
            <a:endParaRPr lang="en-GB" sz="4400" dirty="0">
              <a:solidFill>
                <a:schemeClr val="bg1"/>
              </a:solidFill>
              <a:latin typeface="Montserrat Black" panose="00000A00000000000000" pitchFamily="2" charset="0"/>
            </a:endParaRPr>
          </a:p>
        </p:txBody>
      </p:sp>
      <p:sp>
        <p:nvSpPr>
          <p:cNvPr id="4" name="Text Placeholder 3">
            <a:extLst>
              <a:ext uri="{FF2B5EF4-FFF2-40B4-BE49-F238E27FC236}">
                <a16:creationId xmlns:a16="http://schemas.microsoft.com/office/drawing/2014/main" id="{168A29A4-5A55-40D8-BB2D-7D0A1CC9C697}"/>
              </a:ext>
            </a:extLst>
          </p:cNvPr>
          <p:cNvSpPr>
            <a:spLocks noGrp="1"/>
          </p:cNvSpPr>
          <p:nvPr>
            <p:ph type="body" sz="quarter" idx="15"/>
          </p:nvPr>
        </p:nvSpPr>
        <p:spPr/>
        <p:txBody>
          <a:bodyPr/>
          <a:lstStyle/>
          <a:p>
            <a:pPr marL="0" lvl="1" indent="0">
              <a:spcAft>
                <a:spcPts val="600"/>
              </a:spcAft>
              <a:buClr>
                <a:schemeClr val="accent1"/>
              </a:buClr>
              <a:buNone/>
            </a:pPr>
            <a:r>
              <a:rPr lang="en-GB" sz="2400" b="1" dirty="0">
                <a:cs typeface="Arial" pitchFamily="34" charset="0"/>
              </a:rPr>
              <a:t>Please research and answer the following questions</a:t>
            </a:r>
            <a:r>
              <a:rPr lang="en-GB" sz="2400" dirty="0">
                <a:cs typeface="Arial" pitchFamily="34" charset="0"/>
              </a:rPr>
              <a:t>:</a:t>
            </a:r>
            <a:br>
              <a:rPr lang="en-GB" sz="2400" dirty="0">
                <a:cs typeface="Arial" pitchFamily="34" charset="0"/>
              </a:rPr>
            </a:br>
            <a:endParaRPr lang="en-GB" sz="2400" b="1" dirty="0">
              <a:cs typeface="Arial" pitchFamily="34" charset="0"/>
            </a:endParaRPr>
          </a:p>
          <a:p>
            <a:pPr marL="720000" lvl="1" indent="-360000">
              <a:spcAft>
                <a:spcPts val="600"/>
              </a:spcAft>
              <a:buClr>
                <a:schemeClr val="accent1"/>
              </a:buClr>
            </a:pPr>
            <a:r>
              <a:rPr lang="en-GB" sz="2400" dirty="0">
                <a:cs typeface="Arial" pitchFamily="34" charset="0"/>
              </a:rPr>
              <a:t>What do the following terms mean? </a:t>
            </a:r>
          </a:p>
          <a:p>
            <a:pPr marL="1080000" lvl="2" indent="-360000">
              <a:spcAft>
                <a:spcPts val="600"/>
              </a:spcAft>
              <a:buClr>
                <a:schemeClr val="accent1"/>
              </a:buClr>
            </a:pPr>
            <a:r>
              <a:rPr lang="en-GB" sz="2400" dirty="0">
                <a:cs typeface="Arial" pitchFamily="34" charset="0"/>
              </a:rPr>
              <a:t>B2B, B2C, C2B, and C2C</a:t>
            </a:r>
          </a:p>
          <a:p>
            <a:pPr marL="720000" lvl="1" indent="-360000">
              <a:spcAft>
                <a:spcPts val="600"/>
              </a:spcAft>
              <a:buClr>
                <a:schemeClr val="accent1"/>
              </a:buClr>
            </a:pPr>
            <a:r>
              <a:rPr lang="en-GB" sz="2400" dirty="0">
                <a:cs typeface="Arial" pitchFamily="34" charset="0"/>
              </a:rPr>
              <a:t>Give an example of each?</a:t>
            </a:r>
          </a:p>
          <a:p>
            <a:pPr marL="720000" lvl="1" indent="-360000">
              <a:spcAft>
                <a:spcPts val="600"/>
              </a:spcAft>
              <a:buClr>
                <a:schemeClr val="accent1"/>
              </a:buClr>
            </a:pPr>
            <a:r>
              <a:rPr lang="en-GB" sz="2400" dirty="0">
                <a:cs typeface="Arial" pitchFamily="34" charset="0"/>
              </a:rPr>
              <a:t>Which types of applications will be general to all businesses and specific to others?</a:t>
            </a:r>
          </a:p>
        </p:txBody>
      </p:sp>
    </p:spTree>
    <p:extLst>
      <p:ext uri="{BB962C8B-B14F-4D97-AF65-F5344CB8AC3E}">
        <p14:creationId xmlns:p14="http://schemas.microsoft.com/office/powerpoint/2010/main" val="4221136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098F698-9A50-47FC-A5EE-F6E1035CE36F}"/>
              </a:ext>
            </a:extLst>
          </p:cNvPr>
          <p:cNvSpPr>
            <a:spLocks noGrp="1"/>
          </p:cNvSpPr>
          <p:nvPr>
            <p:ph type="body" sz="quarter" idx="10"/>
          </p:nvPr>
        </p:nvSpPr>
        <p:spPr/>
        <p:txBody>
          <a:bodyPr/>
          <a:lstStyle/>
          <a:p>
            <a:pPr lvl="1">
              <a:spcAft>
                <a:spcPts val="600"/>
              </a:spcAft>
              <a:buClr>
                <a:schemeClr val="accent1"/>
              </a:buClr>
            </a:pPr>
            <a:r>
              <a:rPr lang="en-GB" sz="4400" dirty="0">
                <a:solidFill>
                  <a:schemeClr val="bg1"/>
                </a:solidFill>
                <a:latin typeface="Montserrat Black" panose="00000A00000000000000" pitchFamily="2" charset="0"/>
                <a:cs typeface="Arial" pitchFamily="34" charset="0"/>
              </a:rPr>
              <a:t>BUSINESS TO BUSINESS (B2B)</a:t>
            </a:r>
            <a:endParaRPr lang="en-GB" sz="4400" dirty="0">
              <a:solidFill>
                <a:schemeClr val="bg1"/>
              </a:solidFill>
              <a:latin typeface="Montserrat Black" panose="00000A00000000000000" pitchFamily="2" charset="0"/>
            </a:endParaRPr>
          </a:p>
        </p:txBody>
      </p:sp>
      <p:sp>
        <p:nvSpPr>
          <p:cNvPr id="4" name="Text Placeholder 3">
            <a:extLst>
              <a:ext uri="{FF2B5EF4-FFF2-40B4-BE49-F238E27FC236}">
                <a16:creationId xmlns:a16="http://schemas.microsoft.com/office/drawing/2014/main" id="{168A29A4-5A55-40D8-BB2D-7D0A1CC9C697}"/>
              </a:ext>
            </a:extLst>
          </p:cNvPr>
          <p:cNvSpPr>
            <a:spLocks noGrp="1"/>
          </p:cNvSpPr>
          <p:nvPr>
            <p:ph type="body" sz="quarter" idx="15"/>
          </p:nvPr>
        </p:nvSpPr>
        <p:spPr/>
        <p:txBody>
          <a:bodyPr/>
          <a:lstStyle/>
          <a:p>
            <a:r>
              <a:rPr lang="en-GB" b="1" dirty="0"/>
              <a:t>One business makes a commercial transaction with another</a:t>
            </a:r>
            <a:r>
              <a:rPr lang="en-GB" dirty="0"/>
              <a:t>:</a:t>
            </a:r>
            <a:br>
              <a:rPr lang="en-GB" dirty="0"/>
            </a:br>
            <a:endParaRPr lang="en-GB" b="1" dirty="0"/>
          </a:p>
          <a:p>
            <a:pPr marL="742950" lvl="1" indent="-285750">
              <a:buFont typeface="Arial" panose="020B0604020202020204" pitchFamily="34" charset="0"/>
              <a:buChar char="•"/>
            </a:pPr>
            <a:r>
              <a:rPr lang="en-GB" dirty="0"/>
              <a:t>A business is sourcing materials for their production process:</a:t>
            </a:r>
          </a:p>
          <a:p>
            <a:pPr marL="1200150" lvl="2" indent="-285750">
              <a:buFont typeface="Arial" panose="020B0604020202020204" pitchFamily="34" charset="0"/>
              <a:buChar char="•"/>
            </a:pPr>
            <a:r>
              <a:rPr lang="en-GB" dirty="0"/>
              <a:t>A food manufacturer.</a:t>
            </a:r>
          </a:p>
          <a:p>
            <a:pPr marL="742950" lvl="1" indent="-285750">
              <a:buFont typeface="Arial" panose="020B0604020202020204" pitchFamily="34" charset="0"/>
              <a:buChar char="•"/>
            </a:pPr>
            <a:r>
              <a:rPr lang="en-GB" dirty="0"/>
              <a:t>A business needs the services of another for operational reasons:</a:t>
            </a:r>
          </a:p>
          <a:p>
            <a:pPr marL="1200150" lvl="2" indent="-285750">
              <a:buFont typeface="Arial" panose="020B0604020202020204" pitchFamily="34" charset="0"/>
              <a:buChar char="•"/>
            </a:pPr>
            <a:r>
              <a:rPr lang="en-GB" dirty="0"/>
              <a:t>A food manufacturer employing an accountancy firm to audit their finances.</a:t>
            </a:r>
          </a:p>
          <a:p>
            <a:pPr marL="742950" lvl="1" indent="-285750">
              <a:buFont typeface="Arial" panose="020B0604020202020204" pitchFamily="34" charset="0"/>
              <a:buChar char="•"/>
            </a:pPr>
            <a:r>
              <a:rPr lang="en-GB" dirty="0"/>
              <a:t>A business re-sells goods and services produced by others:</a:t>
            </a:r>
          </a:p>
          <a:p>
            <a:pPr marL="1200150" lvl="2" indent="-285750">
              <a:buFont typeface="Arial" panose="020B0604020202020204" pitchFamily="34" charset="0"/>
              <a:buChar char="•"/>
            </a:pPr>
            <a:r>
              <a:rPr lang="en-GB" dirty="0"/>
              <a:t>A retailer buying the end product from the food manufacturer.</a:t>
            </a:r>
          </a:p>
        </p:txBody>
      </p:sp>
    </p:spTree>
    <p:extLst>
      <p:ext uri="{BB962C8B-B14F-4D97-AF65-F5344CB8AC3E}">
        <p14:creationId xmlns:p14="http://schemas.microsoft.com/office/powerpoint/2010/main" val="1322807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9BB1D-9370-41B4-B639-EEC0C9528060}"/>
              </a:ext>
            </a:extLst>
          </p:cNvPr>
          <p:cNvSpPr>
            <a:spLocks noGrp="1"/>
          </p:cNvSpPr>
          <p:nvPr>
            <p:ph type="body" sz="quarter" idx="10"/>
          </p:nvPr>
        </p:nvSpPr>
        <p:spPr>
          <a:xfrm>
            <a:off x="384785" y="1349985"/>
            <a:ext cx="3443732" cy="2751999"/>
          </a:xfrm>
        </p:spPr>
        <p:txBody>
          <a:bodyPr vert="horz" lIns="0" tIns="0" rIns="0" bIns="0" rtlCol="0" anchor="t" anchorCtr="0">
            <a:normAutofit/>
          </a:bodyPr>
          <a:lstStyle/>
          <a:p>
            <a:pPr>
              <a:spcAft>
                <a:spcPts val="600"/>
              </a:spcAft>
            </a:pPr>
            <a:r>
              <a:rPr lang="en-US" b="0" i="0" kern="1200" cap="all" baseline="0">
                <a:latin typeface="Montserrat Black" panose="00000A00000000000000" pitchFamily="2" charset="0"/>
                <a:ea typeface="+mn-ea"/>
                <a:cs typeface="+mn-cs"/>
              </a:rPr>
              <a:t>Business to Consumer (B2C)</a:t>
            </a:r>
          </a:p>
        </p:txBody>
      </p:sp>
      <p:sp>
        <p:nvSpPr>
          <p:cNvPr id="85" name="Slide Number Placeholder 2">
            <a:extLst>
              <a:ext uri="{FF2B5EF4-FFF2-40B4-BE49-F238E27FC236}">
                <a16:creationId xmlns:a16="http://schemas.microsoft.com/office/drawing/2014/main" id="{977595A3-4245-9407-C164-722D8F1A5648}"/>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14</a:t>
            </a:fld>
            <a:endParaRPr lang="en-GB"/>
          </a:p>
        </p:txBody>
      </p:sp>
      <p:sp>
        <p:nvSpPr>
          <p:cNvPr id="80" name="TextBox 79">
            <a:extLst>
              <a:ext uri="{FF2B5EF4-FFF2-40B4-BE49-F238E27FC236}">
                <a16:creationId xmlns:a16="http://schemas.microsoft.com/office/drawing/2014/main" id="{B9027F67-9A49-4EFE-BFF1-6D7C283ABCDF}"/>
              </a:ext>
            </a:extLst>
          </p:cNvPr>
          <p:cNvSpPr txBox="1"/>
          <p:nvPr/>
        </p:nvSpPr>
        <p:spPr>
          <a:xfrm>
            <a:off x="5037138" y="1349986"/>
            <a:ext cx="6770687" cy="5112343"/>
          </a:xfrm>
          <a:prstGeom prst="rect">
            <a:avLst/>
          </a:prstGeom>
        </p:spPr>
        <p:txBody>
          <a:bodyPr vert="horz" lIns="0" tIns="0" rIns="0" bIns="0" rtlCol="0" anchor="t" anchorCtr="0">
            <a:normAutofit/>
          </a:bodyPr>
          <a:lstStyle/>
          <a:p>
            <a:pPr>
              <a:spcAft>
                <a:spcPts val="651"/>
              </a:spcAft>
              <a:buFont typeface="Arial" panose="020B0604020202020204" pitchFamily="34" charset="0"/>
            </a:pPr>
            <a:r>
              <a:rPr lang="en-GB" b="1" dirty="0">
                <a:latin typeface="Montserrat" pitchFamily="2" charset="77"/>
              </a:rPr>
              <a:t>Business or transactions conducted directly between a company and consumers who are the end-users of its products or services:</a:t>
            </a:r>
            <a:br>
              <a:rPr lang="en-GB" dirty="0">
                <a:latin typeface="Montserrat" pitchFamily="2" charset="77"/>
              </a:rPr>
            </a:br>
            <a:endParaRPr lang="en-GB" dirty="0">
              <a:latin typeface="Montserrat" pitchFamily="2" charset="77"/>
            </a:endParaRPr>
          </a:p>
          <a:p>
            <a:pPr marL="742950" lvl="1" indent="-285750">
              <a:spcAft>
                <a:spcPts val="651"/>
              </a:spcAft>
              <a:buFont typeface="Arial" panose="020B0604020202020204" pitchFamily="34" charset="0"/>
              <a:buChar char="•"/>
            </a:pPr>
            <a:r>
              <a:rPr lang="en-GB" dirty="0">
                <a:latin typeface="Montserrat" pitchFamily="2" charset="77"/>
              </a:rPr>
              <a:t>Differs significantly from the business-to-business model:</a:t>
            </a:r>
          </a:p>
          <a:p>
            <a:pPr marL="1200150" lvl="2" indent="-285750">
              <a:spcAft>
                <a:spcPts val="651"/>
              </a:spcAft>
              <a:buFont typeface="Arial" panose="020B0604020202020204" pitchFamily="34" charset="0"/>
              <a:buChar char="•"/>
            </a:pPr>
            <a:r>
              <a:rPr lang="en-GB" dirty="0">
                <a:latin typeface="Montserrat" pitchFamily="2" charset="77"/>
              </a:rPr>
              <a:t>Which refers to commerce between two or more businesses.</a:t>
            </a:r>
          </a:p>
          <a:p>
            <a:pPr marL="742950" lvl="1" indent="-285750">
              <a:spcAft>
                <a:spcPts val="651"/>
              </a:spcAft>
              <a:buFont typeface="Arial" panose="020B0604020202020204" pitchFamily="34" charset="0"/>
              <a:buChar char="•"/>
            </a:pPr>
            <a:r>
              <a:rPr lang="en-GB" dirty="0">
                <a:latin typeface="Montserrat" pitchFamily="2" charset="77"/>
              </a:rPr>
              <a:t>Most companies that sell directly to consumers can be referred to as B2C companies: </a:t>
            </a:r>
          </a:p>
          <a:p>
            <a:pPr marL="1200150" lvl="2" indent="-285750">
              <a:spcAft>
                <a:spcPts val="651"/>
              </a:spcAft>
              <a:buFont typeface="Arial" panose="020B0604020202020204" pitchFamily="34" charset="0"/>
              <a:buChar char="•"/>
            </a:pPr>
            <a:r>
              <a:rPr lang="en-GB" dirty="0">
                <a:latin typeface="Montserrat" pitchFamily="2" charset="77"/>
              </a:rPr>
              <a:t>Popular during the dotcom boom of the late 1990s.</a:t>
            </a:r>
          </a:p>
          <a:p>
            <a:pPr marL="1200150" lvl="2" indent="-285750">
              <a:spcAft>
                <a:spcPts val="651"/>
              </a:spcAft>
              <a:buFont typeface="Arial" panose="020B0604020202020204" pitchFamily="34" charset="0"/>
              <a:buChar char="•"/>
            </a:pPr>
            <a:r>
              <a:rPr lang="en-GB" dirty="0">
                <a:latin typeface="Montserrat" pitchFamily="2" charset="77"/>
              </a:rPr>
              <a:t>Used mainly to refer to online retailers / companies.</a:t>
            </a:r>
          </a:p>
          <a:p>
            <a:pPr marL="1200150" lvl="2" indent="-285750">
              <a:spcAft>
                <a:spcPts val="651"/>
              </a:spcAft>
              <a:buFont typeface="Arial" panose="020B0604020202020204" pitchFamily="34" charset="0"/>
              <a:buChar char="•"/>
            </a:pPr>
            <a:r>
              <a:rPr lang="en-GB" dirty="0">
                <a:latin typeface="Montserrat" pitchFamily="2" charset="77"/>
              </a:rPr>
              <a:t>Sold products and services to consumers through the internet.</a:t>
            </a:r>
          </a:p>
        </p:txBody>
      </p:sp>
    </p:spTree>
    <p:extLst>
      <p:ext uri="{BB962C8B-B14F-4D97-AF65-F5344CB8AC3E}">
        <p14:creationId xmlns:p14="http://schemas.microsoft.com/office/powerpoint/2010/main" val="2935842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3875F-824B-444E-B93B-A4BFECBEE934}"/>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t>Consumer to Business (C2B)</a:t>
            </a:r>
            <a:endParaRPr lang="en-GB"/>
          </a:p>
        </p:txBody>
      </p:sp>
      <p:sp>
        <p:nvSpPr>
          <p:cNvPr id="8" name="Slide Number Placeholder 2">
            <a:extLst>
              <a:ext uri="{FF2B5EF4-FFF2-40B4-BE49-F238E27FC236}">
                <a16:creationId xmlns:a16="http://schemas.microsoft.com/office/drawing/2014/main" id="{8F13A7EE-3475-409E-6466-CB35967E4DBF}"/>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15</a:t>
            </a:fld>
            <a:endParaRPr lang="en-GB"/>
          </a:p>
        </p:txBody>
      </p:sp>
      <p:sp>
        <p:nvSpPr>
          <p:cNvPr id="3" name="Text Placeholder 2">
            <a:extLst>
              <a:ext uri="{FF2B5EF4-FFF2-40B4-BE49-F238E27FC236}">
                <a16:creationId xmlns:a16="http://schemas.microsoft.com/office/drawing/2014/main" id="{A44DFCE7-F47D-432F-AF0D-B5579F49AEF1}"/>
              </a:ext>
            </a:extLst>
          </p:cNvPr>
          <p:cNvSpPr>
            <a:spLocks noGrp="1"/>
          </p:cNvSpPr>
          <p:nvPr>
            <p:ph type="body" sz="quarter" idx="15"/>
          </p:nvPr>
        </p:nvSpPr>
        <p:spPr>
          <a:xfrm>
            <a:off x="5037138" y="1349986"/>
            <a:ext cx="6770687" cy="5508014"/>
          </a:xfrm>
        </p:spPr>
        <p:txBody>
          <a:bodyPr anchor="t">
            <a:normAutofit lnSpcReduction="10000"/>
          </a:bodyPr>
          <a:lstStyle/>
          <a:p>
            <a:r>
              <a:rPr lang="en-GB" b="1" dirty="0"/>
              <a:t>Consumers offer products and services to companies for which the companies pay the consumers:</a:t>
            </a:r>
            <a:br>
              <a:rPr lang="en-GB" dirty="0"/>
            </a:br>
            <a:endParaRPr lang="en-GB" dirty="0"/>
          </a:p>
          <a:p>
            <a:pPr lvl="1"/>
            <a:r>
              <a:rPr lang="en-GB" dirty="0"/>
              <a:t>Complete reversal of the traditional business model.</a:t>
            </a:r>
          </a:p>
          <a:p>
            <a:pPr lvl="1"/>
            <a:r>
              <a:rPr lang="en-GB" dirty="0"/>
              <a:t>Which companies offer goods and services to consumers.</a:t>
            </a:r>
          </a:p>
          <a:p>
            <a:pPr marL="0" lvl="1" indent="0">
              <a:buNone/>
            </a:pPr>
            <a:endParaRPr lang="en-GB" dirty="0"/>
          </a:p>
          <a:p>
            <a:r>
              <a:rPr lang="en-GB" dirty="0"/>
              <a:t>Also a reverse auction or demand collection model:</a:t>
            </a:r>
          </a:p>
          <a:p>
            <a:pPr lvl="1"/>
            <a:r>
              <a:rPr lang="en-GB" dirty="0"/>
              <a:t>Buyers name or demand their own price, which is often binding, for a specific good or service.</a:t>
            </a:r>
          </a:p>
          <a:p>
            <a:pPr lvl="1"/>
            <a:r>
              <a:rPr lang="en-GB" dirty="0"/>
              <a:t>Website collects the demand bids then offers the bids to participating sellers.</a:t>
            </a:r>
          </a:p>
          <a:p>
            <a:pPr marL="0" lvl="1" indent="0">
              <a:buNone/>
            </a:pPr>
            <a:endParaRPr lang="en-GB" dirty="0"/>
          </a:p>
          <a:p>
            <a:r>
              <a:rPr lang="en-GB" dirty="0"/>
              <a:t>Increasing popularity:</a:t>
            </a:r>
          </a:p>
          <a:p>
            <a:pPr lvl="1"/>
            <a:r>
              <a:rPr lang="en-GB" dirty="0"/>
              <a:t>Internet connecting large groups of people to a bidirectional network.</a:t>
            </a:r>
          </a:p>
          <a:p>
            <a:pPr lvl="1"/>
            <a:r>
              <a:rPr lang="en-GB" dirty="0"/>
              <a:t>Decreasing costs of technology.</a:t>
            </a:r>
          </a:p>
          <a:p>
            <a:endParaRPr lang="en-GB" dirty="0"/>
          </a:p>
        </p:txBody>
      </p:sp>
    </p:spTree>
    <p:extLst>
      <p:ext uri="{BB962C8B-B14F-4D97-AF65-F5344CB8AC3E}">
        <p14:creationId xmlns:p14="http://schemas.microsoft.com/office/powerpoint/2010/main" val="1493831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A1B3-447F-4399-9F15-B955443B0915}"/>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t>Consumer to Consumer (C2C)</a:t>
            </a:r>
            <a:endParaRPr lang="en-GB"/>
          </a:p>
        </p:txBody>
      </p:sp>
      <p:sp>
        <p:nvSpPr>
          <p:cNvPr id="3" name="Text Placeholder 2">
            <a:extLst>
              <a:ext uri="{FF2B5EF4-FFF2-40B4-BE49-F238E27FC236}">
                <a16:creationId xmlns:a16="http://schemas.microsoft.com/office/drawing/2014/main" id="{EC346061-E13F-4DD2-8184-741B7CCE23FD}"/>
              </a:ext>
            </a:extLst>
          </p:cNvPr>
          <p:cNvSpPr>
            <a:spLocks noGrp="1"/>
          </p:cNvSpPr>
          <p:nvPr>
            <p:ph type="body" sz="quarter" idx="15"/>
          </p:nvPr>
        </p:nvSpPr>
        <p:spPr>
          <a:xfrm>
            <a:off x="5037138" y="1349986"/>
            <a:ext cx="6770687" cy="5341686"/>
          </a:xfrm>
        </p:spPr>
        <p:txBody>
          <a:bodyPr anchor="t">
            <a:normAutofit lnSpcReduction="10000"/>
          </a:bodyPr>
          <a:lstStyle/>
          <a:p>
            <a:pPr>
              <a:lnSpc>
                <a:spcPct val="90000"/>
              </a:lnSpc>
            </a:pPr>
            <a:r>
              <a:rPr lang="en-GB" b="1" dirty="0"/>
              <a:t>Provides an innovative way to allow customers to interact with each other</a:t>
            </a:r>
            <a:r>
              <a:rPr lang="en-GB" dirty="0"/>
              <a:t>:</a:t>
            </a:r>
            <a:br>
              <a:rPr lang="en-GB" dirty="0"/>
            </a:br>
            <a:endParaRPr lang="en-GB" dirty="0"/>
          </a:p>
          <a:p>
            <a:pPr lvl="1">
              <a:lnSpc>
                <a:spcPct val="90000"/>
              </a:lnSpc>
            </a:pPr>
            <a:r>
              <a:rPr lang="en-GB" dirty="0"/>
              <a:t>Traditional markets require business to customer relationships.</a:t>
            </a:r>
          </a:p>
          <a:p>
            <a:pPr lvl="1">
              <a:lnSpc>
                <a:spcPct val="90000"/>
              </a:lnSpc>
            </a:pPr>
            <a:r>
              <a:rPr lang="en-GB" dirty="0"/>
              <a:t>Customer goes to the business in order to purchase a product or service.</a:t>
            </a:r>
          </a:p>
          <a:p>
            <a:pPr lvl="1">
              <a:lnSpc>
                <a:spcPct val="90000"/>
              </a:lnSpc>
            </a:pPr>
            <a:r>
              <a:rPr lang="en-GB" dirty="0"/>
              <a:t>Business facilitates an environment where customers can sell goods or services to each other.</a:t>
            </a:r>
          </a:p>
          <a:p>
            <a:pPr marL="0" lvl="1" indent="0">
              <a:lnSpc>
                <a:spcPct val="90000"/>
              </a:lnSpc>
              <a:buNone/>
            </a:pPr>
            <a:endParaRPr lang="en-GB" dirty="0"/>
          </a:p>
          <a:p>
            <a:pPr>
              <a:lnSpc>
                <a:spcPct val="90000"/>
              </a:lnSpc>
            </a:pPr>
            <a:r>
              <a:rPr lang="en-GB" dirty="0"/>
              <a:t>Often electronically facilitated transactions between consumers through some third party – online auction:</a:t>
            </a:r>
          </a:p>
          <a:p>
            <a:pPr lvl="1">
              <a:lnSpc>
                <a:spcPct val="90000"/>
              </a:lnSpc>
            </a:pPr>
            <a:r>
              <a:rPr lang="en-GB" dirty="0"/>
              <a:t>Consumer posts an item for sale.</a:t>
            </a:r>
          </a:p>
          <a:p>
            <a:pPr lvl="1">
              <a:lnSpc>
                <a:spcPct val="90000"/>
              </a:lnSpc>
            </a:pPr>
            <a:r>
              <a:rPr lang="en-GB" dirty="0"/>
              <a:t>Other consumers bid to purchase it.</a:t>
            </a:r>
          </a:p>
          <a:p>
            <a:pPr lvl="1">
              <a:lnSpc>
                <a:spcPct val="90000"/>
              </a:lnSpc>
            </a:pPr>
            <a:r>
              <a:rPr lang="en-GB" dirty="0"/>
              <a:t>Third party generally charges a flat fee or commission.</a:t>
            </a:r>
          </a:p>
          <a:p>
            <a:pPr lvl="2">
              <a:lnSpc>
                <a:spcPct val="90000"/>
              </a:lnSpc>
            </a:pPr>
            <a:r>
              <a:rPr lang="en-GB" dirty="0"/>
              <a:t>Sites are only intermediaries – just there to match consumers.</a:t>
            </a:r>
          </a:p>
          <a:p>
            <a:pPr lvl="2">
              <a:lnSpc>
                <a:spcPct val="90000"/>
              </a:lnSpc>
            </a:pPr>
            <a:r>
              <a:rPr lang="en-GB" dirty="0"/>
              <a:t>Do not have to check quality of the products being offered.</a:t>
            </a:r>
          </a:p>
          <a:p>
            <a:pPr>
              <a:lnSpc>
                <a:spcPct val="90000"/>
              </a:lnSpc>
            </a:pPr>
            <a:endParaRPr lang="en-GB" dirty="0"/>
          </a:p>
        </p:txBody>
      </p:sp>
      <p:sp>
        <p:nvSpPr>
          <p:cNvPr id="8" name="Slide Number Placeholder 3">
            <a:extLst>
              <a:ext uri="{FF2B5EF4-FFF2-40B4-BE49-F238E27FC236}">
                <a16:creationId xmlns:a16="http://schemas.microsoft.com/office/drawing/2014/main" id="{42B64724-BD21-76CA-5DBD-FFCFFC4ED66B}"/>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16</a:t>
            </a:fld>
            <a:endParaRPr lang="en-GB"/>
          </a:p>
        </p:txBody>
      </p:sp>
    </p:spTree>
    <p:extLst>
      <p:ext uri="{BB962C8B-B14F-4D97-AF65-F5344CB8AC3E}">
        <p14:creationId xmlns:p14="http://schemas.microsoft.com/office/powerpoint/2010/main" val="2370280517"/>
      </p:ext>
    </p:extLst>
  </p:cSld>
  <p:clrMapOvr>
    <a:masterClrMapping/>
  </p:clrMapOvr>
</p:sld>
</file>

<file path=ppt/theme/theme1.xml><?xml version="1.0" encoding="utf-8"?>
<a:theme xmlns:a="http://schemas.openxmlformats.org/drawingml/2006/main" name="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DB2D89-314C-4D83-B504-BF4072DFB9FD}">
  <ds:schemaRefs>
    <ds:schemaRef ds:uri="http://schemas.microsoft.com/sharepoint/v3/contenttype/forms"/>
  </ds:schemaRefs>
</ds:datastoreItem>
</file>

<file path=customXml/itemProps2.xml><?xml version="1.0" encoding="utf-8"?>
<ds:datastoreItem xmlns:ds="http://schemas.openxmlformats.org/officeDocument/2006/customXml" ds:itemID="{2CE287A7-626A-41C1-92DF-BE8EECFCD6C2}">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8152707b-ac2c-4ea2-ac9a-b989788b8469"/>
    <ds:schemaRef ds:uri="http://purl.org/dc/elements/1.1/"/>
    <ds:schemaRef ds:uri="http://schemas.microsoft.com/office/2006/metadata/properties"/>
    <ds:schemaRef ds:uri="9a63c464-9648-4824-9ad1-ed767784f626"/>
    <ds:schemaRef ds:uri="http://www.w3.org/XML/1998/namespace"/>
    <ds:schemaRef ds:uri="http://purl.org/dc/terms/"/>
  </ds:schemaRefs>
</ds:datastoreItem>
</file>

<file path=customXml/itemProps3.xml><?xml version="1.0" encoding="utf-8"?>
<ds:datastoreItem xmlns:ds="http://schemas.openxmlformats.org/officeDocument/2006/customXml" ds:itemID="{397DA67C-29B0-4F94-8218-D85A015A42CD}"/>
</file>

<file path=docProps/app.xml><?xml version="1.0" encoding="utf-8"?>
<Properties xmlns="http://schemas.openxmlformats.org/officeDocument/2006/extended-properties" xmlns:vt="http://schemas.openxmlformats.org/officeDocument/2006/docPropsVTypes">
  <Template>Default Theme</Template>
  <TotalTime>1808</TotalTime>
  <Words>2186</Words>
  <Application>Microsoft Office PowerPoint</Application>
  <PresentationFormat>Widescreen</PresentationFormat>
  <Paragraphs>247</Paragraphs>
  <Slides>16</Slides>
  <Notes>15</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16</vt:i4>
      </vt:variant>
    </vt:vector>
  </HeadingPairs>
  <TitlesOfParts>
    <vt:vector size="26" baseType="lpstr">
      <vt:lpstr>Arial</vt:lpstr>
      <vt:lpstr>Krana Fat B</vt:lpstr>
      <vt:lpstr>Montserrat</vt:lpstr>
      <vt:lpstr>Montserrat Black</vt:lpstr>
      <vt:lpstr>Wingdings</vt:lpstr>
      <vt:lpstr>NoKrana</vt:lpstr>
      <vt:lpstr>Master_Red_and_Purple</vt:lpstr>
      <vt:lpstr>Master_Yellow_and_Orange</vt:lpstr>
      <vt:lpstr>Master_Blue</vt:lpstr>
      <vt:lpstr>Master_Neutral</vt:lpstr>
      <vt:lpstr>Software Developer Level 3  Agile Software Development  Business Context and Market Environment </vt:lpstr>
      <vt:lpstr>PowerPoint Presentation</vt:lpstr>
      <vt:lpstr>Generic system development lifecycle</vt:lpstr>
      <vt:lpstr>PowerPoint Presentation</vt:lpstr>
      <vt:lpstr>Rationale behind choice of methodology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 here and here</dc:title>
  <dc:subject/>
  <dc:creator>Haynes, Amanda</dc:creator>
  <cp:keywords/>
  <dc:description/>
  <cp:lastModifiedBy>Riddell, Amy</cp:lastModifiedBy>
  <cp:revision>49</cp:revision>
  <cp:lastPrinted>2019-07-03T09:46:41Z</cp:lastPrinted>
  <dcterms:created xsi:type="dcterms:W3CDTF">2021-11-17T15:28:08Z</dcterms:created>
  <dcterms:modified xsi:type="dcterms:W3CDTF">2022-07-28T08:49:09Z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ies>
</file>